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1"/>
  </p:notesMasterIdLst>
  <p:sldIdLst>
    <p:sldId id="256" r:id="rId2"/>
    <p:sldId id="259" r:id="rId3"/>
    <p:sldId id="353" r:id="rId4"/>
    <p:sldId id="381" r:id="rId5"/>
    <p:sldId id="382" r:id="rId6"/>
    <p:sldId id="384" r:id="rId7"/>
    <p:sldId id="385" r:id="rId8"/>
    <p:sldId id="263" r:id="rId9"/>
    <p:sldId id="320" r:id="rId10"/>
    <p:sldId id="360" r:id="rId11"/>
    <p:sldId id="354" r:id="rId12"/>
    <p:sldId id="264" r:id="rId13"/>
    <p:sldId id="355" r:id="rId14"/>
    <p:sldId id="265" r:id="rId15"/>
    <p:sldId id="358" r:id="rId16"/>
    <p:sldId id="357" r:id="rId17"/>
    <p:sldId id="326" r:id="rId18"/>
    <p:sldId id="359" r:id="rId19"/>
    <p:sldId id="266" r:id="rId20"/>
    <p:sldId id="361" r:id="rId21"/>
    <p:sldId id="321" r:id="rId22"/>
    <p:sldId id="322" r:id="rId23"/>
    <p:sldId id="267" r:id="rId24"/>
    <p:sldId id="328" r:id="rId25"/>
    <p:sldId id="362" r:id="rId26"/>
    <p:sldId id="327" r:id="rId27"/>
    <p:sldId id="268" r:id="rId28"/>
    <p:sldId id="329" r:id="rId29"/>
    <p:sldId id="269" r:id="rId30"/>
    <p:sldId id="270" r:id="rId31"/>
    <p:sldId id="363" r:id="rId32"/>
    <p:sldId id="272" r:id="rId33"/>
    <p:sldId id="330" r:id="rId34"/>
    <p:sldId id="273" r:id="rId35"/>
    <p:sldId id="274" r:id="rId36"/>
    <p:sldId id="337" r:id="rId37"/>
    <p:sldId id="275" r:id="rId38"/>
    <p:sldId id="276" r:id="rId39"/>
    <p:sldId id="364" r:id="rId40"/>
    <p:sldId id="277" r:id="rId41"/>
    <p:sldId id="278" r:id="rId42"/>
    <p:sldId id="336" r:id="rId43"/>
    <p:sldId id="279" r:id="rId44"/>
    <p:sldId id="365" r:id="rId45"/>
    <p:sldId id="332" r:id="rId46"/>
    <p:sldId id="366" r:id="rId47"/>
    <p:sldId id="280" r:id="rId48"/>
    <p:sldId id="367" r:id="rId49"/>
    <p:sldId id="281" r:id="rId50"/>
    <p:sldId id="368" r:id="rId51"/>
    <p:sldId id="333" r:id="rId52"/>
    <p:sldId id="282" r:id="rId53"/>
    <p:sldId id="335" r:id="rId54"/>
    <p:sldId id="284" r:id="rId55"/>
    <p:sldId id="287" r:id="rId56"/>
    <p:sldId id="369" r:id="rId57"/>
    <p:sldId id="289" r:id="rId58"/>
    <p:sldId id="338" r:id="rId59"/>
    <p:sldId id="339" r:id="rId60"/>
    <p:sldId id="370" r:id="rId61"/>
    <p:sldId id="291" r:id="rId62"/>
    <p:sldId id="371" r:id="rId63"/>
    <p:sldId id="372" r:id="rId64"/>
    <p:sldId id="294" r:id="rId65"/>
    <p:sldId id="295" r:id="rId66"/>
    <p:sldId id="296" r:id="rId67"/>
    <p:sldId id="297" r:id="rId68"/>
    <p:sldId id="373" r:id="rId69"/>
    <p:sldId id="341" r:id="rId70"/>
    <p:sldId id="299" r:id="rId71"/>
    <p:sldId id="342" r:id="rId72"/>
    <p:sldId id="374" r:id="rId73"/>
    <p:sldId id="300" r:id="rId74"/>
    <p:sldId id="343" r:id="rId75"/>
    <p:sldId id="301" r:id="rId76"/>
    <p:sldId id="375" r:id="rId77"/>
    <p:sldId id="344" r:id="rId78"/>
    <p:sldId id="376" r:id="rId79"/>
    <p:sldId id="302" r:id="rId80"/>
    <p:sldId id="303" r:id="rId81"/>
    <p:sldId id="304" r:id="rId82"/>
    <p:sldId id="352" r:id="rId83"/>
    <p:sldId id="345" r:id="rId84"/>
    <p:sldId id="377" r:id="rId85"/>
    <p:sldId id="305" r:id="rId86"/>
    <p:sldId id="306" r:id="rId87"/>
    <p:sldId id="307" r:id="rId88"/>
    <p:sldId id="308" r:id="rId89"/>
    <p:sldId id="309" r:id="rId90"/>
    <p:sldId id="346" r:id="rId91"/>
    <p:sldId id="311" r:id="rId92"/>
    <p:sldId id="312" r:id="rId93"/>
    <p:sldId id="347" r:id="rId94"/>
    <p:sldId id="313" r:id="rId95"/>
    <p:sldId id="348" r:id="rId96"/>
    <p:sldId id="378" r:id="rId97"/>
    <p:sldId id="316" r:id="rId98"/>
    <p:sldId id="317" r:id="rId99"/>
    <p:sldId id="351" r:id="rId100"/>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FFFF"/>
    <a:srgbClr val="FFCC66"/>
    <a:srgbClr val="9BBB59"/>
    <a:srgbClr val="F2F2F2"/>
    <a:srgbClr val="99B1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17" autoAdjust="0"/>
    <p:restoredTop sz="94660"/>
  </p:normalViewPr>
  <p:slideViewPr>
    <p:cSldViewPr snapToObjects="1">
      <p:cViewPr varScale="1">
        <p:scale>
          <a:sx n="135" d="100"/>
          <a:sy n="135" d="100"/>
        </p:scale>
        <p:origin x="936" y="96"/>
      </p:cViewPr>
      <p:guideLst>
        <p:guide orient="horz" pos="2160"/>
        <p:guide pos="2880"/>
        <p:guide orient="horz" pos="1620"/>
      </p:guideLst>
    </p:cSldViewPr>
  </p:slideViewPr>
  <p:notesTextViewPr>
    <p:cViewPr>
      <p:scale>
        <a:sx n="1" d="1"/>
        <a:sy n="1" d="1"/>
      </p:scale>
      <p:origin x="0" y="0"/>
    </p:cViewPr>
  </p:notesTextViewPr>
  <p:sorterViewPr>
    <p:cViewPr>
      <p:scale>
        <a:sx n="200" d="100"/>
        <a:sy n="200" d="100"/>
      </p:scale>
      <p:origin x="0" y="-89957"/>
    </p:cViewPr>
  </p:sorter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1BCE50-0E1D-4495-B2C7-068BD611DA4B}" type="doc">
      <dgm:prSet loTypeId="urn:microsoft.com/office/officeart/2005/8/layout/lProcess2" loCatId="list" qsTypeId="urn:microsoft.com/office/officeart/2005/8/quickstyle/simple5" qsCatId="simple" csTypeId="urn:microsoft.com/office/officeart/2005/8/colors/colorful1" csCatId="colorful" phldr="1"/>
      <dgm:spPr/>
      <dgm:t>
        <a:bodyPr/>
        <a:lstStyle/>
        <a:p>
          <a:endParaRPr lang="zh-TW" altLang="en-US"/>
        </a:p>
      </dgm:t>
    </dgm:pt>
    <dgm:pt modelId="{E8BFF938-8D63-4F34-82CB-0411F3F0328F}">
      <dgm:prSet custT="1"/>
      <dgm:spPr/>
      <dgm:t>
        <a:bodyPr/>
        <a:lstStyle/>
        <a:p>
          <a:pPr algn="ctr" rtl="0"/>
          <a:r>
            <a:rPr lang="zh-TW" altLang="en-US" sz="2000" b="1" dirty="0">
              <a:latin typeface="微軟正黑體" panose="020B0604030504040204" pitchFamily="34" charset="-120"/>
              <a:ea typeface="微軟正黑體" panose="020B0604030504040204" pitchFamily="34" charset="-120"/>
            </a:rPr>
            <a:t>一開始整個數列歸類為未排序</a:t>
          </a:r>
        </a:p>
      </dgm:t>
    </dgm:pt>
    <dgm:pt modelId="{D2B60AF8-817F-473F-8761-2D42FD008F0F}" type="parTrans" cxnId="{0F9FE631-5453-4EBB-AF7E-D581B2E7A4A3}">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6E5CB67D-FD15-433C-B1BA-D0508F8981F2}" type="sibTrans" cxnId="{0F9FE631-5453-4EBB-AF7E-D581B2E7A4A3}">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88741CB3-16FC-4B3C-B539-AD125A175ADB}">
      <dgm:prSet custT="1"/>
      <dgm:spPr/>
      <dgm:t>
        <a:bodyPr/>
        <a:lstStyle/>
        <a:p>
          <a:pPr algn="ctr" rtl="0">
            <a:lnSpc>
              <a:spcPct val="0"/>
            </a:lnSpc>
          </a:pPr>
          <a:r>
            <a:rPr lang="zh-TW" sz="2400" b="1" dirty="0">
              <a:latin typeface="微軟正黑體" panose="020B0604030504040204" pitchFamily="34" charset="-120"/>
              <a:ea typeface="微軟正黑體" panose="020B0604030504040204" pitchFamily="34" charset="-120"/>
            </a:rPr>
            <a:t>步驟</a:t>
          </a:r>
          <a:r>
            <a:rPr lang="en-US" sz="2400" b="1" dirty="0">
              <a:latin typeface="微軟正黑體" panose="020B0604030504040204" pitchFamily="34" charset="-120"/>
              <a:ea typeface="微軟正黑體" panose="020B0604030504040204" pitchFamily="34" charset="-120"/>
            </a:rPr>
            <a:t>3</a:t>
          </a:r>
          <a:endParaRPr lang="zh-TW" sz="2400" b="1" dirty="0">
            <a:latin typeface="微軟正黑體" panose="020B0604030504040204" pitchFamily="34" charset="-120"/>
            <a:ea typeface="微軟正黑體" panose="020B0604030504040204" pitchFamily="34" charset="-120"/>
          </a:endParaRPr>
        </a:p>
      </dgm:t>
    </dgm:pt>
    <dgm:pt modelId="{A8211020-B9F2-4F31-BDE6-BE21DD201197}" type="parTrans" cxnId="{A8E0996A-26CD-43FC-B9A4-A0ED5C6996A0}">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3DFD04A9-917E-4161-8A0B-1C2641455221}" type="sibTrans" cxnId="{A8E0996A-26CD-43FC-B9A4-A0ED5C6996A0}">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8266DFC-06C6-4B98-8C01-496CF7B3400A}">
      <dgm:prSet custT="1"/>
      <dgm:spPr/>
      <dgm:t>
        <a:bodyPr/>
        <a:lstStyle/>
        <a:p>
          <a:pPr algn="ctr" rtl="0"/>
          <a:r>
            <a:rPr lang="zh-TW" sz="2000" b="1" dirty="0">
              <a:latin typeface="微軟正黑體" panose="020B0604030504040204" pitchFamily="34" charset="-120"/>
              <a:ea typeface="微軟正黑體" panose="020B0604030504040204" pitchFamily="34" charset="-120"/>
            </a:rPr>
            <a:t>重複步驟</a:t>
          </a:r>
          <a:r>
            <a:rPr lang="en-US" sz="2000" b="1" dirty="0">
              <a:latin typeface="微軟正黑體" panose="020B0604030504040204" pitchFamily="34" charset="-120"/>
              <a:ea typeface="微軟正黑體" panose="020B0604030504040204" pitchFamily="34" charset="-120"/>
            </a:rPr>
            <a:t>2</a:t>
          </a:r>
          <a:r>
            <a:rPr lang="zh-TW" sz="2000" b="1" dirty="0">
              <a:latin typeface="微軟正黑體" panose="020B0604030504040204" pitchFamily="34" charset="-120"/>
              <a:ea typeface="微軟正黑體" panose="020B0604030504040204" pitchFamily="34" charset="-120"/>
            </a:rPr>
            <a:t>，直到所有的數都歸到已排序數列中</a:t>
          </a:r>
        </a:p>
      </dgm:t>
    </dgm:pt>
    <dgm:pt modelId="{7A8F4611-B02A-4804-9BFB-74AC4CDDEBF0}" type="parTrans" cxnId="{4CC038B1-C864-4BC5-A482-179D1CBACA64}">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C29359EA-E221-4E3E-973D-DBA16081B1F5}" type="sibTrans" cxnId="{4CC038B1-C864-4BC5-A482-179D1CBACA64}">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C1E69EF1-40AA-4299-8FAA-C8A91BEB36B2}">
      <dgm:prSet custT="1"/>
      <dgm:spPr/>
      <dgm:t>
        <a:bodyPr/>
        <a:lstStyle/>
        <a:p>
          <a:pPr algn="ctr" rtl="0">
            <a:lnSpc>
              <a:spcPct val="0"/>
            </a:lnSpc>
          </a:pPr>
          <a:r>
            <a:rPr lang="zh-TW" sz="2400" b="1" dirty="0">
              <a:latin typeface="微軟正黑體" panose="020B0604030504040204" pitchFamily="34" charset="-120"/>
              <a:ea typeface="微軟正黑體" panose="020B0604030504040204" pitchFamily="34" charset="-120"/>
            </a:rPr>
            <a:t>步驟 </a:t>
          </a:r>
          <a:r>
            <a:rPr lang="en-US" sz="2400" b="1" dirty="0">
              <a:latin typeface="微軟正黑體" panose="020B0604030504040204" pitchFamily="34" charset="-120"/>
              <a:ea typeface="微軟正黑體" panose="020B0604030504040204" pitchFamily="34" charset="-120"/>
            </a:rPr>
            <a:t>1 </a:t>
          </a:r>
          <a:endParaRPr lang="zh-TW" sz="2400" b="1" dirty="0">
            <a:latin typeface="微軟正黑體" panose="020B0604030504040204" pitchFamily="34" charset="-120"/>
            <a:ea typeface="微軟正黑體" panose="020B0604030504040204" pitchFamily="34" charset="-120"/>
          </a:endParaRPr>
        </a:p>
      </dgm:t>
    </dgm:pt>
    <dgm:pt modelId="{E29E3D14-A83B-4DC8-9938-18AB1D8EB339}" type="sibTrans" cxnId="{C30045FE-9B4D-4798-B3B9-BC85398171B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3783CB84-520A-49A8-8BFF-C151739B9DAC}" type="parTrans" cxnId="{C30045FE-9B4D-4798-B3B9-BC85398171B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2B62FC66-C72B-4978-B1BE-9AD0E90F2C2E}">
      <dgm:prSet custT="1"/>
      <dgm:spPr/>
      <dgm:t>
        <a:bodyPr/>
        <a:lstStyle/>
        <a:p>
          <a:pPr algn="ctr" rtl="0">
            <a:lnSpc>
              <a:spcPct val="0"/>
            </a:lnSpc>
          </a:pPr>
          <a:r>
            <a:rPr lang="zh-TW" sz="2400" b="1" dirty="0">
              <a:latin typeface="微軟正黑體" panose="020B0604030504040204" pitchFamily="34" charset="-120"/>
              <a:ea typeface="微軟正黑體" panose="020B0604030504040204" pitchFamily="34" charset="-120"/>
            </a:rPr>
            <a:t>步驟 </a:t>
          </a:r>
          <a:r>
            <a:rPr lang="en-US" sz="2400" b="1" dirty="0">
              <a:latin typeface="微軟正黑體" panose="020B0604030504040204" pitchFamily="34" charset="-120"/>
              <a:ea typeface="微軟正黑體" panose="020B0604030504040204" pitchFamily="34" charset="-120"/>
            </a:rPr>
            <a:t>2</a:t>
          </a:r>
          <a:endParaRPr lang="zh-TW" sz="2400" b="1" dirty="0">
            <a:latin typeface="微軟正黑體" panose="020B0604030504040204" pitchFamily="34" charset="-120"/>
            <a:ea typeface="微軟正黑體" panose="020B0604030504040204" pitchFamily="34" charset="-120"/>
          </a:endParaRPr>
        </a:p>
      </dgm:t>
    </dgm:pt>
    <dgm:pt modelId="{EF3F835A-D1AD-49E9-B536-9F8F0588F513}" type="sibTrans" cxnId="{5605E6AA-F379-4786-A169-5334198EF2D8}">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1C15B56-79CC-49EC-ABD6-0565A90213EF}" type="parTrans" cxnId="{5605E6AA-F379-4786-A169-5334198EF2D8}">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6BB1002-3022-495E-A23F-9F7A582B7B49}">
      <dgm:prSet custT="1"/>
      <dgm:spPr/>
      <dgm:t>
        <a:bodyPr/>
        <a:lstStyle/>
        <a:p>
          <a:pPr algn="ctr" rtl="0"/>
          <a:r>
            <a:rPr lang="zh-TW" altLang="en-US" sz="1700" b="1" dirty="0">
              <a:latin typeface="微軟正黑體" panose="020B0604030504040204" pitchFamily="34" charset="-120"/>
              <a:ea typeface="微軟正黑體" panose="020B0604030504040204" pitchFamily="34" charset="-120"/>
            </a:rPr>
            <a:t>從未排序的數中挑選出最小的數，和未排序數列中的第一個位置元素互調，將該最小的數歸類到已排序的數列中</a:t>
          </a:r>
        </a:p>
      </dgm:t>
    </dgm:pt>
    <dgm:pt modelId="{E64F509B-39DA-4397-A761-2477A86EA903}" type="sibTrans" cxnId="{956672F3-E83D-441B-87C9-08BA2D13661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60FF6E73-947C-4954-87C4-B57D3753340B}" type="parTrans" cxnId="{956672F3-E83D-441B-87C9-08BA2D13661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A0B8A99C-3CC7-4B68-8B82-54FC163DF4D8}" type="pres">
      <dgm:prSet presAssocID="{321BCE50-0E1D-4495-B2C7-068BD611DA4B}" presName="theList" presStyleCnt="0">
        <dgm:presLayoutVars>
          <dgm:dir/>
          <dgm:animLvl val="lvl"/>
          <dgm:resizeHandles val="exact"/>
        </dgm:presLayoutVars>
      </dgm:prSet>
      <dgm:spPr/>
    </dgm:pt>
    <dgm:pt modelId="{A2E0DC09-9B54-4F0A-BDDD-E7577D1AA380}" type="pres">
      <dgm:prSet presAssocID="{C1E69EF1-40AA-4299-8FAA-C8A91BEB36B2}" presName="compNode" presStyleCnt="0"/>
      <dgm:spPr/>
    </dgm:pt>
    <dgm:pt modelId="{1D8745EB-B71C-4DB0-8EF9-16A687DDE7F1}" type="pres">
      <dgm:prSet presAssocID="{C1E69EF1-40AA-4299-8FAA-C8A91BEB36B2}" presName="aNode" presStyleLbl="bgShp" presStyleIdx="0" presStyleCnt="3" custScaleY="84818"/>
      <dgm:spPr/>
    </dgm:pt>
    <dgm:pt modelId="{DF3C4F26-3913-4112-AF45-04C023B91091}" type="pres">
      <dgm:prSet presAssocID="{C1E69EF1-40AA-4299-8FAA-C8A91BEB36B2}" presName="textNode" presStyleLbl="bgShp" presStyleIdx="0" presStyleCnt="3"/>
      <dgm:spPr/>
    </dgm:pt>
    <dgm:pt modelId="{D4E4C7F6-239D-4A7F-A996-2431441D2F5B}" type="pres">
      <dgm:prSet presAssocID="{C1E69EF1-40AA-4299-8FAA-C8A91BEB36B2}" presName="compChildNode" presStyleCnt="0"/>
      <dgm:spPr/>
    </dgm:pt>
    <dgm:pt modelId="{FBC19FB7-562D-4FEC-AD52-042CA635A97A}" type="pres">
      <dgm:prSet presAssocID="{C1E69EF1-40AA-4299-8FAA-C8A91BEB36B2}" presName="theInnerList" presStyleCnt="0"/>
      <dgm:spPr/>
    </dgm:pt>
    <dgm:pt modelId="{CA6EE8DB-B66B-4A06-B89B-27E4D981F042}" type="pres">
      <dgm:prSet presAssocID="{E8BFF938-8D63-4F34-82CB-0411F3F0328F}" presName="childNode" presStyleLbl="node1" presStyleIdx="0" presStyleCnt="3" custScaleX="110251" custScaleY="102409" custLinFactNeighborY="-11135">
        <dgm:presLayoutVars>
          <dgm:bulletEnabled val="1"/>
        </dgm:presLayoutVars>
      </dgm:prSet>
      <dgm:spPr/>
    </dgm:pt>
    <dgm:pt modelId="{3AA0EEDF-ED3A-439D-869B-F25BA7343E9E}" type="pres">
      <dgm:prSet presAssocID="{C1E69EF1-40AA-4299-8FAA-C8A91BEB36B2}" presName="aSpace" presStyleCnt="0"/>
      <dgm:spPr/>
    </dgm:pt>
    <dgm:pt modelId="{96D7BB62-E2A9-4EE3-B917-8D4837F9F011}" type="pres">
      <dgm:prSet presAssocID="{2B62FC66-C72B-4978-B1BE-9AD0E90F2C2E}" presName="compNode" presStyleCnt="0"/>
      <dgm:spPr/>
    </dgm:pt>
    <dgm:pt modelId="{5E114458-8C8E-4284-B586-71EABBA55558}" type="pres">
      <dgm:prSet presAssocID="{2B62FC66-C72B-4978-B1BE-9AD0E90F2C2E}" presName="aNode" presStyleLbl="bgShp" presStyleIdx="1" presStyleCnt="3" custScaleY="84818"/>
      <dgm:spPr/>
    </dgm:pt>
    <dgm:pt modelId="{A4E5C926-B3C5-4C74-8C37-A20EDBD34174}" type="pres">
      <dgm:prSet presAssocID="{2B62FC66-C72B-4978-B1BE-9AD0E90F2C2E}" presName="textNode" presStyleLbl="bgShp" presStyleIdx="1" presStyleCnt="3"/>
      <dgm:spPr/>
    </dgm:pt>
    <dgm:pt modelId="{A845A247-0124-42AB-9B6A-422A8A9695F4}" type="pres">
      <dgm:prSet presAssocID="{2B62FC66-C72B-4978-B1BE-9AD0E90F2C2E}" presName="compChildNode" presStyleCnt="0"/>
      <dgm:spPr/>
    </dgm:pt>
    <dgm:pt modelId="{67C0EA54-2C2C-43C7-B940-B3559A599AA8}" type="pres">
      <dgm:prSet presAssocID="{2B62FC66-C72B-4978-B1BE-9AD0E90F2C2E}" presName="theInnerList" presStyleCnt="0"/>
      <dgm:spPr/>
    </dgm:pt>
    <dgm:pt modelId="{9C2201EC-D908-4DE5-9B38-BC12463CE5AC}" type="pres">
      <dgm:prSet presAssocID="{E6BB1002-3022-495E-A23F-9F7A582B7B49}" presName="childNode" presStyleLbl="node1" presStyleIdx="1" presStyleCnt="3" custScaleX="110469" custScaleY="106856" custLinFactNeighborY="-11612">
        <dgm:presLayoutVars>
          <dgm:bulletEnabled val="1"/>
        </dgm:presLayoutVars>
      </dgm:prSet>
      <dgm:spPr/>
    </dgm:pt>
    <dgm:pt modelId="{69A1ADE0-5331-499D-A6B6-832542D377EA}" type="pres">
      <dgm:prSet presAssocID="{2B62FC66-C72B-4978-B1BE-9AD0E90F2C2E}" presName="aSpace" presStyleCnt="0"/>
      <dgm:spPr/>
    </dgm:pt>
    <dgm:pt modelId="{39465AAA-ACDA-4E2B-8E91-4D23FEA1B215}" type="pres">
      <dgm:prSet presAssocID="{88741CB3-16FC-4B3C-B539-AD125A175ADB}" presName="compNode" presStyleCnt="0"/>
      <dgm:spPr/>
    </dgm:pt>
    <dgm:pt modelId="{B108C075-E406-4E93-8FDC-07DA5A9D3F6C}" type="pres">
      <dgm:prSet presAssocID="{88741CB3-16FC-4B3C-B539-AD125A175ADB}" presName="aNode" presStyleLbl="bgShp" presStyleIdx="2" presStyleCnt="3" custScaleY="84818"/>
      <dgm:spPr/>
    </dgm:pt>
    <dgm:pt modelId="{221D19C4-677A-4C86-A9B2-A1C4CD99372B}" type="pres">
      <dgm:prSet presAssocID="{88741CB3-16FC-4B3C-B539-AD125A175ADB}" presName="textNode" presStyleLbl="bgShp" presStyleIdx="2" presStyleCnt="3"/>
      <dgm:spPr/>
    </dgm:pt>
    <dgm:pt modelId="{C1FB6A9E-305B-4B94-9B99-CBA60887A227}" type="pres">
      <dgm:prSet presAssocID="{88741CB3-16FC-4B3C-B539-AD125A175ADB}" presName="compChildNode" presStyleCnt="0"/>
      <dgm:spPr/>
    </dgm:pt>
    <dgm:pt modelId="{042EFDF4-FF43-4BFE-985A-068A69B1951A}" type="pres">
      <dgm:prSet presAssocID="{88741CB3-16FC-4B3C-B539-AD125A175ADB}" presName="theInnerList" presStyleCnt="0"/>
      <dgm:spPr/>
    </dgm:pt>
    <dgm:pt modelId="{468C3BB7-6DA6-4606-9772-679DB50AE176}" type="pres">
      <dgm:prSet presAssocID="{E8266DFC-06C6-4B98-8C01-496CF7B3400A}" presName="childNode" presStyleLbl="node1" presStyleIdx="2" presStyleCnt="3" custScaleX="110687" custScaleY="102409" custLinFactNeighborY="-11135">
        <dgm:presLayoutVars>
          <dgm:bulletEnabled val="1"/>
        </dgm:presLayoutVars>
      </dgm:prSet>
      <dgm:spPr/>
    </dgm:pt>
  </dgm:ptLst>
  <dgm:cxnLst>
    <dgm:cxn modelId="{A6E0B503-B5EF-4B0F-9B26-6C134325E020}" type="presOf" srcId="{E6BB1002-3022-495E-A23F-9F7A582B7B49}" destId="{9C2201EC-D908-4DE5-9B38-BC12463CE5AC}" srcOrd="0" destOrd="0" presId="urn:microsoft.com/office/officeart/2005/8/layout/lProcess2"/>
    <dgm:cxn modelId="{64B99512-4A23-4529-867B-CE6ADF92F876}" type="presOf" srcId="{88741CB3-16FC-4B3C-B539-AD125A175ADB}" destId="{B108C075-E406-4E93-8FDC-07DA5A9D3F6C}" srcOrd="0" destOrd="0" presId="urn:microsoft.com/office/officeart/2005/8/layout/lProcess2"/>
    <dgm:cxn modelId="{824E171E-A54C-4F8E-B635-168A51BF8B74}" type="presOf" srcId="{88741CB3-16FC-4B3C-B539-AD125A175ADB}" destId="{221D19C4-677A-4C86-A9B2-A1C4CD99372B}" srcOrd="1" destOrd="0" presId="urn:microsoft.com/office/officeart/2005/8/layout/lProcess2"/>
    <dgm:cxn modelId="{0F9FE631-5453-4EBB-AF7E-D581B2E7A4A3}" srcId="{C1E69EF1-40AA-4299-8FAA-C8A91BEB36B2}" destId="{E8BFF938-8D63-4F34-82CB-0411F3F0328F}" srcOrd="0" destOrd="0" parTransId="{D2B60AF8-817F-473F-8761-2D42FD008F0F}" sibTransId="{6E5CB67D-FD15-433C-B1BA-D0508F8981F2}"/>
    <dgm:cxn modelId="{A8E0996A-26CD-43FC-B9A4-A0ED5C6996A0}" srcId="{321BCE50-0E1D-4495-B2C7-068BD611DA4B}" destId="{88741CB3-16FC-4B3C-B539-AD125A175ADB}" srcOrd="2" destOrd="0" parTransId="{A8211020-B9F2-4F31-BDE6-BE21DD201197}" sibTransId="{3DFD04A9-917E-4161-8A0B-1C2641455221}"/>
    <dgm:cxn modelId="{844F694D-4182-4DB7-BB86-BB5AE69D453B}" type="presOf" srcId="{C1E69EF1-40AA-4299-8FAA-C8A91BEB36B2}" destId="{DF3C4F26-3913-4112-AF45-04C023B91091}" srcOrd="1" destOrd="0" presId="urn:microsoft.com/office/officeart/2005/8/layout/lProcess2"/>
    <dgm:cxn modelId="{D041CC8C-3D18-45B8-BD82-9A4ABCA27830}" type="presOf" srcId="{321BCE50-0E1D-4495-B2C7-068BD611DA4B}" destId="{A0B8A99C-3CC7-4B68-8B82-54FC163DF4D8}" srcOrd="0" destOrd="0" presId="urn:microsoft.com/office/officeart/2005/8/layout/lProcess2"/>
    <dgm:cxn modelId="{5A44E592-4813-4F20-81F9-9F13C2A44CD9}" type="presOf" srcId="{C1E69EF1-40AA-4299-8FAA-C8A91BEB36B2}" destId="{1D8745EB-B71C-4DB0-8EF9-16A687DDE7F1}" srcOrd="0" destOrd="0" presId="urn:microsoft.com/office/officeart/2005/8/layout/lProcess2"/>
    <dgm:cxn modelId="{B57A8E9D-460E-4DFB-8AD8-A5CE6679510A}" type="presOf" srcId="{2B62FC66-C72B-4978-B1BE-9AD0E90F2C2E}" destId="{A4E5C926-B3C5-4C74-8C37-A20EDBD34174}" srcOrd="1" destOrd="0" presId="urn:microsoft.com/office/officeart/2005/8/layout/lProcess2"/>
    <dgm:cxn modelId="{5605E6AA-F379-4786-A169-5334198EF2D8}" srcId="{321BCE50-0E1D-4495-B2C7-068BD611DA4B}" destId="{2B62FC66-C72B-4978-B1BE-9AD0E90F2C2E}" srcOrd="1" destOrd="0" parTransId="{E1C15B56-79CC-49EC-ABD6-0565A90213EF}" sibTransId="{EF3F835A-D1AD-49E9-B536-9F8F0588F513}"/>
    <dgm:cxn modelId="{4CC038B1-C864-4BC5-A482-179D1CBACA64}" srcId="{88741CB3-16FC-4B3C-B539-AD125A175ADB}" destId="{E8266DFC-06C6-4B98-8C01-496CF7B3400A}" srcOrd="0" destOrd="0" parTransId="{7A8F4611-B02A-4804-9BFB-74AC4CDDEBF0}" sibTransId="{C29359EA-E221-4E3E-973D-DBA16081B1F5}"/>
    <dgm:cxn modelId="{5DEA4AB3-6270-40F5-978A-3AE8BE720CBB}" type="presOf" srcId="{2B62FC66-C72B-4978-B1BE-9AD0E90F2C2E}" destId="{5E114458-8C8E-4284-B586-71EABBA55558}" srcOrd="0" destOrd="0" presId="urn:microsoft.com/office/officeart/2005/8/layout/lProcess2"/>
    <dgm:cxn modelId="{C6F169C1-304A-4F88-AA60-B7382747A27E}" type="presOf" srcId="{E8266DFC-06C6-4B98-8C01-496CF7B3400A}" destId="{468C3BB7-6DA6-4606-9772-679DB50AE176}" srcOrd="0" destOrd="0" presId="urn:microsoft.com/office/officeart/2005/8/layout/lProcess2"/>
    <dgm:cxn modelId="{74292ED0-47E1-4105-851A-17A4D6400DE2}" type="presOf" srcId="{E8BFF938-8D63-4F34-82CB-0411F3F0328F}" destId="{CA6EE8DB-B66B-4A06-B89B-27E4D981F042}" srcOrd="0" destOrd="0" presId="urn:microsoft.com/office/officeart/2005/8/layout/lProcess2"/>
    <dgm:cxn modelId="{956672F3-E83D-441B-87C9-08BA2D13661E}" srcId="{2B62FC66-C72B-4978-B1BE-9AD0E90F2C2E}" destId="{E6BB1002-3022-495E-A23F-9F7A582B7B49}" srcOrd="0" destOrd="0" parTransId="{60FF6E73-947C-4954-87C4-B57D3753340B}" sibTransId="{E64F509B-39DA-4397-A761-2477A86EA903}"/>
    <dgm:cxn modelId="{C30045FE-9B4D-4798-B3B9-BC85398171BE}" srcId="{321BCE50-0E1D-4495-B2C7-068BD611DA4B}" destId="{C1E69EF1-40AA-4299-8FAA-C8A91BEB36B2}" srcOrd="0" destOrd="0" parTransId="{3783CB84-520A-49A8-8BFF-C151739B9DAC}" sibTransId="{E29E3D14-A83B-4DC8-9938-18AB1D8EB339}"/>
    <dgm:cxn modelId="{FAE30E03-DB6A-46B2-9EAF-DC953BFDCC6D}" type="presParOf" srcId="{A0B8A99C-3CC7-4B68-8B82-54FC163DF4D8}" destId="{A2E0DC09-9B54-4F0A-BDDD-E7577D1AA380}" srcOrd="0" destOrd="0" presId="urn:microsoft.com/office/officeart/2005/8/layout/lProcess2"/>
    <dgm:cxn modelId="{389C59E2-F2E3-4446-B6DD-D64BE7F7463F}" type="presParOf" srcId="{A2E0DC09-9B54-4F0A-BDDD-E7577D1AA380}" destId="{1D8745EB-B71C-4DB0-8EF9-16A687DDE7F1}" srcOrd="0" destOrd="0" presId="urn:microsoft.com/office/officeart/2005/8/layout/lProcess2"/>
    <dgm:cxn modelId="{0CA22A6B-4210-43F2-8573-CC780A3836B0}" type="presParOf" srcId="{A2E0DC09-9B54-4F0A-BDDD-E7577D1AA380}" destId="{DF3C4F26-3913-4112-AF45-04C023B91091}" srcOrd="1" destOrd="0" presId="urn:microsoft.com/office/officeart/2005/8/layout/lProcess2"/>
    <dgm:cxn modelId="{3F878F1A-39FC-4122-9C24-32580F820AF5}" type="presParOf" srcId="{A2E0DC09-9B54-4F0A-BDDD-E7577D1AA380}" destId="{D4E4C7F6-239D-4A7F-A996-2431441D2F5B}" srcOrd="2" destOrd="0" presId="urn:microsoft.com/office/officeart/2005/8/layout/lProcess2"/>
    <dgm:cxn modelId="{DC6E4DD9-226F-4DD4-B4F1-E1B3909992C7}" type="presParOf" srcId="{D4E4C7F6-239D-4A7F-A996-2431441D2F5B}" destId="{FBC19FB7-562D-4FEC-AD52-042CA635A97A}" srcOrd="0" destOrd="0" presId="urn:microsoft.com/office/officeart/2005/8/layout/lProcess2"/>
    <dgm:cxn modelId="{04AE4FE3-B2E7-41E7-92B3-CDFBFFE0B1BE}" type="presParOf" srcId="{FBC19FB7-562D-4FEC-AD52-042CA635A97A}" destId="{CA6EE8DB-B66B-4A06-B89B-27E4D981F042}" srcOrd="0" destOrd="0" presId="urn:microsoft.com/office/officeart/2005/8/layout/lProcess2"/>
    <dgm:cxn modelId="{1666C6DF-66DB-4318-9EBA-C918B81994C9}" type="presParOf" srcId="{A0B8A99C-3CC7-4B68-8B82-54FC163DF4D8}" destId="{3AA0EEDF-ED3A-439D-869B-F25BA7343E9E}" srcOrd="1" destOrd="0" presId="urn:microsoft.com/office/officeart/2005/8/layout/lProcess2"/>
    <dgm:cxn modelId="{A3D63AD4-8C2A-4E00-9B9B-AD3AE988899F}" type="presParOf" srcId="{A0B8A99C-3CC7-4B68-8B82-54FC163DF4D8}" destId="{96D7BB62-E2A9-4EE3-B917-8D4837F9F011}" srcOrd="2" destOrd="0" presId="urn:microsoft.com/office/officeart/2005/8/layout/lProcess2"/>
    <dgm:cxn modelId="{8B23F335-BFDE-4C85-A546-9B8915F39550}" type="presParOf" srcId="{96D7BB62-E2A9-4EE3-B917-8D4837F9F011}" destId="{5E114458-8C8E-4284-B586-71EABBA55558}" srcOrd="0" destOrd="0" presId="urn:microsoft.com/office/officeart/2005/8/layout/lProcess2"/>
    <dgm:cxn modelId="{9937D2C4-70F9-47ED-B693-2393E3E9615D}" type="presParOf" srcId="{96D7BB62-E2A9-4EE3-B917-8D4837F9F011}" destId="{A4E5C926-B3C5-4C74-8C37-A20EDBD34174}" srcOrd="1" destOrd="0" presId="urn:microsoft.com/office/officeart/2005/8/layout/lProcess2"/>
    <dgm:cxn modelId="{BDA7DD37-970B-4F80-83B3-14816037327C}" type="presParOf" srcId="{96D7BB62-E2A9-4EE3-B917-8D4837F9F011}" destId="{A845A247-0124-42AB-9B6A-422A8A9695F4}" srcOrd="2" destOrd="0" presId="urn:microsoft.com/office/officeart/2005/8/layout/lProcess2"/>
    <dgm:cxn modelId="{549A87AC-A2B2-40FD-86BA-1134A12351A6}" type="presParOf" srcId="{A845A247-0124-42AB-9B6A-422A8A9695F4}" destId="{67C0EA54-2C2C-43C7-B940-B3559A599AA8}" srcOrd="0" destOrd="0" presId="urn:microsoft.com/office/officeart/2005/8/layout/lProcess2"/>
    <dgm:cxn modelId="{19438213-EB69-44F7-8C75-F572F5DA31D7}" type="presParOf" srcId="{67C0EA54-2C2C-43C7-B940-B3559A599AA8}" destId="{9C2201EC-D908-4DE5-9B38-BC12463CE5AC}" srcOrd="0" destOrd="0" presId="urn:microsoft.com/office/officeart/2005/8/layout/lProcess2"/>
    <dgm:cxn modelId="{31AD52DA-C562-4E41-86F6-A07B0853CDAB}" type="presParOf" srcId="{A0B8A99C-3CC7-4B68-8B82-54FC163DF4D8}" destId="{69A1ADE0-5331-499D-A6B6-832542D377EA}" srcOrd="3" destOrd="0" presId="urn:microsoft.com/office/officeart/2005/8/layout/lProcess2"/>
    <dgm:cxn modelId="{15BD36D2-A07A-4C12-A83E-0CF4B4EA0F22}" type="presParOf" srcId="{A0B8A99C-3CC7-4B68-8B82-54FC163DF4D8}" destId="{39465AAA-ACDA-4E2B-8E91-4D23FEA1B215}" srcOrd="4" destOrd="0" presId="urn:microsoft.com/office/officeart/2005/8/layout/lProcess2"/>
    <dgm:cxn modelId="{51241CF9-13CA-4CCF-9CBB-BC0181D8FE24}" type="presParOf" srcId="{39465AAA-ACDA-4E2B-8E91-4D23FEA1B215}" destId="{B108C075-E406-4E93-8FDC-07DA5A9D3F6C}" srcOrd="0" destOrd="0" presId="urn:microsoft.com/office/officeart/2005/8/layout/lProcess2"/>
    <dgm:cxn modelId="{D31A49E6-3C35-4CBE-869F-0774480A3682}" type="presParOf" srcId="{39465AAA-ACDA-4E2B-8E91-4D23FEA1B215}" destId="{221D19C4-677A-4C86-A9B2-A1C4CD99372B}" srcOrd="1" destOrd="0" presId="urn:microsoft.com/office/officeart/2005/8/layout/lProcess2"/>
    <dgm:cxn modelId="{E4E63387-FF2D-4ECC-8947-7A0792B94C04}" type="presParOf" srcId="{39465AAA-ACDA-4E2B-8E91-4D23FEA1B215}" destId="{C1FB6A9E-305B-4B94-9B99-CBA60887A227}" srcOrd="2" destOrd="0" presId="urn:microsoft.com/office/officeart/2005/8/layout/lProcess2"/>
    <dgm:cxn modelId="{AE27E9EB-8578-439C-8A5B-A24BABD6AFE8}" type="presParOf" srcId="{C1FB6A9E-305B-4B94-9B99-CBA60887A227}" destId="{042EFDF4-FF43-4BFE-985A-068A69B1951A}" srcOrd="0" destOrd="0" presId="urn:microsoft.com/office/officeart/2005/8/layout/lProcess2"/>
    <dgm:cxn modelId="{26887903-9184-4E08-B13F-A6169BE54F70}" type="presParOf" srcId="{042EFDF4-FF43-4BFE-985A-068A69B1951A}" destId="{468C3BB7-6DA6-4606-9772-679DB50AE176}"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21BCE50-0E1D-4495-B2C7-068BD611DA4B}" type="doc">
      <dgm:prSet loTypeId="urn:microsoft.com/office/officeart/2005/8/layout/lProcess2" loCatId="list" qsTypeId="urn:microsoft.com/office/officeart/2005/8/quickstyle/3d2" qsCatId="3D" csTypeId="urn:microsoft.com/office/officeart/2005/8/colors/colorful4" csCatId="colorful" phldr="1"/>
      <dgm:spPr/>
      <dgm:t>
        <a:bodyPr/>
        <a:lstStyle/>
        <a:p>
          <a:endParaRPr lang="zh-TW" altLang="en-US"/>
        </a:p>
      </dgm:t>
    </dgm:pt>
    <dgm:pt modelId="{C1E69EF1-40AA-4299-8FAA-C8A91BEB36B2}">
      <dgm:prSet custT="1"/>
      <dgm:spPr/>
      <dgm:t>
        <a:bodyPr/>
        <a:lstStyle/>
        <a:p>
          <a:pPr algn="ctr" rtl="0">
            <a:lnSpc>
              <a:spcPct val="10000"/>
            </a:lnSpc>
            <a:spcAft>
              <a:spcPts val="10"/>
            </a:spcAft>
          </a:pPr>
          <a:r>
            <a:rPr lang="zh-TW" sz="2600" b="1" dirty="0">
              <a:latin typeface="微軟正黑體" panose="020B0604030504040204" pitchFamily="34" charset="-120"/>
              <a:ea typeface="微軟正黑體" panose="020B0604030504040204" pitchFamily="34" charset="-120"/>
            </a:rPr>
            <a:t>步驟 </a:t>
          </a:r>
          <a:r>
            <a:rPr lang="en-US" sz="2600" b="1" dirty="0">
              <a:latin typeface="微軟正黑體" panose="020B0604030504040204" pitchFamily="34" charset="-120"/>
              <a:ea typeface="微軟正黑體" panose="020B0604030504040204" pitchFamily="34" charset="-120"/>
            </a:rPr>
            <a:t>1 </a:t>
          </a:r>
          <a:endParaRPr lang="zh-TW" sz="2600" b="1" dirty="0">
            <a:latin typeface="微軟正黑體" panose="020B0604030504040204" pitchFamily="34" charset="-120"/>
            <a:ea typeface="微軟正黑體" panose="020B0604030504040204" pitchFamily="34" charset="-120"/>
          </a:endParaRPr>
        </a:p>
      </dgm:t>
    </dgm:pt>
    <dgm:pt modelId="{3783CB84-520A-49A8-8BFF-C151739B9DAC}" type="parTrans" cxnId="{C30045FE-9B4D-4798-B3B9-BC85398171B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29E3D14-A83B-4DC8-9938-18AB1D8EB339}" type="sibTrans" cxnId="{C30045FE-9B4D-4798-B3B9-BC85398171B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8BFF938-8D63-4F34-82CB-0411F3F0328F}">
      <dgm:prSet custT="1"/>
      <dgm:spPr/>
      <dgm:t>
        <a:bodyPr/>
        <a:lstStyle/>
        <a:p>
          <a:pPr algn="ctr" rtl="0"/>
          <a:r>
            <a:rPr lang="zh-TW" altLang="en-US" sz="1800" b="1" dirty="0">
              <a:latin typeface="微軟正黑體" panose="020B0604030504040204" pitchFamily="34" charset="-120"/>
              <a:ea typeface="微軟正黑體" panose="020B0604030504040204" pitchFamily="34" charset="-120"/>
            </a:rPr>
            <a:t>一開始只有第一個數在已排序數列裡，其他的數歸類在未排序數列裡</a:t>
          </a:r>
        </a:p>
      </dgm:t>
    </dgm:pt>
    <dgm:pt modelId="{D2B60AF8-817F-473F-8761-2D42FD008F0F}" type="parTrans" cxnId="{0F9FE631-5453-4EBB-AF7E-D581B2E7A4A3}">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6E5CB67D-FD15-433C-B1BA-D0508F8981F2}" type="sibTrans" cxnId="{0F9FE631-5453-4EBB-AF7E-D581B2E7A4A3}">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2B62FC66-C72B-4978-B1BE-9AD0E90F2C2E}">
      <dgm:prSet custT="1"/>
      <dgm:spPr/>
      <dgm:t>
        <a:bodyPr/>
        <a:lstStyle/>
        <a:p>
          <a:pPr algn="ctr" rtl="0">
            <a:lnSpc>
              <a:spcPct val="10000"/>
            </a:lnSpc>
            <a:spcAft>
              <a:spcPts val="10"/>
            </a:spcAft>
          </a:pPr>
          <a:r>
            <a:rPr lang="zh-TW" sz="2600" b="1" dirty="0">
              <a:latin typeface="微軟正黑體" panose="020B0604030504040204" pitchFamily="34" charset="-120"/>
              <a:ea typeface="微軟正黑體" panose="020B0604030504040204" pitchFamily="34" charset="-120"/>
            </a:rPr>
            <a:t>步驟 </a:t>
          </a:r>
          <a:r>
            <a:rPr lang="en-US" sz="2600" b="1" dirty="0">
              <a:latin typeface="微軟正黑體" panose="020B0604030504040204" pitchFamily="34" charset="-120"/>
              <a:ea typeface="微軟正黑體" panose="020B0604030504040204" pitchFamily="34" charset="-120"/>
            </a:rPr>
            <a:t>2</a:t>
          </a:r>
          <a:endParaRPr lang="zh-TW" sz="2600" b="1" dirty="0">
            <a:latin typeface="微軟正黑體" panose="020B0604030504040204" pitchFamily="34" charset="-120"/>
            <a:ea typeface="微軟正黑體" panose="020B0604030504040204" pitchFamily="34" charset="-120"/>
          </a:endParaRPr>
        </a:p>
      </dgm:t>
    </dgm:pt>
    <dgm:pt modelId="{E1C15B56-79CC-49EC-ABD6-0565A90213EF}" type="parTrans" cxnId="{5605E6AA-F379-4786-A169-5334198EF2D8}">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F3F835A-D1AD-49E9-B536-9F8F0588F513}" type="sibTrans" cxnId="{5605E6AA-F379-4786-A169-5334198EF2D8}">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6BB1002-3022-495E-A23F-9F7A582B7B49}">
      <dgm:prSet custT="1"/>
      <dgm:spPr/>
      <dgm:t>
        <a:bodyPr/>
        <a:lstStyle/>
        <a:p>
          <a:pPr algn="ctr" rtl="0"/>
          <a:r>
            <a:rPr lang="zh-TW" altLang="en-US" sz="1600" b="1" dirty="0">
              <a:latin typeface="微軟正黑體" panose="020B0604030504040204" pitchFamily="34" charset="-120"/>
              <a:ea typeface="微軟正黑體" panose="020B0604030504040204" pitchFamily="34" charset="-120"/>
            </a:rPr>
            <a:t>將未排序數列的第一個數，插入到已排序的數列中，使得插入後的已排序數列仍然維持由小排到大的性質</a:t>
          </a:r>
        </a:p>
      </dgm:t>
    </dgm:pt>
    <dgm:pt modelId="{60FF6E73-947C-4954-87C4-B57D3753340B}" type="parTrans" cxnId="{956672F3-E83D-441B-87C9-08BA2D13661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64F509B-39DA-4397-A761-2477A86EA903}" type="sibTrans" cxnId="{956672F3-E83D-441B-87C9-08BA2D13661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8266DFC-06C6-4B98-8C01-496CF7B3400A}">
      <dgm:prSet custT="1"/>
      <dgm:spPr/>
      <dgm:t>
        <a:bodyPr/>
        <a:lstStyle/>
        <a:p>
          <a:pPr algn="ctr" rtl="0"/>
          <a:r>
            <a:rPr lang="zh-TW" altLang="en-US" sz="1800" b="1" dirty="0">
              <a:latin typeface="微軟正黑體" panose="020B0604030504040204" pitchFamily="34" charset="-120"/>
              <a:ea typeface="微軟正黑體" panose="020B0604030504040204" pitchFamily="34" charset="-120"/>
            </a:rPr>
            <a:t>重複步驟</a:t>
          </a:r>
          <a:r>
            <a:rPr lang="en-US" altLang="zh-TW" sz="1800" b="1" dirty="0">
              <a:latin typeface="微軟正黑體" panose="020B0604030504040204" pitchFamily="34" charset="-120"/>
              <a:ea typeface="微軟正黑體" panose="020B0604030504040204" pitchFamily="34" charset="-120"/>
            </a:rPr>
            <a:t>2</a:t>
          </a:r>
          <a:r>
            <a:rPr lang="zh-TW" altLang="en-US" sz="1800" b="1" dirty="0">
              <a:latin typeface="微軟正黑體" panose="020B0604030504040204" pitchFamily="34" charset="-120"/>
              <a:ea typeface="微軟正黑體" panose="020B0604030504040204" pitchFamily="34" charset="-120"/>
            </a:rPr>
            <a:t>，直到所有的數都歸到已排序數列中</a:t>
          </a:r>
          <a:endParaRPr lang="zh-TW" sz="1800" b="1" dirty="0">
            <a:latin typeface="微軟正黑體" panose="020B0604030504040204" pitchFamily="34" charset="-120"/>
            <a:ea typeface="微軟正黑體" panose="020B0604030504040204" pitchFamily="34" charset="-120"/>
          </a:endParaRPr>
        </a:p>
      </dgm:t>
    </dgm:pt>
    <dgm:pt modelId="{7A8F4611-B02A-4804-9BFB-74AC4CDDEBF0}" type="parTrans" cxnId="{4CC038B1-C864-4BC5-A482-179D1CBACA64}">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C29359EA-E221-4E3E-973D-DBA16081B1F5}" type="sibTrans" cxnId="{4CC038B1-C864-4BC5-A482-179D1CBACA64}">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88741CB3-16FC-4B3C-B539-AD125A175ADB}">
      <dgm:prSet custT="1"/>
      <dgm:spPr/>
      <dgm:t>
        <a:bodyPr/>
        <a:lstStyle/>
        <a:p>
          <a:pPr algn="ctr" rtl="0">
            <a:lnSpc>
              <a:spcPct val="10000"/>
            </a:lnSpc>
            <a:spcAft>
              <a:spcPts val="10"/>
            </a:spcAft>
          </a:pPr>
          <a:r>
            <a:rPr lang="zh-TW" sz="2600" b="1" dirty="0">
              <a:latin typeface="微軟正黑體" panose="020B0604030504040204" pitchFamily="34" charset="-120"/>
              <a:ea typeface="微軟正黑體" panose="020B0604030504040204" pitchFamily="34" charset="-120"/>
            </a:rPr>
            <a:t>步驟</a:t>
          </a:r>
          <a:r>
            <a:rPr lang="en-US" sz="2600" b="1" dirty="0">
              <a:latin typeface="微軟正黑體" panose="020B0604030504040204" pitchFamily="34" charset="-120"/>
              <a:ea typeface="微軟正黑體" panose="020B0604030504040204" pitchFamily="34" charset="-120"/>
            </a:rPr>
            <a:t>3</a:t>
          </a:r>
          <a:endParaRPr lang="zh-TW" sz="2600" b="1" dirty="0">
            <a:latin typeface="微軟正黑體" panose="020B0604030504040204" pitchFamily="34" charset="-120"/>
            <a:ea typeface="微軟正黑體" panose="020B0604030504040204" pitchFamily="34" charset="-120"/>
          </a:endParaRPr>
        </a:p>
      </dgm:t>
    </dgm:pt>
    <dgm:pt modelId="{3DFD04A9-917E-4161-8A0B-1C2641455221}" type="sibTrans" cxnId="{A8E0996A-26CD-43FC-B9A4-A0ED5C6996A0}">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A8211020-B9F2-4F31-BDE6-BE21DD201197}" type="parTrans" cxnId="{A8E0996A-26CD-43FC-B9A4-A0ED5C6996A0}">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A0B8A99C-3CC7-4B68-8B82-54FC163DF4D8}" type="pres">
      <dgm:prSet presAssocID="{321BCE50-0E1D-4495-B2C7-068BD611DA4B}" presName="theList" presStyleCnt="0">
        <dgm:presLayoutVars>
          <dgm:dir/>
          <dgm:animLvl val="lvl"/>
          <dgm:resizeHandles val="exact"/>
        </dgm:presLayoutVars>
      </dgm:prSet>
      <dgm:spPr/>
    </dgm:pt>
    <dgm:pt modelId="{A2E0DC09-9B54-4F0A-BDDD-E7577D1AA380}" type="pres">
      <dgm:prSet presAssocID="{C1E69EF1-40AA-4299-8FAA-C8A91BEB36B2}" presName="compNode" presStyleCnt="0"/>
      <dgm:spPr/>
    </dgm:pt>
    <dgm:pt modelId="{1D8745EB-B71C-4DB0-8EF9-16A687DDE7F1}" type="pres">
      <dgm:prSet presAssocID="{C1E69EF1-40AA-4299-8FAA-C8A91BEB36B2}" presName="aNode" presStyleLbl="bgShp" presStyleIdx="0" presStyleCnt="3" custScaleY="89831"/>
      <dgm:spPr/>
    </dgm:pt>
    <dgm:pt modelId="{DF3C4F26-3913-4112-AF45-04C023B91091}" type="pres">
      <dgm:prSet presAssocID="{C1E69EF1-40AA-4299-8FAA-C8A91BEB36B2}" presName="textNode" presStyleLbl="bgShp" presStyleIdx="0" presStyleCnt="3"/>
      <dgm:spPr/>
    </dgm:pt>
    <dgm:pt modelId="{D4E4C7F6-239D-4A7F-A996-2431441D2F5B}" type="pres">
      <dgm:prSet presAssocID="{C1E69EF1-40AA-4299-8FAA-C8A91BEB36B2}" presName="compChildNode" presStyleCnt="0"/>
      <dgm:spPr/>
    </dgm:pt>
    <dgm:pt modelId="{FBC19FB7-562D-4FEC-AD52-042CA635A97A}" type="pres">
      <dgm:prSet presAssocID="{C1E69EF1-40AA-4299-8FAA-C8A91BEB36B2}" presName="theInnerList" presStyleCnt="0"/>
      <dgm:spPr/>
    </dgm:pt>
    <dgm:pt modelId="{CA6EE8DB-B66B-4A06-B89B-27E4D981F042}" type="pres">
      <dgm:prSet presAssocID="{E8BFF938-8D63-4F34-82CB-0411F3F0328F}" presName="childNode" presStyleLbl="node1" presStyleIdx="0" presStyleCnt="3" custScaleX="114025" custLinFactNeighborY="-12190">
        <dgm:presLayoutVars>
          <dgm:bulletEnabled val="1"/>
        </dgm:presLayoutVars>
      </dgm:prSet>
      <dgm:spPr/>
    </dgm:pt>
    <dgm:pt modelId="{3AA0EEDF-ED3A-439D-869B-F25BA7343E9E}" type="pres">
      <dgm:prSet presAssocID="{C1E69EF1-40AA-4299-8FAA-C8A91BEB36B2}" presName="aSpace" presStyleCnt="0"/>
      <dgm:spPr/>
    </dgm:pt>
    <dgm:pt modelId="{96D7BB62-E2A9-4EE3-B917-8D4837F9F011}" type="pres">
      <dgm:prSet presAssocID="{2B62FC66-C72B-4978-B1BE-9AD0E90F2C2E}" presName="compNode" presStyleCnt="0"/>
      <dgm:spPr/>
    </dgm:pt>
    <dgm:pt modelId="{5E114458-8C8E-4284-B586-71EABBA55558}" type="pres">
      <dgm:prSet presAssocID="{2B62FC66-C72B-4978-B1BE-9AD0E90F2C2E}" presName="aNode" presStyleLbl="bgShp" presStyleIdx="1" presStyleCnt="3" custScaleY="89831"/>
      <dgm:spPr/>
    </dgm:pt>
    <dgm:pt modelId="{A4E5C926-B3C5-4C74-8C37-A20EDBD34174}" type="pres">
      <dgm:prSet presAssocID="{2B62FC66-C72B-4978-B1BE-9AD0E90F2C2E}" presName="textNode" presStyleLbl="bgShp" presStyleIdx="1" presStyleCnt="3"/>
      <dgm:spPr/>
    </dgm:pt>
    <dgm:pt modelId="{A845A247-0124-42AB-9B6A-422A8A9695F4}" type="pres">
      <dgm:prSet presAssocID="{2B62FC66-C72B-4978-B1BE-9AD0E90F2C2E}" presName="compChildNode" presStyleCnt="0"/>
      <dgm:spPr/>
    </dgm:pt>
    <dgm:pt modelId="{67C0EA54-2C2C-43C7-B940-B3559A599AA8}" type="pres">
      <dgm:prSet presAssocID="{2B62FC66-C72B-4978-B1BE-9AD0E90F2C2E}" presName="theInnerList" presStyleCnt="0"/>
      <dgm:spPr/>
    </dgm:pt>
    <dgm:pt modelId="{9C2201EC-D908-4DE5-9B38-BC12463CE5AC}" type="pres">
      <dgm:prSet presAssocID="{E6BB1002-3022-495E-A23F-9F7A582B7B49}" presName="childNode" presStyleLbl="node1" presStyleIdx="1" presStyleCnt="3" custScaleX="121905" custLinFactNeighborY="-12125">
        <dgm:presLayoutVars>
          <dgm:bulletEnabled val="1"/>
        </dgm:presLayoutVars>
      </dgm:prSet>
      <dgm:spPr/>
    </dgm:pt>
    <dgm:pt modelId="{69A1ADE0-5331-499D-A6B6-832542D377EA}" type="pres">
      <dgm:prSet presAssocID="{2B62FC66-C72B-4978-B1BE-9AD0E90F2C2E}" presName="aSpace" presStyleCnt="0"/>
      <dgm:spPr/>
    </dgm:pt>
    <dgm:pt modelId="{39465AAA-ACDA-4E2B-8E91-4D23FEA1B215}" type="pres">
      <dgm:prSet presAssocID="{88741CB3-16FC-4B3C-B539-AD125A175ADB}" presName="compNode" presStyleCnt="0"/>
      <dgm:spPr/>
    </dgm:pt>
    <dgm:pt modelId="{B108C075-E406-4E93-8FDC-07DA5A9D3F6C}" type="pres">
      <dgm:prSet presAssocID="{88741CB3-16FC-4B3C-B539-AD125A175ADB}" presName="aNode" presStyleLbl="bgShp" presStyleIdx="2" presStyleCnt="3" custScaleY="89831"/>
      <dgm:spPr/>
    </dgm:pt>
    <dgm:pt modelId="{221D19C4-677A-4C86-A9B2-A1C4CD99372B}" type="pres">
      <dgm:prSet presAssocID="{88741CB3-16FC-4B3C-B539-AD125A175ADB}" presName="textNode" presStyleLbl="bgShp" presStyleIdx="2" presStyleCnt="3"/>
      <dgm:spPr/>
    </dgm:pt>
    <dgm:pt modelId="{C1FB6A9E-305B-4B94-9B99-CBA60887A227}" type="pres">
      <dgm:prSet presAssocID="{88741CB3-16FC-4B3C-B539-AD125A175ADB}" presName="compChildNode" presStyleCnt="0"/>
      <dgm:spPr/>
    </dgm:pt>
    <dgm:pt modelId="{042EFDF4-FF43-4BFE-985A-068A69B1951A}" type="pres">
      <dgm:prSet presAssocID="{88741CB3-16FC-4B3C-B539-AD125A175ADB}" presName="theInnerList" presStyleCnt="0"/>
      <dgm:spPr/>
    </dgm:pt>
    <dgm:pt modelId="{468C3BB7-6DA6-4606-9772-679DB50AE176}" type="pres">
      <dgm:prSet presAssocID="{E8266DFC-06C6-4B98-8C01-496CF7B3400A}" presName="childNode" presStyleLbl="node1" presStyleIdx="2" presStyleCnt="3" custScaleX="114025" custLinFactNeighborY="-12125">
        <dgm:presLayoutVars>
          <dgm:bulletEnabled val="1"/>
        </dgm:presLayoutVars>
      </dgm:prSet>
      <dgm:spPr/>
    </dgm:pt>
  </dgm:ptLst>
  <dgm:cxnLst>
    <dgm:cxn modelId="{90CA3A0A-041F-4191-9238-EF6A54BDD355}" type="presOf" srcId="{321BCE50-0E1D-4495-B2C7-068BD611DA4B}" destId="{A0B8A99C-3CC7-4B68-8B82-54FC163DF4D8}" srcOrd="0" destOrd="0" presId="urn:microsoft.com/office/officeart/2005/8/layout/lProcess2"/>
    <dgm:cxn modelId="{695D7213-7231-4EC4-9B32-16F7D1178565}" type="presOf" srcId="{C1E69EF1-40AA-4299-8FAA-C8A91BEB36B2}" destId="{DF3C4F26-3913-4112-AF45-04C023B91091}" srcOrd="1" destOrd="0" presId="urn:microsoft.com/office/officeart/2005/8/layout/lProcess2"/>
    <dgm:cxn modelId="{72C56B29-1C95-49B4-AD70-E94B7174F9B4}" type="presOf" srcId="{88741CB3-16FC-4B3C-B539-AD125A175ADB}" destId="{221D19C4-677A-4C86-A9B2-A1C4CD99372B}" srcOrd="1" destOrd="0" presId="urn:microsoft.com/office/officeart/2005/8/layout/lProcess2"/>
    <dgm:cxn modelId="{0F9FE631-5453-4EBB-AF7E-D581B2E7A4A3}" srcId="{C1E69EF1-40AA-4299-8FAA-C8A91BEB36B2}" destId="{E8BFF938-8D63-4F34-82CB-0411F3F0328F}" srcOrd="0" destOrd="0" parTransId="{D2B60AF8-817F-473F-8761-2D42FD008F0F}" sibTransId="{6E5CB67D-FD15-433C-B1BA-D0508F8981F2}"/>
    <dgm:cxn modelId="{A8E0996A-26CD-43FC-B9A4-A0ED5C6996A0}" srcId="{321BCE50-0E1D-4495-B2C7-068BD611DA4B}" destId="{88741CB3-16FC-4B3C-B539-AD125A175ADB}" srcOrd="2" destOrd="0" parTransId="{A8211020-B9F2-4F31-BDE6-BE21DD201197}" sibTransId="{3DFD04A9-917E-4161-8A0B-1C2641455221}"/>
    <dgm:cxn modelId="{EEEBE751-BEAC-4BEE-BCB2-4A90356AE26B}" type="presOf" srcId="{E6BB1002-3022-495E-A23F-9F7A582B7B49}" destId="{9C2201EC-D908-4DE5-9B38-BC12463CE5AC}" srcOrd="0" destOrd="0" presId="urn:microsoft.com/office/officeart/2005/8/layout/lProcess2"/>
    <dgm:cxn modelId="{0EAC2286-32B7-4608-8916-EDB111648AEF}" type="presOf" srcId="{C1E69EF1-40AA-4299-8FAA-C8A91BEB36B2}" destId="{1D8745EB-B71C-4DB0-8EF9-16A687DDE7F1}" srcOrd="0" destOrd="0" presId="urn:microsoft.com/office/officeart/2005/8/layout/lProcess2"/>
    <dgm:cxn modelId="{5605E6AA-F379-4786-A169-5334198EF2D8}" srcId="{321BCE50-0E1D-4495-B2C7-068BD611DA4B}" destId="{2B62FC66-C72B-4978-B1BE-9AD0E90F2C2E}" srcOrd="1" destOrd="0" parTransId="{E1C15B56-79CC-49EC-ABD6-0565A90213EF}" sibTransId="{EF3F835A-D1AD-49E9-B536-9F8F0588F513}"/>
    <dgm:cxn modelId="{4CC038B1-C864-4BC5-A482-179D1CBACA64}" srcId="{88741CB3-16FC-4B3C-B539-AD125A175ADB}" destId="{E8266DFC-06C6-4B98-8C01-496CF7B3400A}" srcOrd="0" destOrd="0" parTransId="{7A8F4611-B02A-4804-9BFB-74AC4CDDEBF0}" sibTransId="{C29359EA-E221-4E3E-973D-DBA16081B1F5}"/>
    <dgm:cxn modelId="{9762B0D2-9B59-4232-811E-602C89B0F0EE}" type="presOf" srcId="{E8266DFC-06C6-4B98-8C01-496CF7B3400A}" destId="{468C3BB7-6DA6-4606-9772-679DB50AE176}" srcOrd="0" destOrd="0" presId="urn:microsoft.com/office/officeart/2005/8/layout/lProcess2"/>
    <dgm:cxn modelId="{258F91E2-483B-4DDE-AE47-1A5E9AFDAFFD}" type="presOf" srcId="{2B62FC66-C72B-4978-B1BE-9AD0E90F2C2E}" destId="{5E114458-8C8E-4284-B586-71EABBA55558}" srcOrd="0" destOrd="0" presId="urn:microsoft.com/office/officeart/2005/8/layout/lProcess2"/>
    <dgm:cxn modelId="{247B31E7-F3BD-4C0A-BC4E-8252A5F6D65C}" type="presOf" srcId="{2B62FC66-C72B-4978-B1BE-9AD0E90F2C2E}" destId="{A4E5C926-B3C5-4C74-8C37-A20EDBD34174}" srcOrd="1" destOrd="0" presId="urn:microsoft.com/office/officeart/2005/8/layout/lProcess2"/>
    <dgm:cxn modelId="{BACA0CEE-33A8-4399-B5B4-9B3012B5EDB7}" type="presOf" srcId="{88741CB3-16FC-4B3C-B539-AD125A175ADB}" destId="{B108C075-E406-4E93-8FDC-07DA5A9D3F6C}" srcOrd="0" destOrd="0" presId="urn:microsoft.com/office/officeart/2005/8/layout/lProcess2"/>
    <dgm:cxn modelId="{956672F3-E83D-441B-87C9-08BA2D13661E}" srcId="{2B62FC66-C72B-4978-B1BE-9AD0E90F2C2E}" destId="{E6BB1002-3022-495E-A23F-9F7A582B7B49}" srcOrd="0" destOrd="0" parTransId="{60FF6E73-947C-4954-87C4-B57D3753340B}" sibTransId="{E64F509B-39DA-4397-A761-2477A86EA903}"/>
    <dgm:cxn modelId="{906760FC-FF8F-4F7F-A922-A8CEBA3E5BBD}" type="presOf" srcId="{E8BFF938-8D63-4F34-82CB-0411F3F0328F}" destId="{CA6EE8DB-B66B-4A06-B89B-27E4D981F042}" srcOrd="0" destOrd="0" presId="urn:microsoft.com/office/officeart/2005/8/layout/lProcess2"/>
    <dgm:cxn modelId="{C30045FE-9B4D-4798-B3B9-BC85398171BE}" srcId="{321BCE50-0E1D-4495-B2C7-068BD611DA4B}" destId="{C1E69EF1-40AA-4299-8FAA-C8A91BEB36B2}" srcOrd="0" destOrd="0" parTransId="{3783CB84-520A-49A8-8BFF-C151739B9DAC}" sibTransId="{E29E3D14-A83B-4DC8-9938-18AB1D8EB339}"/>
    <dgm:cxn modelId="{AB72713F-0AEA-4C4A-AB24-D25E2D929D57}" type="presParOf" srcId="{A0B8A99C-3CC7-4B68-8B82-54FC163DF4D8}" destId="{A2E0DC09-9B54-4F0A-BDDD-E7577D1AA380}" srcOrd="0" destOrd="0" presId="urn:microsoft.com/office/officeart/2005/8/layout/lProcess2"/>
    <dgm:cxn modelId="{F7C54B81-CBF5-408B-8BCA-152BD56F57E6}" type="presParOf" srcId="{A2E0DC09-9B54-4F0A-BDDD-E7577D1AA380}" destId="{1D8745EB-B71C-4DB0-8EF9-16A687DDE7F1}" srcOrd="0" destOrd="0" presId="urn:microsoft.com/office/officeart/2005/8/layout/lProcess2"/>
    <dgm:cxn modelId="{379A0B53-605D-4CCF-8FA6-BC648C99C00E}" type="presParOf" srcId="{A2E0DC09-9B54-4F0A-BDDD-E7577D1AA380}" destId="{DF3C4F26-3913-4112-AF45-04C023B91091}" srcOrd="1" destOrd="0" presId="urn:microsoft.com/office/officeart/2005/8/layout/lProcess2"/>
    <dgm:cxn modelId="{17AED5C8-2295-4EB4-BF8A-026451F0109C}" type="presParOf" srcId="{A2E0DC09-9B54-4F0A-BDDD-E7577D1AA380}" destId="{D4E4C7F6-239D-4A7F-A996-2431441D2F5B}" srcOrd="2" destOrd="0" presId="urn:microsoft.com/office/officeart/2005/8/layout/lProcess2"/>
    <dgm:cxn modelId="{ADD09AFE-AD6D-446C-B58A-E3B658DFDFE9}" type="presParOf" srcId="{D4E4C7F6-239D-4A7F-A996-2431441D2F5B}" destId="{FBC19FB7-562D-4FEC-AD52-042CA635A97A}" srcOrd="0" destOrd="0" presId="urn:microsoft.com/office/officeart/2005/8/layout/lProcess2"/>
    <dgm:cxn modelId="{BB884579-312E-4C09-80AD-DF200AE5C3B6}" type="presParOf" srcId="{FBC19FB7-562D-4FEC-AD52-042CA635A97A}" destId="{CA6EE8DB-B66B-4A06-B89B-27E4D981F042}" srcOrd="0" destOrd="0" presId="urn:microsoft.com/office/officeart/2005/8/layout/lProcess2"/>
    <dgm:cxn modelId="{6A68577D-C7A0-4696-BAB2-023031023A36}" type="presParOf" srcId="{A0B8A99C-3CC7-4B68-8B82-54FC163DF4D8}" destId="{3AA0EEDF-ED3A-439D-869B-F25BA7343E9E}" srcOrd="1" destOrd="0" presId="urn:microsoft.com/office/officeart/2005/8/layout/lProcess2"/>
    <dgm:cxn modelId="{BD69B01A-03B0-478E-9E62-6E1A237CC82E}" type="presParOf" srcId="{A0B8A99C-3CC7-4B68-8B82-54FC163DF4D8}" destId="{96D7BB62-E2A9-4EE3-B917-8D4837F9F011}" srcOrd="2" destOrd="0" presId="urn:microsoft.com/office/officeart/2005/8/layout/lProcess2"/>
    <dgm:cxn modelId="{ED65F54D-4048-4B6F-BBA4-01B93065AE23}" type="presParOf" srcId="{96D7BB62-E2A9-4EE3-B917-8D4837F9F011}" destId="{5E114458-8C8E-4284-B586-71EABBA55558}" srcOrd="0" destOrd="0" presId="urn:microsoft.com/office/officeart/2005/8/layout/lProcess2"/>
    <dgm:cxn modelId="{7C825E49-3E9E-44E5-8C33-302950759E00}" type="presParOf" srcId="{96D7BB62-E2A9-4EE3-B917-8D4837F9F011}" destId="{A4E5C926-B3C5-4C74-8C37-A20EDBD34174}" srcOrd="1" destOrd="0" presId="urn:microsoft.com/office/officeart/2005/8/layout/lProcess2"/>
    <dgm:cxn modelId="{0A53A469-255F-4666-8690-DC8512718206}" type="presParOf" srcId="{96D7BB62-E2A9-4EE3-B917-8D4837F9F011}" destId="{A845A247-0124-42AB-9B6A-422A8A9695F4}" srcOrd="2" destOrd="0" presId="urn:microsoft.com/office/officeart/2005/8/layout/lProcess2"/>
    <dgm:cxn modelId="{55E3A627-470F-4E6E-BC33-0FAF4F38AE3A}" type="presParOf" srcId="{A845A247-0124-42AB-9B6A-422A8A9695F4}" destId="{67C0EA54-2C2C-43C7-B940-B3559A599AA8}" srcOrd="0" destOrd="0" presId="urn:microsoft.com/office/officeart/2005/8/layout/lProcess2"/>
    <dgm:cxn modelId="{B2AE4EF6-0D8F-4CF4-B7BF-BDF4002A1175}" type="presParOf" srcId="{67C0EA54-2C2C-43C7-B940-B3559A599AA8}" destId="{9C2201EC-D908-4DE5-9B38-BC12463CE5AC}" srcOrd="0" destOrd="0" presId="urn:microsoft.com/office/officeart/2005/8/layout/lProcess2"/>
    <dgm:cxn modelId="{6656A717-316C-4D46-95A5-BC5198B412EF}" type="presParOf" srcId="{A0B8A99C-3CC7-4B68-8B82-54FC163DF4D8}" destId="{69A1ADE0-5331-499D-A6B6-832542D377EA}" srcOrd="3" destOrd="0" presId="urn:microsoft.com/office/officeart/2005/8/layout/lProcess2"/>
    <dgm:cxn modelId="{B4D97E5B-52B5-46C9-9598-A2008B68506E}" type="presParOf" srcId="{A0B8A99C-3CC7-4B68-8B82-54FC163DF4D8}" destId="{39465AAA-ACDA-4E2B-8E91-4D23FEA1B215}" srcOrd="4" destOrd="0" presId="urn:microsoft.com/office/officeart/2005/8/layout/lProcess2"/>
    <dgm:cxn modelId="{949F838D-3D45-452B-B475-758DA8438300}" type="presParOf" srcId="{39465AAA-ACDA-4E2B-8E91-4D23FEA1B215}" destId="{B108C075-E406-4E93-8FDC-07DA5A9D3F6C}" srcOrd="0" destOrd="0" presId="urn:microsoft.com/office/officeart/2005/8/layout/lProcess2"/>
    <dgm:cxn modelId="{8BB5177A-196A-4143-A2F5-83F31F88E8BB}" type="presParOf" srcId="{39465AAA-ACDA-4E2B-8E91-4D23FEA1B215}" destId="{221D19C4-677A-4C86-A9B2-A1C4CD99372B}" srcOrd="1" destOrd="0" presId="urn:microsoft.com/office/officeart/2005/8/layout/lProcess2"/>
    <dgm:cxn modelId="{A6C52892-6058-451F-BAC7-7F8F0E6EA0CB}" type="presParOf" srcId="{39465AAA-ACDA-4E2B-8E91-4D23FEA1B215}" destId="{C1FB6A9E-305B-4B94-9B99-CBA60887A227}" srcOrd="2" destOrd="0" presId="urn:microsoft.com/office/officeart/2005/8/layout/lProcess2"/>
    <dgm:cxn modelId="{4E5CFE8E-D7CB-461E-B706-132E8ADEA09A}" type="presParOf" srcId="{C1FB6A9E-305B-4B94-9B99-CBA60887A227}" destId="{042EFDF4-FF43-4BFE-985A-068A69B1951A}" srcOrd="0" destOrd="0" presId="urn:microsoft.com/office/officeart/2005/8/layout/lProcess2"/>
    <dgm:cxn modelId="{5F35C1BD-AE97-4AAC-A078-B3BE6A347169}" type="presParOf" srcId="{042EFDF4-FF43-4BFE-985A-068A69B1951A}" destId="{468C3BB7-6DA6-4606-9772-679DB50AE176}"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21BCE50-0E1D-4495-B2C7-068BD611DA4B}" type="doc">
      <dgm:prSet loTypeId="urn:microsoft.com/office/officeart/2005/8/layout/lProcess2" loCatId="list" qsTypeId="urn:microsoft.com/office/officeart/2005/8/quickstyle/simple4" qsCatId="simple" csTypeId="urn:microsoft.com/office/officeart/2005/8/colors/colorful3" csCatId="colorful" phldr="1"/>
      <dgm:spPr/>
      <dgm:t>
        <a:bodyPr/>
        <a:lstStyle/>
        <a:p>
          <a:endParaRPr lang="zh-TW" altLang="en-US"/>
        </a:p>
      </dgm:t>
    </dgm:pt>
    <dgm:pt modelId="{C1E69EF1-40AA-4299-8FAA-C8A91BEB36B2}">
      <dgm:prSet custT="1"/>
      <dgm:spPr/>
      <dgm:t>
        <a:bodyPr/>
        <a:lstStyle/>
        <a:p>
          <a:pPr algn="ctr" rtl="0">
            <a:lnSpc>
              <a:spcPct val="40000"/>
            </a:lnSpc>
            <a:spcAft>
              <a:spcPts val="0"/>
            </a:spcAft>
          </a:pPr>
          <a:r>
            <a:rPr lang="zh-TW" sz="2600" b="1" dirty="0">
              <a:latin typeface="微軟正黑體" panose="020B0604030504040204" pitchFamily="34" charset="-120"/>
              <a:ea typeface="微軟正黑體" panose="020B0604030504040204" pitchFamily="34" charset="-120"/>
            </a:rPr>
            <a:t>步驟 </a:t>
          </a:r>
          <a:r>
            <a:rPr lang="en-US" sz="2600" b="1" dirty="0">
              <a:latin typeface="微軟正黑體" panose="020B0604030504040204" pitchFamily="34" charset="-120"/>
              <a:ea typeface="微軟正黑體" panose="020B0604030504040204" pitchFamily="34" charset="-120"/>
            </a:rPr>
            <a:t>1 </a:t>
          </a:r>
          <a:endParaRPr lang="zh-TW" sz="2600" b="1" dirty="0">
            <a:latin typeface="微軟正黑體" panose="020B0604030504040204" pitchFamily="34" charset="-120"/>
            <a:ea typeface="微軟正黑體" panose="020B0604030504040204" pitchFamily="34" charset="-120"/>
          </a:endParaRPr>
        </a:p>
      </dgm:t>
    </dgm:pt>
    <dgm:pt modelId="{3783CB84-520A-49A8-8BFF-C151739B9DAC}" type="parTrans" cxnId="{C30045FE-9B4D-4798-B3B9-BC85398171B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29E3D14-A83B-4DC8-9938-18AB1D8EB339}" type="sibTrans" cxnId="{C30045FE-9B4D-4798-B3B9-BC85398171B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8BFF938-8D63-4F34-82CB-0411F3F0328F}">
      <dgm:prSet custT="1"/>
      <dgm:spPr/>
      <dgm:t>
        <a:bodyPr/>
        <a:lstStyle/>
        <a:p>
          <a:pPr algn="ctr" rtl="0"/>
          <a:r>
            <a:rPr lang="zh-TW" altLang="en-US" sz="2000" b="1" dirty="0">
              <a:latin typeface="微軟正黑體" panose="020B0604030504040204" pitchFamily="34" charset="-120"/>
              <a:ea typeface="微軟正黑體" panose="020B0604030504040204" pitchFamily="34" charset="-120"/>
            </a:rPr>
            <a:t>一開始整個數列歸類為未排序</a:t>
          </a:r>
        </a:p>
      </dgm:t>
    </dgm:pt>
    <dgm:pt modelId="{D2B60AF8-817F-473F-8761-2D42FD008F0F}" type="parTrans" cxnId="{0F9FE631-5453-4EBB-AF7E-D581B2E7A4A3}">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6E5CB67D-FD15-433C-B1BA-D0508F8981F2}" type="sibTrans" cxnId="{0F9FE631-5453-4EBB-AF7E-D581B2E7A4A3}">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2B62FC66-C72B-4978-B1BE-9AD0E90F2C2E}">
      <dgm:prSet custT="1"/>
      <dgm:spPr/>
      <dgm:t>
        <a:bodyPr/>
        <a:lstStyle/>
        <a:p>
          <a:pPr algn="ctr" rtl="0">
            <a:lnSpc>
              <a:spcPct val="40000"/>
            </a:lnSpc>
            <a:spcAft>
              <a:spcPts val="0"/>
            </a:spcAft>
          </a:pPr>
          <a:r>
            <a:rPr lang="zh-TW" sz="2600" b="1" dirty="0">
              <a:latin typeface="微軟正黑體" panose="020B0604030504040204" pitchFamily="34" charset="-120"/>
              <a:ea typeface="微軟正黑體" panose="020B0604030504040204" pitchFamily="34" charset="-120"/>
            </a:rPr>
            <a:t>步驟 </a:t>
          </a:r>
          <a:r>
            <a:rPr lang="en-US" sz="2600" b="1" dirty="0">
              <a:latin typeface="微軟正黑體" panose="020B0604030504040204" pitchFamily="34" charset="-120"/>
              <a:ea typeface="微軟正黑體" panose="020B0604030504040204" pitchFamily="34" charset="-120"/>
            </a:rPr>
            <a:t>2</a:t>
          </a:r>
          <a:endParaRPr lang="zh-TW" sz="2600" b="1" dirty="0">
            <a:latin typeface="微軟正黑體" panose="020B0604030504040204" pitchFamily="34" charset="-120"/>
            <a:ea typeface="微軟正黑體" panose="020B0604030504040204" pitchFamily="34" charset="-120"/>
          </a:endParaRPr>
        </a:p>
      </dgm:t>
    </dgm:pt>
    <dgm:pt modelId="{E1C15B56-79CC-49EC-ABD6-0565A90213EF}" type="parTrans" cxnId="{5605E6AA-F379-4786-A169-5334198EF2D8}">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F3F835A-D1AD-49E9-B536-9F8F0588F513}" type="sibTrans" cxnId="{5605E6AA-F379-4786-A169-5334198EF2D8}">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6BB1002-3022-495E-A23F-9F7A582B7B49}">
      <dgm:prSet custT="1"/>
      <dgm:spPr/>
      <dgm:t>
        <a:bodyPr/>
        <a:lstStyle/>
        <a:p>
          <a:pPr algn="ctr" rtl="0"/>
          <a:r>
            <a:rPr lang="zh-TW" altLang="en-US" sz="1400" b="1" dirty="0">
              <a:latin typeface="微軟正黑體" panose="020B0604030504040204" pitchFamily="34" charset="-120"/>
              <a:ea typeface="微軟正黑體" panose="020B0604030504040204" pitchFamily="34" charset="-120"/>
            </a:rPr>
            <a:t>從未排序數列的最後一個數開始看起，如果後面的數比前面小，就往前推，在這過程中，最小的數會被推到未排序數列中的第一個位置，將該最小的數歸類到已排序的數列中</a:t>
          </a:r>
        </a:p>
      </dgm:t>
    </dgm:pt>
    <dgm:pt modelId="{60FF6E73-947C-4954-87C4-B57D3753340B}" type="parTrans" cxnId="{956672F3-E83D-441B-87C9-08BA2D13661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64F509B-39DA-4397-A761-2477A86EA903}" type="sibTrans" cxnId="{956672F3-E83D-441B-87C9-08BA2D13661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88741CB3-16FC-4B3C-B539-AD125A175ADB}">
      <dgm:prSet custT="1"/>
      <dgm:spPr/>
      <dgm:t>
        <a:bodyPr/>
        <a:lstStyle/>
        <a:p>
          <a:pPr algn="ctr" rtl="0">
            <a:lnSpc>
              <a:spcPct val="40000"/>
            </a:lnSpc>
            <a:spcAft>
              <a:spcPts val="0"/>
            </a:spcAft>
          </a:pPr>
          <a:r>
            <a:rPr lang="zh-TW" sz="2600" b="1" dirty="0">
              <a:latin typeface="微軟正黑體" panose="020B0604030504040204" pitchFamily="34" charset="-120"/>
              <a:ea typeface="微軟正黑體" panose="020B0604030504040204" pitchFamily="34" charset="-120"/>
            </a:rPr>
            <a:t>步驟</a:t>
          </a:r>
          <a:r>
            <a:rPr lang="en-US" sz="2600" b="1" dirty="0">
              <a:latin typeface="微軟正黑體" panose="020B0604030504040204" pitchFamily="34" charset="-120"/>
              <a:ea typeface="微軟正黑體" panose="020B0604030504040204" pitchFamily="34" charset="-120"/>
            </a:rPr>
            <a:t>3</a:t>
          </a:r>
          <a:endParaRPr lang="zh-TW" sz="2600" b="1" dirty="0">
            <a:latin typeface="微軟正黑體" panose="020B0604030504040204" pitchFamily="34" charset="-120"/>
            <a:ea typeface="微軟正黑體" panose="020B0604030504040204" pitchFamily="34" charset="-120"/>
          </a:endParaRPr>
        </a:p>
      </dgm:t>
    </dgm:pt>
    <dgm:pt modelId="{A8211020-B9F2-4F31-BDE6-BE21DD201197}" type="parTrans" cxnId="{A8E0996A-26CD-43FC-B9A4-A0ED5C6996A0}">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3DFD04A9-917E-4161-8A0B-1C2641455221}" type="sibTrans" cxnId="{A8E0996A-26CD-43FC-B9A4-A0ED5C6996A0}">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8266DFC-06C6-4B98-8C01-496CF7B3400A}">
      <dgm:prSet custT="1"/>
      <dgm:spPr/>
      <dgm:t>
        <a:bodyPr/>
        <a:lstStyle/>
        <a:p>
          <a:pPr algn="ctr" rtl="0"/>
          <a:r>
            <a:rPr lang="zh-TW" altLang="en-US" sz="2000" b="1" dirty="0">
              <a:latin typeface="微軟正黑體" panose="020B0604030504040204" pitchFamily="34" charset="-120"/>
              <a:ea typeface="微軟正黑體" panose="020B0604030504040204" pitchFamily="34" charset="-120"/>
            </a:rPr>
            <a:t>重複步驟</a:t>
          </a:r>
          <a:r>
            <a:rPr lang="en-US" altLang="zh-TW" sz="2000" b="1" dirty="0">
              <a:latin typeface="微軟正黑體" panose="020B0604030504040204" pitchFamily="34" charset="-120"/>
              <a:ea typeface="微軟正黑體" panose="020B0604030504040204" pitchFamily="34" charset="-120"/>
            </a:rPr>
            <a:t>2</a:t>
          </a:r>
          <a:r>
            <a:rPr lang="zh-TW" altLang="en-US" sz="2000" b="1" dirty="0">
              <a:latin typeface="微軟正黑體" panose="020B0604030504040204" pitchFamily="34" charset="-120"/>
              <a:ea typeface="微軟正黑體" panose="020B0604030504040204" pitchFamily="34" charset="-120"/>
            </a:rPr>
            <a:t>，直到沒有往前推的動作為止</a:t>
          </a:r>
          <a:endParaRPr lang="zh-TW" sz="2000" b="1" dirty="0">
            <a:latin typeface="微軟正黑體" panose="020B0604030504040204" pitchFamily="34" charset="-120"/>
            <a:ea typeface="微軟正黑體" panose="020B0604030504040204" pitchFamily="34" charset="-120"/>
          </a:endParaRPr>
        </a:p>
      </dgm:t>
    </dgm:pt>
    <dgm:pt modelId="{7A8F4611-B02A-4804-9BFB-74AC4CDDEBF0}" type="parTrans" cxnId="{4CC038B1-C864-4BC5-A482-179D1CBACA64}">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C29359EA-E221-4E3E-973D-DBA16081B1F5}" type="sibTrans" cxnId="{4CC038B1-C864-4BC5-A482-179D1CBACA64}">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A0B8A99C-3CC7-4B68-8B82-54FC163DF4D8}" type="pres">
      <dgm:prSet presAssocID="{321BCE50-0E1D-4495-B2C7-068BD611DA4B}" presName="theList" presStyleCnt="0">
        <dgm:presLayoutVars>
          <dgm:dir/>
          <dgm:animLvl val="lvl"/>
          <dgm:resizeHandles val="exact"/>
        </dgm:presLayoutVars>
      </dgm:prSet>
      <dgm:spPr/>
    </dgm:pt>
    <dgm:pt modelId="{A2E0DC09-9B54-4F0A-BDDD-E7577D1AA380}" type="pres">
      <dgm:prSet presAssocID="{C1E69EF1-40AA-4299-8FAA-C8A91BEB36B2}" presName="compNode" presStyleCnt="0"/>
      <dgm:spPr/>
    </dgm:pt>
    <dgm:pt modelId="{1D8745EB-B71C-4DB0-8EF9-16A687DDE7F1}" type="pres">
      <dgm:prSet presAssocID="{C1E69EF1-40AA-4299-8FAA-C8A91BEB36B2}" presName="aNode" presStyleLbl="bgShp" presStyleIdx="0" presStyleCnt="3" custLinFactNeighborY="-1856"/>
      <dgm:spPr/>
    </dgm:pt>
    <dgm:pt modelId="{DF3C4F26-3913-4112-AF45-04C023B91091}" type="pres">
      <dgm:prSet presAssocID="{C1E69EF1-40AA-4299-8FAA-C8A91BEB36B2}" presName="textNode" presStyleLbl="bgShp" presStyleIdx="0" presStyleCnt="3"/>
      <dgm:spPr/>
    </dgm:pt>
    <dgm:pt modelId="{D4E4C7F6-239D-4A7F-A996-2431441D2F5B}" type="pres">
      <dgm:prSet presAssocID="{C1E69EF1-40AA-4299-8FAA-C8A91BEB36B2}" presName="compChildNode" presStyleCnt="0"/>
      <dgm:spPr/>
    </dgm:pt>
    <dgm:pt modelId="{FBC19FB7-562D-4FEC-AD52-042CA635A97A}" type="pres">
      <dgm:prSet presAssocID="{C1E69EF1-40AA-4299-8FAA-C8A91BEB36B2}" presName="theInnerList" presStyleCnt="0"/>
      <dgm:spPr/>
    </dgm:pt>
    <dgm:pt modelId="{CA6EE8DB-B66B-4A06-B89B-27E4D981F042}" type="pres">
      <dgm:prSet presAssocID="{E8BFF938-8D63-4F34-82CB-0411F3F0328F}" presName="childNode" presStyleLbl="node1" presStyleIdx="0" presStyleCnt="3" custScaleY="127514" custLinFactNeighborY="-10780">
        <dgm:presLayoutVars>
          <dgm:bulletEnabled val="1"/>
        </dgm:presLayoutVars>
      </dgm:prSet>
      <dgm:spPr/>
    </dgm:pt>
    <dgm:pt modelId="{3AA0EEDF-ED3A-439D-869B-F25BA7343E9E}" type="pres">
      <dgm:prSet presAssocID="{C1E69EF1-40AA-4299-8FAA-C8A91BEB36B2}" presName="aSpace" presStyleCnt="0"/>
      <dgm:spPr/>
    </dgm:pt>
    <dgm:pt modelId="{96D7BB62-E2A9-4EE3-B917-8D4837F9F011}" type="pres">
      <dgm:prSet presAssocID="{2B62FC66-C72B-4978-B1BE-9AD0E90F2C2E}" presName="compNode" presStyleCnt="0"/>
      <dgm:spPr/>
    </dgm:pt>
    <dgm:pt modelId="{5E114458-8C8E-4284-B586-71EABBA55558}" type="pres">
      <dgm:prSet presAssocID="{2B62FC66-C72B-4978-B1BE-9AD0E90F2C2E}" presName="aNode" presStyleLbl="bgShp" presStyleIdx="1" presStyleCnt="3" custScaleX="113636" custLinFactNeighborY="-1856"/>
      <dgm:spPr/>
    </dgm:pt>
    <dgm:pt modelId="{A4E5C926-B3C5-4C74-8C37-A20EDBD34174}" type="pres">
      <dgm:prSet presAssocID="{2B62FC66-C72B-4978-B1BE-9AD0E90F2C2E}" presName="textNode" presStyleLbl="bgShp" presStyleIdx="1" presStyleCnt="3"/>
      <dgm:spPr/>
    </dgm:pt>
    <dgm:pt modelId="{A845A247-0124-42AB-9B6A-422A8A9695F4}" type="pres">
      <dgm:prSet presAssocID="{2B62FC66-C72B-4978-B1BE-9AD0E90F2C2E}" presName="compChildNode" presStyleCnt="0"/>
      <dgm:spPr/>
    </dgm:pt>
    <dgm:pt modelId="{67C0EA54-2C2C-43C7-B940-B3559A599AA8}" type="pres">
      <dgm:prSet presAssocID="{2B62FC66-C72B-4978-B1BE-9AD0E90F2C2E}" presName="theInnerList" presStyleCnt="0"/>
      <dgm:spPr/>
    </dgm:pt>
    <dgm:pt modelId="{9C2201EC-D908-4DE5-9B38-BC12463CE5AC}" type="pres">
      <dgm:prSet presAssocID="{E6BB1002-3022-495E-A23F-9F7A582B7B49}" presName="childNode" presStyleLbl="node1" presStyleIdx="1" presStyleCnt="3" custScaleX="121558" custScaleY="118754" custLinFactNeighborY="-7819">
        <dgm:presLayoutVars>
          <dgm:bulletEnabled val="1"/>
        </dgm:presLayoutVars>
      </dgm:prSet>
      <dgm:spPr/>
    </dgm:pt>
    <dgm:pt modelId="{69A1ADE0-5331-499D-A6B6-832542D377EA}" type="pres">
      <dgm:prSet presAssocID="{2B62FC66-C72B-4978-B1BE-9AD0E90F2C2E}" presName="aSpace" presStyleCnt="0"/>
      <dgm:spPr/>
    </dgm:pt>
    <dgm:pt modelId="{39465AAA-ACDA-4E2B-8E91-4D23FEA1B215}" type="pres">
      <dgm:prSet presAssocID="{88741CB3-16FC-4B3C-B539-AD125A175ADB}" presName="compNode" presStyleCnt="0"/>
      <dgm:spPr/>
    </dgm:pt>
    <dgm:pt modelId="{B108C075-E406-4E93-8FDC-07DA5A9D3F6C}" type="pres">
      <dgm:prSet presAssocID="{88741CB3-16FC-4B3C-B539-AD125A175ADB}" presName="aNode" presStyleLbl="bgShp" presStyleIdx="2" presStyleCnt="3" custLinFactNeighborY="-1856"/>
      <dgm:spPr/>
    </dgm:pt>
    <dgm:pt modelId="{221D19C4-677A-4C86-A9B2-A1C4CD99372B}" type="pres">
      <dgm:prSet presAssocID="{88741CB3-16FC-4B3C-B539-AD125A175ADB}" presName="textNode" presStyleLbl="bgShp" presStyleIdx="2" presStyleCnt="3"/>
      <dgm:spPr/>
    </dgm:pt>
    <dgm:pt modelId="{C1FB6A9E-305B-4B94-9B99-CBA60887A227}" type="pres">
      <dgm:prSet presAssocID="{88741CB3-16FC-4B3C-B539-AD125A175ADB}" presName="compChildNode" presStyleCnt="0"/>
      <dgm:spPr/>
    </dgm:pt>
    <dgm:pt modelId="{042EFDF4-FF43-4BFE-985A-068A69B1951A}" type="pres">
      <dgm:prSet presAssocID="{88741CB3-16FC-4B3C-B539-AD125A175ADB}" presName="theInnerList" presStyleCnt="0"/>
      <dgm:spPr/>
    </dgm:pt>
    <dgm:pt modelId="{468C3BB7-6DA6-4606-9772-679DB50AE176}" type="pres">
      <dgm:prSet presAssocID="{E8266DFC-06C6-4B98-8C01-496CF7B3400A}" presName="childNode" presStyleLbl="node1" presStyleIdx="2" presStyleCnt="3" custScaleY="127666" custLinFactNeighborY="-7819">
        <dgm:presLayoutVars>
          <dgm:bulletEnabled val="1"/>
        </dgm:presLayoutVars>
      </dgm:prSet>
      <dgm:spPr/>
    </dgm:pt>
  </dgm:ptLst>
  <dgm:cxnLst>
    <dgm:cxn modelId="{6554C30E-37CB-4495-87A1-A7DB5E403639}" type="presOf" srcId="{88741CB3-16FC-4B3C-B539-AD125A175ADB}" destId="{B108C075-E406-4E93-8FDC-07DA5A9D3F6C}" srcOrd="0" destOrd="0" presId="urn:microsoft.com/office/officeart/2005/8/layout/lProcess2"/>
    <dgm:cxn modelId="{0F9FE631-5453-4EBB-AF7E-D581B2E7A4A3}" srcId="{C1E69EF1-40AA-4299-8FAA-C8A91BEB36B2}" destId="{E8BFF938-8D63-4F34-82CB-0411F3F0328F}" srcOrd="0" destOrd="0" parTransId="{D2B60AF8-817F-473F-8761-2D42FD008F0F}" sibTransId="{6E5CB67D-FD15-433C-B1BA-D0508F8981F2}"/>
    <dgm:cxn modelId="{260EDC41-EC45-4316-99CE-BD5DEC5C66AA}" type="presOf" srcId="{2B62FC66-C72B-4978-B1BE-9AD0E90F2C2E}" destId="{A4E5C926-B3C5-4C74-8C37-A20EDBD34174}" srcOrd="1" destOrd="0" presId="urn:microsoft.com/office/officeart/2005/8/layout/lProcess2"/>
    <dgm:cxn modelId="{3F76AB44-B109-4877-A335-B3EEB383373E}" type="presOf" srcId="{E6BB1002-3022-495E-A23F-9F7A582B7B49}" destId="{9C2201EC-D908-4DE5-9B38-BC12463CE5AC}" srcOrd="0" destOrd="0" presId="urn:microsoft.com/office/officeart/2005/8/layout/lProcess2"/>
    <dgm:cxn modelId="{A8E0996A-26CD-43FC-B9A4-A0ED5C6996A0}" srcId="{321BCE50-0E1D-4495-B2C7-068BD611DA4B}" destId="{88741CB3-16FC-4B3C-B539-AD125A175ADB}" srcOrd="2" destOrd="0" parTransId="{A8211020-B9F2-4F31-BDE6-BE21DD201197}" sibTransId="{3DFD04A9-917E-4161-8A0B-1C2641455221}"/>
    <dgm:cxn modelId="{8ACC127B-BEC4-497F-9635-C1C565BB5038}" type="presOf" srcId="{E8BFF938-8D63-4F34-82CB-0411F3F0328F}" destId="{CA6EE8DB-B66B-4A06-B89B-27E4D981F042}" srcOrd="0" destOrd="0" presId="urn:microsoft.com/office/officeart/2005/8/layout/lProcess2"/>
    <dgm:cxn modelId="{4E7B5C82-DDFF-419B-BDD3-5203F12B869C}" type="presOf" srcId="{88741CB3-16FC-4B3C-B539-AD125A175ADB}" destId="{221D19C4-677A-4C86-A9B2-A1C4CD99372B}" srcOrd="1" destOrd="0" presId="urn:microsoft.com/office/officeart/2005/8/layout/lProcess2"/>
    <dgm:cxn modelId="{5BE84893-E4B0-4406-9213-3E076810C241}" type="presOf" srcId="{2B62FC66-C72B-4978-B1BE-9AD0E90F2C2E}" destId="{5E114458-8C8E-4284-B586-71EABBA55558}" srcOrd="0" destOrd="0" presId="urn:microsoft.com/office/officeart/2005/8/layout/lProcess2"/>
    <dgm:cxn modelId="{2CE0B59E-0B92-45FC-8A0B-9BBADB0326D8}" type="presOf" srcId="{E8266DFC-06C6-4B98-8C01-496CF7B3400A}" destId="{468C3BB7-6DA6-4606-9772-679DB50AE176}" srcOrd="0" destOrd="0" presId="urn:microsoft.com/office/officeart/2005/8/layout/lProcess2"/>
    <dgm:cxn modelId="{5605E6AA-F379-4786-A169-5334198EF2D8}" srcId="{321BCE50-0E1D-4495-B2C7-068BD611DA4B}" destId="{2B62FC66-C72B-4978-B1BE-9AD0E90F2C2E}" srcOrd="1" destOrd="0" parTransId="{E1C15B56-79CC-49EC-ABD6-0565A90213EF}" sibTransId="{EF3F835A-D1AD-49E9-B536-9F8F0588F513}"/>
    <dgm:cxn modelId="{4CC038B1-C864-4BC5-A482-179D1CBACA64}" srcId="{88741CB3-16FC-4B3C-B539-AD125A175ADB}" destId="{E8266DFC-06C6-4B98-8C01-496CF7B3400A}" srcOrd="0" destOrd="0" parTransId="{7A8F4611-B02A-4804-9BFB-74AC4CDDEBF0}" sibTransId="{C29359EA-E221-4E3E-973D-DBA16081B1F5}"/>
    <dgm:cxn modelId="{77CE3BB7-C56F-4CD7-809C-9FEF0F9D5857}" type="presOf" srcId="{C1E69EF1-40AA-4299-8FAA-C8A91BEB36B2}" destId="{DF3C4F26-3913-4112-AF45-04C023B91091}" srcOrd="1" destOrd="0" presId="urn:microsoft.com/office/officeart/2005/8/layout/lProcess2"/>
    <dgm:cxn modelId="{1C3950C8-0E9F-4E70-AD4C-F2718486B0FA}" type="presOf" srcId="{321BCE50-0E1D-4495-B2C7-068BD611DA4B}" destId="{A0B8A99C-3CC7-4B68-8B82-54FC163DF4D8}" srcOrd="0" destOrd="0" presId="urn:microsoft.com/office/officeart/2005/8/layout/lProcess2"/>
    <dgm:cxn modelId="{8DB935DE-AA20-459A-BF49-6314F8189EEA}" type="presOf" srcId="{C1E69EF1-40AA-4299-8FAA-C8A91BEB36B2}" destId="{1D8745EB-B71C-4DB0-8EF9-16A687DDE7F1}" srcOrd="0" destOrd="0" presId="urn:microsoft.com/office/officeart/2005/8/layout/lProcess2"/>
    <dgm:cxn modelId="{956672F3-E83D-441B-87C9-08BA2D13661E}" srcId="{2B62FC66-C72B-4978-B1BE-9AD0E90F2C2E}" destId="{E6BB1002-3022-495E-A23F-9F7A582B7B49}" srcOrd="0" destOrd="0" parTransId="{60FF6E73-947C-4954-87C4-B57D3753340B}" sibTransId="{E64F509B-39DA-4397-A761-2477A86EA903}"/>
    <dgm:cxn modelId="{C30045FE-9B4D-4798-B3B9-BC85398171BE}" srcId="{321BCE50-0E1D-4495-B2C7-068BD611DA4B}" destId="{C1E69EF1-40AA-4299-8FAA-C8A91BEB36B2}" srcOrd="0" destOrd="0" parTransId="{3783CB84-520A-49A8-8BFF-C151739B9DAC}" sibTransId="{E29E3D14-A83B-4DC8-9938-18AB1D8EB339}"/>
    <dgm:cxn modelId="{4A477DCE-076B-4233-B01F-F7E40B5BDF1C}" type="presParOf" srcId="{A0B8A99C-3CC7-4B68-8B82-54FC163DF4D8}" destId="{A2E0DC09-9B54-4F0A-BDDD-E7577D1AA380}" srcOrd="0" destOrd="0" presId="urn:microsoft.com/office/officeart/2005/8/layout/lProcess2"/>
    <dgm:cxn modelId="{59016F3C-561A-424E-BD71-0BE152F3F212}" type="presParOf" srcId="{A2E0DC09-9B54-4F0A-BDDD-E7577D1AA380}" destId="{1D8745EB-B71C-4DB0-8EF9-16A687DDE7F1}" srcOrd="0" destOrd="0" presId="urn:microsoft.com/office/officeart/2005/8/layout/lProcess2"/>
    <dgm:cxn modelId="{F8C2D81C-9B60-4BFF-A813-2307189497A5}" type="presParOf" srcId="{A2E0DC09-9B54-4F0A-BDDD-E7577D1AA380}" destId="{DF3C4F26-3913-4112-AF45-04C023B91091}" srcOrd="1" destOrd="0" presId="urn:microsoft.com/office/officeart/2005/8/layout/lProcess2"/>
    <dgm:cxn modelId="{25B5A7FF-0453-49A6-A671-653D6212BB8A}" type="presParOf" srcId="{A2E0DC09-9B54-4F0A-BDDD-E7577D1AA380}" destId="{D4E4C7F6-239D-4A7F-A996-2431441D2F5B}" srcOrd="2" destOrd="0" presId="urn:microsoft.com/office/officeart/2005/8/layout/lProcess2"/>
    <dgm:cxn modelId="{E1C480C2-6588-4932-BF02-1884355A5D93}" type="presParOf" srcId="{D4E4C7F6-239D-4A7F-A996-2431441D2F5B}" destId="{FBC19FB7-562D-4FEC-AD52-042CA635A97A}" srcOrd="0" destOrd="0" presId="urn:microsoft.com/office/officeart/2005/8/layout/lProcess2"/>
    <dgm:cxn modelId="{EB3DBF2B-0044-495C-BA8D-2E4FA67A9E57}" type="presParOf" srcId="{FBC19FB7-562D-4FEC-AD52-042CA635A97A}" destId="{CA6EE8DB-B66B-4A06-B89B-27E4D981F042}" srcOrd="0" destOrd="0" presId="urn:microsoft.com/office/officeart/2005/8/layout/lProcess2"/>
    <dgm:cxn modelId="{9CB26951-21DD-470A-87CE-1D0EC4576B00}" type="presParOf" srcId="{A0B8A99C-3CC7-4B68-8B82-54FC163DF4D8}" destId="{3AA0EEDF-ED3A-439D-869B-F25BA7343E9E}" srcOrd="1" destOrd="0" presId="urn:microsoft.com/office/officeart/2005/8/layout/lProcess2"/>
    <dgm:cxn modelId="{141E3139-D829-4020-A009-0A840AE654EB}" type="presParOf" srcId="{A0B8A99C-3CC7-4B68-8B82-54FC163DF4D8}" destId="{96D7BB62-E2A9-4EE3-B917-8D4837F9F011}" srcOrd="2" destOrd="0" presId="urn:microsoft.com/office/officeart/2005/8/layout/lProcess2"/>
    <dgm:cxn modelId="{D1D48662-1386-4418-A3D6-AD710531ACA1}" type="presParOf" srcId="{96D7BB62-E2A9-4EE3-B917-8D4837F9F011}" destId="{5E114458-8C8E-4284-B586-71EABBA55558}" srcOrd="0" destOrd="0" presId="urn:microsoft.com/office/officeart/2005/8/layout/lProcess2"/>
    <dgm:cxn modelId="{8392B0D7-1880-47CA-891B-31F753636982}" type="presParOf" srcId="{96D7BB62-E2A9-4EE3-B917-8D4837F9F011}" destId="{A4E5C926-B3C5-4C74-8C37-A20EDBD34174}" srcOrd="1" destOrd="0" presId="urn:microsoft.com/office/officeart/2005/8/layout/lProcess2"/>
    <dgm:cxn modelId="{4B90CC16-7931-4719-B74D-BCEC3FAB6432}" type="presParOf" srcId="{96D7BB62-E2A9-4EE3-B917-8D4837F9F011}" destId="{A845A247-0124-42AB-9B6A-422A8A9695F4}" srcOrd="2" destOrd="0" presId="urn:microsoft.com/office/officeart/2005/8/layout/lProcess2"/>
    <dgm:cxn modelId="{3672D8B6-B6BC-4AD2-9B58-60BD30791163}" type="presParOf" srcId="{A845A247-0124-42AB-9B6A-422A8A9695F4}" destId="{67C0EA54-2C2C-43C7-B940-B3559A599AA8}" srcOrd="0" destOrd="0" presId="urn:microsoft.com/office/officeart/2005/8/layout/lProcess2"/>
    <dgm:cxn modelId="{E789AC2E-0FD1-42B7-9768-B2D3F9A67BAA}" type="presParOf" srcId="{67C0EA54-2C2C-43C7-B940-B3559A599AA8}" destId="{9C2201EC-D908-4DE5-9B38-BC12463CE5AC}" srcOrd="0" destOrd="0" presId="urn:microsoft.com/office/officeart/2005/8/layout/lProcess2"/>
    <dgm:cxn modelId="{80C5FC33-1481-4957-92FF-45F00C6A74C6}" type="presParOf" srcId="{A0B8A99C-3CC7-4B68-8B82-54FC163DF4D8}" destId="{69A1ADE0-5331-499D-A6B6-832542D377EA}" srcOrd="3" destOrd="0" presId="urn:microsoft.com/office/officeart/2005/8/layout/lProcess2"/>
    <dgm:cxn modelId="{ED8074B6-B457-4B79-A670-26F34E3ADB44}" type="presParOf" srcId="{A0B8A99C-3CC7-4B68-8B82-54FC163DF4D8}" destId="{39465AAA-ACDA-4E2B-8E91-4D23FEA1B215}" srcOrd="4" destOrd="0" presId="urn:microsoft.com/office/officeart/2005/8/layout/lProcess2"/>
    <dgm:cxn modelId="{D8CD5B3C-922B-4B93-9A0B-749D4AA96AAC}" type="presParOf" srcId="{39465AAA-ACDA-4E2B-8E91-4D23FEA1B215}" destId="{B108C075-E406-4E93-8FDC-07DA5A9D3F6C}" srcOrd="0" destOrd="0" presId="urn:microsoft.com/office/officeart/2005/8/layout/lProcess2"/>
    <dgm:cxn modelId="{647A4C4F-E392-4E0E-84F4-D85409A37420}" type="presParOf" srcId="{39465AAA-ACDA-4E2B-8E91-4D23FEA1B215}" destId="{221D19C4-677A-4C86-A9B2-A1C4CD99372B}" srcOrd="1" destOrd="0" presId="urn:microsoft.com/office/officeart/2005/8/layout/lProcess2"/>
    <dgm:cxn modelId="{AAFA0614-9804-4928-A63B-A897DC814D0B}" type="presParOf" srcId="{39465AAA-ACDA-4E2B-8E91-4D23FEA1B215}" destId="{C1FB6A9E-305B-4B94-9B99-CBA60887A227}" srcOrd="2" destOrd="0" presId="urn:microsoft.com/office/officeart/2005/8/layout/lProcess2"/>
    <dgm:cxn modelId="{1C927F00-B8AE-497C-A103-DDDFC2C4BF08}" type="presParOf" srcId="{C1FB6A9E-305B-4B94-9B99-CBA60887A227}" destId="{042EFDF4-FF43-4BFE-985A-068A69B1951A}" srcOrd="0" destOrd="0" presId="urn:microsoft.com/office/officeart/2005/8/layout/lProcess2"/>
    <dgm:cxn modelId="{3A6E4613-4EFC-41BE-8539-A3DA77F2A592}" type="presParOf" srcId="{042EFDF4-FF43-4BFE-985A-068A69B1951A}" destId="{468C3BB7-6DA6-4606-9772-679DB50AE176}"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60D3DD5-4FF4-4CB9-9043-FEF900489766}" type="doc">
      <dgm:prSet loTypeId="urn:microsoft.com/office/officeart/2005/8/layout/chevron2" loCatId="list" qsTypeId="urn:microsoft.com/office/officeart/2005/8/quickstyle/simple5" qsCatId="simple" csTypeId="urn:microsoft.com/office/officeart/2005/8/colors/colorful4" csCatId="colorful" phldr="1"/>
      <dgm:spPr/>
      <dgm:t>
        <a:bodyPr/>
        <a:lstStyle/>
        <a:p>
          <a:endParaRPr lang="zh-TW" altLang="en-US"/>
        </a:p>
      </dgm:t>
    </dgm:pt>
    <dgm:pt modelId="{2A1BFA2A-5C03-4E5F-983D-2BD4CA7F9BDA}">
      <dgm:prSet custT="1"/>
      <dgm:spPr/>
      <dgm:t>
        <a:bodyPr/>
        <a:lstStyle/>
        <a:p>
          <a:pPr rtl="0"/>
          <a:r>
            <a:rPr lang="zh-TW" sz="2000" b="1" dirty="0">
              <a:latin typeface="微軟正黑體" panose="020B0604030504040204" pitchFamily="34" charset="-120"/>
              <a:ea typeface="微軟正黑體" panose="020B0604030504040204" pitchFamily="34" charset="-120"/>
            </a:rPr>
            <a:t> </a:t>
          </a:r>
          <a:r>
            <a:rPr lang="en-US" sz="2000" b="1" dirty="0">
              <a:latin typeface="微軟正黑體" panose="020B0604030504040204" pitchFamily="34" charset="-120"/>
              <a:ea typeface="微軟正黑體" panose="020B0604030504040204" pitchFamily="34" charset="-120"/>
            </a:rPr>
            <a:t>2</a:t>
          </a:r>
          <a:endParaRPr lang="zh-TW" sz="2000" b="1" dirty="0">
            <a:latin typeface="微軟正黑體" panose="020B0604030504040204" pitchFamily="34" charset="-120"/>
            <a:ea typeface="微軟正黑體" panose="020B0604030504040204" pitchFamily="34" charset="-120"/>
          </a:endParaRPr>
        </a:p>
      </dgm:t>
    </dgm:pt>
    <dgm:pt modelId="{99407E7A-5918-46F4-AA66-3C96CE0D2086}" type="parTrans" cxnId="{3C3C7F01-216E-47FF-A875-492ABC671FB3}">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1A6F7ECC-F4FF-4A75-AB26-6223F585E71E}" type="sibTrans" cxnId="{3C3C7F01-216E-47FF-A875-492ABC671FB3}">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A6D9C0F0-43FD-4B68-B921-48BFD0F7816A}">
      <dgm:prSet custT="1"/>
      <dgm:spPr/>
      <dgm:t>
        <a:bodyPr/>
        <a:lstStyle/>
        <a:p>
          <a:pPr rtl="0"/>
          <a:r>
            <a:rPr lang="zh-TW" sz="2000" b="1">
              <a:latin typeface="微軟正黑體" panose="020B0604030504040204" pitchFamily="34" charset="-120"/>
              <a:ea typeface="微軟正黑體" panose="020B0604030504040204" pitchFamily="34" charset="-120"/>
            </a:rPr>
            <a:t>將所要搜尋的數與</a:t>
          </a:r>
          <a:r>
            <a:rPr lang="en-US" sz="2000" b="1">
              <a:latin typeface="微軟正黑體" panose="020B0604030504040204" pitchFamily="34" charset="-120"/>
              <a:ea typeface="微軟正黑體" panose="020B0604030504040204" pitchFamily="34" charset="-120"/>
            </a:rPr>
            <a:t>mid</a:t>
          </a:r>
          <a:r>
            <a:rPr lang="zh-TW" sz="2000" b="1">
              <a:latin typeface="微軟正黑體" panose="020B0604030504040204" pitchFamily="34" charset="-120"/>
              <a:ea typeface="微軟正黑體" panose="020B0604030504040204" pitchFamily="34" charset="-120"/>
            </a:rPr>
            <a:t>相比</a:t>
          </a:r>
        </a:p>
      </dgm:t>
    </dgm:pt>
    <dgm:pt modelId="{DE5220DE-B613-422A-B82A-FCBA9C21A552}" type="parTrans" cxnId="{6DCEBAB2-FFD5-46E3-9065-3AAC30BA7C48}">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23B5D9A6-7B96-42C6-9D06-D2C5C7E5F735}" type="sibTrans" cxnId="{6DCEBAB2-FFD5-46E3-9065-3AAC30BA7C48}">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9A17E133-4454-4A58-83BD-C0DB239A5918}">
      <dgm:prSet custT="1"/>
      <dgm:spPr/>
      <dgm:t>
        <a:bodyPr/>
        <a:lstStyle/>
        <a:p>
          <a:pPr rtl="0"/>
          <a:r>
            <a:rPr lang="zh-TW" sz="2000" b="1" dirty="0">
              <a:latin typeface="微軟正黑體" panose="020B0604030504040204" pitchFamily="34" charset="-120"/>
              <a:ea typeface="微軟正黑體" panose="020B0604030504040204" pitchFamily="34" charset="-120"/>
            </a:rPr>
            <a:t> </a:t>
          </a:r>
          <a:r>
            <a:rPr lang="en-US" sz="2000" b="1" dirty="0">
              <a:latin typeface="微軟正黑體" panose="020B0604030504040204" pitchFamily="34" charset="-120"/>
              <a:ea typeface="微軟正黑體" panose="020B0604030504040204" pitchFamily="34" charset="-120"/>
            </a:rPr>
            <a:t>3</a:t>
          </a:r>
          <a:endParaRPr lang="zh-TW" sz="2000" b="1" dirty="0">
            <a:latin typeface="微軟正黑體" panose="020B0604030504040204" pitchFamily="34" charset="-120"/>
            <a:ea typeface="微軟正黑體" panose="020B0604030504040204" pitchFamily="34" charset="-120"/>
          </a:endParaRPr>
        </a:p>
      </dgm:t>
    </dgm:pt>
    <dgm:pt modelId="{689324D7-7DB9-4A42-8613-E684DB67F3DD}" type="parTrans" cxnId="{930F27A9-3ED3-490C-9632-79A17FAD1969}">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06362CFF-BDB7-4EFE-A7B1-40326E554C76}" type="sibTrans" cxnId="{930F27A9-3ED3-490C-9632-79A17FAD1969}">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F0D36D75-CE48-4990-9B09-C82EF57F00B6}">
      <dgm:prSet custT="1"/>
      <dgm:spPr/>
      <dgm:t>
        <a:bodyPr/>
        <a:lstStyle/>
        <a:p>
          <a:pPr rtl="0"/>
          <a:r>
            <a:rPr lang="zh-TW" sz="2000" b="1" dirty="0">
              <a:latin typeface="微軟正黑體" panose="020B0604030504040204" pitchFamily="34" charset="-120"/>
              <a:ea typeface="微軟正黑體" panose="020B0604030504040204" pitchFamily="34" charset="-120"/>
            </a:rPr>
            <a:t>如果搜尋的數與</a:t>
          </a:r>
          <a:r>
            <a:rPr lang="en-US" sz="2000" b="1" dirty="0">
              <a:latin typeface="微軟正黑體" panose="020B0604030504040204" pitchFamily="34" charset="-120"/>
              <a:ea typeface="微軟正黑體" panose="020B0604030504040204" pitchFamily="34" charset="-120"/>
            </a:rPr>
            <a:t>mid</a:t>
          </a:r>
          <a:r>
            <a:rPr lang="zh-TW" sz="2000" b="1" dirty="0">
              <a:latin typeface="微軟正黑體" panose="020B0604030504040204" pitchFamily="34" charset="-120"/>
              <a:ea typeface="微軟正黑體" panose="020B0604030504040204" pitchFamily="34" charset="-120"/>
            </a:rPr>
            <a:t>相等，則已找到，回答該數在數列裡</a:t>
          </a:r>
        </a:p>
      </dgm:t>
    </dgm:pt>
    <dgm:pt modelId="{3994C285-D6DE-46EE-9CC3-D757142DB53C}" type="parTrans" cxnId="{1EA9BF94-70A6-4937-9215-5D651C8ABD5C}">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911FE5AC-0C02-4296-A3F2-B92731DCDF0B}" type="sibTrans" cxnId="{1EA9BF94-70A6-4937-9215-5D651C8ABD5C}">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384090E4-912C-426D-9A37-136CFA55A092}">
      <dgm:prSet custT="1"/>
      <dgm:spPr/>
      <dgm:t>
        <a:bodyPr/>
        <a:lstStyle/>
        <a:p>
          <a:pPr rtl="0"/>
          <a:r>
            <a:rPr lang="en-US" sz="2000" b="1" dirty="0">
              <a:latin typeface="微軟正黑體" panose="020B0604030504040204" pitchFamily="34" charset="-120"/>
              <a:ea typeface="微軟正黑體" panose="020B0604030504040204" pitchFamily="34" charset="-120"/>
            </a:rPr>
            <a:t>mid</a:t>
          </a:r>
          <a:r>
            <a:rPr lang="zh-TW" sz="2000" b="1" dirty="0">
              <a:latin typeface="微軟正黑體" panose="020B0604030504040204" pitchFamily="34" charset="-120"/>
              <a:ea typeface="微軟正黑體" panose="020B0604030504040204" pitchFamily="34" charset="-120"/>
            </a:rPr>
            <a:t>←原排序</a:t>
          </a:r>
          <a:r>
            <a:rPr lang="zh-TW" sz="2000" b="1">
              <a:latin typeface="微軟正黑體" panose="020B0604030504040204" pitchFamily="34" charset="-120"/>
              <a:ea typeface="微軟正黑體" panose="020B0604030504040204" pitchFamily="34" charset="-120"/>
            </a:rPr>
            <a:t>數列的中間數</a:t>
          </a:r>
        </a:p>
      </dgm:t>
    </dgm:pt>
    <dgm:pt modelId="{C7BE88AB-20C7-4C5A-A8D7-36AE018DC915}" type="sibTrans" cxnId="{D26A3FB6-4F83-486C-84C6-6C6F1F949761}">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1EB3CEAC-62C4-4FA6-AC60-9DA9D7E5BAA2}" type="parTrans" cxnId="{D26A3FB6-4F83-486C-84C6-6C6F1F949761}">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2C10E827-78B9-4CD0-9135-C649C8ABD480}">
      <dgm:prSet custT="1"/>
      <dgm:spPr/>
      <dgm:t>
        <a:bodyPr/>
        <a:lstStyle/>
        <a:p>
          <a:pPr rtl="0"/>
          <a:r>
            <a:rPr lang="zh-TW" sz="2000" b="1" dirty="0">
              <a:latin typeface="微軟正黑體" panose="020B0604030504040204" pitchFamily="34" charset="-120"/>
              <a:ea typeface="微軟正黑體" panose="020B0604030504040204" pitchFamily="34" charset="-120"/>
            </a:rPr>
            <a:t> </a:t>
          </a:r>
          <a:r>
            <a:rPr lang="en-US" sz="2000" b="1" dirty="0">
              <a:latin typeface="微軟正黑體" panose="020B0604030504040204" pitchFamily="34" charset="-120"/>
              <a:ea typeface="微軟正黑體" panose="020B0604030504040204" pitchFamily="34" charset="-120"/>
            </a:rPr>
            <a:t>1</a:t>
          </a:r>
          <a:endParaRPr lang="zh-TW" sz="2000" b="1" dirty="0">
            <a:latin typeface="微軟正黑體" panose="020B0604030504040204" pitchFamily="34" charset="-120"/>
            <a:ea typeface="微軟正黑體" panose="020B0604030504040204" pitchFamily="34" charset="-120"/>
          </a:endParaRPr>
        </a:p>
      </dgm:t>
    </dgm:pt>
    <dgm:pt modelId="{C8152C64-7C20-4F35-9417-6DC5EBBB3B54}" type="sibTrans" cxnId="{648A79E8-6EBD-4732-A6AF-B2C284FEFE83}">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EA638C33-1065-42CF-B1B9-B98C81104479}" type="parTrans" cxnId="{648A79E8-6EBD-4732-A6AF-B2C284FEFE83}">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435F2F68-9B69-410F-8DAE-32309F80F7BA}" type="pres">
      <dgm:prSet presAssocID="{760D3DD5-4FF4-4CB9-9043-FEF900489766}" presName="linearFlow" presStyleCnt="0">
        <dgm:presLayoutVars>
          <dgm:dir/>
          <dgm:animLvl val="lvl"/>
          <dgm:resizeHandles val="exact"/>
        </dgm:presLayoutVars>
      </dgm:prSet>
      <dgm:spPr/>
    </dgm:pt>
    <dgm:pt modelId="{4D173509-0DAC-46F1-A2DE-BE8E477EC926}" type="pres">
      <dgm:prSet presAssocID="{2C10E827-78B9-4CD0-9135-C649C8ABD480}" presName="composite" presStyleCnt="0"/>
      <dgm:spPr/>
    </dgm:pt>
    <dgm:pt modelId="{FAD15BB6-E774-456B-913A-D03FFD50F88D}" type="pres">
      <dgm:prSet presAssocID="{2C10E827-78B9-4CD0-9135-C649C8ABD480}" presName="parentText" presStyleLbl="alignNode1" presStyleIdx="0" presStyleCnt="3">
        <dgm:presLayoutVars>
          <dgm:chMax val="1"/>
          <dgm:bulletEnabled val="1"/>
        </dgm:presLayoutVars>
      </dgm:prSet>
      <dgm:spPr/>
    </dgm:pt>
    <dgm:pt modelId="{6EFE7AB5-0941-4CF7-B563-5474DF815C78}" type="pres">
      <dgm:prSet presAssocID="{2C10E827-78B9-4CD0-9135-C649C8ABD480}" presName="descendantText" presStyleLbl="alignAcc1" presStyleIdx="0" presStyleCnt="3">
        <dgm:presLayoutVars>
          <dgm:bulletEnabled val="1"/>
        </dgm:presLayoutVars>
      </dgm:prSet>
      <dgm:spPr/>
    </dgm:pt>
    <dgm:pt modelId="{B65A2965-E936-485C-B625-A5B1F83D98B8}" type="pres">
      <dgm:prSet presAssocID="{C8152C64-7C20-4F35-9417-6DC5EBBB3B54}" presName="sp" presStyleCnt="0"/>
      <dgm:spPr/>
    </dgm:pt>
    <dgm:pt modelId="{EB03756D-AD07-4C31-8C4F-DFA4417CA4C7}" type="pres">
      <dgm:prSet presAssocID="{2A1BFA2A-5C03-4E5F-983D-2BD4CA7F9BDA}" presName="composite" presStyleCnt="0"/>
      <dgm:spPr/>
    </dgm:pt>
    <dgm:pt modelId="{116AA287-C9C7-4ABA-AD92-9ED685872512}" type="pres">
      <dgm:prSet presAssocID="{2A1BFA2A-5C03-4E5F-983D-2BD4CA7F9BDA}" presName="parentText" presStyleLbl="alignNode1" presStyleIdx="1" presStyleCnt="3">
        <dgm:presLayoutVars>
          <dgm:chMax val="1"/>
          <dgm:bulletEnabled val="1"/>
        </dgm:presLayoutVars>
      </dgm:prSet>
      <dgm:spPr/>
    </dgm:pt>
    <dgm:pt modelId="{A9D70513-2C42-4FAE-94DD-459AB157F382}" type="pres">
      <dgm:prSet presAssocID="{2A1BFA2A-5C03-4E5F-983D-2BD4CA7F9BDA}" presName="descendantText" presStyleLbl="alignAcc1" presStyleIdx="1" presStyleCnt="3">
        <dgm:presLayoutVars>
          <dgm:bulletEnabled val="1"/>
        </dgm:presLayoutVars>
      </dgm:prSet>
      <dgm:spPr/>
    </dgm:pt>
    <dgm:pt modelId="{F614FE5E-8AAD-4DAE-821B-03E0DD954911}" type="pres">
      <dgm:prSet presAssocID="{1A6F7ECC-F4FF-4A75-AB26-6223F585E71E}" presName="sp" presStyleCnt="0"/>
      <dgm:spPr/>
    </dgm:pt>
    <dgm:pt modelId="{A3A97565-8920-4EAE-8AC3-EC1CE79A4F29}" type="pres">
      <dgm:prSet presAssocID="{9A17E133-4454-4A58-83BD-C0DB239A5918}" presName="composite" presStyleCnt="0"/>
      <dgm:spPr/>
    </dgm:pt>
    <dgm:pt modelId="{AF898CE2-AE28-4243-89F6-C146EF02B541}" type="pres">
      <dgm:prSet presAssocID="{9A17E133-4454-4A58-83BD-C0DB239A5918}" presName="parentText" presStyleLbl="alignNode1" presStyleIdx="2" presStyleCnt="3">
        <dgm:presLayoutVars>
          <dgm:chMax val="1"/>
          <dgm:bulletEnabled val="1"/>
        </dgm:presLayoutVars>
      </dgm:prSet>
      <dgm:spPr/>
    </dgm:pt>
    <dgm:pt modelId="{F8313686-5249-4203-A1E3-82BD9AB7F03E}" type="pres">
      <dgm:prSet presAssocID="{9A17E133-4454-4A58-83BD-C0DB239A5918}" presName="descendantText" presStyleLbl="alignAcc1" presStyleIdx="2" presStyleCnt="3">
        <dgm:presLayoutVars>
          <dgm:bulletEnabled val="1"/>
        </dgm:presLayoutVars>
      </dgm:prSet>
      <dgm:spPr/>
    </dgm:pt>
  </dgm:ptLst>
  <dgm:cxnLst>
    <dgm:cxn modelId="{3C3C7F01-216E-47FF-A875-492ABC671FB3}" srcId="{760D3DD5-4FF4-4CB9-9043-FEF900489766}" destId="{2A1BFA2A-5C03-4E5F-983D-2BD4CA7F9BDA}" srcOrd="1" destOrd="0" parTransId="{99407E7A-5918-46F4-AA66-3C96CE0D2086}" sibTransId="{1A6F7ECC-F4FF-4A75-AB26-6223F585E71E}"/>
    <dgm:cxn modelId="{2510EA01-6BD8-464E-A53F-29C11CECC1A7}" type="presOf" srcId="{2C10E827-78B9-4CD0-9135-C649C8ABD480}" destId="{FAD15BB6-E774-456B-913A-D03FFD50F88D}" srcOrd="0" destOrd="0" presId="urn:microsoft.com/office/officeart/2005/8/layout/chevron2"/>
    <dgm:cxn modelId="{4E91F15F-4C16-4A05-BA53-BA082F79003D}" type="presOf" srcId="{A6D9C0F0-43FD-4B68-B921-48BFD0F7816A}" destId="{A9D70513-2C42-4FAE-94DD-459AB157F382}" srcOrd="0" destOrd="0" presId="urn:microsoft.com/office/officeart/2005/8/layout/chevron2"/>
    <dgm:cxn modelId="{4B9CF579-7673-41D7-B07B-A56C28C4404D}" type="presOf" srcId="{F0D36D75-CE48-4990-9B09-C82EF57F00B6}" destId="{F8313686-5249-4203-A1E3-82BD9AB7F03E}" srcOrd="0" destOrd="0" presId="urn:microsoft.com/office/officeart/2005/8/layout/chevron2"/>
    <dgm:cxn modelId="{1EA9BF94-70A6-4937-9215-5D651C8ABD5C}" srcId="{9A17E133-4454-4A58-83BD-C0DB239A5918}" destId="{F0D36D75-CE48-4990-9B09-C82EF57F00B6}" srcOrd="0" destOrd="0" parTransId="{3994C285-D6DE-46EE-9CC3-D757142DB53C}" sibTransId="{911FE5AC-0C02-4296-A3F2-B92731DCDF0B}"/>
    <dgm:cxn modelId="{1A4D2798-D47D-4627-9E90-8676B0BD465B}" type="presOf" srcId="{384090E4-912C-426D-9A37-136CFA55A092}" destId="{6EFE7AB5-0941-4CF7-B563-5474DF815C78}" srcOrd="0" destOrd="0" presId="urn:microsoft.com/office/officeart/2005/8/layout/chevron2"/>
    <dgm:cxn modelId="{930F27A9-3ED3-490C-9632-79A17FAD1969}" srcId="{760D3DD5-4FF4-4CB9-9043-FEF900489766}" destId="{9A17E133-4454-4A58-83BD-C0DB239A5918}" srcOrd="2" destOrd="0" parTransId="{689324D7-7DB9-4A42-8613-E684DB67F3DD}" sibTransId="{06362CFF-BDB7-4EFE-A7B1-40326E554C76}"/>
    <dgm:cxn modelId="{6DCEBAB2-FFD5-46E3-9065-3AAC30BA7C48}" srcId="{2A1BFA2A-5C03-4E5F-983D-2BD4CA7F9BDA}" destId="{A6D9C0F0-43FD-4B68-B921-48BFD0F7816A}" srcOrd="0" destOrd="0" parTransId="{DE5220DE-B613-422A-B82A-FCBA9C21A552}" sibTransId="{23B5D9A6-7B96-42C6-9D06-D2C5C7E5F735}"/>
    <dgm:cxn modelId="{D26A3FB6-4F83-486C-84C6-6C6F1F949761}" srcId="{2C10E827-78B9-4CD0-9135-C649C8ABD480}" destId="{384090E4-912C-426D-9A37-136CFA55A092}" srcOrd="0" destOrd="0" parTransId="{1EB3CEAC-62C4-4FA6-AC60-9DA9D7E5BAA2}" sibTransId="{C7BE88AB-20C7-4C5A-A8D7-36AE018DC915}"/>
    <dgm:cxn modelId="{0BE1E9C4-1017-4A08-B68C-B0DF9FCC2EDC}" type="presOf" srcId="{2A1BFA2A-5C03-4E5F-983D-2BD4CA7F9BDA}" destId="{116AA287-C9C7-4ABA-AD92-9ED685872512}" srcOrd="0" destOrd="0" presId="urn:microsoft.com/office/officeart/2005/8/layout/chevron2"/>
    <dgm:cxn modelId="{4FC0DCD0-9FDC-4C14-BFB3-E0065746EE36}" type="presOf" srcId="{9A17E133-4454-4A58-83BD-C0DB239A5918}" destId="{AF898CE2-AE28-4243-89F6-C146EF02B541}" srcOrd="0" destOrd="0" presId="urn:microsoft.com/office/officeart/2005/8/layout/chevron2"/>
    <dgm:cxn modelId="{648A79E8-6EBD-4732-A6AF-B2C284FEFE83}" srcId="{760D3DD5-4FF4-4CB9-9043-FEF900489766}" destId="{2C10E827-78B9-4CD0-9135-C649C8ABD480}" srcOrd="0" destOrd="0" parTransId="{EA638C33-1065-42CF-B1B9-B98C81104479}" sibTransId="{C8152C64-7C20-4F35-9417-6DC5EBBB3B54}"/>
    <dgm:cxn modelId="{FD7AFBF1-42D0-4B83-B023-295526BDF8D4}" type="presOf" srcId="{760D3DD5-4FF4-4CB9-9043-FEF900489766}" destId="{435F2F68-9B69-410F-8DAE-32309F80F7BA}" srcOrd="0" destOrd="0" presId="urn:microsoft.com/office/officeart/2005/8/layout/chevron2"/>
    <dgm:cxn modelId="{05190FE8-C97A-4D47-9CEE-34E9DBF15C27}" type="presParOf" srcId="{435F2F68-9B69-410F-8DAE-32309F80F7BA}" destId="{4D173509-0DAC-46F1-A2DE-BE8E477EC926}" srcOrd="0" destOrd="0" presId="urn:microsoft.com/office/officeart/2005/8/layout/chevron2"/>
    <dgm:cxn modelId="{D0C7DC9A-1036-4799-8F1C-D5AFD8EADC3A}" type="presParOf" srcId="{4D173509-0DAC-46F1-A2DE-BE8E477EC926}" destId="{FAD15BB6-E774-456B-913A-D03FFD50F88D}" srcOrd="0" destOrd="0" presId="urn:microsoft.com/office/officeart/2005/8/layout/chevron2"/>
    <dgm:cxn modelId="{22680173-7BE4-4375-8C73-FCD735AB3F1E}" type="presParOf" srcId="{4D173509-0DAC-46F1-A2DE-BE8E477EC926}" destId="{6EFE7AB5-0941-4CF7-B563-5474DF815C78}" srcOrd="1" destOrd="0" presId="urn:microsoft.com/office/officeart/2005/8/layout/chevron2"/>
    <dgm:cxn modelId="{CFF51380-C258-477B-93BE-0972B5A2D4C4}" type="presParOf" srcId="{435F2F68-9B69-410F-8DAE-32309F80F7BA}" destId="{B65A2965-E936-485C-B625-A5B1F83D98B8}" srcOrd="1" destOrd="0" presId="urn:microsoft.com/office/officeart/2005/8/layout/chevron2"/>
    <dgm:cxn modelId="{681B3415-CC4A-4142-8767-0299C479E5BC}" type="presParOf" srcId="{435F2F68-9B69-410F-8DAE-32309F80F7BA}" destId="{EB03756D-AD07-4C31-8C4F-DFA4417CA4C7}" srcOrd="2" destOrd="0" presId="urn:microsoft.com/office/officeart/2005/8/layout/chevron2"/>
    <dgm:cxn modelId="{C828FB15-8BED-45CB-9F8F-DD2D82EFB5BD}" type="presParOf" srcId="{EB03756D-AD07-4C31-8C4F-DFA4417CA4C7}" destId="{116AA287-C9C7-4ABA-AD92-9ED685872512}" srcOrd="0" destOrd="0" presId="urn:microsoft.com/office/officeart/2005/8/layout/chevron2"/>
    <dgm:cxn modelId="{828AFABC-D403-4339-9784-E82540C5F524}" type="presParOf" srcId="{EB03756D-AD07-4C31-8C4F-DFA4417CA4C7}" destId="{A9D70513-2C42-4FAE-94DD-459AB157F382}" srcOrd="1" destOrd="0" presId="urn:microsoft.com/office/officeart/2005/8/layout/chevron2"/>
    <dgm:cxn modelId="{764A7781-2009-477B-A14A-85EF3FF55D61}" type="presParOf" srcId="{435F2F68-9B69-410F-8DAE-32309F80F7BA}" destId="{F614FE5E-8AAD-4DAE-821B-03E0DD954911}" srcOrd="3" destOrd="0" presId="urn:microsoft.com/office/officeart/2005/8/layout/chevron2"/>
    <dgm:cxn modelId="{59D26797-D4AF-49C1-9693-38A09EB3CF52}" type="presParOf" srcId="{435F2F68-9B69-410F-8DAE-32309F80F7BA}" destId="{A3A97565-8920-4EAE-8AC3-EC1CE79A4F29}" srcOrd="4" destOrd="0" presId="urn:microsoft.com/office/officeart/2005/8/layout/chevron2"/>
    <dgm:cxn modelId="{7E206EA9-826E-4969-81B1-6404CE546F1F}" type="presParOf" srcId="{A3A97565-8920-4EAE-8AC3-EC1CE79A4F29}" destId="{AF898CE2-AE28-4243-89F6-C146EF02B541}" srcOrd="0" destOrd="0" presId="urn:microsoft.com/office/officeart/2005/8/layout/chevron2"/>
    <dgm:cxn modelId="{F800308A-DE46-4037-A976-80297D093D76}" type="presParOf" srcId="{A3A97565-8920-4EAE-8AC3-EC1CE79A4F29}" destId="{F8313686-5249-4203-A1E3-82BD9AB7F03E}"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60D3DD5-4FF4-4CB9-9043-FEF900489766}" type="doc">
      <dgm:prSet loTypeId="urn:microsoft.com/office/officeart/2005/8/layout/chevron2" loCatId="list" qsTypeId="urn:microsoft.com/office/officeart/2005/8/quickstyle/simple5" qsCatId="simple" csTypeId="urn:microsoft.com/office/officeart/2005/8/colors/colorful4" csCatId="colorful" phldr="1"/>
      <dgm:spPr/>
      <dgm:t>
        <a:bodyPr/>
        <a:lstStyle/>
        <a:p>
          <a:endParaRPr lang="zh-TW" altLang="en-US"/>
        </a:p>
      </dgm:t>
    </dgm:pt>
    <dgm:pt modelId="{2C10E827-78B9-4CD0-9135-C649C8ABD480}">
      <dgm:prSet/>
      <dgm:spPr/>
      <dgm:t>
        <a:bodyPr/>
        <a:lstStyle/>
        <a:p>
          <a:pPr rtl="0"/>
          <a:r>
            <a:rPr lang="en-US" altLang="zh-TW" b="1" dirty="0">
              <a:latin typeface="微軟正黑體" panose="020B0604030504040204" pitchFamily="34" charset="-120"/>
              <a:ea typeface="微軟正黑體" panose="020B0604030504040204" pitchFamily="34" charset="-120"/>
            </a:rPr>
            <a:t>4</a:t>
          </a:r>
          <a:endParaRPr lang="zh-TW" b="1" dirty="0">
            <a:latin typeface="微軟正黑體" panose="020B0604030504040204" pitchFamily="34" charset="-120"/>
            <a:ea typeface="微軟正黑體" panose="020B0604030504040204" pitchFamily="34" charset="-120"/>
          </a:endParaRPr>
        </a:p>
      </dgm:t>
    </dgm:pt>
    <dgm:pt modelId="{EA638C33-1065-42CF-B1B9-B98C81104479}" type="parTrans" cxnId="{648A79E8-6EBD-4732-A6AF-B2C284FEFE83}">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C8152C64-7C20-4F35-9417-6DC5EBBB3B54}" type="sibTrans" cxnId="{648A79E8-6EBD-4732-A6AF-B2C284FEFE83}">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384090E4-912C-426D-9A37-136CFA55A092}">
      <dgm:prSet custT="1"/>
      <dgm:spPr/>
      <dgm:t>
        <a:bodyPr/>
        <a:lstStyle/>
        <a:p>
          <a:pPr algn="just" rtl="0"/>
          <a:r>
            <a:rPr lang="zh-TW" altLang="en-US" sz="1800" b="1" dirty="0">
              <a:latin typeface="微軟正黑體" panose="020B0604030504040204" pitchFamily="34" charset="-120"/>
              <a:ea typeface="微軟正黑體" panose="020B0604030504040204" pitchFamily="34" charset="-120"/>
            </a:rPr>
            <a:t>如果目前子數列只剩一個數</a:t>
          </a:r>
          <a:r>
            <a:rPr lang="en-US" altLang="zh-TW" sz="1800" b="1" dirty="0">
              <a:latin typeface="微軟正黑體" panose="020B0604030504040204" pitchFamily="34" charset="-120"/>
              <a:ea typeface="微軟正黑體" panose="020B0604030504040204" pitchFamily="34" charset="-120"/>
            </a:rPr>
            <a:t>(</a:t>
          </a:r>
          <a:r>
            <a:rPr lang="zh-TW" altLang="en-US" sz="1800" b="1" dirty="0">
              <a:latin typeface="微軟正黑體" panose="020B0604030504040204" pitchFamily="34" charset="-120"/>
              <a:ea typeface="微軟正黑體" panose="020B0604030504040204" pitchFamily="34" charset="-120"/>
            </a:rPr>
            <a:t>此時搜尋的數與</a:t>
          </a:r>
          <a:r>
            <a:rPr lang="en-US" altLang="zh-TW" sz="1800" b="1" dirty="0">
              <a:latin typeface="微軟正黑體" panose="020B0604030504040204" pitchFamily="34" charset="-120"/>
              <a:ea typeface="微軟正黑體" panose="020B0604030504040204" pitchFamily="34" charset="-120"/>
            </a:rPr>
            <a:t>mid</a:t>
          </a:r>
          <a:r>
            <a:rPr lang="zh-TW" altLang="en-US" sz="1800" b="1" dirty="0">
              <a:latin typeface="微軟正黑體" panose="020B0604030504040204" pitchFamily="34" charset="-120"/>
              <a:ea typeface="微軟正黑體" panose="020B0604030504040204" pitchFamily="34" charset="-120"/>
            </a:rPr>
            <a:t>不等</a:t>
          </a:r>
          <a:r>
            <a:rPr lang="en-US" altLang="zh-TW" sz="1800" b="1" dirty="0">
              <a:latin typeface="微軟正黑體" panose="020B0604030504040204" pitchFamily="34" charset="-120"/>
              <a:ea typeface="微軟正黑體" panose="020B0604030504040204" pitchFamily="34" charset="-120"/>
            </a:rPr>
            <a:t>)</a:t>
          </a:r>
          <a:r>
            <a:rPr lang="zh-TW" altLang="en-US" sz="1800" b="1" dirty="0">
              <a:latin typeface="微軟正黑體" panose="020B0604030504040204" pitchFamily="34" charset="-120"/>
              <a:ea typeface="微軟正黑體" panose="020B0604030504040204" pitchFamily="34" charset="-120"/>
            </a:rPr>
            <a:t>，則回答該數不在數列裡</a:t>
          </a:r>
          <a:endParaRPr lang="zh-TW" sz="1800" b="1" dirty="0">
            <a:latin typeface="微軟正黑體" panose="020B0604030504040204" pitchFamily="34" charset="-120"/>
            <a:ea typeface="微軟正黑體" panose="020B0604030504040204" pitchFamily="34" charset="-120"/>
          </a:endParaRPr>
        </a:p>
      </dgm:t>
    </dgm:pt>
    <dgm:pt modelId="{1EB3CEAC-62C4-4FA6-AC60-9DA9D7E5BAA2}" type="parTrans" cxnId="{D26A3FB6-4F83-486C-84C6-6C6F1F949761}">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C7BE88AB-20C7-4C5A-A8D7-36AE018DC915}" type="sibTrans" cxnId="{D26A3FB6-4F83-486C-84C6-6C6F1F949761}">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2A1BFA2A-5C03-4E5F-983D-2BD4CA7F9BDA}">
      <dgm:prSet/>
      <dgm:spPr/>
      <dgm:t>
        <a:bodyPr/>
        <a:lstStyle/>
        <a:p>
          <a:pPr rtl="0"/>
          <a:r>
            <a:rPr lang="en-US" altLang="zh-TW" b="1" dirty="0">
              <a:latin typeface="微軟正黑體" panose="020B0604030504040204" pitchFamily="34" charset="-120"/>
              <a:ea typeface="微軟正黑體" panose="020B0604030504040204" pitchFamily="34" charset="-120"/>
            </a:rPr>
            <a:t>5</a:t>
          </a:r>
          <a:endParaRPr lang="zh-TW" b="1" dirty="0">
            <a:latin typeface="微軟正黑體" panose="020B0604030504040204" pitchFamily="34" charset="-120"/>
            <a:ea typeface="微軟正黑體" panose="020B0604030504040204" pitchFamily="34" charset="-120"/>
          </a:endParaRPr>
        </a:p>
      </dgm:t>
    </dgm:pt>
    <dgm:pt modelId="{99407E7A-5918-46F4-AA66-3C96CE0D2086}" type="parTrans" cxnId="{3C3C7F01-216E-47FF-A875-492ABC671FB3}">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1A6F7ECC-F4FF-4A75-AB26-6223F585E71E}" type="sibTrans" cxnId="{3C3C7F01-216E-47FF-A875-492ABC671FB3}">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A6D9C0F0-43FD-4B68-B921-48BFD0F7816A}">
      <dgm:prSet custT="1"/>
      <dgm:spPr/>
      <dgm:t>
        <a:bodyPr/>
        <a:lstStyle/>
        <a:p>
          <a:pPr algn="just" rtl="0"/>
          <a:r>
            <a:rPr lang="zh-TW" altLang="en-US" sz="1800" b="1" dirty="0">
              <a:latin typeface="微軟正黑體" panose="020B0604030504040204" pitchFamily="34" charset="-120"/>
              <a:ea typeface="微軟正黑體" panose="020B0604030504040204" pitchFamily="34" charset="-120"/>
            </a:rPr>
            <a:t>如果搜尋的數小於</a:t>
          </a:r>
          <a:r>
            <a:rPr lang="en-US" altLang="zh-TW" sz="1800" b="1" dirty="0">
              <a:latin typeface="微軟正黑體" panose="020B0604030504040204" pitchFamily="34" charset="-120"/>
              <a:ea typeface="微軟正黑體" panose="020B0604030504040204" pitchFamily="34" charset="-120"/>
            </a:rPr>
            <a:t>mid</a:t>
          </a:r>
          <a:r>
            <a:rPr lang="zh-TW" altLang="en-US" sz="1800" b="1" dirty="0">
              <a:latin typeface="微軟正黑體" panose="020B0604030504040204" pitchFamily="34" charset="-120"/>
              <a:ea typeface="微軟正黑體" panose="020B0604030504040204" pitchFamily="34" charset="-120"/>
            </a:rPr>
            <a:t>，則只要考慮前半的子數列，</a:t>
          </a:r>
          <a:r>
            <a:rPr lang="en-US" altLang="zh-TW" sz="1800" b="1" dirty="0">
              <a:latin typeface="微軟正黑體" panose="020B0604030504040204" pitchFamily="34" charset="-120"/>
              <a:ea typeface="微軟正黑體" panose="020B0604030504040204" pitchFamily="34" charset="-120"/>
            </a:rPr>
            <a:t>mid </a:t>
          </a:r>
          <a:r>
            <a:rPr lang="zh-TW" altLang="en-US" sz="1800" b="1" dirty="0">
              <a:latin typeface="微軟正黑體" panose="020B0604030504040204" pitchFamily="34" charset="-120"/>
              <a:ea typeface="微軟正黑體" panose="020B0604030504040204" pitchFamily="34" charset="-120"/>
            </a:rPr>
            <a:t>←前面子數列的中間數，回到步驟</a:t>
          </a:r>
          <a:r>
            <a:rPr lang="en-US" altLang="zh-TW" sz="1800" b="1" dirty="0">
              <a:latin typeface="微軟正黑體" panose="020B0604030504040204" pitchFamily="34" charset="-120"/>
              <a:ea typeface="微軟正黑體" panose="020B0604030504040204" pitchFamily="34" charset="-120"/>
            </a:rPr>
            <a:t>2</a:t>
          </a:r>
          <a:endParaRPr lang="zh-TW" sz="1800" b="1" dirty="0">
            <a:latin typeface="微軟正黑體" panose="020B0604030504040204" pitchFamily="34" charset="-120"/>
            <a:ea typeface="微軟正黑體" panose="020B0604030504040204" pitchFamily="34" charset="-120"/>
          </a:endParaRPr>
        </a:p>
      </dgm:t>
    </dgm:pt>
    <dgm:pt modelId="{DE5220DE-B613-422A-B82A-FCBA9C21A552}" type="parTrans" cxnId="{6DCEBAB2-FFD5-46E3-9065-3AAC30BA7C48}">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23B5D9A6-7B96-42C6-9D06-D2C5C7E5F735}" type="sibTrans" cxnId="{6DCEBAB2-FFD5-46E3-9065-3AAC30BA7C48}">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9A17E133-4454-4A58-83BD-C0DB239A5918}">
      <dgm:prSet/>
      <dgm:spPr/>
      <dgm:t>
        <a:bodyPr/>
        <a:lstStyle/>
        <a:p>
          <a:pPr rtl="0"/>
          <a:r>
            <a:rPr lang="en-US" altLang="zh-TW" b="1" dirty="0">
              <a:latin typeface="微軟正黑體" panose="020B0604030504040204" pitchFamily="34" charset="-120"/>
              <a:ea typeface="微軟正黑體" panose="020B0604030504040204" pitchFamily="34" charset="-120"/>
            </a:rPr>
            <a:t>6</a:t>
          </a:r>
          <a:endParaRPr lang="zh-TW" b="1" dirty="0">
            <a:latin typeface="微軟正黑體" panose="020B0604030504040204" pitchFamily="34" charset="-120"/>
            <a:ea typeface="微軟正黑體" panose="020B0604030504040204" pitchFamily="34" charset="-120"/>
          </a:endParaRPr>
        </a:p>
      </dgm:t>
    </dgm:pt>
    <dgm:pt modelId="{689324D7-7DB9-4A42-8613-E684DB67F3DD}" type="parTrans" cxnId="{930F27A9-3ED3-490C-9632-79A17FAD1969}">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06362CFF-BDB7-4EFE-A7B1-40326E554C76}" type="sibTrans" cxnId="{930F27A9-3ED3-490C-9632-79A17FAD1969}">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F0D36D75-CE48-4990-9B09-C82EF57F00B6}">
      <dgm:prSet custT="1"/>
      <dgm:spPr/>
      <dgm:t>
        <a:bodyPr/>
        <a:lstStyle/>
        <a:p>
          <a:pPr algn="just" rtl="0"/>
          <a:r>
            <a:rPr lang="zh-TW" altLang="en-US" sz="1800" b="1" dirty="0">
              <a:latin typeface="微軟正黑體" panose="020B0604030504040204" pitchFamily="34" charset="-120"/>
              <a:ea typeface="微軟正黑體" panose="020B0604030504040204" pitchFamily="34" charset="-120"/>
            </a:rPr>
            <a:t>如果搜尋的數大於</a:t>
          </a:r>
          <a:r>
            <a:rPr lang="en-US" altLang="zh-TW" sz="1800" b="1" dirty="0">
              <a:latin typeface="微軟正黑體" panose="020B0604030504040204" pitchFamily="34" charset="-120"/>
              <a:ea typeface="微軟正黑體" panose="020B0604030504040204" pitchFamily="34" charset="-120"/>
            </a:rPr>
            <a:t>mid</a:t>
          </a:r>
          <a:r>
            <a:rPr lang="zh-TW" altLang="en-US" sz="1800" b="1" dirty="0">
              <a:latin typeface="微軟正黑體" panose="020B0604030504040204" pitchFamily="34" charset="-120"/>
              <a:ea typeface="微軟正黑體" panose="020B0604030504040204" pitchFamily="34" charset="-120"/>
            </a:rPr>
            <a:t>，則只要考慮後半的子數列，</a:t>
          </a:r>
          <a:r>
            <a:rPr lang="en-US" altLang="zh-TW" sz="1800" b="1" dirty="0">
              <a:latin typeface="微軟正黑體" panose="020B0604030504040204" pitchFamily="34" charset="-120"/>
              <a:ea typeface="微軟正黑體" panose="020B0604030504040204" pitchFamily="34" charset="-120"/>
            </a:rPr>
            <a:t>mid </a:t>
          </a:r>
          <a:r>
            <a:rPr lang="zh-TW" altLang="en-US" sz="1800" b="1" dirty="0">
              <a:latin typeface="微軟正黑體" panose="020B0604030504040204" pitchFamily="34" charset="-120"/>
              <a:ea typeface="微軟正黑體" panose="020B0604030504040204" pitchFamily="34" charset="-120"/>
            </a:rPr>
            <a:t>←後面子數列的中間數，回到步驟</a:t>
          </a:r>
          <a:r>
            <a:rPr lang="en-US" altLang="zh-TW" sz="1800" b="1" dirty="0">
              <a:latin typeface="微軟正黑體" panose="020B0604030504040204" pitchFamily="34" charset="-120"/>
              <a:ea typeface="微軟正黑體" panose="020B0604030504040204" pitchFamily="34" charset="-120"/>
            </a:rPr>
            <a:t>2</a:t>
          </a:r>
          <a:endParaRPr lang="zh-TW" sz="1800" b="1" dirty="0">
            <a:latin typeface="微軟正黑體" panose="020B0604030504040204" pitchFamily="34" charset="-120"/>
            <a:ea typeface="微軟正黑體" panose="020B0604030504040204" pitchFamily="34" charset="-120"/>
          </a:endParaRPr>
        </a:p>
      </dgm:t>
    </dgm:pt>
    <dgm:pt modelId="{3994C285-D6DE-46EE-9CC3-D757142DB53C}" type="parTrans" cxnId="{1EA9BF94-70A6-4937-9215-5D651C8ABD5C}">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911FE5AC-0C02-4296-A3F2-B92731DCDF0B}" type="sibTrans" cxnId="{1EA9BF94-70A6-4937-9215-5D651C8ABD5C}">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435F2F68-9B69-410F-8DAE-32309F80F7BA}" type="pres">
      <dgm:prSet presAssocID="{760D3DD5-4FF4-4CB9-9043-FEF900489766}" presName="linearFlow" presStyleCnt="0">
        <dgm:presLayoutVars>
          <dgm:dir/>
          <dgm:animLvl val="lvl"/>
          <dgm:resizeHandles val="exact"/>
        </dgm:presLayoutVars>
      </dgm:prSet>
      <dgm:spPr/>
    </dgm:pt>
    <dgm:pt modelId="{4D173509-0DAC-46F1-A2DE-BE8E477EC926}" type="pres">
      <dgm:prSet presAssocID="{2C10E827-78B9-4CD0-9135-C649C8ABD480}" presName="composite" presStyleCnt="0"/>
      <dgm:spPr/>
    </dgm:pt>
    <dgm:pt modelId="{FAD15BB6-E774-456B-913A-D03FFD50F88D}" type="pres">
      <dgm:prSet presAssocID="{2C10E827-78B9-4CD0-9135-C649C8ABD480}" presName="parentText" presStyleLbl="alignNode1" presStyleIdx="0" presStyleCnt="3">
        <dgm:presLayoutVars>
          <dgm:chMax val="1"/>
          <dgm:bulletEnabled val="1"/>
        </dgm:presLayoutVars>
      </dgm:prSet>
      <dgm:spPr/>
    </dgm:pt>
    <dgm:pt modelId="{6EFE7AB5-0941-4CF7-B563-5474DF815C78}" type="pres">
      <dgm:prSet presAssocID="{2C10E827-78B9-4CD0-9135-C649C8ABD480}" presName="descendantText" presStyleLbl="alignAcc1" presStyleIdx="0" presStyleCnt="3">
        <dgm:presLayoutVars>
          <dgm:bulletEnabled val="1"/>
        </dgm:presLayoutVars>
      </dgm:prSet>
      <dgm:spPr/>
    </dgm:pt>
    <dgm:pt modelId="{B65A2965-E936-485C-B625-A5B1F83D98B8}" type="pres">
      <dgm:prSet presAssocID="{C8152C64-7C20-4F35-9417-6DC5EBBB3B54}" presName="sp" presStyleCnt="0"/>
      <dgm:spPr/>
    </dgm:pt>
    <dgm:pt modelId="{EB03756D-AD07-4C31-8C4F-DFA4417CA4C7}" type="pres">
      <dgm:prSet presAssocID="{2A1BFA2A-5C03-4E5F-983D-2BD4CA7F9BDA}" presName="composite" presStyleCnt="0"/>
      <dgm:spPr/>
    </dgm:pt>
    <dgm:pt modelId="{116AA287-C9C7-4ABA-AD92-9ED685872512}" type="pres">
      <dgm:prSet presAssocID="{2A1BFA2A-5C03-4E5F-983D-2BD4CA7F9BDA}" presName="parentText" presStyleLbl="alignNode1" presStyleIdx="1" presStyleCnt="3">
        <dgm:presLayoutVars>
          <dgm:chMax val="1"/>
          <dgm:bulletEnabled val="1"/>
        </dgm:presLayoutVars>
      </dgm:prSet>
      <dgm:spPr/>
    </dgm:pt>
    <dgm:pt modelId="{A9D70513-2C42-4FAE-94DD-459AB157F382}" type="pres">
      <dgm:prSet presAssocID="{2A1BFA2A-5C03-4E5F-983D-2BD4CA7F9BDA}" presName="descendantText" presStyleLbl="alignAcc1" presStyleIdx="1" presStyleCnt="3">
        <dgm:presLayoutVars>
          <dgm:bulletEnabled val="1"/>
        </dgm:presLayoutVars>
      </dgm:prSet>
      <dgm:spPr/>
    </dgm:pt>
    <dgm:pt modelId="{F614FE5E-8AAD-4DAE-821B-03E0DD954911}" type="pres">
      <dgm:prSet presAssocID="{1A6F7ECC-F4FF-4A75-AB26-6223F585E71E}" presName="sp" presStyleCnt="0"/>
      <dgm:spPr/>
    </dgm:pt>
    <dgm:pt modelId="{A3A97565-8920-4EAE-8AC3-EC1CE79A4F29}" type="pres">
      <dgm:prSet presAssocID="{9A17E133-4454-4A58-83BD-C0DB239A5918}" presName="composite" presStyleCnt="0"/>
      <dgm:spPr/>
    </dgm:pt>
    <dgm:pt modelId="{AF898CE2-AE28-4243-89F6-C146EF02B541}" type="pres">
      <dgm:prSet presAssocID="{9A17E133-4454-4A58-83BD-C0DB239A5918}" presName="parentText" presStyleLbl="alignNode1" presStyleIdx="2" presStyleCnt="3">
        <dgm:presLayoutVars>
          <dgm:chMax val="1"/>
          <dgm:bulletEnabled val="1"/>
        </dgm:presLayoutVars>
      </dgm:prSet>
      <dgm:spPr/>
    </dgm:pt>
    <dgm:pt modelId="{F8313686-5249-4203-A1E3-82BD9AB7F03E}" type="pres">
      <dgm:prSet presAssocID="{9A17E133-4454-4A58-83BD-C0DB239A5918}" presName="descendantText" presStyleLbl="alignAcc1" presStyleIdx="2" presStyleCnt="3">
        <dgm:presLayoutVars>
          <dgm:bulletEnabled val="1"/>
        </dgm:presLayoutVars>
      </dgm:prSet>
      <dgm:spPr/>
    </dgm:pt>
  </dgm:ptLst>
  <dgm:cxnLst>
    <dgm:cxn modelId="{3C3C7F01-216E-47FF-A875-492ABC671FB3}" srcId="{760D3DD5-4FF4-4CB9-9043-FEF900489766}" destId="{2A1BFA2A-5C03-4E5F-983D-2BD4CA7F9BDA}" srcOrd="1" destOrd="0" parTransId="{99407E7A-5918-46F4-AA66-3C96CE0D2086}" sibTransId="{1A6F7ECC-F4FF-4A75-AB26-6223F585E71E}"/>
    <dgm:cxn modelId="{BC902B0A-3AF4-48C1-823C-D2C72394679C}" type="presOf" srcId="{2A1BFA2A-5C03-4E5F-983D-2BD4CA7F9BDA}" destId="{116AA287-C9C7-4ABA-AD92-9ED685872512}" srcOrd="0" destOrd="0" presId="urn:microsoft.com/office/officeart/2005/8/layout/chevron2"/>
    <dgm:cxn modelId="{625C6614-5095-45EE-9926-19FAD7BC1835}" type="presOf" srcId="{9A17E133-4454-4A58-83BD-C0DB239A5918}" destId="{AF898CE2-AE28-4243-89F6-C146EF02B541}" srcOrd="0" destOrd="0" presId="urn:microsoft.com/office/officeart/2005/8/layout/chevron2"/>
    <dgm:cxn modelId="{D5D3926E-95DE-4013-829E-AD5862666CBC}" type="presOf" srcId="{2C10E827-78B9-4CD0-9135-C649C8ABD480}" destId="{FAD15BB6-E774-456B-913A-D03FFD50F88D}" srcOrd="0" destOrd="0" presId="urn:microsoft.com/office/officeart/2005/8/layout/chevron2"/>
    <dgm:cxn modelId="{911EE884-4AC2-4C63-A15D-8EAF022663B2}" type="presOf" srcId="{F0D36D75-CE48-4990-9B09-C82EF57F00B6}" destId="{F8313686-5249-4203-A1E3-82BD9AB7F03E}" srcOrd="0" destOrd="0" presId="urn:microsoft.com/office/officeart/2005/8/layout/chevron2"/>
    <dgm:cxn modelId="{F1422C8E-D90A-450E-956A-20E6F28B2310}" type="presOf" srcId="{384090E4-912C-426D-9A37-136CFA55A092}" destId="{6EFE7AB5-0941-4CF7-B563-5474DF815C78}" srcOrd="0" destOrd="0" presId="urn:microsoft.com/office/officeart/2005/8/layout/chevron2"/>
    <dgm:cxn modelId="{1EA9BF94-70A6-4937-9215-5D651C8ABD5C}" srcId="{9A17E133-4454-4A58-83BD-C0DB239A5918}" destId="{F0D36D75-CE48-4990-9B09-C82EF57F00B6}" srcOrd="0" destOrd="0" parTransId="{3994C285-D6DE-46EE-9CC3-D757142DB53C}" sibTransId="{911FE5AC-0C02-4296-A3F2-B92731DCDF0B}"/>
    <dgm:cxn modelId="{930F27A9-3ED3-490C-9632-79A17FAD1969}" srcId="{760D3DD5-4FF4-4CB9-9043-FEF900489766}" destId="{9A17E133-4454-4A58-83BD-C0DB239A5918}" srcOrd="2" destOrd="0" parTransId="{689324D7-7DB9-4A42-8613-E684DB67F3DD}" sibTransId="{06362CFF-BDB7-4EFE-A7B1-40326E554C76}"/>
    <dgm:cxn modelId="{6DCEBAB2-FFD5-46E3-9065-3AAC30BA7C48}" srcId="{2A1BFA2A-5C03-4E5F-983D-2BD4CA7F9BDA}" destId="{A6D9C0F0-43FD-4B68-B921-48BFD0F7816A}" srcOrd="0" destOrd="0" parTransId="{DE5220DE-B613-422A-B82A-FCBA9C21A552}" sibTransId="{23B5D9A6-7B96-42C6-9D06-D2C5C7E5F735}"/>
    <dgm:cxn modelId="{D26A3FB6-4F83-486C-84C6-6C6F1F949761}" srcId="{2C10E827-78B9-4CD0-9135-C649C8ABD480}" destId="{384090E4-912C-426D-9A37-136CFA55A092}" srcOrd="0" destOrd="0" parTransId="{1EB3CEAC-62C4-4FA6-AC60-9DA9D7E5BAA2}" sibTransId="{C7BE88AB-20C7-4C5A-A8D7-36AE018DC915}"/>
    <dgm:cxn modelId="{D6E0CCC8-0B1E-4C06-BBA3-7A3FCF6649D6}" type="presOf" srcId="{760D3DD5-4FF4-4CB9-9043-FEF900489766}" destId="{435F2F68-9B69-410F-8DAE-32309F80F7BA}" srcOrd="0" destOrd="0" presId="urn:microsoft.com/office/officeart/2005/8/layout/chevron2"/>
    <dgm:cxn modelId="{BA6C3ECC-55BE-4BF0-9270-D6263ABA81D5}" type="presOf" srcId="{A6D9C0F0-43FD-4B68-B921-48BFD0F7816A}" destId="{A9D70513-2C42-4FAE-94DD-459AB157F382}" srcOrd="0" destOrd="0" presId="urn:microsoft.com/office/officeart/2005/8/layout/chevron2"/>
    <dgm:cxn modelId="{648A79E8-6EBD-4732-A6AF-B2C284FEFE83}" srcId="{760D3DD5-4FF4-4CB9-9043-FEF900489766}" destId="{2C10E827-78B9-4CD0-9135-C649C8ABD480}" srcOrd="0" destOrd="0" parTransId="{EA638C33-1065-42CF-B1B9-B98C81104479}" sibTransId="{C8152C64-7C20-4F35-9417-6DC5EBBB3B54}"/>
    <dgm:cxn modelId="{66E64EB6-E713-4407-B5EA-FE292E3E3B69}" type="presParOf" srcId="{435F2F68-9B69-410F-8DAE-32309F80F7BA}" destId="{4D173509-0DAC-46F1-A2DE-BE8E477EC926}" srcOrd="0" destOrd="0" presId="urn:microsoft.com/office/officeart/2005/8/layout/chevron2"/>
    <dgm:cxn modelId="{2D8668AA-7CD9-4E18-A192-A4386C38EEB6}" type="presParOf" srcId="{4D173509-0DAC-46F1-A2DE-BE8E477EC926}" destId="{FAD15BB6-E774-456B-913A-D03FFD50F88D}" srcOrd="0" destOrd="0" presId="urn:microsoft.com/office/officeart/2005/8/layout/chevron2"/>
    <dgm:cxn modelId="{D21229E4-0AFC-4AEC-A9AC-3651140874B5}" type="presParOf" srcId="{4D173509-0DAC-46F1-A2DE-BE8E477EC926}" destId="{6EFE7AB5-0941-4CF7-B563-5474DF815C78}" srcOrd="1" destOrd="0" presId="urn:microsoft.com/office/officeart/2005/8/layout/chevron2"/>
    <dgm:cxn modelId="{DDA1B40C-9D58-4DE8-8CDD-684F7FF1BFE5}" type="presParOf" srcId="{435F2F68-9B69-410F-8DAE-32309F80F7BA}" destId="{B65A2965-E936-485C-B625-A5B1F83D98B8}" srcOrd="1" destOrd="0" presId="urn:microsoft.com/office/officeart/2005/8/layout/chevron2"/>
    <dgm:cxn modelId="{F12C15D6-BFEA-4587-AAC2-BDF9A7C99FE5}" type="presParOf" srcId="{435F2F68-9B69-410F-8DAE-32309F80F7BA}" destId="{EB03756D-AD07-4C31-8C4F-DFA4417CA4C7}" srcOrd="2" destOrd="0" presId="urn:microsoft.com/office/officeart/2005/8/layout/chevron2"/>
    <dgm:cxn modelId="{77653458-52A5-4852-83F5-0FBF31B53249}" type="presParOf" srcId="{EB03756D-AD07-4C31-8C4F-DFA4417CA4C7}" destId="{116AA287-C9C7-4ABA-AD92-9ED685872512}" srcOrd="0" destOrd="0" presId="urn:microsoft.com/office/officeart/2005/8/layout/chevron2"/>
    <dgm:cxn modelId="{F4DB2648-02F3-4F85-AB19-C9CEA43FEECA}" type="presParOf" srcId="{EB03756D-AD07-4C31-8C4F-DFA4417CA4C7}" destId="{A9D70513-2C42-4FAE-94DD-459AB157F382}" srcOrd="1" destOrd="0" presId="urn:microsoft.com/office/officeart/2005/8/layout/chevron2"/>
    <dgm:cxn modelId="{EA77A2D0-B52D-4989-9DD7-958F7FE32F24}" type="presParOf" srcId="{435F2F68-9B69-410F-8DAE-32309F80F7BA}" destId="{F614FE5E-8AAD-4DAE-821B-03E0DD954911}" srcOrd="3" destOrd="0" presId="urn:microsoft.com/office/officeart/2005/8/layout/chevron2"/>
    <dgm:cxn modelId="{A3828391-F287-48B6-96F3-20A684188E4D}" type="presParOf" srcId="{435F2F68-9B69-410F-8DAE-32309F80F7BA}" destId="{A3A97565-8920-4EAE-8AC3-EC1CE79A4F29}" srcOrd="4" destOrd="0" presId="urn:microsoft.com/office/officeart/2005/8/layout/chevron2"/>
    <dgm:cxn modelId="{BA75EC80-DD07-4B9C-83E6-AAB2D8D229AF}" type="presParOf" srcId="{A3A97565-8920-4EAE-8AC3-EC1CE79A4F29}" destId="{AF898CE2-AE28-4243-89F6-C146EF02B541}" srcOrd="0" destOrd="0" presId="urn:microsoft.com/office/officeart/2005/8/layout/chevron2"/>
    <dgm:cxn modelId="{448A86DD-7FDD-4C03-9132-8C1F952371EB}" type="presParOf" srcId="{A3A97565-8920-4EAE-8AC3-EC1CE79A4F29}" destId="{F8313686-5249-4203-A1E3-82BD9AB7F03E}"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8745EB-B71C-4DB0-8EF9-16A687DDE7F1}">
      <dsp:nvSpPr>
        <dsp:cNvPr id="0" name=""/>
        <dsp:cNvSpPr/>
      </dsp:nvSpPr>
      <dsp:spPr>
        <a:xfrm>
          <a:off x="900" y="196688"/>
          <a:ext cx="2342545" cy="2643720"/>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0"/>
            </a:lnSpc>
            <a:spcBef>
              <a:spcPct val="0"/>
            </a:spcBef>
            <a:spcAft>
              <a:spcPct val="35000"/>
            </a:spcAft>
            <a:buNone/>
          </a:pPr>
          <a:r>
            <a:rPr lang="zh-TW" sz="2400" b="1" kern="1200" dirty="0">
              <a:latin typeface="微軟正黑體" panose="020B0604030504040204" pitchFamily="34" charset="-120"/>
              <a:ea typeface="微軟正黑體" panose="020B0604030504040204" pitchFamily="34" charset="-120"/>
            </a:rPr>
            <a:t>步驟 </a:t>
          </a:r>
          <a:r>
            <a:rPr lang="en-US" sz="2400" b="1" kern="1200" dirty="0">
              <a:latin typeface="微軟正黑體" panose="020B0604030504040204" pitchFamily="34" charset="-120"/>
              <a:ea typeface="微軟正黑體" panose="020B0604030504040204" pitchFamily="34" charset="-120"/>
            </a:rPr>
            <a:t>1 </a:t>
          </a:r>
          <a:endParaRPr lang="zh-TW" sz="2400" b="1" kern="1200" dirty="0">
            <a:latin typeface="微軟正黑體" panose="020B0604030504040204" pitchFamily="34" charset="-120"/>
            <a:ea typeface="微軟正黑體" panose="020B0604030504040204" pitchFamily="34" charset="-120"/>
          </a:endParaRPr>
        </a:p>
      </dsp:txBody>
      <dsp:txXfrm>
        <a:off x="900" y="196688"/>
        <a:ext cx="2342545" cy="793116"/>
      </dsp:txXfrm>
    </dsp:sp>
    <dsp:sp modelId="{CA6EE8DB-B66B-4A06-B89B-27E4D981F042}">
      <dsp:nvSpPr>
        <dsp:cNvPr id="0" name=""/>
        <dsp:cNvSpPr/>
      </dsp:nvSpPr>
      <dsp:spPr>
        <a:xfrm>
          <a:off x="139101" y="675998"/>
          <a:ext cx="2066143" cy="202415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zh-TW" altLang="en-US" sz="2000" b="1" kern="1200" dirty="0">
              <a:latin typeface="微軟正黑體" panose="020B0604030504040204" pitchFamily="34" charset="-120"/>
              <a:ea typeface="微軟正黑體" panose="020B0604030504040204" pitchFamily="34" charset="-120"/>
            </a:rPr>
            <a:t>一開始整個數列歸類為未排序</a:t>
          </a:r>
        </a:p>
      </dsp:txBody>
      <dsp:txXfrm>
        <a:off x="198387" y="735284"/>
        <a:ext cx="1947571" cy="1905586"/>
      </dsp:txXfrm>
    </dsp:sp>
    <dsp:sp modelId="{5E114458-8C8E-4284-B586-71EABBA55558}">
      <dsp:nvSpPr>
        <dsp:cNvPr id="0" name=""/>
        <dsp:cNvSpPr/>
      </dsp:nvSpPr>
      <dsp:spPr>
        <a:xfrm>
          <a:off x="2519137" y="196384"/>
          <a:ext cx="2342545" cy="2643720"/>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0"/>
            </a:lnSpc>
            <a:spcBef>
              <a:spcPct val="0"/>
            </a:spcBef>
            <a:spcAft>
              <a:spcPct val="35000"/>
            </a:spcAft>
            <a:buNone/>
          </a:pPr>
          <a:r>
            <a:rPr lang="zh-TW" sz="2400" b="1" kern="1200" dirty="0">
              <a:latin typeface="微軟正黑體" panose="020B0604030504040204" pitchFamily="34" charset="-120"/>
              <a:ea typeface="微軟正黑體" panose="020B0604030504040204" pitchFamily="34" charset="-120"/>
            </a:rPr>
            <a:t>步驟 </a:t>
          </a:r>
          <a:r>
            <a:rPr lang="en-US" sz="2400" b="1" kern="1200" dirty="0">
              <a:latin typeface="微軟正黑體" panose="020B0604030504040204" pitchFamily="34" charset="-120"/>
              <a:ea typeface="微軟正黑體" panose="020B0604030504040204" pitchFamily="34" charset="-120"/>
            </a:rPr>
            <a:t>2</a:t>
          </a:r>
          <a:endParaRPr lang="zh-TW" sz="2400" b="1" kern="1200" dirty="0">
            <a:latin typeface="微軟正黑體" panose="020B0604030504040204" pitchFamily="34" charset="-120"/>
            <a:ea typeface="微軟正黑體" panose="020B0604030504040204" pitchFamily="34" charset="-120"/>
          </a:endParaRPr>
        </a:p>
      </dsp:txBody>
      <dsp:txXfrm>
        <a:off x="2519137" y="196384"/>
        <a:ext cx="2342545" cy="793116"/>
      </dsp:txXfrm>
    </dsp:sp>
    <dsp:sp modelId="{9C2201EC-D908-4DE5-9B38-BC12463CE5AC}">
      <dsp:nvSpPr>
        <dsp:cNvPr id="0" name=""/>
        <dsp:cNvSpPr/>
      </dsp:nvSpPr>
      <dsp:spPr>
        <a:xfrm>
          <a:off x="2655295" y="675077"/>
          <a:ext cx="2070229" cy="2025374"/>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rtl="0">
            <a:lnSpc>
              <a:spcPct val="90000"/>
            </a:lnSpc>
            <a:spcBef>
              <a:spcPct val="0"/>
            </a:spcBef>
            <a:spcAft>
              <a:spcPct val="35000"/>
            </a:spcAft>
            <a:buNone/>
          </a:pPr>
          <a:r>
            <a:rPr lang="zh-TW" altLang="en-US" sz="1700" b="1" kern="1200" dirty="0">
              <a:latin typeface="微軟正黑體" panose="020B0604030504040204" pitchFamily="34" charset="-120"/>
              <a:ea typeface="微軟正黑體" panose="020B0604030504040204" pitchFamily="34" charset="-120"/>
            </a:rPr>
            <a:t>從未排序的數中挑選出最小的數，和未排序數列中的第一個位置元素互調，將該最小的數歸類到已排序的數列中</a:t>
          </a:r>
        </a:p>
      </dsp:txBody>
      <dsp:txXfrm>
        <a:off x="2714616" y="734398"/>
        <a:ext cx="1951587" cy="1906732"/>
      </dsp:txXfrm>
    </dsp:sp>
    <dsp:sp modelId="{B108C075-E406-4E93-8FDC-07DA5A9D3F6C}">
      <dsp:nvSpPr>
        <dsp:cNvPr id="0" name=""/>
        <dsp:cNvSpPr/>
      </dsp:nvSpPr>
      <dsp:spPr>
        <a:xfrm>
          <a:off x="5037373" y="196688"/>
          <a:ext cx="2342545" cy="2643720"/>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0"/>
            </a:lnSpc>
            <a:spcBef>
              <a:spcPct val="0"/>
            </a:spcBef>
            <a:spcAft>
              <a:spcPct val="35000"/>
            </a:spcAft>
            <a:buNone/>
          </a:pPr>
          <a:r>
            <a:rPr lang="zh-TW" sz="2400" b="1" kern="1200" dirty="0">
              <a:latin typeface="微軟正黑體" panose="020B0604030504040204" pitchFamily="34" charset="-120"/>
              <a:ea typeface="微軟正黑體" panose="020B0604030504040204" pitchFamily="34" charset="-120"/>
            </a:rPr>
            <a:t>步驟</a:t>
          </a:r>
          <a:r>
            <a:rPr lang="en-US" sz="2400" b="1" kern="1200" dirty="0">
              <a:latin typeface="微軟正黑體" panose="020B0604030504040204" pitchFamily="34" charset="-120"/>
              <a:ea typeface="微軟正黑體" panose="020B0604030504040204" pitchFamily="34" charset="-120"/>
            </a:rPr>
            <a:t>3</a:t>
          </a:r>
          <a:endParaRPr lang="zh-TW" sz="2400" b="1" kern="1200" dirty="0">
            <a:latin typeface="微軟正黑體" panose="020B0604030504040204" pitchFamily="34" charset="-120"/>
            <a:ea typeface="微軟正黑體" panose="020B0604030504040204" pitchFamily="34" charset="-120"/>
          </a:endParaRPr>
        </a:p>
      </dsp:txBody>
      <dsp:txXfrm>
        <a:off x="5037373" y="196688"/>
        <a:ext cx="2342545" cy="793116"/>
      </dsp:txXfrm>
    </dsp:sp>
    <dsp:sp modelId="{468C3BB7-6DA6-4606-9772-679DB50AE176}">
      <dsp:nvSpPr>
        <dsp:cNvPr id="0" name=""/>
        <dsp:cNvSpPr/>
      </dsp:nvSpPr>
      <dsp:spPr>
        <a:xfrm>
          <a:off x="5171489" y="675998"/>
          <a:ext cx="2074314" cy="2024158"/>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zh-TW" sz="2000" b="1" kern="1200" dirty="0">
              <a:latin typeface="微軟正黑體" panose="020B0604030504040204" pitchFamily="34" charset="-120"/>
              <a:ea typeface="微軟正黑體" panose="020B0604030504040204" pitchFamily="34" charset="-120"/>
            </a:rPr>
            <a:t>重複步驟</a:t>
          </a:r>
          <a:r>
            <a:rPr lang="en-US" sz="2000" b="1" kern="1200" dirty="0">
              <a:latin typeface="微軟正黑體" panose="020B0604030504040204" pitchFamily="34" charset="-120"/>
              <a:ea typeface="微軟正黑體" panose="020B0604030504040204" pitchFamily="34" charset="-120"/>
            </a:rPr>
            <a:t>2</a:t>
          </a:r>
          <a:r>
            <a:rPr lang="zh-TW" sz="2000" b="1" kern="1200" dirty="0">
              <a:latin typeface="微軟正黑體" panose="020B0604030504040204" pitchFamily="34" charset="-120"/>
              <a:ea typeface="微軟正黑體" panose="020B0604030504040204" pitchFamily="34" charset="-120"/>
            </a:rPr>
            <a:t>，直到所有的數都歸到已排序數列中</a:t>
          </a:r>
        </a:p>
      </dsp:txBody>
      <dsp:txXfrm>
        <a:off x="5230775" y="735284"/>
        <a:ext cx="1955742" cy="19055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8745EB-B71C-4DB0-8EF9-16A687DDE7F1}">
      <dsp:nvSpPr>
        <dsp:cNvPr id="0" name=""/>
        <dsp:cNvSpPr/>
      </dsp:nvSpPr>
      <dsp:spPr>
        <a:xfrm>
          <a:off x="922" y="133886"/>
          <a:ext cx="2399680" cy="2385278"/>
        </a:xfrm>
        <a:prstGeom prst="roundRect">
          <a:avLst>
            <a:gd name="adj" fmla="val 10000"/>
          </a:avLst>
        </a:prstGeom>
        <a:gradFill rotWithShape="0">
          <a:gsLst>
            <a:gs pos="0">
              <a:schemeClr val="accent4">
                <a:tint val="40000"/>
                <a:hueOff val="0"/>
                <a:satOff val="0"/>
                <a:lumOff val="0"/>
                <a:alphaOff val="0"/>
                <a:shade val="51000"/>
                <a:satMod val="130000"/>
              </a:schemeClr>
            </a:gs>
            <a:gs pos="80000">
              <a:schemeClr val="accent4">
                <a:tint val="40000"/>
                <a:hueOff val="0"/>
                <a:satOff val="0"/>
                <a:lumOff val="0"/>
                <a:alphaOff val="0"/>
                <a:shade val="93000"/>
                <a:satMod val="130000"/>
              </a:schemeClr>
            </a:gs>
            <a:gs pos="100000">
              <a:schemeClr val="accent4">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rtl="0">
            <a:lnSpc>
              <a:spcPct val="10000"/>
            </a:lnSpc>
            <a:spcBef>
              <a:spcPct val="0"/>
            </a:spcBef>
            <a:spcAft>
              <a:spcPts val="10"/>
            </a:spcAft>
            <a:buNone/>
          </a:pPr>
          <a:r>
            <a:rPr lang="zh-TW" sz="2600" b="1" kern="1200" dirty="0">
              <a:latin typeface="微軟正黑體" panose="020B0604030504040204" pitchFamily="34" charset="-120"/>
              <a:ea typeface="微軟正黑體" panose="020B0604030504040204" pitchFamily="34" charset="-120"/>
            </a:rPr>
            <a:t>步驟 </a:t>
          </a:r>
          <a:r>
            <a:rPr lang="en-US" sz="2600" b="1" kern="1200" dirty="0">
              <a:latin typeface="微軟正黑體" panose="020B0604030504040204" pitchFamily="34" charset="-120"/>
              <a:ea typeface="微軟正黑體" panose="020B0604030504040204" pitchFamily="34" charset="-120"/>
            </a:rPr>
            <a:t>1 </a:t>
          </a:r>
          <a:endParaRPr lang="zh-TW" sz="2600" b="1" kern="1200" dirty="0">
            <a:latin typeface="微軟正黑體" panose="020B0604030504040204" pitchFamily="34" charset="-120"/>
            <a:ea typeface="微軟正黑體" panose="020B0604030504040204" pitchFamily="34" charset="-120"/>
          </a:endParaRPr>
        </a:p>
      </dsp:txBody>
      <dsp:txXfrm>
        <a:off x="922" y="133886"/>
        <a:ext cx="2399680" cy="715583"/>
      </dsp:txXfrm>
    </dsp:sp>
    <dsp:sp modelId="{CA6EE8DB-B66B-4A06-B89B-27E4D981F042}">
      <dsp:nvSpPr>
        <dsp:cNvPr id="0" name=""/>
        <dsp:cNvSpPr/>
      </dsp:nvSpPr>
      <dsp:spPr>
        <a:xfrm>
          <a:off x="106268" y="585074"/>
          <a:ext cx="2188988" cy="1725941"/>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rtl="0">
            <a:lnSpc>
              <a:spcPct val="90000"/>
            </a:lnSpc>
            <a:spcBef>
              <a:spcPct val="0"/>
            </a:spcBef>
            <a:spcAft>
              <a:spcPct val="35000"/>
            </a:spcAft>
            <a:buNone/>
          </a:pPr>
          <a:r>
            <a:rPr lang="zh-TW" altLang="en-US" sz="1800" b="1" kern="1200" dirty="0">
              <a:latin typeface="微軟正黑體" panose="020B0604030504040204" pitchFamily="34" charset="-120"/>
              <a:ea typeface="微軟正黑體" panose="020B0604030504040204" pitchFamily="34" charset="-120"/>
            </a:rPr>
            <a:t>一開始只有第一個數在已排序數列裡，其他的數歸類在未排序數列裡</a:t>
          </a:r>
        </a:p>
      </dsp:txBody>
      <dsp:txXfrm>
        <a:off x="156819" y="635625"/>
        <a:ext cx="2087886" cy="1624839"/>
      </dsp:txXfrm>
    </dsp:sp>
    <dsp:sp modelId="{5E114458-8C8E-4284-B586-71EABBA55558}">
      <dsp:nvSpPr>
        <dsp:cNvPr id="0" name=""/>
        <dsp:cNvSpPr/>
      </dsp:nvSpPr>
      <dsp:spPr>
        <a:xfrm>
          <a:off x="2580579" y="133886"/>
          <a:ext cx="2399680" cy="2385278"/>
        </a:xfrm>
        <a:prstGeom prst="roundRect">
          <a:avLst>
            <a:gd name="adj" fmla="val 10000"/>
          </a:avLst>
        </a:prstGeom>
        <a:gradFill rotWithShape="0">
          <a:gsLst>
            <a:gs pos="0">
              <a:schemeClr val="accent4">
                <a:tint val="40000"/>
                <a:hueOff val="0"/>
                <a:satOff val="0"/>
                <a:lumOff val="0"/>
                <a:alphaOff val="0"/>
                <a:shade val="51000"/>
                <a:satMod val="130000"/>
              </a:schemeClr>
            </a:gs>
            <a:gs pos="80000">
              <a:schemeClr val="accent4">
                <a:tint val="40000"/>
                <a:hueOff val="0"/>
                <a:satOff val="0"/>
                <a:lumOff val="0"/>
                <a:alphaOff val="0"/>
                <a:shade val="93000"/>
                <a:satMod val="130000"/>
              </a:schemeClr>
            </a:gs>
            <a:gs pos="100000">
              <a:schemeClr val="accent4">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rtl="0">
            <a:lnSpc>
              <a:spcPct val="10000"/>
            </a:lnSpc>
            <a:spcBef>
              <a:spcPct val="0"/>
            </a:spcBef>
            <a:spcAft>
              <a:spcPts val="10"/>
            </a:spcAft>
            <a:buNone/>
          </a:pPr>
          <a:r>
            <a:rPr lang="zh-TW" sz="2600" b="1" kern="1200" dirty="0">
              <a:latin typeface="微軟正黑體" panose="020B0604030504040204" pitchFamily="34" charset="-120"/>
              <a:ea typeface="微軟正黑體" panose="020B0604030504040204" pitchFamily="34" charset="-120"/>
            </a:rPr>
            <a:t>步驟 </a:t>
          </a:r>
          <a:r>
            <a:rPr lang="en-US" sz="2600" b="1" kern="1200" dirty="0">
              <a:latin typeface="微軟正黑體" panose="020B0604030504040204" pitchFamily="34" charset="-120"/>
              <a:ea typeface="微軟正黑體" panose="020B0604030504040204" pitchFamily="34" charset="-120"/>
            </a:rPr>
            <a:t>2</a:t>
          </a:r>
          <a:endParaRPr lang="zh-TW" sz="2600" b="1" kern="1200" dirty="0">
            <a:latin typeface="微軟正黑體" panose="020B0604030504040204" pitchFamily="34" charset="-120"/>
            <a:ea typeface="微軟正黑體" panose="020B0604030504040204" pitchFamily="34" charset="-120"/>
          </a:endParaRPr>
        </a:p>
      </dsp:txBody>
      <dsp:txXfrm>
        <a:off x="2580579" y="133886"/>
        <a:ext cx="2399680" cy="715583"/>
      </dsp:txXfrm>
    </dsp:sp>
    <dsp:sp modelId="{9C2201EC-D908-4DE5-9B38-BC12463CE5AC}">
      <dsp:nvSpPr>
        <dsp:cNvPr id="0" name=""/>
        <dsp:cNvSpPr/>
      </dsp:nvSpPr>
      <dsp:spPr>
        <a:xfrm>
          <a:off x="2610287" y="586196"/>
          <a:ext cx="2340264" cy="1725941"/>
        </a:xfrm>
        <a:prstGeom prst="roundRect">
          <a:avLst>
            <a:gd name="adj" fmla="val 10000"/>
          </a:avLst>
        </a:prstGeom>
        <a:gradFill rotWithShape="0">
          <a:gsLst>
            <a:gs pos="0">
              <a:schemeClr val="accent4">
                <a:hueOff val="179936"/>
                <a:satOff val="8690"/>
                <a:lumOff val="4901"/>
                <a:alphaOff val="0"/>
                <a:shade val="51000"/>
                <a:satMod val="130000"/>
              </a:schemeClr>
            </a:gs>
            <a:gs pos="80000">
              <a:schemeClr val="accent4">
                <a:hueOff val="179936"/>
                <a:satOff val="8690"/>
                <a:lumOff val="4901"/>
                <a:alphaOff val="0"/>
                <a:shade val="93000"/>
                <a:satMod val="130000"/>
              </a:schemeClr>
            </a:gs>
            <a:gs pos="100000">
              <a:schemeClr val="accent4">
                <a:hueOff val="179936"/>
                <a:satOff val="8690"/>
                <a:lumOff val="490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zh-TW" altLang="en-US" sz="1600" b="1" kern="1200" dirty="0">
              <a:latin typeface="微軟正黑體" panose="020B0604030504040204" pitchFamily="34" charset="-120"/>
              <a:ea typeface="微軟正黑體" panose="020B0604030504040204" pitchFamily="34" charset="-120"/>
            </a:rPr>
            <a:t>將未排序數列的第一個數，插入到已排序的數列中，使得插入後的已排序數列仍然維持由小排到大的性質</a:t>
          </a:r>
        </a:p>
      </dsp:txBody>
      <dsp:txXfrm>
        <a:off x="2660838" y="636747"/>
        <a:ext cx="2239162" cy="1624839"/>
      </dsp:txXfrm>
    </dsp:sp>
    <dsp:sp modelId="{B108C075-E406-4E93-8FDC-07DA5A9D3F6C}">
      <dsp:nvSpPr>
        <dsp:cNvPr id="0" name=""/>
        <dsp:cNvSpPr/>
      </dsp:nvSpPr>
      <dsp:spPr>
        <a:xfrm>
          <a:off x="5160236" y="133886"/>
          <a:ext cx="2399680" cy="2385278"/>
        </a:xfrm>
        <a:prstGeom prst="roundRect">
          <a:avLst>
            <a:gd name="adj" fmla="val 10000"/>
          </a:avLst>
        </a:prstGeom>
        <a:gradFill rotWithShape="0">
          <a:gsLst>
            <a:gs pos="0">
              <a:schemeClr val="accent4">
                <a:tint val="40000"/>
                <a:hueOff val="0"/>
                <a:satOff val="0"/>
                <a:lumOff val="0"/>
                <a:alphaOff val="0"/>
                <a:shade val="51000"/>
                <a:satMod val="130000"/>
              </a:schemeClr>
            </a:gs>
            <a:gs pos="80000">
              <a:schemeClr val="accent4">
                <a:tint val="40000"/>
                <a:hueOff val="0"/>
                <a:satOff val="0"/>
                <a:lumOff val="0"/>
                <a:alphaOff val="0"/>
                <a:shade val="93000"/>
                <a:satMod val="130000"/>
              </a:schemeClr>
            </a:gs>
            <a:gs pos="100000">
              <a:schemeClr val="accent4">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rtl="0">
            <a:lnSpc>
              <a:spcPct val="10000"/>
            </a:lnSpc>
            <a:spcBef>
              <a:spcPct val="0"/>
            </a:spcBef>
            <a:spcAft>
              <a:spcPts val="10"/>
            </a:spcAft>
            <a:buNone/>
          </a:pPr>
          <a:r>
            <a:rPr lang="zh-TW" sz="2600" b="1" kern="1200" dirty="0">
              <a:latin typeface="微軟正黑體" panose="020B0604030504040204" pitchFamily="34" charset="-120"/>
              <a:ea typeface="微軟正黑體" panose="020B0604030504040204" pitchFamily="34" charset="-120"/>
            </a:rPr>
            <a:t>步驟</a:t>
          </a:r>
          <a:r>
            <a:rPr lang="en-US" sz="2600" b="1" kern="1200" dirty="0">
              <a:latin typeface="微軟正黑體" panose="020B0604030504040204" pitchFamily="34" charset="-120"/>
              <a:ea typeface="微軟正黑體" panose="020B0604030504040204" pitchFamily="34" charset="-120"/>
            </a:rPr>
            <a:t>3</a:t>
          </a:r>
          <a:endParaRPr lang="zh-TW" sz="2600" b="1" kern="1200" dirty="0">
            <a:latin typeface="微軟正黑體" panose="020B0604030504040204" pitchFamily="34" charset="-120"/>
            <a:ea typeface="微軟正黑體" panose="020B0604030504040204" pitchFamily="34" charset="-120"/>
          </a:endParaRPr>
        </a:p>
      </dsp:txBody>
      <dsp:txXfrm>
        <a:off x="5160236" y="133886"/>
        <a:ext cx="2399680" cy="715583"/>
      </dsp:txXfrm>
    </dsp:sp>
    <dsp:sp modelId="{468C3BB7-6DA6-4606-9772-679DB50AE176}">
      <dsp:nvSpPr>
        <dsp:cNvPr id="0" name=""/>
        <dsp:cNvSpPr/>
      </dsp:nvSpPr>
      <dsp:spPr>
        <a:xfrm>
          <a:off x="5265582" y="586196"/>
          <a:ext cx="2188988" cy="1725941"/>
        </a:xfrm>
        <a:prstGeom prst="roundRect">
          <a:avLst>
            <a:gd name="adj" fmla="val 10000"/>
          </a:avLst>
        </a:prstGeom>
        <a:gradFill rotWithShape="0">
          <a:gsLst>
            <a:gs pos="0">
              <a:schemeClr val="accent4">
                <a:hueOff val="359873"/>
                <a:satOff val="17380"/>
                <a:lumOff val="9803"/>
                <a:alphaOff val="0"/>
                <a:shade val="51000"/>
                <a:satMod val="130000"/>
              </a:schemeClr>
            </a:gs>
            <a:gs pos="80000">
              <a:schemeClr val="accent4">
                <a:hueOff val="359873"/>
                <a:satOff val="17380"/>
                <a:lumOff val="9803"/>
                <a:alphaOff val="0"/>
                <a:shade val="93000"/>
                <a:satMod val="130000"/>
              </a:schemeClr>
            </a:gs>
            <a:gs pos="100000">
              <a:schemeClr val="accent4">
                <a:hueOff val="359873"/>
                <a:satOff val="17380"/>
                <a:lumOff val="980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rtl="0">
            <a:lnSpc>
              <a:spcPct val="90000"/>
            </a:lnSpc>
            <a:spcBef>
              <a:spcPct val="0"/>
            </a:spcBef>
            <a:spcAft>
              <a:spcPct val="35000"/>
            </a:spcAft>
            <a:buNone/>
          </a:pPr>
          <a:r>
            <a:rPr lang="zh-TW" altLang="en-US" sz="1800" b="1" kern="1200" dirty="0">
              <a:latin typeface="微軟正黑體" panose="020B0604030504040204" pitchFamily="34" charset="-120"/>
              <a:ea typeface="微軟正黑體" panose="020B0604030504040204" pitchFamily="34" charset="-120"/>
            </a:rPr>
            <a:t>重複步驟</a:t>
          </a:r>
          <a:r>
            <a:rPr lang="en-US" altLang="zh-TW" sz="1800" b="1" kern="1200" dirty="0">
              <a:latin typeface="微軟正黑體" panose="020B0604030504040204" pitchFamily="34" charset="-120"/>
              <a:ea typeface="微軟正黑體" panose="020B0604030504040204" pitchFamily="34" charset="-120"/>
            </a:rPr>
            <a:t>2</a:t>
          </a:r>
          <a:r>
            <a:rPr lang="zh-TW" altLang="en-US" sz="1800" b="1" kern="1200" dirty="0">
              <a:latin typeface="微軟正黑體" panose="020B0604030504040204" pitchFamily="34" charset="-120"/>
              <a:ea typeface="微軟正黑體" panose="020B0604030504040204" pitchFamily="34" charset="-120"/>
            </a:rPr>
            <a:t>，直到所有的數都歸到已排序數列中</a:t>
          </a:r>
          <a:endParaRPr lang="zh-TW" sz="1800" b="1" kern="1200" dirty="0">
            <a:latin typeface="微軟正黑體" panose="020B0604030504040204" pitchFamily="34" charset="-120"/>
            <a:ea typeface="微軟正黑體" panose="020B0604030504040204" pitchFamily="34" charset="-120"/>
          </a:endParaRPr>
        </a:p>
      </dsp:txBody>
      <dsp:txXfrm>
        <a:off x="5316133" y="636747"/>
        <a:ext cx="2087886" cy="16248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8745EB-B71C-4DB0-8EF9-16A687DDE7F1}">
      <dsp:nvSpPr>
        <dsp:cNvPr id="0" name=""/>
        <dsp:cNvSpPr/>
      </dsp:nvSpPr>
      <dsp:spPr>
        <a:xfrm>
          <a:off x="1063" y="0"/>
          <a:ext cx="2217858" cy="2925325"/>
        </a:xfrm>
        <a:prstGeom prst="roundRect">
          <a:avLst>
            <a:gd name="adj" fmla="val 10000"/>
          </a:avLst>
        </a:prstGeom>
        <a:solidFill>
          <a:schemeClr val="accent3">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99060" tIns="99060" rIns="99060" bIns="99060" numCol="1" spcCol="1270" anchor="ctr" anchorCtr="0">
          <a:noAutofit/>
        </a:bodyPr>
        <a:lstStyle/>
        <a:p>
          <a:pPr marL="0" lvl="0" indent="0" algn="ctr" defTabSz="1155700" rtl="0">
            <a:lnSpc>
              <a:spcPct val="40000"/>
            </a:lnSpc>
            <a:spcBef>
              <a:spcPct val="0"/>
            </a:spcBef>
            <a:spcAft>
              <a:spcPts val="0"/>
            </a:spcAft>
            <a:buNone/>
          </a:pPr>
          <a:r>
            <a:rPr lang="zh-TW" sz="2600" b="1" kern="1200" dirty="0">
              <a:latin typeface="微軟正黑體" panose="020B0604030504040204" pitchFamily="34" charset="-120"/>
              <a:ea typeface="微軟正黑體" panose="020B0604030504040204" pitchFamily="34" charset="-120"/>
            </a:rPr>
            <a:t>步驟 </a:t>
          </a:r>
          <a:r>
            <a:rPr lang="en-US" sz="2600" b="1" kern="1200" dirty="0">
              <a:latin typeface="微軟正黑體" panose="020B0604030504040204" pitchFamily="34" charset="-120"/>
              <a:ea typeface="微軟正黑體" panose="020B0604030504040204" pitchFamily="34" charset="-120"/>
            </a:rPr>
            <a:t>1 </a:t>
          </a:r>
          <a:endParaRPr lang="zh-TW" sz="2600" b="1" kern="1200" dirty="0">
            <a:latin typeface="微軟正黑體" panose="020B0604030504040204" pitchFamily="34" charset="-120"/>
            <a:ea typeface="微軟正黑體" panose="020B0604030504040204" pitchFamily="34" charset="-120"/>
          </a:endParaRPr>
        </a:p>
      </dsp:txBody>
      <dsp:txXfrm>
        <a:off x="1063" y="0"/>
        <a:ext cx="2217858" cy="877597"/>
      </dsp:txXfrm>
    </dsp:sp>
    <dsp:sp modelId="{CA6EE8DB-B66B-4A06-B89B-27E4D981F042}">
      <dsp:nvSpPr>
        <dsp:cNvPr id="0" name=""/>
        <dsp:cNvSpPr/>
      </dsp:nvSpPr>
      <dsp:spPr>
        <a:xfrm>
          <a:off x="222849" y="716916"/>
          <a:ext cx="1774286" cy="1901345"/>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zh-TW" altLang="en-US" sz="2000" b="1" kern="1200" dirty="0">
              <a:latin typeface="微軟正黑體" panose="020B0604030504040204" pitchFamily="34" charset="-120"/>
              <a:ea typeface="微軟正黑體" panose="020B0604030504040204" pitchFamily="34" charset="-120"/>
            </a:rPr>
            <a:t>一開始整個數列歸類為未排序</a:t>
          </a:r>
        </a:p>
      </dsp:txBody>
      <dsp:txXfrm>
        <a:off x="274816" y="768883"/>
        <a:ext cx="1670352" cy="1797411"/>
      </dsp:txXfrm>
    </dsp:sp>
    <dsp:sp modelId="{5E114458-8C8E-4284-B586-71EABBA55558}">
      <dsp:nvSpPr>
        <dsp:cNvPr id="0" name=""/>
        <dsp:cNvSpPr/>
      </dsp:nvSpPr>
      <dsp:spPr>
        <a:xfrm>
          <a:off x="2385262" y="0"/>
          <a:ext cx="2520285" cy="2925325"/>
        </a:xfrm>
        <a:prstGeom prst="roundRect">
          <a:avLst>
            <a:gd name="adj" fmla="val 10000"/>
          </a:avLst>
        </a:prstGeom>
        <a:solidFill>
          <a:schemeClr val="accent3">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99060" tIns="99060" rIns="99060" bIns="99060" numCol="1" spcCol="1270" anchor="ctr" anchorCtr="0">
          <a:noAutofit/>
        </a:bodyPr>
        <a:lstStyle/>
        <a:p>
          <a:pPr marL="0" lvl="0" indent="0" algn="ctr" defTabSz="1155700" rtl="0">
            <a:lnSpc>
              <a:spcPct val="40000"/>
            </a:lnSpc>
            <a:spcBef>
              <a:spcPct val="0"/>
            </a:spcBef>
            <a:spcAft>
              <a:spcPts val="0"/>
            </a:spcAft>
            <a:buNone/>
          </a:pPr>
          <a:r>
            <a:rPr lang="zh-TW" sz="2600" b="1" kern="1200" dirty="0">
              <a:latin typeface="微軟正黑體" panose="020B0604030504040204" pitchFamily="34" charset="-120"/>
              <a:ea typeface="微軟正黑體" panose="020B0604030504040204" pitchFamily="34" charset="-120"/>
            </a:rPr>
            <a:t>步驟 </a:t>
          </a:r>
          <a:r>
            <a:rPr lang="en-US" sz="2600" b="1" kern="1200" dirty="0">
              <a:latin typeface="微軟正黑體" panose="020B0604030504040204" pitchFamily="34" charset="-120"/>
              <a:ea typeface="微軟正黑體" panose="020B0604030504040204" pitchFamily="34" charset="-120"/>
            </a:rPr>
            <a:t>2</a:t>
          </a:r>
          <a:endParaRPr lang="zh-TW" sz="2600" b="1" kern="1200" dirty="0">
            <a:latin typeface="微軟正黑體" panose="020B0604030504040204" pitchFamily="34" charset="-120"/>
            <a:ea typeface="微軟正黑體" panose="020B0604030504040204" pitchFamily="34" charset="-120"/>
          </a:endParaRPr>
        </a:p>
      </dsp:txBody>
      <dsp:txXfrm>
        <a:off x="2385262" y="0"/>
        <a:ext cx="2520285" cy="877597"/>
      </dsp:txXfrm>
    </dsp:sp>
    <dsp:sp modelId="{9C2201EC-D908-4DE5-9B38-BC12463CE5AC}">
      <dsp:nvSpPr>
        <dsp:cNvPr id="0" name=""/>
        <dsp:cNvSpPr/>
      </dsp:nvSpPr>
      <dsp:spPr>
        <a:xfrm>
          <a:off x="2567011" y="752759"/>
          <a:ext cx="2156787" cy="1900828"/>
        </a:xfrm>
        <a:prstGeom prst="roundRect">
          <a:avLst>
            <a:gd name="adj" fmla="val 10000"/>
          </a:avLst>
        </a:prstGeom>
        <a:gradFill rotWithShape="0">
          <a:gsLst>
            <a:gs pos="0">
              <a:schemeClr val="accent3">
                <a:hueOff val="730060"/>
                <a:satOff val="-13582"/>
                <a:lumOff val="-4118"/>
                <a:alphaOff val="0"/>
                <a:shade val="51000"/>
                <a:satMod val="130000"/>
              </a:schemeClr>
            </a:gs>
            <a:gs pos="80000">
              <a:schemeClr val="accent3">
                <a:hueOff val="730060"/>
                <a:satOff val="-13582"/>
                <a:lumOff val="-4118"/>
                <a:alphaOff val="0"/>
                <a:shade val="93000"/>
                <a:satMod val="130000"/>
              </a:schemeClr>
            </a:gs>
            <a:gs pos="100000">
              <a:schemeClr val="accent3">
                <a:hueOff val="730060"/>
                <a:satOff val="-13582"/>
                <a:lumOff val="-411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zh-TW" altLang="en-US" sz="1400" b="1" kern="1200" dirty="0">
              <a:latin typeface="微軟正黑體" panose="020B0604030504040204" pitchFamily="34" charset="-120"/>
              <a:ea typeface="微軟正黑體" panose="020B0604030504040204" pitchFamily="34" charset="-120"/>
            </a:rPr>
            <a:t>從未排序數列的最後一個數開始看起，如果後面的數比前面小，就往前推，在這過程中，最小的數會被推到未排序數列中的第一個位置，將該最小的數歸類到已排序的數列中</a:t>
          </a:r>
        </a:p>
      </dsp:txBody>
      <dsp:txXfrm>
        <a:off x="2622684" y="808432"/>
        <a:ext cx="2045441" cy="1789482"/>
      </dsp:txXfrm>
    </dsp:sp>
    <dsp:sp modelId="{B108C075-E406-4E93-8FDC-07DA5A9D3F6C}">
      <dsp:nvSpPr>
        <dsp:cNvPr id="0" name=""/>
        <dsp:cNvSpPr/>
      </dsp:nvSpPr>
      <dsp:spPr>
        <a:xfrm>
          <a:off x="5071887" y="0"/>
          <a:ext cx="2217858" cy="2925325"/>
        </a:xfrm>
        <a:prstGeom prst="roundRect">
          <a:avLst>
            <a:gd name="adj" fmla="val 10000"/>
          </a:avLst>
        </a:prstGeom>
        <a:solidFill>
          <a:schemeClr val="accent3">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99060" tIns="99060" rIns="99060" bIns="99060" numCol="1" spcCol="1270" anchor="ctr" anchorCtr="0">
          <a:noAutofit/>
        </a:bodyPr>
        <a:lstStyle/>
        <a:p>
          <a:pPr marL="0" lvl="0" indent="0" algn="ctr" defTabSz="1155700" rtl="0">
            <a:lnSpc>
              <a:spcPct val="40000"/>
            </a:lnSpc>
            <a:spcBef>
              <a:spcPct val="0"/>
            </a:spcBef>
            <a:spcAft>
              <a:spcPts val="0"/>
            </a:spcAft>
            <a:buNone/>
          </a:pPr>
          <a:r>
            <a:rPr lang="zh-TW" sz="2600" b="1" kern="1200" dirty="0">
              <a:latin typeface="微軟正黑體" panose="020B0604030504040204" pitchFamily="34" charset="-120"/>
              <a:ea typeface="微軟正黑體" panose="020B0604030504040204" pitchFamily="34" charset="-120"/>
            </a:rPr>
            <a:t>步驟</a:t>
          </a:r>
          <a:r>
            <a:rPr lang="en-US" sz="2600" b="1" kern="1200" dirty="0">
              <a:latin typeface="微軟正黑體" panose="020B0604030504040204" pitchFamily="34" charset="-120"/>
              <a:ea typeface="微軟正黑體" panose="020B0604030504040204" pitchFamily="34" charset="-120"/>
            </a:rPr>
            <a:t>3</a:t>
          </a:r>
          <a:endParaRPr lang="zh-TW" sz="2600" b="1" kern="1200" dirty="0">
            <a:latin typeface="微軟正黑體" panose="020B0604030504040204" pitchFamily="34" charset="-120"/>
            <a:ea typeface="微軟正黑體" panose="020B0604030504040204" pitchFamily="34" charset="-120"/>
          </a:endParaRPr>
        </a:p>
      </dsp:txBody>
      <dsp:txXfrm>
        <a:off x="5071887" y="0"/>
        <a:ext cx="2217858" cy="877597"/>
      </dsp:txXfrm>
    </dsp:sp>
    <dsp:sp modelId="{468C3BB7-6DA6-4606-9772-679DB50AE176}">
      <dsp:nvSpPr>
        <dsp:cNvPr id="0" name=""/>
        <dsp:cNvSpPr/>
      </dsp:nvSpPr>
      <dsp:spPr>
        <a:xfrm>
          <a:off x="5293673" y="761264"/>
          <a:ext cx="1774286" cy="1901240"/>
        </a:xfrm>
        <a:prstGeom prst="roundRect">
          <a:avLst>
            <a:gd name="adj" fmla="val 10000"/>
          </a:avLst>
        </a:prstGeom>
        <a:gradFill rotWithShape="0">
          <a:gsLst>
            <a:gs pos="0">
              <a:schemeClr val="accent3">
                <a:hueOff val="1460120"/>
                <a:satOff val="-27164"/>
                <a:lumOff val="-8235"/>
                <a:alphaOff val="0"/>
                <a:shade val="51000"/>
                <a:satMod val="130000"/>
              </a:schemeClr>
            </a:gs>
            <a:gs pos="80000">
              <a:schemeClr val="accent3">
                <a:hueOff val="1460120"/>
                <a:satOff val="-27164"/>
                <a:lumOff val="-8235"/>
                <a:alphaOff val="0"/>
                <a:shade val="93000"/>
                <a:satMod val="130000"/>
              </a:schemeClr>
            </a:gs>
            <a:gs pos="100000">
              <a:schemeClr val="accent3">
                <a:hueOff val="1460120"/>
                <a:satOff val="-27164"/>
                <a:lumOff val="-8235"/>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zh-TW" altLang="en-US" sz="2000" b="1" kern="1200" dirty="0">
              <a:latin typeface="微軟正黑體" panose="020B0604030504040204" pitchFamily="34" charset="-120"/>
              <a:ea typeface="微軟正黑體" panose="020B0604030504040204" pitchFamily="34" charset="-120"/>
            </a:rPr>
            <a:t>重複步驟</a:t>
          </a:r>
          <a:r>
            <a:rPr lang="en-US" altLang="zh-TW" sz="2000" b="1" kern="1200" dirty="0">
              <a:latin typeface="微軟正黑體" panose="020B0604030504040204" pitchFamily="34" charset="-120"/>
              <a:ea typeface="微軟正黑體" panose="020B0604030504040204" pitchFamily="34" charset="-120"/>
            </a:rPr>
            <a:t>2</a:t>
          </a:r>
          <a:r>
            <a:rPr lang="zh-TW" altLang="en-US" sz="2000" b="1" kern="1200" dirty="0">
              <a:latin typeface="微軟正黑體" panose="020B0604030504040204" pitchFamily="34" charset="-120"/>
              <a:ea typeface="微軟正黑體" panose="020B0604030504040204" pitchFamily="34" charset="-120"/>
            </a:rPr>
            <a:t>，直到沒有往前推的動作為止</a:t>
          </a:r>
          <a:endParaRPr lang="zh-TW" sz="2000" b="1" kern="1200" dirty="0">
            <a:latin typeface="微軟正黑體" panose="020B0604030504040204" pitchFamily="34" charset="-120"/>
            <a:ea typeface="微軟正黑體" panose="020B0604030504040204" pitchFamily="34" charset="-120"/>
          </a:endParaRPr>
        </a:p>
      </dsp:txBody>
      <dsp:txXfrm>
        <a:off x="5345640" y="813231"/>
        <a:ext cx="1670352" cy="179730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D15BB6-E774-456B-913A-D03FFD50F88D}">
      <dsp:nvSpPr>
        <dsp:cNvPr id="0" name=""/>
        <dsp:cNvSpPr/>
      </dsp:nvSpPr>
      <dsp:spPr>
        <a:xfrm rot="5400000">
          <a:off x="-105286" y="106721"/>
          <a:ext cx="701912" cy="491338"/>
        </a:xfrm>
        <a:prstGeom prst="chevron">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zh-TW" sz="2000" b="1" kern="1200" dirty="0">
              <a:latin typeface="微軟正黑體" panose="020B0604030504040204" pitchFamily="34" charset="-120"/>
              <a:ea typeface="微軟正黑體" panose="020B0604030504040204" pitchFamily="34" charset="-120"/>
            </a:rPr>
            <a:t> </a:t>
          </a:r>
          <a:r>
            <a:rPr lang="en-US" sz="2000" b="1" kern="1200" dirty="0">
              <a:latin typeface="微軟正黑體" panose="020B0604030504040204" pitchFamily="34" charset="-120"/>
              <a:ea typeface="微軟正黑體" panose="020B0604030504040204" pitchFamily="34" charset="-120"/>
            </a:rPr>
            <a:t>1</a:t>
          </a:r>
          <a:endParaRPr lang="zh-TW" sz="2000" b="1" kern="1200" dirty="0">
            <a:latin typeface="微軟正黑體" panose="020B0604030504040204" pitchFamily="34" charset="-120"/>
            <a:ea typeface="微軟正黑體" panose="020B0604030504040204" pitchFamily="34" charset="-120"/>
          </a:endParaRPr>
        </a:p>
      </dsp:txBody>
      <dsp:txXfrm rot="-5400000">
        <a:off x="1" y="247103"/>
        <a:ext cx="491338" cy="210574"/>
      </dsp:txXfrm>
    </dsp:sp>
    <dsp:sp modelId="{6EFE7AB5-0941-4CF7-B563-5474DF815C78}">
      <dsp:nvSpPr>
        <dsp:cNvPr id="0" name=""/>
        <dsp:cNvSpPr/>
      </dsp:nvSpPr>
      <dsp:spPr>
        <a:xfrm rot="5400000">
          <a:off x="3775345" y="-3282571"/>
          <a:ext cx="456483" cy="7024496"/>
        </a:xfrm>
        <a:prstGeom prst="round2Same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rtl="0">
            <a:lnSpc>
              <a:spcPct val="90000"/>
            </a:lnSpc>
            <a:spcBef>
              <a:spcPct val="0"/>
            </a:spcBef>
            <a:spcAft>
              <a:spcPct val="15000"/>
            </a:spcAft>
            <a:buChar char="•"/>
          </a:pPr>
          <a:r>
            <a:rPr lang="en-US" sz="2000" b="1" kern="1200" dirty="0">
              <a:latin typeface="微軟正黑體" panose="020B0604030504040204" pitchFamily="34" charset="-120"/>
              <a:ea typeface="微軟正黑體" panose="020B0604030504040204" pitchFamily="34" charset="-120"/>
            </a:rPr>
            <a:t>mid</a:t>
          </a:r>
          <a:r>
            <a:rPr lang="zh-TW" sz="2000" b="1" kern="1200" dirty="0">
              <a:latin typeface="微軟正黑體" panose="020B0604030504040204" pitchFamily="34" charset="-120"/>
              <a:ea typeface="微軟正黑體" panose="020B0604030504040204" pitchFamily="34" charset="-120"/>
            </a:rPr>
            <a:t>←原排序</a:t>
          </a:r>
          <a:r>
            <a:rPr lang="zh-TW" sz="2000" b="1" kern="1200">
              <a:latin typeface="微軟正黑體" panose="020B0604030504040204" pitchFamily="34" charset="-120"/>
              <a:ea typeface="微軟正黑體" panose="020B0604030504040204" pitchFamily="34" charset="-120"/>
            </a:rPr>
            <a:t>數列的中間數</a:t>
          </a:r>
        </a:p>
      </dsp:txBody>
      <dsp:txXfrm rot="-5400000">
        <a:off x="491339" y="23719"/>
        <a:ext cx="7002212" cy="411915"/>
      </dsp:txXfrm>
    </dsp:sp>
    <dsp:sp modelId="{116AA287-C9C7-4ABA-AD92-9ED685872512}">
      <dsp:nvSpPr>
        <dsp:cNvPr id="0" name=""/>
        <dsp:cNvSpPr/>
      </dsp:nvSpPr>
      <dsp:spPr>
        <a:xfrm rot="5400000">
          <a:off x="-105286" y="581297"/>
          <a:ext cx="701912" cy="491338"/>
        </a:xfrm>
        <a:prstGeom prst="chevron">
          <a:avLst/>
        </a:prstGeom>
        <a:gradFill rotWithShape="0">
          <a:gsLst>
            <a:gs pos="0">
              <a:schemeClr val="accent4">
                <a:hueOff val="179936"/>
                <a:satOff val="8690"/>
                <a:lumOff val="4901"/>
                <a:alphaOff val="0"/>
                <a:shade val="51000"/>
                <a:satMod val="130000"/>
              </a:schemeClr>
            </a:gs>
            <a:gs pos="80000">
              <a:schemeClr val="accent4">
                <a:hueOff val="179936"/>
                <a:satOff val="8690"/>
                <a:lumOff val="4901"/>
                <a:alphaOff val="0"/>
                <a:shade val="93000"/>
                <a:satMod val="130000"/>
              </a:schemeClr>
            </a:gs>
            <a:gs pos="100000">
              <a:schemeClr val="accent4">
                <a:hueOff val="179936"/>
                <a:satOff val="8690"/>
                <a:lumOff val="4901"/>
                <a:alphaOff val="0"/>
                <a:shade val="94000"/>
                <a:satMod val="135000"/>
              </a:schemeClr>
            </a:gs>
          </a:gsLst>
          <a:lin ang="16200000" scaled="0"/>
        </a:gradFill>
        <a:ln w="9525" cap="flat" cmpd="sng" algn="ctr">
          <a:solidFill>
            <a:schemeClr val="accent4">
              <a:hueOff val="179936"/>
              <a:satOff val="8690"/>
              <a:lumOff val="4901"/>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zh-TW" sz="2000" b="1" kern="1200" dirty="0">
              <a:latin typeface="微軟正黑體" panose="020B0604030504040204" pitchFamily="34" charset="-120"/>
              <a:ea typeface="微軟正黑體" panose="020B0604030504040204" pitchFamily="34" charset="-120"/>
            </a:rPr>
            <a:t> </a:t>
          </a:r>
          <a:r>
            <a:rPr lang="en-US" sz="2000" b="1" kern="1200" dirty="0">
              <a:latin typeface="微軟正黑體" panose="020B0604030504040204" pitchFamily="34" charset="-120"/>
              <a:ea typeface="微軟正黑體" panose="020B0604030504040204" pitchFamily="34" charset="-120"/>
            </a:rPr>
            <a:t>2</a:t>
          </a:r>
          <a:endParaRPr lang="zh-TW" sz="2000" b="1" kern="1200" dirty="0">
            <a:latin typeface="微軟正黑體" panose="020B0604030504040204" pitchFamily="34" charset="-120"/>
            <a:ea typeface="微軟正黑體" panose="020B0604030504040204" pitchFamily="34" charset="-120"/>
          </a:endParaRPr>
        </a:p>
      </dsp:txBody>
      <dsp:txXfrm rot="-5400000">
        <a:off x="1" y="721679"/>
        <a:ext cx="491338" cy="210574"/>
      </dsp:txXfrm>
    </dsp:sp>
    <dsp:sp modelId="{A9D70513-2C42-4FAE-94DD-459AB157F382}">
      <dsp:nvSpPr>
        <dsp:cNvPr id="0" name=""/>
        <dsp:cNvSpPr/>
      </dsp:nvSpPr>
      <dsp:spPr>
        <a:xfrm rot="5400000">
          <a:off x="3775465" y="-2808115"/>
          <a:ext cx="456243" cy="7024496"/>
        </a:xfrm>
        <a:prstGeom prst="round2SameRect">
          <a:avLst/>
        </a:prstGeom>
        <a:solidFill>
          <a:schemeClr val="lt1">
            <a:alpha val="90000"/>
            <a:hueOff val="0"/>
            <a:satOff val="0"/>
            <a:lumOff val="0"/>
            <a:alphaOff val="0"/>
          </a:schemeClr>
        </a:solidFill>
        <a:ln w="9525" cap="flat" cmpd="sng" algn="ctr">
          <a:solidFill>
            <a:schemeClr val="accent4">
              <a:hueOff val="179936"/>
              <a:satOff val="8690"/>
              <a:lumOff val="4901"/>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rtl="0">
            <a:lnSpc>
              <a:spcPct val="90000"/>
            </a:lnSpc>
            <a:spcBef>
              <a:spcPct val="0"/>
            </a:spcBef>
            <a:spcAft>
              <a:spcPct val="15000"/>
            </a:spcAft>
            <a:buChar char="•"/>
          </a:pPr>
          <a:r>
            <a:rPr lang="zh-TW" sz="2000" b="1" kern="1200">
              <a:latin typeface="微軟正黑體" panose="020B0604030504040204" pitchFamily="34" charset="-120"/>
              <a:ea typeface="微軟正黑體" panose="020B0604030504040204" pitchFamily="34" charset="-120"/>
            </a:rPr>
            <a:t>將所要搜尋的數與</a:t>
          </a:r>
          <a:r>
            <a:rPr lang="en-US" sz="2000" b="1" kern="1200">
              <a:latin typeface="微軟正黑體" panose="020B0604030504040204" pitchFamily="34" charset="-120"/>
              <a:ea typeface="微軟正黑體" panose="020B0604030504040204" pitchFamily="34" charset="-120"/>
            </a:rPr>
            <a:t>mid</a:t>
          </a:r>
          <a:r>
            <a:rPr lang="zh-TW" sz="2000" b="1" kern="1200">
              <a:latin typeface="微軟正黑體" panose="020B0604030504040204" pitchFamily="34" charset="-120"/>
              <a:ea typeface="微軟正黑體" panose="020B0604030504040204" pitchFamily="34" charset="-120"/>
            </a:rPr>
            <a:t>相比</a:t>
          </a:r>
        </a:p>
      </dsp:txBody>
      <dsp:txXfrm rot="-5400000">
        <a:off x="491339" y="498283"/>
        <a:ext cx="7002224" cy="411699"/>
      </dsp:txXfrm>
    </dsp:sp>
    <dsp:sp modelId="{AF898CE2-AE28-4243-89F6-C146EF02B541}">
      <dsp:nvSpPr>
        <dsp:cNvPr id="0" name=""/>
        <dsp:cNvSpPr/>
      </dsp:nvSpPr>
      <dsp:spPr>
        <a:xfrm rot="5400000">
          <a:off x="-105286" y="1055873"/>
          <a:ext cx="701912" cy="491338"/>
        </a:xfrm>
        <a:prstGeom prst="chevron">
          <a:avLst/>
        </a:prstGeom>
        <a:gradFill rotWithShape="0">
          <a:gsLst>
            <a:gs pos="0">
              <a:schemeClr val="accent4">
                <a:hueOff val="359873"/>
                <a:satOff val="17380"/>
                <a:lumOff val="9803"/>
                <a:alphaOff val="0"/>
                <a:shade val="51000"/>
                <a:satMod val="130000"/>
              </a:schemeClr>
            </a:gs>
            <a:gs pos="80000">
              <a:schemeClr val="accent4">
                <a:hueOff val="359873"/>
                <a:satOff val="17380"/>
                <a:lumOff val="9803"/>
                <a:alphaOff val="0"/>
                <a:shade val="93000"/>
                <a:satMod val="130000"/>
              </a:schemeClr>
            </a:gs>
            <a:gs pos="100000">
              <a:schemeClr val="accent4">
                <a:hueOff val="359873"/>
                <a:satOff val="17380"/>
                <a:lumOff val="9803"/>
                <a:alphaOff val="0"/>
                <a:shade val="94000"/>
                <a:satMod val="135000"/>
              </a:schemeClr>
            </a:gs>
          </a:gsLst>
          <a:lin ang="16200000" scaled="0"/>
        </a:gradFill>
        <a:ln w="9525" cap="flat" cmpd="sng" algn="ctr">
          <a:solidFill>
            <a:schemeClr val="accent4">
              <a:hueOff val="359873"/>
              <a:satOff val="17380"/>
              <a:lumOff val="9803"/>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zh-TW" sz="2000" b="1" kern="1200" dirty="0">
              <a:latin typeface="微軟正黑體" panose="020B0604030504040204" pitchFamily="34" charset="-120"/>
              <a:ea typeface="微軟正黑體" panose="020B0604030504040204" pitchFamily="34" charset="-120"/>
            </a:rPr>
            <a:t> </a:t>
          </a:r>
          <a:r>
            <a:rPr lang="en-US" sz="2000" b="1" kern="1200" dirty="0">
              <a:latin typeface="微軟正黑體" panose="020B0604030504040204" pitchFamily="34" charset="-120"/>
              <a:ea typeface="微軟正黑體" panose="020B0604030504040204" pitchFamily="34" charset="-120"/>
            </a:rPr>
            <a:t>3</a:t>
          </a:r>
          <a:endParaRPr lang="zh-TW" sz="2000" b="1" kern="1200" dirty="0">
            <a:latin typeface="微軟正黑體" panose="020B0604030504040204" pitchFamily="34" charset="-120"/>
            <a:ea typeface="微軟正黑體" panose="020B0604030504040204" pitchFamily="34" charset="-120"/>
          </a:endParaRPr>
        </a:p>
      </dsp:txBody>
      <dsp:txXfrm rot="-5400000">
        <a:off x="1" y="1196255"/>
        <a:ext cx="491338" cy="210574"/>
      </dsp:txXfrm>
    </dsp:sp>
    <dsp:sp modelId="{F8313686-5249-4203-A1E3-82BD9AB7F03E}">
      <dsp:nvSpPr>
        <dsp:cNvPr id="0" name=""/>
        <dsp:cNvSpPr/>
      </dsp:nvSpPr>
      <dsp:spPr>
        <a:xfrm rot="5400000">
          <a:off x="3775465" y="-2333540"/>
          <a:ext cx="456243" cy="7024496"/>
        </a:xfrm>
        <a:prstGeom prst="round2SameRect">
          <a:avLst/>
        </a:prstGeom>
        <a:solidFill>
          <a:schemeClr val="lt1">
            <a:alpha val="90000"/>
            <a:hueOff val="0"/>
            <a:satOff val="0"/>
            <a:lumOff val="0"/>
            <a:alphaOff val="0"/>
          </a:schemeClr>
        </a:solidFill>
        <a:ln w="9525" cap="flat" cmpd="sng" algn="ctr">
          <a:solidFill>
            <a:schemeClr val="accent4">
              <a:hueOff val="359873"/>
              <a:satOff val="17380"/>
              <a:lumOff val="9803"/>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rtl="0">
            <a:lnSpc>
              <a:spcPct val="90000"/>
            </a:lnSpc>
            <a:spcBef>
              <a:spcPct val="0"/>
            </a:spcBef>
            <a:spcAft>
              <a:spcPct val="15000"/>
            </a:spcAft>
            <a:buChar char="•"/>
          </a:pPr>
          <a:r>
            <a:rPr lang="zh-TW" sz="2000" b="1" kern="1200" dirty="0">
              <a:latin typeface="微軟正黑體" panose="020B0604030504040204" pitchFamily="34" charset="-120"/>
              <a:ea typeface="微軟正黑體" panose="020B0604030504040204" pitchFamily="34" charset="-120"/>
            </a:rPr>
            <a:t>如果搜尋的數與</a:t>
          </a:r>
          <a:r>
            <a:rPr lang="en-US" sz="2000" b="1" kern="1200" dirty="0">
              <a:latin typeface="微軟正黑體" panose="020B0604030504040204" pitchFamily="34" charset="-120"/>
              <a:ea typeface="微軟正黑體" panose="020B0604030504040204" pitchFamily="34" charset="-120"/>
            </a:rPr>
            <a:t>mid</a:t>
          </a:r>
          <a:r>
            <a:rPr lang="zh-TW" sz="2000" b="1" kern="1200" dirty="0">
              <a:latin typeface="微軟正黑體" panose="020B0604030504040204" pitchFamily="34" charset="-120"/>
              <a:ea typeface="微軟正黑體" panose="020B0604030504040204" pitchFamily="34" charset="-120"/>
            </a:rPr>
            <a:t>相等，則已找到，回答該數在數列裡</a:t>
          </a:r>
        </a:p>
      </dsp:txBody>
      <dsp:txXfrm rot="-5400000">
        <a:off x="491339" y="972858"/>
        <a:ext cx="7002224" cy="4116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D15BB6-E774-456B-913A-D03FFD50F88D}">
      <dsp:nvSpPr>
        <dsp:cNvPr id="0" name=""/>
        <dsp:cNvSpPr/>
      </dsp:nvSpPr>
      <dsp:spPr>
        <a:xfrm rot="5400000">
          <a:off x="-163536" y="166261"/>
          <a:ext cx="1090245" cy="763171"/>
        </a:xfrm>
        <a:prstGeom prst="chevron">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r>
            <a:rPr lang="en-US" altLang="zh-TW" sz="1500" b="1" kern="1200" dirty="0">
              <a:latin typeface="微軟正黑體" panose="020B0604030504040204" pitchFamily="34" charset="-120"/>
              <a:ea typeface="微軟正黑體" panose="020B0604030504040204" pitchFamily="34" charset="-120"/>
            </a:rPr>
            <a:t>4</a:t>
          </a:r>
          <a:endParaRPr lang="zh-TW" sz="1500" b="1" kern="1200" dirty="0">
            <a:latin typeface="微軟正黑體" panose="020B0604030504040204" pitchFamily="34" charset="-120"/>
            <a:ea typeface="微軟正黑體" panose="020B0604030504040204" pitchFamily="34" charset="-120"/>
          </a:endParaRPr>
        </a:p>
      </dsp:txBody>
      <dsp:txXfrm rot="-5400000">
        <a:off x="2" y="384310"/>
        <a:ext cx="763171" cy="327074"/>
      </dsp:txXfrm>
    </dsp:sp>
    <dsp:sp modelId="{6EFE7AB5-0941-4CF7-B563-5474DF815C78}">
      <dsp:nvSpPr>
        <dsp:cNvPr id="0" name=""/>
        <dsp:cNvSpPr/>
      </dsp:nvSpPr>
      <dsp:spPr>
        <a:xfrm rot="5400000">
          <a:off x="3897686" y="-3131789"/>
          <a:ext cx="708659" cy="6977688"/>
        </a:xfrm>
        <a:prstGeom prst="round2Same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rtl="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如果目前子數列只剩一個數</a:t>
          </a:r>
          <a:r>
            <a:rPr lang="en-US" altLang="zh-TW" sz="1800" b="1" kern="1200" dirty="0">
              <a:latin typeface="微軟正黑體" panose="020B0604030504040204" pitchFamily="34" charset="-120"/>
              <a:ea typeface="微軟正黑體" panose="020B0604030504040204" pitchFamily="34" charset="-120"/>
            </a:rPr>
            <a:t>(</a:t>
          </a:r>
          <a:r>
            <a:rPr lang="zh-TW" altLang="en-US" sz="1800" b="1" kern="1200" dirty="0">
              <a:latin typeface="微軟正黑體" panose="020B0604030504040204" pitchFamily="34" charset="-120"/>
              <a:ea typeface="微軟正黑體" panose="020B0604030504040204" pitchFamily="34" charset="-120"/>
            </a:rPr>
            <a:t>此時搜尋的數與</a:t>
          </a:r>
          <a:r>
            <a:rPr lang="en-US" altLang="zh-TW" sz="1800" b="1" kern="1200" dirty="0">
              <a:latin typeface="微軟正黑體" panose="020B0604030504040204" pitchFamily="34" charset="-120"/>
              <a:ea typeface="微軟正黑體" panose="020B0604030504040204" pitchFamily="34" charset="-120"/>
            </a:rPr>
            <a:t>mid</a:t>
          </a:r>
          <a:r>
            <a:rPr lang="zh-TW" altLang="en-US" sz="1800" b="1" kern="1200" dirty="0">
              <a:latin typeface="微軟正黑體" panose="020B0604030504040204" pitchFamily="34" charset="-120"/>
              <a:ea typeface="微軟正黑體" panose="020B0604030504040204" pitchFamily="34" charset="-120"/>
            </a:rPr>
            <a:t>不等</a:t>
          </a:r>
          <a:r>
            <a:rPr lang="en-US" altLang="zh-TW" sz="1800" b="1" kern="1200" dirty="0">
              <a:latin typeface="微軟正黑體" panose="020B0604030504040204" pitchFamily="34" charset="-120"/>
              <a:ea typeface="微軟正黑體" panose="020B0604030504040204" pitchFamily="34" charset="-120"/>
            </a:rPr>
            <a:t>)</a:t>
          </a:r>
          <a:r>
            <a:rPr lang="zh-TW" altLang="en-US" sz="1800" b="1" kern="1200" dirty="0">
              <a:latin typeface="微軟正黑體" panose="020B0604030504040204" pitchFamily="34" charset="-120"/>
              <a:ea typeface="微軟正黑體" panose="020B0604030504040204" pitchFamily="34" charset="-120"/>
            </a:rPr>
            <a:t>，則回答該數不在數列裡</a:t>
          </a:r>
          <a:endParaRPr lang="zh-TW" sz="1800" b="1" kern="1200" dirty="0">
            <a:latin typeface="微軟正黑體" panose="020B0604030504040204" pitchFamily="34" charset="-120"/>
            <a:ea typeface="微軟正黑體" panose="020B0604030504040204" pitchFamily="34" charset="-120"/>
          </a:endParaRPr>
        </a:p>
      </dsp:txBody>
      <dsp:txXfrm rot="-5400000">
        <a:off x="763172" y="37319"/>
        <a:ext cx="6943094" cy="639471"/>
      </dsp:txXfrm>
    </dsp:sp>
    <dsp:sp modelId="{116AA287-C9C7-4ABA-AD92-9ED685872512}">
      <dsp:nvSpPr>
        <dsp:cNvPr id="0" name=""/>
        <dsp:cNvSpPr/>
      </dsp:nvSpPr>
      <dsp:spPr>
        <a:xfrm rot="5400000">
          <a:off x="-163536" y="1052948"/>
          <a:ext cx="1090245" cy="763171"/>
        </a:xfrm>
        <a:prstGeom prst="chevron">
          <a:avLst/>
        </a:prstGeom>
        <a:gradFill rotWithShape="0">
          <a:gsLst>
            <a:gs pos="0">
              <a:schemeClr val="accent4">
                <a:hueOff val="179936"/>
                <a:satOff val="8690"/>
                <a:lumOff val="4901"/>
                <a:alphaOff val="0"/>
                <a:shade val="51000"/>
                <a:satMod val="130000"/>
              </a:schemeClr>
            </a:gs>
            <a:gs pos="80000">
              <a:schemeClr val="accent4">
                <a:hueOff val="179936"/>
                <a:satOff val="8690"/>
                <a:lumOff val="4901"/>
                <a:alphaOff val="0"/>
                <a:shade val="93000"/>
                <a:satMod val="130000"/>
              </a:schemeClr>
            </a:gs>
            <a:gs pos="100000">
              <a:schemeClr val="accent4">
                <a:hueOff val="179936"/>
                <a:satOff val="8690"/>
                <a:lumOff val="4901"/>
                <a:alphaOff val="0"/>
                <a:shade val="94000"/>
                <a:satMod val="135000"/>
              </a:schemeClr>
            </a:gs>
          </a:gsLst>
          <a:lin ang="16200000" scaled="0"/>
        </a:gradFill>
        <a:ln w="9525" cap="flat" cmpd="sng" algn="ctr">
          <a:solidFill>
            <a:schemeClr val="accent4">
              <a:hueOff val="179936"/>
              <a:satOff val="8690"/>
              <a:lumOff val="4901"/>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r>
            <a:rPr lang="en-US" altLang="zh-TW" sz="1500" b="1" kern="1200" dirty="0">
              <a:latin typeface="微軟正黑體" panose="020B0604030504040204" pitchFamily="34" charset="-120"/>
              <a:ea typeface="微軟正黑體" panose="020B0604030504040204" pitchFamily="34" charset="-120"/>
            </a:rPr>
            <a:t>5</a:t>
          </a:r>
          <a:endParaRPr lang="zh-TW" sz="1500" b="1" kern="1200" dirty="0">
            <a:latin typeface="微軟正黑體" panose="020B0604030504040204" pitchFamily="34" charset="-120"/>
            <a:ea typeface="微軟正黑體" panose="020B0604030504040204" pitchFamily="34" charset="-120"/>
          </a:endParaRPr>
        </a:p>
      </dsp:txBody>
      <dsp:txXfrm rot="-5400000">
        <a:off x="2" y="1270997"/>
        <a:ext cx="763171" cy="327074"/>
      </dsp:txXfrm>
    </dsp:sp>
    <dsp:sp modelId="{A9D70513-2C42-4FAE-94DD-459AB157F382}">
      <dsp:nvSpPr>
        <dsp:cNvPr id="0" name=""/>
        <dsp:cNvSpPr/>
      </dsp:nvSpPr>
      <dsp:spPr>
        <a:xfrm rot="5400000">
          <a:off x="3897686" y="-2245102"/>
          <a:ext cx="708659" cy="6977688"/>
        </a:xfrm>
        <a:prstGeom prst="round2SameRect">
          <a:avLst/>
        </a:prstGeom>
        <a:solidFill>
          <a:schemeClr val="lt1">
            <a:alpha val="90000"/>
            <a:hueOff val="0"/>
            <a:satOff val="0"/>
            <a:lumOff val="0"/>
            <a:alphaOff val="0"/>
          </a:schemeClr>
        </a:solidFill>
        <a:ln w="9525" cap="flat" cmpd="sng" algn="ctr">
          <a:solidFill>
            <a:schemeClr val="accent4">
              <a:hueOff val="179936"/>
              <a:satOff val="8690"/>
              <a:lumOff val="4901"/>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rtl="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如果搜尋的數小於</a:t>
          </a:r>
          <a:r>
            <a:rPr lang="en-US" altLang="zh-TW" sz="1800" b="1" kern="1200" dirty="0">
              <a:latin typeface="微軟正黑體" panose="020B0604030504040204" pitchFamily="34" charset="-120"/>
              <a:ea typeface="微軟正黑體" panose="020B0604030504040204" pitchFamily="34" charset="-120"/>
            </a:rPr>
            <a:t>mid</a:t>
          </a:r>
          <a:r>
            <a:rPr lang="zh-TW" altLang="en-US" sz="1800" b="1" kern="1200" dirty="0">
              <a:latin typeface="微軟正黑體" panose="020B0604030504040204" pitchFamily="34" charset="-120"/>
              <a:ea typeface="微軟正黑體" panose="020B0604030504040204" pitchFamily="34" charset="-120"/>
            </a:rPr>
            <a:t>，則只要考慮前半的子數列，</a:t>
          </a:r>
          <a:r>
            <a:rPr lang="en-US" altLang="zh-TW" sz="1800" b="1" kern="1200" dirty="0">
              <a:latin typeface="微軟正黑體" panose="020B0604030504040204" pitchFamily="34" charset="-120"/>
              <a:ea typeface="微軟正黑體" panose="020B0604030504040204" pitchFamily="34" charset="-120"/>
            </a:rPr>
            <a:t>mid </a:t>
          </a:r>
          <a:r>
            <a:rPr lang="zh-TW" altLang="en-US" sz="1800" b="1" kern="1200" dirty="0">
              <a:latin typeface="微軟正黑體" panose="020B0604030504040204" pitchFamily="34" charset="-120"/>
              <a:ea typeface="微軟正黑體" panose="020B0604030504040204" pitchFamily="34" charset="-120"/>
            </a:rPr>
            <a:t>←前面子數列的中間數，回到步驟</a:t>
          </a:r>
          <a:r>
            <a:rPr lang="en-US" altLang="zh-TW" sz="1800" b="1" kern="1200" dirty="0">
              <a:latin typeface="微軟正黑體" panose="020B0604030504040204" pitchFamily="34" charset="-120"/>
              <a:ea typeface="微軟正黑體" panose="020B0604030504040204" pitchFamily="34" charset="-120"/>
            </a:rPr>
            <a:t>2</a:t>
          </a:r>
          <a:endParaRPr lang="zh-TW" sz="1800" b="1" kern="1200" dirty="0">
            <a:latin typeface="微軟正黑體" panose="020B0604030504040204" pitchFamily="34" charset="-120"/>
            <a:ea typeface="微軟正黑體" panose="020B0604030504040204" pitchFamily="34" charset="-120"/>
          </a:endParaRPr>
        </a:p>
      </dsp:txBody>
      <dsp:txXfrm rot="-5400000">
        <a:off x="763172" y="924006"/>
        <a:ext cx="6943094" cy="639471"/>
      </dsp:txXfrm>
    </dsp:sp>
    <dsp:sp modelId="{AF898CE2-AE28-4243-89F6-C146EF02B541}">
      <dsp:nvSpPr>
        <dsp:cNvPr id="0" name=""/>
        <dsp:cNvSpPr/>
      </dsp:nvSpPr>
      <dsp:spPr>
        <a:xfrm rot="5400000">
          <a:off x="-163536" y="1939635"/>
          <a:ext cx="1090245" cy="763171"/>
        </a:xfrm>
        <a:prstGeom prst="chevron">
          <a:avLst/>
        </a:prstGeom>
        <a:gradFill rotWithShape="0">
          <a:gsLst>
            <a:gs pos="0">
              <a:schemeClr val="accent4">
                <a:hueOff val="359873"/>
                <a:satOff val="17380"/>
                <a:lumOff val="9803"/>
                <a:alphaOff val="0"/>
                <a:shade val="51000"/>
                <a:satMod val="130000"/>
              </a:schemeClr>
            </a:gs>
            <a:gs pos="80000">
              <a:schemeClr val="accent4">
                <a:hueOff val="359873"/>
                <a:satOff val="17380"/>
                <a:lumOff val="9803"/>
                <a:alphaOff val="0"/>
                <a:shade val="93000"/>
                <a:satMod val="130000"/>
              </a:schemeClr>
            </a:gs>
            <a:gs pos="100000">
              <a:schemeClr val="accent4">
                <a:hueOff val="359873"/>
                <a:satOff val="17380"/>
                <a:lumOff val="9803"/>
                <a:alphaOff val="0"/>
                <a:shade val="94000"/>
                <a:satMod val="135000"/>
              </a:schemeClr>
            </a:gs>
          </a:gsLst>
          <a:lin ang="16200000" scaled="0"/>
        </a:gradFill>
        <a:ln w="9525" cap="flat" cmpd="sng" algn="ctr">
          <a:solidFill>
            <a:schemeClr val="accent4">
              <a:hueOff val="359873"/>
              <a:satOff val="17380"/>
              <a:lumOff val="9803"/>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r>
            <a:rPr lang="en-US" altLang="zh-TW" sz="1500" b="1" kern="1200" dirty="0">
              <a:latin typeface="微軟正黑體" panose="020B0604030504040204" pitchFamily="34" charset="-120"/>
              <a:ea typeface="微軟正黑體" panose="020B0604030504040204" pitchFamily="34" charset="-120"/>
            </a:rPr>
            <a:t>6</a:t>
          </a:r>
          <a:endParaRPr lang="zh-TW" sz="1500" b="1" kern="1200" dirty="0">
            <a:latin typeface="微軟正黑體" panose="020B0604030504040204" pitchFamily="34" charset="-120"/>
            <a:ea typeface="微軟正黑體" panose="020B0604030504040204" pitchFamily="34" charset="-120"/>
          </a:endParaRPr>
        </a:p>
      </dsp:txBody>
      <dsp:txXfrm rot="-5400000">
        <a:off x="2" y="2157684"/>
        <a:ext cx="763171" cy="327074"/>
      </dsp:txXfrm>
    </dsp:sp>
    <dsp:sp modelId="{F8313686-5249-4203-A1E3-82BD9AB7F03E}">
      <dsp:nvSpPr>
        <dsp:cNvPr id="0" name=""/>
        <dsp:cNvSpPr/>
      </dsp:nvSpPr>
      <dsp:spPr>
        <a:xfrm rot="5400000">
          <a:off x="3897686" y="-1358415"/>
          <a:ext cx="708659" cy="6977688"/>
        </a:xfrm>
        <a:prstGeom prst="round2SameRect">
          <a:avLst/>
        </a:prstGeom>
        <a:solidFill>
          <a:schemeClr val="lt1">
            <a:alpha val="90000"/>
            <a:hueOff val="0"/>
            <a:satOff val="0"/>
            <a:lumOff val="0"/>
            <a:alphaOff val="0"/>
          </a:schemeClr>
        </a:solidFill>
        <a:ln w="9525" cap="flat" cmpd="sng" algn="ctr">
          <a:solidFill>
            <a:schemeClr val="accent4">
              <a:hueOff val="359873"/>
              <a:satOff val="17380"/>
              <a:lumOff val="9803"/>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rtl="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如果搜尋的數大於</a:t>
          </a:r>
          <a:r>
            <a:rPr lang="en-US" altLang="zh-TW" sz="1800" b="1" kern="1200" dirty="0">
              <a:latin typeface="微軟正黑體" panose="020B0604030504040204" pitchFamily="34" charset="-120"/>
              <a:ea typeface="微軟正黑體" panose="020B0604030504040204" pitchFamily="34" charset="-120"/>
            </a:rPr>
            <a:t>mid</a:t>
          </a:r>
          <a:r>
            <a:rPr lang="zh-TW" altLang="en-US" sz="1800" b="1" kern="1200" dirty="0">
              <a:latin typeface="微軟正黑體" panose="020B0604030504040204" pitchFamily="34" charset="-120"/>
              <a:ea typeface="微軟正黑體" panose="020B0604030504040204" pitchFamily="34" charset="-120"/>
            </a:rPr>
            <a:t>，則只要考慮後半的子數列，</a:t>
          </a:r>
          <a:r>
            <a:rPr lang="en-US" altLang="zh-TW" sz="1800" b="1" kern="1200" dirty="0">
              <a:latin typeface="微軟正黑體" panose="020B0604030504040204" pitchFamily="34" charset="-120"/>
              <a:ea typeface="微軟正黑體" panose="020B0604030504040204" pitchFamily="34" charset="-120"/>
            </a:rPr>
            <a:t>mid </a:t>
          </a:r>
          <a:r>
            <a:rPr lang="zh-TW" altLang="en-US" sz="1800" b="1" kern="1200" dirty="0">
              <a:latin typeface="微軟正黑體" panose="020B0604030504040204" pitchFamily="34" charset="-120"/>
              <a:ea typeface="微軟正黑體" panose="020B0604030504040204" pitchFamily="34" charset="-120"/>
            </a:rPr>
            <a:t>←後面子數列的中間數，回到步驟</a:t>
          </a:r>
          <a:r>
            <a:rPr lang="en-US" altLang="zh-TW" sz="1800" b="1" kern="1200" dirty="0">
              <a:latin typeface="微軟正黑體" panose="020B0604030504040204" pitchFamily="34" charset="-120"/>
              <a:ea typeface="微軟正黑體" panose="020B0604030504040204" pitchFamily="34" charset="-120"/>
            </a:rPr>
            <a:t>2</a:t>
          </a:r>
          <a:endParaRPr lang="zh-TW" sz="1800" b="1" kern="1200" dirty="0">
            <a:latin typeface="微軟正黑體" panose="020B0604030504040204" pitchFamily="34" charset="-120"/>
            <a:ea typeface="微軟正黑體" panose="020B0604030504040204" pitchFamily="34" charset="-120"/>
          </a:endParaRPr>
        </a:p>
      </dsp:txBody>
      <dsp:txXfrm rot="-5400000">
        <a:off x="763172" y="1810693"/>
        <a:ext cx="6943094" cy="639471"/>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5EB12AB-0481-4543-9448-EE76391C4D02}" type="datetimeFigureOut">
              <a:rPr lang="zh-TW" altLang="en-US" smtClean="0"/>
              <a:pPr/>
              <a:t>2026/6/10</a:t>
            </a:fld>
            <a:endParaRPr lang="zh-TW" altLang="en-US"/>
          </a:p>
        </p:txBody>
      </p:sp>
      <p:sp>
        <p:nvSpPr>
          <p:cNvPr id="4" name="投影片圖像版面配置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E245B1-C9B5-4CB2-8096-E56E4F101A5F}" type="slidenum">
              <a:rPr lang="zh-TW" altLang="en-US" smtClean="0"/>
              <a:pPr/>
              <a:t>‹#›</a:t>
            </a:fld>
            <a:endParaRPr lang="zh-TW" altLang="en-US"/>
          </a:p>
        </p:txBody>
      </p:sp>
    </p:spTree>
    <p:extLst>
      <p:ext uri="{BB962C8B-B14F-4D97-AF65-F5344CB8AC3E}">
        <p14:creationId xmlns:p14="http://schemas.microsoft.com/office/powerpoint/2010/main" val="355780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4E245B1-C9B5-4CB2-8096-E56E4F101A5F}" type="slidenum">
              <a:rPr lang="zh-TW" altLang="en-US" smtClean="0"/>
              <a:pPr/>
              <a:t>9</a:t>
            </a:fld>
            <a:endParaRPr lang="zh-TW" altLang="en-US"/>
          </a:p>
        </p:txBody>
      </p:sp>
    </p:spTree>
    <p:extLst>
      <p:ext uri="{BB962C8B-B14F-4D97-AF65-F5344CB8AC3E}">
        <p14:creationId xmlns:p14="http://schemas.microsoft.com/office/powerpoint/2010/main" val="782628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gi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7" name="矩形 6"/>
          <p:cNvSpPr/>
          <p:nvPr userDrawn="1"/>
        </p:nvSpPr>
        <p:spPr>
          <a:xfrm>
            <a:off x="-26078" y="377109"/>
            <a:ext cx="9170078" cy="4764079"/>
          </a:xfrm>
          <a:prstGeom prst="rect">
            <a:avLst/>
          </a:prstGeom>
          <a:solidFill>
            <a:schemeClr val="accent6">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78" name="圓角矩形圖說文字 277"/>
          <p:cNvSpPr/>
          <p:nvPr userDrawn="1"/>
        </p:nvSpPr>
        <p:spPr>
          <a:xfrm>
            <a:off x="272957" y="704092"/>
            <a:ext cx="2737212" cy="742533"/>
          </a:xfrm>
          <a:prstGeom prst="wedgeRoundRectCallout">
            <a:avLst>
              <a:gd name="adj1" fmla="val 34844"/>
              <a:gd name="adj2" fmla="val 81478"/>
              <a:gd name="adj3" fmla="val 16667"/>
            </a:avLst>
          </a:prstGeom>
          <a:solidFill>
            <a:srgbClr val="F2F2F2">
              <a:alpha val="20000"/>
            </a:srgbClr>
          </a:solidFill>
          <a:ln w="28575">
            <a:solidFill>
              <a:srgbClr val="000000">
                <a:alpha val="20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p:cNvSpPr>
            <a:spLocks noGrp="1"/>
          </p:cNvSpPr>
          <p:nvPr>
            <p:ph type="ctrTitle" hasCustomPrompt="1"/>
          </p:nvPr>
        </p:nvSpPr>
        <p:spPr>
          <a:xfrm>
            <a:off x="3157954" y="782801"/>
            <a:ext cx="5476465" cy="725061"/>
          </a:xfrm>
        </p:spPr>
        <p:txBody>
          <a:bodyPr>
            <a:noAutofit/>
          </a:bodyPr>
          <a:lstStyle>
            <a:lvl1pPr algn="l">
              <a:defRPr sz="4800" b="1">
                <a:solidFill>
                  <a:schemeClr val="bg1"/>
                </a:solidFill>
                <a:latin typeface="微軟正黑體" pitchFamily="34" charset="-120"/>
                <a:ea typeface="微軟正黑體" pitchFamily="34" charset="-120"/>
              </a:defRPr>
            </a:lvl1pPr>
          </a:lstStyle>
          <a:p>
            <a:r>
              <a:rPr lang="zh-TW" altLang="en-US" dirty="0"/>
              <a:t>計算機簡介</a:t>
            </a:r>
          </a:p>
        </p:txBody>
      </p:sp>
      <p:sp>
        <p:nvSpPr>
          <p:cNvPr id="3" name="副標題 2"/>
          <p:cNvSpPr>
            <a:spLocks noGrp="1"/>
          </p:cNvSpPr>
          <p:nvPr>
            <p:ph type="subTitle" idx="1"/>
          </p:nvPr>
        </p:nvSpPr>
        <p:spPr>
          <a:xfrm>
            <a:off x="4622800" y="1795463"/>
            <a:ext cx="4194429" cy="2801541"/>
          </a:xfrm>
        </p:spPr>
        <p:txBody>
          <a:bodyPr/>
          <a:lstStyle>
            <a:lvl1pPr marL="0" indent="0" algn="l">
              <a:buNone/>
              <a:defRPr b="0">
                <a:solidFill>
                  <a:schemeClr val="tx1"/>
                </a:solidFill>
                <a:latin typeface="微軟正黑體" pitchFamily="34" charset="-120"/>
                <a:ea typeface="微軟正黑體" pitchFamily="34" charset="-12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dirty="0"/>
              <a:t>按一下以編輯母片副標題樣式</a:t>
            </a:r>
          </a:p>
        </p:txBody>
      </p:sp>
      <p:sp>
        <p:nvSpPr>
          <p:cNvPr id="29" name="矩形 28"/>
          <p:cNvSpPr/>
          <p:nvPr userDrawn="1"/>
        </p:nvSpPr>
        <p:spPr>
          <a:xfrm>
            <a:off x="11650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p:cNvSpPr/>
          <p:nvPr userDrawn="1"/>
        </p:nvSpPr>
        <p:spPr>
          <a:xfrm>
            <a:off x="389694"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p:cNvSpPr/>
          <p:nvPr userDrawn="1"/>
        </p:nvSpPr>
        <p:spPr>
          <a:xfrm>
            <a:off x="258071"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p:cNvSpPr/>
          <p:nvPr userDrawn="1"/>
        </p:nvSpPr>
        <p:spPr>
          <a:xfrm>
            <a:off x="542094"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p:cNvSpPr/>
          <p:nvPr userDrawn="1"/>
        </p:nvSpPr>
        <p:spPr>
          <a:xfrm>
            <a:off x="694494"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p:cNvSpPr/>
          <p:nvPr userDrawn="1"/>
        </p:nvSpPr>
        <p:spPr>
          <a:xfrm>
            <a:off x="89969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53"/>
          <p:cNvSpPr/>
          <p:nvPr userDrawn="1"/>
        </p:nvSpPr>
        <p:spPr>
          <a:xfrm>
            <a:off x="1172885"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矩形 54"/>
          <p:cNvSpPr/>
          <p:nvPr userDrawn="1"/>
        </p:nvSpPr>
        <p:spPr>
          <a:xfrm>
            <a:off x="1041262"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p:cNvSpPr/>
          <p:nvPr userDrawn="1"/>
        </p:nvSpPr>
        <p:spPr>
          <a:xfrm>
            <a:off x="1325285"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矩形 56"/>
          <p:cNvSpPr/>
          <p:nvPr userDrawn="1"/>
        </p:nvSpPr>
        <p:spPr>
          <a:xfrm>
            <a:off x="1477685"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57"/>
          <p:cNvSpPr/>
          <p:nvPr userDrawn="1"/>
        </p:nvSpPr>
        <p:spPr>
          <a:xfrm>
            <a:off x="169875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矩形 58"/>
          <p:cNvSpPr/>
          <p:nvPr userDrawn="1"/>
        </p:nvSpPr>
        <p:spPr>
          <a:xfrm>
            <a:off x="197194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矩形 59"/>
          <p:cNvSpPr/>
          <p:nvPr userDrawn="1"/>
        </p:nvSpPr>
        <p:spPr>
          <a:xfrm>
            <a:off x="184032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矩形 60"/>
          <p:cNvSpPr/>
          <p:nvPr userDrawn="1"/>
        </p:nvSpPr>
        <p:spPr>
          <a:xfrm>
            <a:off x="212434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p:cNvSpPr/>
          <p:nvPr userDrawn="1"/>
        </p:nvSpPr>
        <p:spPr>
          <a:xfrm>
            <a:off x="227674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矩形 62"/>
          <p:cNvSpPr/>
          <p:nvPr userDrawn="1"/>
        </p:nvSpPr>
        <p:spPr>
          <a:xfrm>
            <a:off x="2512459"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p:cNvSpPr/>
          <p:nvPr userDrawn="1"/>
        </p:nvSpPr>
        <p:spPr>
          <a:xfrm>
            <a:off x="278564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矩形 64"/>
          <p:cNvSpPr/>
          <p:nvPr userDrawn="1"/>
        </p:nvSpPr>
        <p:spPr>
          <a:xfrm>
            <a:off x="2654024"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矩形 65"/>
          <p:cNvSpPr/>
          <p:nvPr userDrawn="1"/>
        </p:nvSpPr>
        <p:spPr>
          <a:xfrm>
            <a:off x="293804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矩形 66"/>
          <p:cNvSpPr/>
          <p:nvPr userDrawn="1"/>
        </p:nvSpPr>
        <p:spPr>
          <a:xfrm>
            <a:off x="309044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矩形 67"/>
          <p:cNvSpPr/>
          <p:nvPr userDrawn="1"/>
        </p:nvSpPr>
        <p:spPr>
          <a:xfrm>
            <a:off x="3318938"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矩形 68"/>
          <p:cNvSpPr/>
          <p:nvPr userDrawn="1"/>
        </p:nvSpPr>
        <p:spPr>
          <a:xfrm>
            <a:off x="359212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矩形 69"/>
          <p:cNvSpPr/>
          <p:nvPr userDrawn="1"/>
        </p:nvSpPr>
        <p:spPr>
          <a:xfrm>
            <a:off x="346050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p:cNvSpPr/>
          <p:nvPr userDrawn="1"/>
        </p:nvSpPr>
        <p:spPr>
          <a:xfrm>
            <a:off x="374452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矩形 71"/>
          <p:cNvSpPr/>
          <p:nvPr userDrawn="1"/>
        </p:nvSpPr>
        <p:spPr>
          <a:xfrm>
            <a:off x="389692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p:cNvSpPr/>
          <p:nvPr userDrawn="1"/>
        </p:nvSpPr>
        <p:spPr>
          <a:xfrm>
            <a:off x="4129028"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矩形 73"/>
          <p:cNvSpPr/>
          <p:nvPr userDrawn="1"/>
        </p:nvSpPr>
        <p:spPr>
          <a:xfrm>
            <a:off x="440221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74"/>
          <p:cNvSpPr/>
          <p:nvPr userDrawn="1"/>
        </p:nvSpPr>
        <p:spPr>
          <a:xfrm>
            <a:off x="427059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矩形 75"/>
          <p:cNvSpPr/>
          <p:nvPr userDrawn="1"/>
        </p:nvSpPr>
        <p:spPr>
          <a:xfrm>
            <a:off x="455461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矩形 76"/>
          <p:cNvSpPr/>
          <p:nvPr userDrawn="1"/>
        </p:nvSpPr>
        <p:spPr>
          <a:xfrm>
            <a:off x="470701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8" name="矩形 77"/>
          <p:cNvSpPr/>
          <p:nvPr userDrawn="1"/>
        </p:nvSpPr>
        <p:spPr>
          <a:xfrm>
            <a:off x="493911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矩形 78"/>
          <p:cNvSpPr/>
          <p:nvPr userDrawn="1"/>
        </p:nvSpPr>
        <p:spPr>
          <a:xfrm>
            <a:off x="521230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矩形 79"/>
          <p:cNvSpPr/>
          <p:nvPr userDrawn="1"/>
        </p:nvSpPr>
        <p:spPr>
          <a:xfrm>
            <a:off x="508068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矩形 80"/>
          <p:cNvSpPr/>
          <p:nvPr userDrawn="1"/>
        </p:nvSpPr>
        <p:spPr>
          <a:xfrm>
            <a:off x="5364705"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矩形 81"/>
          <p:cNvSpPr/>
          <p:nvPr userDrawn="1"/>
        </p:nvSpPr>
        <p:spPr>
          <a:xfrm>
            <a:off x="551710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 name="矩形 82"/>
          <p:cNvSpPr/>
          <p:nvPr userDrawn="1"/>
        </p:nvSpPr>
        <p:spPr>
          <a:xfrm>
            <a:off x="5749208"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4" name="矩形 83"/>
          <p:cNvSpPr/>
          <p:nvPr userDrawn="1"/>
        </p:nvSpPr>
        <p:spPr>
          <a:xfrm>
            <a:off x="602239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矩形 84"/>
          <p:cNvSpPr/>
          <p:nvPr userDrawn="1"/>
        </p:nvSpPr>
        <p:spPr>
          <a:xfrm>
            <a:off x="5890773"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6" name="矩形 85"/>
          <p:cNvSpPr/>
          <p:nvPr userDrawn="1"/>
        </p:nvSpPr>
        <p:spPr>
          <a:xfrm>
            <a:off x="617479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矩形 86"/>
          <p:cNvSpPr/>
          <p:nvPr userDrawn="1"/>
        </p:nvSpPr>
        <p:spPr>
          <a:xfrm>
            <a:off x="632719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矩形 87"/>
          <p:cNvSpPr/>
          <p:nvPr userDrawn="1"/>
        </p:nvSpPr>
        <p:spPr>
          <a:xfrm>
            <a:off x="6563897"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9" name="矩形 88"/>
          <p:cNvSpPr/>
          <p:nvPr userDrawn="1"/>
        </p:nvSpPr>
        <p:spPr>
          <a:xfrm>
            <a:off x="6837085"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矩形 89"/>
          <p:cNvSpPr/>
          <p:nvPr userDrawn="1"/>
        </p:nvSpPr>
        <p:spPr>
          <a:xfrm>
            <a:off x="6705462"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矩形 90"/>
          <p:cNvSpPr/>
          <p:nvPr userDrawn="1"/>
        </p:nvSpPr>
        <p:spPr>
          <a:xfrm>
            <a:off x="6989485"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2" name="矩形 91"/>
          <p:cNvSpPr/>
          <p:nvPr userDrawn="1"/>
        </p:nvSpPr>
        <p:spPr>
          <a:xfrm>
            <a:off x="7141885"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3" name="矩形 92"/>
          <p:cNvSpPr/>
          <p:nvPr userDrawn="1"/>
        </p:nvSpPr>
        <p:spPr>
          <a:xfrm>
            <a:off x="7369388"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矩形 93"/>
          <p:cNvSpPr/>
          <p:nvPr userDrawn="1"/>
        </p:nvSpPr>
        <p:spPr>
          <a:xfrm>
            <a:off x="764257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p:cNvSpPr/>
          <p:nvPr userDrawn="1"/>
        </p:nvSpPr>
        <p:spPr>
          <a:xfrm>
            <a:off x="7510952"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矩形 95"/>
          <p:cNvSpPr/>
          <p:nvPr userDrawn="1"/>
        </p:nvSpPr>
        <p:spPr>
          <a:xfrm>
            <a:off x="779497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矩形 96"/>
          <p:cNvSpPr/>
          <p:nvPr userDrawn="1"/>
        </p:nvSpPr>
        <p:spPr>
          <a:xfrm>
            <a:off x="794737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矩形 97"/>
          <p:cNvSpPr/>
          <p:nvPr userDrawn="1"/>
        </p:nvSpPr>
        <p:spPr>
          <a:xfrm>
            <a:off x="8171735"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p:cNvSpPr/>
          <p:nvPr userDrawn="1"/>
        </p:nvSpPr>
        <p:spPr>
          <a:xfrm>
            <a:off x="844492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矩形 99"/>
          <p:cNvSpPr/>
          <p:nvPr userDrawn="1"/>
        </p:nvSpPr>
        <p:spPr>
          <a:xfrm>
            <a:off x="8313300"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 name="矩形 100"/>
          <p:cNvSpPr/>
          <p:nvPr userDrawn="1"/>
        </p:nvSpPr>
        <p:spPr>
          <a:xfrm>
            <a:off x="859732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矩形 101"/>
          <p:cNvSpPr/>
          <p:nvPr userDrawn="1"/>
        </p:nvSpPr>
        <p:spPr>
          <a:xfrm>
            <a:off x="874972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矩形 102"/>
          <p:cNvSpPr/>
          <p:nvPr userDrawn="1"/>
        </p:nvSpPr>
        <p:spPr>
          <a:xfrm>
            <a:off x="8969630"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5" name="圖片版面配置區 274"/>
          <p:cNvSpPr>
            <a:spLocks noGrp="1"/>
          </p:cNvSpPr>
          <p:nvPr>
            <p:ph type="pic" sz="quarter" idx="13"/>
          </p:nvPr>
        </p:nvSpPr>
        <p:spPr>
          <a:xfrm>
            <a:off x="0" y="1795463"/>
            <a:ext cx="4622800" cy="2801541"/>
          </a:xfrm>
        </p:spPr>
        <p:txBody>
          <a:bodyPr/>
          <a:lstStyle/>
          <a:p>
            <a:endParaRPr lang="zh-TW" altLang="en-US" dirty="0"/>
          </a:p>
        </p:txBody>
      </p:sp>
      <p:sp>
        <p:nvSpPr>
          <p:cNvPr id="276" name="文字方塊 275"/>
          <p:cNvSpPr txBox="1"/>
          <p:nvPr userDrawn="1"/>
        </p:nvSpPr>
        <p:spPr>
          <a:xfrm>
            <a:off x="264913" y="591530"/>
            <a:ext cx="2768260" cy="923330"/>
          </a:xfrm>
          <a:prstGeom prst="rect">
            <a:avLst/>
          </a:prstGeom>
          <a:noFill/>
        </p:spPr>
        <p:txBody>
          <a:bodyPr wrap="square" rtlCol="0">
            <a:spAutoFit/>
          </a:bodyPr>
          <a:lstStyle/>
          <a:p>
            <a:r>
              <a:rPr lang="en-US" altLang="zh-TW" sz="3600" b="1" dirty="0">
                <a:solidFill>
                  <a:schemeClr val="bg1"/>
                </a:solidFill>
              </a:rPr>
              <a:t>CHAPTER</a:t>
            </a:r>
            <a:r>
              <a:rPr lang="zh-TW" altLang="en-US" sz="3600" b="1" dirty="0">
                <a:solidFill>
                  <a:schemeClr val="bg1"/>
                </a:solidFill>
              </a:rPr>
              <a:t> </a:t>
            </a:r>
            <a:r>
              <a:rPr lang="en-US" altLang="zh-TW" sz="5400" b="1" dirty="0">
                <a:solidFill>
                  <a:schemeClr val="accent6">
                    <a:lumMod val="50000"/>
                  </a:schemeClr>
                </a:solidFill>
              </a:rPr>
              <a:t>11</a:t>
            </a:r>
            <a:endParaRPr lang="zh-TW" altLang="en-US" sz="5400" b="1" dirty="0">
              <a:solidFill>
                <a:schemeClr val="accent6">
                  <a:lumMod val="50000"/>
                </a:schemeClr>
              </a:solidFill>
            </a:endParaRPr>
          </a:p>
        </p:txBody>
      </p:sp>
    </p:spTree>
    <p:extLst>
      <p:ext uri="{BB962C8B-B14F-4D97-AF65-F5344CB8AC3E}">
        <p14:creationId xmlns:p14="http://schemas.microsoft.com/office/powerpoint/2010/main" val="1508819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634604"/>
            <a:ext cx="8229600" cy="857250"/>
          </a:xfrm>
        </p:spPr>
        <p:txBody>
          <a:bodyPr>
            <a:normAutofit/>
          </a:bodyPr>
          <a:lstStyle>
            <a:lvl1pPr>
              <a:defRPr sz="3200" b="1">
                <a:solidFill>
                  <a:srgbClr val="C00000"/>
                </a:solidFill>
                <a:latin typeface="微軟正黑體" pitchFamily="34" charset="-120"/>
                <a:ea typeface="微軟正黑體" pitchFamily="34" charset="-120"/>
              </a:defRPr>
            </a:lvl1pPr>
          </a:lstStyle>
          <a:p>
            <a:r>
              <a:rPr lang="zh-TW" altLang="en-US" dirty="0"/>
              <a:t>按一下以編輯母片標題樣式</a:t>
            </a:r>
          </a:p>
        </p:txBody>
      </p:sp>
      <p:sp>
        <p:nvSpPr>
          <p:cNvPr id="3" name="內容版面配置區 2"/>
          <p:cNvSpPr>
            <a:spLocks noGrp="1"/>
          </p:cNvSpPr>
          <p:nvPr>
            <p:ph idx="1"/>
          </p:nvPr>
        </p:nvSpPr>
        <p:spPr>
          <a:xfrm>
            <a:off x="457200" y="1660399"/>
            <a:ext cx="8229600" cy="2934224"/>
          </a:xfrm>
        </p:spPr>
        <p:txBody>
          <a:bodyPr/>
          <a:lstStyle>
            <a:lvl1pPr marL="457200" indent="-457200" algn="just" hangingPunct="0">
              <a:lnSpc>
                <a:spcPct val="120000"/>
              </a:lnSpc>
              <a:spcBef>
                <a:spcPts val="800"/>
              </a:spcBef>
              <a:buFontTx/>
              <a:buBlip>
                <a:blip r:embed="rId2"/>
              </a:buBlip>
              <a:defRPr sz="2800" b="1">
                <a:latin typeface="微軟正黑體" pitchFamily="34" charset="-120"/>
                <a:ea typeface="微軟正黑體" pitchFamily="34" charset="-120"/>
              </a:defRPr>
            </a:lvl1pPr>
            <a:lvl2pPr marL="914400" indent="-457200" algn="just" hangingPunct="0">
              <a:lnSpc>
                <a:spcPct val="120000"/>
              </a:lnSpc>
              <a:spcBef>
                <a:spcPts val="800"/>
              </a:spcBef>
              <a:buClr>
                <a:schemeClr val="tx2"/>
              </a:buClr>
              <a:buFont typeface="Wingdings 3" panose="05040102010807070707" pitchFamily="18" charset="2"/>
              <a:buChar char=""/>
              <a:defRPr sz="2600" b="1">
                <a:latin typeface="微軟正黑體" pitchFamily="34" charset="-120"/>
                <a:ea typeface="微軟正黑體" pitchFamily="34" charset="-120"/>
              </a:defRPr>
            </a:lvl2pPr>
            <a:lvl3pPr marL="1257300" indent="-342900" algn="just" hangingPunct="0">
              <a:lnSpc>
                <a:spcPct val="120000"/>
              </a:lnSpc>
              <a:spcBef>
                <a:spcPts val="800"/>
              </a:spcBef>
              <a:buClr>
                <a:schemeClr val="accent1"/>
              </a:buClr>
              <a:buFont typeface="微軟正黑體" panose="020B0604030504040204" pitchFamily="34" charset="-120"/>
              <a:buChar char="■"/>
              <a:defRPr b="1">
                <a:latin typeface="微軟正黑體" pitchFamily="34" charset="-120"/>
                <a:ea typeface="微軟正黑體" pitchFamily="34" charset="-120"/>
              </a:defRPr>
            </a:lvl3pPr>
            <a:lvl4pPr marL="1371600" indent="0" algn="just" hangingPunct="0">
              <a:lnSpc>
                <a:spcPct val="120000"/>
              </a:lnSpc>
              <a:spcBef>
                <a:spcPts val="800"/>
              </a:spcBef>
              <a:buNone/>
              <a:defRPr b="1">
                <a:latin typeface="微軟正黑體" pitchFamily="34" charset="-120"/>
                <a:ea typeface="微軟正黑體" pitchFamily="34" charset="-120"/>
              </a:defRPr>
            </a:lvl4pPr>
            <a:lvl5pPr marL="1828800" indent="0" algn="just" hangingPunct="0">
              <a:lnSpc>
                <a:spcPct val="120000"/>
              </a:lnSpc>
              <a:spcBef>
                <a:spcPts val="800"/>
              </a:spcBef>
              <a:buNone/>
              <a:defRPr b="1">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grpSp>
        <p:nvGrpSpPr>
          <p:cNvPr id="13" name="群組 12"/>
          <p:cNvGrpSpPr/>
          <p:nvPr userDrawn="1"/>
        </p:nvGrpSpPr>
        <p:grpSpPr>
          <a:xfrm>
            <a:off x="0" y="-38540"/>
            <a:ext cx="9198259" cy="615553"/>
            <a:chOff x="0" y="-38540"/>
            <a:chExt cx="9198259" cy="615553"/>
          </a:xfrm>
        </p:grpSpPr>
        <p:grpSp>
          <p:nvGrpSpPr>
            <p:cNvPr id="14" name="群組 13"/>
            <p:cNvGrpSpPr/>
            <p:nvPr userDrawn="1"/>
          </p:nvGrpSpPr>
          <p:grpSpPr>
            <a:xfrm>
              <a:off x="0" y="-2155"/>
              <a:ext cx="9144000" cy="547200"/>
              <a:chOff x="0" y="0"/>
              <a:chExt cx="9144000" cy="547200"/>
            </a:xfrm>
          </p:grpSpPr>
          <p:sp>
            <p:nvSpPr>
              <p:cNvPr id="16" name="矩形 15"/>
              <p:cNvSpPr/>
              <p:nvPr userDrawn="1"/>
            </p:nvSpPr>
            <p:spPr>
              <a:xfrm>
                <a:off x="0" y="0"/>
                <a:ext cx="9144000" cy="547200"/>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7" name="Picture 4" descr="D:\製作中\02再版書\0558909\章首頁\computer.png"/>
              <p:cNvPicPr>
                <a:picLocks noChangeAspect="1" noChangeArrowheads="1"/>
              </p:cNvPicPr>
              <p:nvPr userDrawn="1"/>
            </p:nvPicPr>
            <p:blipFill>
              <a:blip r:embed="rId3" cstate="screen">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3854"/>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8" name="矩形 17"/>
              <p:cNvSpPr/>
              <p:nvPr userDrawn="1"/>
            </p:nvSpPr>
            <p:spPr>
              <a:xfrm>
                <a:off x="906573" y="88934"/>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19" name="矩形 18"/>
              <p:cNvSpPr/>
              <p:nvPr userDrawn="1"/>
            </p:nvSpPr>
            <p:spPr>
              <a:xfrm>
                <a:off x="8127395" y="0"/>
                <a:ext cx="1016605" cy="547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p:cNvSpPr/>
              <p:nvPr userDrawn="1"/>
            </p:nvSpPr>
            <p:spPr>
              <a:xfrm>
                <a:off x="7812360" y="2786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p:cNvSpPr/>
              <p:nvPr userDrawn="1"/>
            </p:nvSpPr>
            <p:spPr>
              <a:xfrm>
                <a:off x="7709934" y="3794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p:cNvSpPr txBox="1"/>
            <p:nvPr userDrawn="1"/>
          </p:nvSpPr>
          <p:spPr>
            <a:xfrm>
              <a:off x="8073134" y="-38540"/>
              <a:ext cx="1125125" cy="615553"/>
            </a:xfrm>
            <a:prstGeom prst="rect">
              <a:avLst/>
            </a:prstGeom>
            <a:noFill/>
          </p:spPr>
          <p:txBody>
            <a:bodyPr wrap="square" rtlCol="0">
              <a:spAutoFit/>
            </a:bodyPr>
            <a:lstStyle/>
            <a:p>
              <a:pPr algn="ctr"/>
              <a:r>
                <a:rPr lang="en-US" altLang="zh-TW" sz="1200" dirty="0">
                  <a:solidFill>
                    <a:schemeClr val="accent6">
                      <a:lumMod val="40000"/>
                      <a:lumOff val="60000"/>
                    </a:schemeClr>
                  </a:solidFill>
                </a:rPr>
                <a:t>Chapter</a:t>
              </a:r>
            </a:p>
            <a:p>
              <a:pPr algn="ctr"/>
              <a:r>
                <a:rPr lang="en-US" altLang="zh-TW" sz="2200" dirty="0">
                  <a:solidFill>
                    <a:schemeClr val="accent6">
                      <a:lumMod val="40000"/>
                      <a:lumOff val="60000"/>
                    </a:schemeClr>
                  </a:solidFill>
                </a:rPr>
                <a:t>11   </a:t>
              </a:r>
              <a:endParaRPr lang="zh-TW" altLang="en-US" sz="2200" dirty="0">
                <a:solidFill>
                  <a:schemeClr val="accent6">
                    <a:lumMod val="40000"/>
                    <a:lumOff val="60000"/>
                  </a:schemeClr>
                </a:solidFill>
              </a:endParaRPr>
            </a:p>
          </p:txBody>
        </p:sp>
      </p:grpSp>
    </p:spTree>
    <p:extLst>
      <p:ext uri="{BB962C8B-B14F-4D97-AF65-F5344CB8AC3E}">
        <p14:creationId xmlns:p14="http://schemas.microsoft.com/office/powerpoint/2010/main" val="1691305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884063"/>
            <a:ext cx="8229600" cy="3710560"/>
          </a:xfrm>
        </p:spPr>
        <p:txBody>
          <a:bodyPr/>
          <a:lstStyle>
            <a:lvl1pPr marL="0" indent="0">
              <a:buNone/>
              <a:defRPr>
                <a:latin typeface="微軟正黑體" pitchFamily="34" charset="-120"/>
                <a:ea typeface="微軟正黑體" pitchFamily="34" charset="-120"/>
              </a:defRPr>
            </a:lvl1pPr>
            <a:lvl2pPr marL="457200" indent="0">
              <a:buNone/>
              <a:defRPr>
                <a:latin typeface="微軟正黑體" pitchFamily="34" charset="-120"/>
                <a:ea typeface="微軟正黑體" pitchFamily="34" charset="-120"/>
              </a:defRPr>
            </a:lvl2pPr>
            <a:lvl3pPr marL="914400" indent="0">
              <a:buNone/>
              <a:defRPr>
                <a:latin typeface="微軟正黑體" pitchFamily="34" charset="-120"/>
                <a:ea typeface="微軟正黑體" pitchFamily="34" charset="-120"/>
              </a:defRPr>
            </a:lvl3pPr>
            <a:lvl4pPr marL="1371600" indent="0">
              <a:buNone/>
              <a:defRPr>
                <a:latin typeface="微軟正黑體" pitchFamily="34" charset="-120"/>
                <a:ea typeface="微軟正黑體" pitchFamily="34" charset="-120"/>
              </a:defRPr>
            </a:lvl4pPr>
            <a:lvl5pPr marL="1828800" indent="0">
              <a:buNone/>
              <a:defRPr>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4" name="矩形 3"/>
          <p:cNvSpPr/>
          <p:nvPr userDrawn="1"/>
        </p:nvSpPr>
        <p:spPr>
          <a:xfrm>
            <a:off x="7812361" y="291553"/>
            <a:ext cx="135015" cy="101261"/>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2" name="群組 21"/>
          <p:cNvGrpSpPr/>
          <p:nvPr userDrawn="1"/>
        </p:nvGrpSpPr>
        <p:grpSpPr>
          <a:xfrm>
            <a:off x="0" y="-38540"/>
            <a:ext cx="9198259" cy="615553"/>
            <a:chOff x="0" y="-38540"/>
            <a:chExt cx="9198259" cy="615553"/>
          </a:xfrm>
        </p:grpSpPr>
        <p:grpSp>
          <p:nvGrpSpPr>
            <p:cNvPr id="23" name="群組 22"/>
            <p:cNvGrpSpPr/>
            <p:nvPr userDrawn="1"/>
          </p:nvGrpSpPr>
          <p:grpSpPr>
            <a:xfrm>
              <a:off x="0" y="-2155"/>
              <a:ext cx="9144000" cy="547200"/>
              <a:chOff x="0" y="0"/>
              <a:chExt cx="9144000" cy="547200"/>
            </a:xfrm>
          </p:grpSpPr>
          <p:sp>
            <p:nvSpPr>
              <p:cNvPr id="25" name="矩形 24"/>
              <p:cNvSpPr/>
              <p:nvPr userDrawn="1"/>
            </p:nvSpPr>
            <p:spPr>
              <a:xfrm>
                <a:off x="0" y="0"/>
                <a:ext cx="9144000" cy="547200"/>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26"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3854"/>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7" name="矩形 26"/>
              <p:cNvSpPr/>
              <p:nvPr userDrawn="1"/>
            </p:nvSpPr>
            <p:spPr>
              <a:xfrm>
                <a:off x="906573" y="88934"/>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28" name="矩形 27"/>
              <p:cNvSpPr/>
              <p:nvPr userDrawn="1"/>
            </p:nvSpPr>
            <p:spPr>
              <a:xfrm>
                <a:off x="8127395" y="0"/>
                <a:ext cx="1016605" cy="547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p:cNvSpPr/>
              <p:nvPr userDrawn="1"/>
            </p:nvSpPr>
            <p:spPr>
              <a:xfrm>
                <a:off x="7812360" y="2786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p:cNvSpPr/>
              <p:nvPr userDrawn="1"/>
            </p:nvSpPr>
            <p:spPr>
              <a:xfrm>
                <a:off x="7709934" y="3794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4" name="文字方塊 23"/>
            <p:cNvSpPr txBox="1"/>
            <p:nvPr userDrawn="1"/>
          </p:nvSpPr>
          <p:spPr>
            <a:xfrm>
              <a:off x="8073134" y="-38540"/>
              <a:ext cx="1125125" cy="615553"/>
            </a:xfrm>
            <a:prstGeom prst="rect">
              <a:avLst/>
            </a:prstGeom>
            <a:noFill/>
          </p:spPr>
          <p:txBody>
            <a:bodyPr wrap="square" rtlCol="0">
              <a:spAutoFit/>
            </a:bodyPr>
            <a:lstStyle/>
            <a:p>
              <a:pPr algn="ctr"/>
              <a:r>
                <a:rPr lang="en-US" altLang="zh-TW" sz="1200" dirty="0">
                  <a:solidFill>
                    <a:schemeClr val="accent6">
                      <a:lumMod val="40000"/>
                      <a:lumOff val="60000"/>
                    </a:schemeClr>
                  </a:solidFill>
                </a:rPr>
                <a:t>Chapter</a:t>
              </a:r>
            </a:p>
            <a:p>
              <a:pPr algn="ctr"/>
              <a:r>
                <a:rPr lang="en-US" altLang="zh-TW" sz="2200" dirty="0">
                  <a:solidFill>
                    <a:schemeClr val="accent6">
                      <a:lumMod val="40000"/>
                      <a:lumOff val="60000"/>
                    </a:schemeClr>
                  </a:solidFill>
                </a:rPr>
                <a:t>11   </a:t>
              </a:r>
              <a:endParaRPr lang="zh-TW" altLang="en-US" sz="2200" dirty="0">
                <a:solidFill>
                  <a:schemeClr val="accent6">
                    <a:lumMod val="40000"/>
                    <a:lumOff val="60000"/>
                  </a:schemeClr>
                </a:solidFill>
              </a:endParaRPr>
            </a:p>
          </p:txBody>
        </p:sp>
      </p:grpSp>
    </p:spTree>
    <p:extLst>
      <p:ext uri="{BB962C8B-B14F-4D97-AF65-F5344CB8AC3E}">
        <p14:creationId xmlns:p14="http://schemas.microsoft.com/office/powerpoint/2010/main" val="1415758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標題及物件">
    <p:spTree>
      <p:nvGrpSpPr>
        <p:cNvPr id="1" name=""/>
        <p:cNvGrpSpPr/>
        <p:nvPr/>
      </p:nvGrpSpPr>
      <p:grpSpPr>
        <a:xfrm>
          <a:off x="0" y="0"/>
          <a:ext cx="0" cy="0"/>
          <a:chOff x="0" y="0"/>
          <a:chExt cx="0" cy="0"/>
        </a:xfrm>
      </p:grpSpPr>
      <p:sp>
        <p:nvSpPr>
          <p:cNvPr id="7" name="矩形 6"/>
          <p:cNvSpPr/>
          <p:nvPr userDrawn="1"/>
        </p:nvSpPr>
        <p:spPr>
          <a:xfrm>
            <a:off x="0" y="0"/>
            <a:ext cx="9144000" cy="546525"/>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內容版面配置區 2"/>
          <p:cNvSpPr>
            <a:spLocks noGrp="1"/>
          </p:cNvSpPr>
          <p:nvPr>
            <p:ph idx="1"/>
          </p:nvPr>
        </p:nvSpPr>
        <p:spPr>
          <a:xfrm>
            <a:off x="457200" y="850309"/>
            <a:ext cx="8229600" cy="3744314"/>
          </a:xfrm>
        </p:spPr>
        <p:txBody>
          <a:bodyPr/>
          <a:lstStyle>
            <a:lvl1pPr marL="457200" indent="-457200">
              <a:buFontTx/>
              <a:buBlip>
                <a:blip r:embed="rId4"/>
              </a:buBlip>
              <a:defRPr>
                <a:latin typeface="微軟正黑體" pitchFamily="34" charset="-120"/>
                <a:ea typeface="微軟正黑體" pitchFamily="34" charset="-120"/>
              </a:defRPr>
            </a:lvl1pPr>
            <a:lvl2pPr marL="457200" indent="0">
              <a:buNone/>
              <a:defRPr>
                <a:latin typeface="微軟正黑體" pitchFamily="34" charset="-120"/>
                <a:ea typeface="微軟正黑體" pitchFamily="34" charset="-120"/>
              </a:defRPr>
            </a:lvl2pPr>
            <a:lvl3pPr marL="914400" indent="0">
              <a:buNone/>
              <a:defRPr>
                <a:latin typeface="微軟正黑體" pitchFamily="34" charset="-120"/>
                <a:ea typeface="微軟正黑體" pitchFamily="34" charset="-120"/>
              </a:defRPr>
            </a:lvl3pPr>
            <a:lvl4pPr marL="1371600" indent="0">
              <a:buNone/>
              <a:defRPr>
                <a:latin typeface="微軟正黑體" pitchFamily="34" charset="-120"/>
                <a:ea typeface="微軟正黑體" pitchFamily="34" charset="-120"/>
              </a:defRPr>
            </a:lvl4pPr>
            <a:lvl5pPr marL="1828800" indent="0">
              <a:buNone/>
              <a:defRPr>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grpSp>
        <p:nvGrpSpPr>
          <p:cNvPr id="14" name="群組 13"/>
          <p:cNvGrpSpPr/>
          <p:nvPr userDrawn="1"/>
        </p:nvGrpSpPr>
        <p:grpSpPr>
          <a:xfrm>
            <a:off x="0" y="-38540"/>
            <a:ext cx="9198259" cy="615553"/>
            <a:chOff x="0" y="-38540"/>
            <a:chExt cx="9198259" cy="615553"/>
          </a:xfrm>
        </p:grpSpPr>
        <p:grpSp>
          <p:nvGrpSpPr>
            <p:cNvPr id="15" name="群組 14"/>
            <p:cNvGrpSpPr/>
            <p:nvPr userDrawn="1"/>
          </p:nvGrpSpPr>
          <p:grpSpPr>
            <a:xfrm>
              <a:off x="0" y="-2155"/>
              <a:ext cx="9144000" cy="547200"/>
              <a:chOff x="0" y="0"/>
              <a:chExt cx="9144000" cy="547200"/>
            </a:xfrm>
          </p:grpSpPr>
          <p:sp>
            <p:nvSpPr>
              <p:cNvPr id="17" name="矩形 16"/>
              <p:cNvSpPr/>
              <p:nvPr userDrawn="1"/>
            </p:nvSpPr>
            <p:spPr>
              <a:xfrm>
                <a:off x="0" y="0"/>
                <a:ext cx="9144000" cy="547200"/>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8" name="Picture 4" descr="D:\製作中\02再版書\0558909\章首頁\computer.png"/>
              <p:cNvPicPr>
                <a:picLocks noChangeAspect="1" noChangeArrowheads="1"/>
              </p:cNvPicPr>
              <p:nvPr userDrawn="1"/>
            </p:nvPicPr>
            <p:blipFill>
              <a:blip r:embed="rId5"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3854"/>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9" name="矩形 18"/>
              <p:cNvSpPr/>
              <p:nvPr userDrawn="1"/>
            </p:nvSpPr>
            <p:spPr>
              <a:xfrm>
                <a:off x="906573" y="88934"/>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20" name="矩形 19"/>
              <p:cNvSpPr/>
              <p:nvPr userDrawn="1"/>
            </p:nvSpPr>
            <p:spPr>
              <a:xfrm>
                <a:off x="8127395" y="0"/>
                <a:ext cx="1016605" cy="547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p:cNvSpPr/>
              <p:nvPr userDrawn="1"/>
            </p:nvSpPr>
            <p:spPr>
              <a:xfrm>
                <a:off x="7812360" y="2786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p:cNvSpPr/>
              <p:nvPr userDrawn="1"/>
            </p:nvSpPr>
            <p:spPr>
              <a:xfrm>
                <a:off x="7709934" y="3794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6" name="文字方塊 15"/>
            <p:cNvSpPr txBox="1"/>
            <p:nvPr userDrawn="1"/>
          </p:nvSpPr>
          <p:spPr>
            <a:xfrm>
              <a:off x="8073134" y="-38540"/>
              <a:ext cx="1125125" cy="615553"/>
            </a:xfrm>
            <a:prstGeom prst="rect">
              <a:avLst/>
            </a:prstGeom>
            <a:noFill/>
          </p:spPr>
          <p:txBody>
            <a:bodyPr wrap="square" rtlCol="0">
              <a:spAutoFit/>
            </a:bodyPr>
            <a:lstStyle/>
            <a:p>
              <a:pPr algn="ctr"/>
              <a:r>
                <a:rPr lang="en-US" altLang="zh-TW" sz="1200" dirty="0">
                  <a:solidFill>
                    <a:schemeClr val="accent6">
                      <a:lumMod val="40000"/>
                      <a:lumOff val="60000"/>
                    </a:schemeClr>
                  </a:solidFill>
                </a:rPr>
                <a:t>Chapter</a:t>
              </a:r>
            </a:p>
            <a:p>
              <a:pPr algn="ctr"/>
              <a:r>
                <a:rPr lang="en-US" altLang="zh-TW" sz="2200" dirty="0">
                  <a:solidFill>
                    <a:schemeClr val="accent6">
                      <a:lumMod val="40000"/>
                      <a:lumOff val="60000"/>
                    </a:schemeClr>
                  </a:solidFill>
                </a:rPr>
                <a:t>11   </a:t>
              </a:r>
              <a:endParaRPr lang="zh-TW" altLang="en-US" sz="2200" dirty="0">
                <a:solidFill>
                  <a:schemeClr val="accent6">
                    <a:lumMod val="40000"/>
                    <a:lumOff val="60000"/>
                  </a:schemeClr>
                </a:solidFill>
              </a:endParaRPr>
            </a:p>
          </p:txBody>
        </p:sp>
      </p:grpSp>
    </p:spTree>
    <p:extLst>
      <p:ext uri="{BB962C8B-B14F-4D97-AF65-F5344CB8AC3E}">
        <p14:creationId xmlns:p14="http://schemas.microsoft.com/office/powerpoint/2010/main" val="2257201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2" name="矩形 1"/>
          <p:cNvSpPr/>
          <p:nvPr userDrawn="1"/>
        </p:nvSpPr>
        <p:spPr>
          <a:xfrm>
            <a:off x="3250" y="628578"/>
            <a:ext cx="9144000" cy="391543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圓角矩形 5"/>
          <p:cNvSpPr/>
          <p:nvPr userDrawn="1"/>
        </p:nvSpPr>
        <p:spPr>
          <a:xfrm>
            <a:off x="269866" y="1255354"/>
            <a:ext cx="8604269" cy="310534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1" name="Picture 15"/>
          <p:cNvPicPr>
            <a:picLocks noChangeAspect="1" noChangeArrowheads="1"/>
          </p:cNvPicPr>
          <p:nvPr userDrawn="1"/>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343616" y="722472"/>
            <a:ext cx="2456765" cy="634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13"/>
          <p:cNvPicPr>
            <a:picLocks noChangeAspect="1" noChangeArrowheads="1"/>
          </p:cNvPicPr>
          <p:nvPr userDrawn="1"/>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rot="487232">
            <a:off x="7757944" y="802232"/>
            <a:ext cx="1038226" cy="800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群組 4"/>
          <p:cNvGrpSpPr/>
          <p:nvPr userDrawn="1"/>
        </p:nvGrpSpPr>
        <p:grpSpPr>
          <a:xfrm>
            <a:off x="683018" y="771550"/>
            <a:ext cx="1781968" cy="414607"/>
            <a:chOff x="683018" y="1178750"/>
            <a:chExt cx="1781968" cy="414607"/>
          </a:xfrm>
        </p:grpSpPr>
        <p:sp>
          <p:nvSpPr>
            <p:cNvPr id="24" name="橢圓 23"/>
            <p:cNvSpPr/>
            <p:nvPr userDrawn="1"/>
          </p:nvSpPr>
          <p:spPr>
            <a:xfrm>
              <a:off x="683018"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p:cNvSpPr/>
            <p:nvPr userDrawn="1"/>
          </p:nvSpPr>
          <p:spPr>
            <a:xfrm>
              <a:off x="1151620"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userDrawn="1"/>
          </p:nvSpPr>
          <p:spPr>
            <a:xfrm>
              <a:off x="1601670"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userDrawn="1"/>
          </p:nvSpPr>
          <p:spPr>
            <a:xfrm>
              <a:off x="2051720" y="1180091"/>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3" name="文字方塊 22"/>
          <p:cNvSpPr txBox="1"/>
          <p:nvPr userDrawn="1"/>
        </p:nvSpPr>
        <p:spPr>
          <a:xfrm>
            <a:off x="701570" y="789784"/>
            <a:ext cx="2221692" cy="369332"/>
          </a:xfrm>
          <a:prstGeom prst="rect">
            <a:avLst/>
          </a:prstGeom>
          <a:noFill/>
        </p:spPr>
        <p:txBody>
          <a:bodyPr wrap="square" rtlCol="0">
            <a:spAutoFit/>
          </a:bodyPr>
          <a:lstStyle/>
          <a:p>
            <a:r>
              <a:rPr lang="en-US" altLang="zh-TW" b="1" dirty="0">
                <a:solidFill>
                  <a:srgbClr val="C00000"/>
                </a:solidFill>
                <a:latin typeface="微軟正黑體" pitchFamily="34" charset="-120"/>
                <a:ea typeface="微軟正黑體" pitchFamily="34" charset="-120"/>
              </a:rPr>
              <a:t>IT</a:t>
            </a:r>
            <a:r>
              <a:rPr lang="zh-TW" altLang="en-US" b="1" dirty="0">
                <a:solidFill>
                  <a:srgbClr val="C00000"/>
                </a:solidFill>
                <a:latin typeface="微軟正黑體" pitchFamily="34" charset="-120"/>
                <a:ea typeface="微軟正黑體" pitchFamily="34" charset="-120"/>
              </a:rPr>
              <a:t>　專    家    </a:t>
            </a:r>
            <a:endParaRPr lang="en-US" altLang="zh-TW" b="1" dirty="0">
              <a:solidFill>
                <a:srgbClr val="C00000"/>
              </a:solidFill>
              <a:latin typeface="微軟正黑體" pitchFamily="34" charset="-120"/>
              <a:ea typeface="微軟正黑體" pitchFamily="34" charset="-120"/>
            </a:endParaRPr>
          </a:p>
        </p:txBody>
      </p:sp>
      <p:grpSp>
        <p:nvGrpSpPr>
          <p:cNvPr id="29" name="群組 28"/>
          <p:cNvGrpSpPr/>
          <p:nvPr userDrawn="1"/>
        </p:nvGrpSpPr>
        <p:grpSpPr>
          <a:xfrm>
            <a:off x="0" y="-675"/>
            <a:ext cx="9144000" cy="547200"/>
            <a:chOff x="0" y="0"/>
            <a:chExt cx="9144000" cy="547200"/>
          </a:xfrm>
        </p:grpSpPr>
        <p:sp>
          <p:nvSpPr>
            <p:cNvPr id="31" name="矩形 30"/>
            <p:cNvSpPr/>
            <p:nvPr userDrawn="1"/>
          </p:nvSpPr>
          <p:spPr>
            <a:xfrm>
              <a:off x="0" y="0"/>
              <a:ext cx="9144000" cy="547200"/>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32"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3854"/>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3" name="矩形 32"/>
            <p:cNvSpPr/>
            <p:nvPr userDrawn="1"/>
          </p:nvSpPr>
          <p:spPr>
            <a:xfrm>
              <a:off x="906573" y="88934"/>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34" name="矩形 33"/>
            <p:cNvSpPr/>
            <p:nvPr userDrawn="1"/>
          </p:nvSpPr>
          <p:spPr>
            <a:xfrm>
              <a:off x="8127395" y="0"/>
              <a:ext cx="1016605" cy="547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p:cNvSpPr/>
            <p:nvPr userDrawn="1"/>
          </p:nvSpPr>
          <p:spPr>
            <a:xfrm>
              <a:off x="7812360" y="2786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p:cNvSpPr/>
            <p:nvPr userDrawn="1"/>
          </p:nvSpPr>
          <p:spPr>
            <a:xfrm>
              <a:off x="7709934" y="3794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7" name="文字方塊 36"/>
          <p:cNvSpPr txBox="1"/>
          <p:nvPr userDrawn="1"/>
        </p:nvSpPr>
        <p:spPr>
          <a:xfrm>
            <a:off x="8073134" y="-38540"/>
            <a:ext cx="1125125" cy="615553"/>
          </a:xfrm>
          <a:prstGeom prst="rect">
            <a:avLst/>
          </a:prstGeom>
          <a:noFill/>
        </p:spPr>
        <p:txBody>
          <a:bodyPr wrap="square" rtlCol="0">
            <a:spAutoFit/>
          </a:bodyPr>
          <a:lstStyle/>
          <a:p>
            <a:pPr algn="ctr"/>
            <a:r>
              <a:rPr lang="en-US" altLang="zh-TW" sz="1200" dirty="0">
                <a:solidFill>
                  <a:schemeClr val="accent6">
                    <a:lumMod val="40000"/>
                    <a:lumOff val="60000"/>
                  </a:schemeClr>
                </a:solidFill>
              </a:rPr>
              <a:t>Chapter</a:t>
            </a:r>
          </a:p>
          <a:p>
            <a:pPr algn="ctr"/>
            <a:r>
              <a:rPr lang="en-US" altLang="zh-TW" sz="2200" dirty="0">
                <a:solidFill>
                  <a:schemeClr val="accent6">
                    <a:lumMod val="40000"/>
                    <a:lumOff val="60000"/>
                  </a:schemeClr>
                </a:solidFill>
              </a:rPr>
              <a:t>11</a:t>
            </a:r>
            <a:endParaRPr lang="zh-TW" altLang="en-US" sz="2200" dirty="0">
              <a:solidFill>
                <a:schemeClr val="accent6">
                  <a:lumMod val="40000"/>
                  <a:lumOff val="60000"/>
                </a:schemeClr>
              </a:solidFill>
            </a:endParaRPr>
          </a:p>
        </p:txBody>
      </p:sp>
    </p:spTree>
    <p:extLst>
      <p:ext uri="{BB962C8B-B14F-4D97-AF65-F5344CB8AC3E}">
        <p14:creationId xmlns:p14="http://schemas.microsoft.com/office/powerpoint/2010/main" val="267308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標題及物件">
    <p:spTree>
      <p:nvGrpSpPr>
        <p:cNvPr id="1" name=""/>
        <p:cNvGrpSpPr/>
        <p:nvPr/>
      </p:nvGrpSpPr>
      <p:grpSpPr>
        <a:xfrm>
          <a:off x="0" y="0"/>
          <a:ext cx="0" cy="0"/>
          <a:chOff x="0" y="0"/>
          <a:chExt cx="0" cy="0"/>
        </a:xfrm>
      </p:grpSpPr>
      <p:sp>
        <p:nvSpPr>
          <p:cNvPr id="2" name="矩形 1"/>
          <p:cNvSpPr/>
          <p:nvPr userDrawn="1"/>
        </p:nvSpPr>
        <p:spPr>
          <a:xfrm>
            <a:off x="3250" y="628578"/>
            <a:ext cx="9144000" cy="391543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a:t>
            </a:r>
            <a:r>
              <a:rPr lang="en-US" altLang="zh-TW" sz="1800" b="0" i="0" u="none" strike="noStrike" kern="1200" baseline="0" dirty="0" err="1">
                <a:solidFill>
                  <a:schemeClr val="accent6">
                    <a:lumMod val="40000"/>
                    <a:lumOff val="60000"/>
                  </a:schemeClr>
                </a:solidFill>
                <a:latin typeface="+mn-lt"/>
                <a:ea typeface="+mn-ea"/>
                <a:cs typeface="+mn-cs"/>
              </a:rPr>
              <a:t>Compuer</a:t>
            </a:r>
            <a:r>
              <a:rPr lang="en-US" altLang="zh-TW" sz="1800" b="0" i="0" u="none" strike="noStrike" kern="1200" baseline="0" dirty="0">
                <a:solidFill>
                  <a:schemeClr val="accent6">
                    <a:lumMod val="40000"/>
                    <a:lumOff val="60000"/>
                  </a:schemeClr>
                </a:solidFill>
                <a:latin typeface="+mn-lt"/>
                <a:ea typeface="+mn-ea"/>
                <a:cs typeface="+mn-cs"/>
              </a:rPr>
              <a:t> Science</a:t>
            </a:r>
            <a:endParaRPr lang="zh-TW" altLang="en-US" dirty="0">
              <a:solidFill>
                <a:schemeClr val="accent6">
                  <a:lumMod val="40000"/>
                  <a:lumOff val="60000"/>
                </a:schemeClr>
              </a:solidFill>
            </a:endParaRPr>
          </a:p>
        </p:txBody>
      </p:sp>
      <p:sp>
        <p:nvSpPr>
          <p:cNvPr id="6" name="圓角矩形 5"/>
          <p:cNvSpPr/>
          <p:nvPr userDrawn="1"/>
        </p:nvSpPr>
        <p:spPr>
          <a:xfrm>
            <a:off x="269866" y="1255354"/>
            <a:ext cx="8604269" cy="310534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內容版面配置區 2"/>
          <p:cNvSpPr>
            <a:spLocks noGrp="1"/>
          </p:cNvSpPr>
          <p:nvPr>
            <p:ph idx="1"/>
          </p:nvPr>
        </p:nvSpPr>
        <p:spPr>
          <a:xfrm>
            <a:off x="406096" y="1692374"/>
            <a:ext cx="8229600" cy="2668325"/>
          </a:xfrm>
        </p:spPr>
        <p:txBody>
          <a:bodyPr>
            <a:normAutofit/>
          </a:bodyPr>
          <a:lstStyle>
            <a:lvl1pPr marL="0" indent="0">
              <a:lnSpc>
                <a:spcPct val="120000"/>
              </a:lnSpc>
              <a:spcBef>
                <a:spcPts val="800"/>
              </a:spcBef>
              <a:buNone/>
              <a:defRPr sz="2400" b="1" i="0">
                <a:latin typeface="微軟正黑體" pitchFamily="34" charset="-120"/>
                <a:ea typeface="微軟正黑體" pitchFamily="34" charset="-120"/>
              </a:defRPr>
            </a:lvl1pPr>
            <a:lvl2pPr marL="457200" indent="0">
              <a:lnSpc>
                <a:spcPct val="120000"/>
              </a:lnSpc>
              <a:spcBef>
                <a:spcPts val="800"/>
              </a:spcBef>
              <a:buNone/>
              <a:defRPr sz="2000" b="1" i="0">
                <a:latin typeface="微軟正黑體" pitchFamily="34" charset="-120"/>
                <a:ea typeface="微軟正黑體" pitchFamily="34" charset="-120"/>
              </a:defRPr>
            </a:lvl2pPr>
            <a:lvl3pPr marL="914400" indent="0">
              <a:lnSpc>
                <a:spcPct val="120000"/>
              </a:lnSpc>
              <a:spcBef>
                <a:spcPts val="800"/>
              </a:spcBef>
              <a:buNone/>
              <a:defRPr sz="1800" b="1" i="0">
                <a:latin typeface="微軟正黑體" pitchFamily="34" charset="-120"/>
                <a:ea typeface="微軟正黑體" pitchFamily="34" charset="-120"/>
              </a:defRPr>
            </a:lvl3pPr>
            <a:lvl4pPr marL="1371600" indent="0">
              <a:lnSpc>
                <a:spcPct val="120000"/>
              </a:lnSpc>
              <a:spcBef>
                <a:spcPts val="800"/>
              </a:spcBef>
              <a:buNone/>
              <a:defRPr sz="1600" b="1" i="0">
                <a:latin typeface="微軟正黑體" pitchFamily="34" charset="-120"/>
                <a:ea typeface="微軟正黑體" pitchFamily="34" charset="-120"/>
              </a:defRPr>
            </a:lvl4pPr>
            <a:lvl5pPr marL="1828800" indent="0">
              <a:lnSpc>
                <a:spcPct val="120000"/>
              </a:lnSpc>
              <a:spcBef>
                <a:spcPts val="800"/>
              </a:spcBef>
              <a:buNone/>
              <a:defRPr sz="1600" b="1" i="0">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pic>
        <p:nvPicPr>
          <p:cNvPr id="16" name="Picture 14"/>
          <p:cNvPicPr>
            <a:picLocks noChangeAspect="1" noChangeArrowheads="1"/>
          </p:cNvPicPr>
          <p:nvPr userDrawn="1"/>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096036" y="851302"/>
            <a:ext cx="616424" cy="76555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descr="D:\製作中\02再版書\0558909\資訊小耳朵 圖.png"/>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364973" y="636535"/>
            <a:ext cx="3836948" cy="1080120"/>
          </a:xfrm>
          <a:prstGeom prst="rect">
            <a:avLst/>
          </a:prstGeom>
          <a:noFill/>
          <a:extLst>
            <a:ext uri="{909E8E84-426E-40DD-AFC4-6F175D3DCCD1}">
              <a14:hiddenFill xmlns:a14="http://schemas.microsoft.com/office/drawing/2010/main">
                <a:solidFill>
                  <a:srgbClr val="FFFFFF"/>
                </a:solidFill>
              </a14:hiddenFill>
            </a:ext>
          </a:extLst>
        </p:spPr>
      </p:pic>
      <p:sp>
        <p:nvSpPr>
          <p:cNvPr id="18" name="文字方塊 17"/>
          <p:cNvSpPr txBox="1"/>
          <p:nvPr userDrawn="1"/>
        </p:nvSpPr>
        <p:spPr>
          <a:xfrm>
            <a:off x="607663" y="1254990"/>
            <a:ext cx="2794207" cy="461665"/>
          </a:xfrm>
          <a:prstGeom prst="rect">
            <a:avLst/>
          </a:prstGeom>
          <a:noFill/>
        </p:spPr>
        <p:txBody>
          <a:bodyPr wrap="square" rtlCol="0">
            <a:spAutoFit/>
          </a:bodyPr>
          <a:lstStyle/>
          <a:p>
            <a:r>
              <a:rPr lang="zh-TW" altLang="en-US" sz="2400" b="1" dirty="0">
                <a:solidFill>
                  <a:srgbClr val="C00000"/>
                </a:solidFill>
                <a:latin typeface="微軟正黑體" pitchFamily="34" charset="-120"/>
                <a:ea typeface="微軟正黑體" pitchFamily="34" charset="-120"/>
              </a:rPr>
              <a:t>資    訊    專    欄</a:t>
            </a:r>
            <a:endParaRPr lang="en-US" altLang="zh-TW" sz="2400" b="1" dirty="0">
              <a:solidFill>
                <a:srgbClr val="C00000"/>
              </a:solidFill>
              <a:latin typeface="微軟正黑體" pitchFamily="34" charset="-120"/>
              <a:ea typeface="微軟正黑體" pitchFamily="34" charset="-120"/>
            </a:endParaRPr>
          </a:p>
        </p:txBody>
      </p:sp>
      <p:grpSp>
        <p:nvGrpSpPr>
          <p:cNvPr id="20" name="群組 19"/>
          <p:cNvGrpSpPr/>
          <p:nvPr userDrawn="1"/>
        </p:nvGrpSpPr>
        <p:grpSpPr>
          <a:xfrm>
            <a:off x="0" y="-38540"/>
            <a:ext cx="9198259" cy="615553"/>
            <a:chOff x="0" y="-38540"/>
            <a:chExt cx="9198259" cy="615553"/>
          </a:xfrm>
        </p:grpSpPr>
        <p:grpSp>
          <p:nvGrpSpPr>
            <p:cNvPr id="21" name="群組 20"/>
            <p:cNvGrpSpPr/>
            <p:nvPr userDrawn="1"/>
          </p:nvGrpSpPr>
          <p:grpSpPr>
            <a:xfrm>
              <a:off x="0" y="-2155"/>
              <a:ext cx="9144000" cy="547200"/>
              <a:chOff x="0" y="0"/>
              <a:chExt cx="9144000" cy="547200"/>
            </a:xfrm>
          </p:grpSpPr>
          <p:sp>
            <p:nvSpPr>
              <p:cNvPr id="23" name="矩形 22"/>
              <p:cNvSpPr/>
              <p:nvPr userDrawn="1"/>
            </p:nvSpPr>
            <p:spPr>
              <a:xfrm>
                <a:off x="0" y="0"/>
                <a:ext cx="9144000" cy="547200"/>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24"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3854"/>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5" name="矩形 24"/>
              <p:cNvSpPr/>
              <p:nvPr userDrawn="1"/>
            </p:nvSpPr>
            <p:spPr>
              <a:xfrm>
                <a:off x="906573" y="88934"/>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26" name="矩形 25"/>
              <p:cNvSpPr/>
              <p:nvPr userDrawn="1"/>
            </p:nvSpPr>
            <p:spPr>
              <a:xfrm>
                <a:off x="8127395" y="0"/>
                <a:ext cx="1016605" cy="547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p:cNvSpPr/>
              <p:nvPr userDrawn="1"/>
            </p:nvSpPr>
            <p:spPr>
              <a:xfrm>
                <a:off x="7812360" y="2786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p:cNvSpPr/>
              <p:nvPr userDrawn="1"/>
            </p:nvSpPr>
            <p:spPr>
              <a:xfrm>
                <a:off x="7709934" y="3794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2" name="文字方塊 21"/>
            <p:cNvSpPr txBox="1"/>
            <p:nvPr userDrawn="1"/>
          </p:nvSpPr>
          <p:spPr>
            <a:xfrm>
              <a:off x="8073134" y="-38540"/>
              <a:ext cx="1125125" cy="615553"/>
            </a:xfrm>
            <a:prstGeom prst="rect">
              <a:avLst/>
            </a:prstGeom>
            <a:noFill/>
          </p:spPr>
          <p:txBody>
            <a:bodyPr wrap="square" rtlCol="0">
              <a:spAutoFit/>
            </a:bodyPr>
            <a:lstStyle/>
            <a:p>
              <a:pPr algn="ctr"/>
              <a:r>
                <a:rPr lang="en-US" altLang="zh-TW" sz="1200" dirty="0">
                  <a:solidFill>
                    <a:schemeClr val="accent6">
                      <a:lumMod val="40000"/>
                      <a:lumOff val="60000"/>
                    </a:schemeClr>
                  </a:solidFill>
                </a:rPr>
                <a:t>Chapter</a:t>
              </a:r>
            </a:p>
            <a:p>
              <a:pPr algn="ctr"/>
              <a:r>
                <a:rPr lang="en-US" altLang="zh-TW" sz="2200" dirty="0">
                  <a:solidFill>
                    <a:schemeClr val="accent6">
                      <a:lumMod val="40000"/>
                      <a:lumOff val="60000"/>
                    </a:schemeClr>
                  </a:solidFill>
                </a:rPr>
                <a:t>11</a:t>
              </a:r>
              <a:endParaRPr lang="zh-TW" altLang="en-US" sz="2200" dirty="0">
                <a:solidFill>
                  <a:schemeClr val="accent6">
                    <a:lumMod val="40000"/>
                    <a:lumOff val="60000"/>
                  </a:schemeClr>
                </a:solidFill>
              </a:endParaRPr>
            </a:p>
          </p:txBody>
        </p:sp>
      </p:grpSp>
    </p:spTree>
    <p:extLst>
      <p:ext uri="{BB962C8B-B14F-4D97-AF65-F5344CB8AC3E}">
        <p14:creationId xmlns:p14="http://schemas.microsoft.com/office/powerpoint/2010/main" val="154192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6"/>
            <a:ext cx="7772400" cy="1021556"/>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Tree>
    <p:extLst>
      <p:ext uri="{BB962C8B-B14F-4D97-AF65-F5344CB8AC3E}">
        <p14:creationId xmlns:p14="http://schemas.microsoft.com/office/powerpoint/2010/main" val="2718750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14432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2790587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extLst>
      <p:ext uri="{BB962C8B-B14F-4D97-AF65-F5344CB8AC3E}">
        <p14:creationId xmlns:p14="http://schemas.microsoft.com/office/powerpoint/2010/main" val="1252424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9100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04787"/>
            <a:ext cx="3008313" cy="871538"/>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6" name="頁尾版面配置區 5"/>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3248999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6" name="頁尾版面配置區 5"/>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12122089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5" name="頁尾版面配置區 4"/>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6" name="投影片編號版面配置區 5"/>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1466351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05979"/>
            <a:ext cx="2057400" cy="4388644"/>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05979"/>
            <a:ext cx="6019800" cy="4388644"/>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75288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grpSp>
        <p:nvGrpSpPr>
          <p:cNvPr id="11" name="群組 10"/>
          <p:cNvGrpSpPr/>
          <p:nvPr userDrawn="1"/>
        </p:nvGrpSpPr>
        <p:grpSpPr>
          <a:xfrm>
            <a:off x="161510" y="4654393"/>
            <a:ext cx="8691420" cy="450050"/>
            <a:chOff x="161510" y="4616267"/>
            <a:chExt cx="8691420" cy="450050"/>
          </a:xfrm>
        </p:grpSpPr>
        <p:sp>
          <p:nvSpPr>
            <p:cNvPr id="12" name="橢圓 11"/>
            <p:cNvSpPr/>
            <p:nvPr userDrawn="1"/>
          </p:nvSpPr>
          <p:spPr>
            <a:xfrm>
              <a:off x="161510" y="4616267"/>
              <a:ext cx="450050" cy="450050"/>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userDrawn="1"/>
          </p:nvSpPr>
          <p:spPr>
            <a:xfrm>
              <a:off x="296525" y="4616267"/>
              <a:ext cx="450050" cy="450050"/>
            </a:xfrm>
            <a:prstGeom prst="ellipse">
              <a:avLst/>
            </a:prstGeom>
            <a:solidFill>
              <a:schemeClr val="accent6">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4" name="Picture 2" descr="D:\桌面\logo.png"/>
            <p:cNvPicPr>
              <a:picLocks noChangeAspect="1" noChangeArrowheads="1"/>
            </p:cNvPicPr>
            <p:nvPr userDrawn="1"/>
          </p:nvPicPr>
          <p:blipFill>
            <a:blip r:embed="rId17" cstate="screen">
              <a:extLst>
                <a:ext uri="{28A0092B-C50C-407E-A947-70E740481C1C}">
                  <a14:useLocalDpi xmlns:a14="http://schemas.microsoft.com/office/drawing/2010/main"/>
                </a:ext>
              </a:extLst>
            </a:blip>
            <a:srcRect/>
            <a:stretch>
              <a:fillRect/>
            </a:stretch>
          </p:blipFill>
          <p:spPr bwMode="auto">
            <a:xfrm>
              <a:off x="926595" y="4777015"/>
              <a:ext cx="610257" cy="180000"/>
            </a:xfrm>
            <a:prstGeom prst="rect">
              <a:avLst/>
            </a:prstGeom>
            <a:noFill/>
            <a:extLst>
              <a:ext uri="{909E8E84-426E-40DD-AFC4-6F175D3DCCD1}">
                <a14:hiddenFill xmlns:a14="http://schemas.microsoft.com/office/drawing/2010/main">
                  <a:solidFill>
                    <a:srgbClr val="FFFFFF"/>
                  </a:solidFill>
                </a14:hiddenFill>
              </a:ext>
            </a:extLst>
          </p:spPr>
        </p:pic>
        <p:sp>
          <p:nvSpPr>
            <p:cNvPr id="15" name="動作按鈕: 上一項 14">
              <a:hlinkClick r:id="" action="ppaction://hlinkshowjump?jump=previousslide" highlightClick="1"/>
            </p:cNvPr>
            <p:cNvSpPr/>
            <p:nvPr userDrawn="1"/>
          </p:nvSpPr>
          <p:spPr>
            <a:xfrm>
              <a:off x="7452320" y="4693068"/>
              <a:ext cx="360000" cy="360000"/>
            </a:xfrm>
            <a:prstGeom prst="actionButtonBackPrevious">
              <a:avLst/>
            </a:prstGeom>
            <a:solidFill>
              <a:schemeClr val="accent6">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動作按鈕: 首頁 15">
              <a:hlinkClick r:id="" action="ppaction://hlinkshowjump?jump=firstslide" highlightClick="1"/>
            </p:cNvPr>
            <p:cNvSpPr/>
            <p:nvPr userDrawn="1"/>
          </p:nvSpPr>
          <p:spPr>
            <a:xfrm>
              <a:off x="7992380" y="4693068"/>
              <a:ext cx="360000" cy="360000"/>
            </a:xfrm>
            <a:prstGeom prst="actionButtonHome">
              <a:avLst/>
            </a:prstGeom>
            <a:solidFill>
              <a:schemeClr val="accent6">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動作按鈕: 下一項 16">
              <a:hlinkClick r:id="" action="ppaction://hlinkshowjump?jump=nextslide" highlightClick="1"/>
            </p:cNvPr>
            <p:cNvSpPr/>
            <p:nvPr userDrawn="1"/>
          </p:nvSpPr>
          <p:spPr>
            <a:xfrm>
              <a:off x="8492930" y="4692179"/>
              <a:ext cx="360000" cy="360000"/>
            </a:xfrm>
            <a:prstGeom prst="actionButtonForwardNext">
              <a:avLst/>
            </a:prstGeom>
            <a:solidFill>
              <a:schemeClr val="accent6">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8" name="文字方塊 17"/>
          <p:cNvSpPr txBox="1"/>
          <p:nvPr userDrawn="1"/>
        </p:nvSpPr>
        <p:spPr>
          <a:xfrm>
            <a:off x="116506" y="4694752"/>
            <a:ext cx="585065" cy="369332"/>
          </a:xfrm>
          <a:prstGeom prst="rect">
            <a:avLst/>
          </a:prstGeom>
          <a:noFill/>
        </p:spPr>
        <p:txBody>
          <a:bodyPr wrap="square" rtlCol="0">
            <a:spAutoFit/>
          </a:bodyPr>
          <a:lstStyle/>
          <a:p>
            <a:pPr algn="ctr"/>
            <a:fld id="{8B089E88-AE65-4CA2-BA11-4B6DC14C3389}" type="slidenum">
              <a:rPr lang="zh-TW" altLang="en-US" smtClean="0">
                <a:solidFill>
                  <a:schemeClr val="bg1"/>
                </a:solidFill>
              </a:rPr>
              <a:pPr algn="ctr"/>
              <a:t>‹#›</a:t>
            </a:fld>
            <a:endParaRPr lang="zh-TW" altLang="en-US" dirty="0">
              <a:solidFill>
                <a:schemeClr val="bg1"/>
              </a:solidFill>
            </a:endParaRPr>
          </a:p>
        </p:txBody>
      </p:sp>
    </p:spTree>
    <p:extLst>
      <p:ext uri="{BB962C8B-B14F-4D97-AF65-F5344CB8AC3E}">
        <p14:creationId xmlns:p14="http://schemas.microsoft.com/office/powerpoint/2010/main" val="1289035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3" r:id="rId4"/>
    <p:sldLayoutId id="2147483664" r:id="rId5"/>
    <p:sldLayoutId id="2147483662"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hdr="0" ftr="0" dt="0"/>
  <p:txStyles>
    <p:titleStyle>
      <a:lvl1pPr algn="ctr" defTabSz="914400" rtl="0" eaLnBrk="1" latinLnBrk="0" hangingPunct="1">
        <a:spcBef>
          <a:spcPct val="0"/>
        </a:spcBef>
        <a:buNone/>
        <a:defRPr sz="4400" kern="1200">
          <a:solidFill>
            <a:schemeClr val="tx1"/>
          </a:solidFill>
          <a:latin typeface="微軟正黑體" pitchFamily="34" charset="-120"/>
          <a:ea typeface="微軟正黑體" pitchFamily="34" charset="-120"/>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軟正黑體" pitchFamily="34" charset="-120"/>
          <a:ea typeface="微軟正黑體" pitchFamily="34" charset="-12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軟正黑體" pitchFamily="34" charset="-120"/>
          <a:ea typeface="微軟正黑體" pitchFamily="34" charset="-120"/>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軟正黑體" pitchFamily="34" charset="-120"/>
          <a:ea typeface="微軟正黑體" pitchFamily="34" charset="-120"/>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軟正黑體" pitchFamily="34" charset="-120"/>
          <a:ea typeface="微軟正黑體" pitchFamily="34" charset="-120"/>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軟正黑體" pitchFamily="34" charset="-120"/>
          <a:ea typeface="微軟正黑體"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70.xml"/><Relationship Id="rId3" Type="http://schemas.openxmlformats.org/officeDocument/2006/relationships/image" Target="../media/image10.jpeg"/><Relationship Id="rId7" Type="http://schemas.openxmlformats.org/officeDocument/2006/relationships/slide" Target="slide61.xml"/><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slide" Target="slide28.xml"/><Relationship Id="rId5" Type="http://schemas.openxmlformats.org/officeDocument/2006/relationships/slide" Target="slide8.xml"/><Relationship Id="rId10" Type="http://schemas.openxmlformats.org/officeDocument/2006/relationships/image" Target="../media/image11.jpeg"/><Relationship Id="rId4" Type="http://schemas.openxmlformats.org/officeDocument/2006/relationships/slide" Target="slide2.xml"/><Relationship Id="rId9" Type="http://schemas.openxmlformats.org/officeDocument/2006/relationships/slide" Target="slide9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32.xml"/><Relationship Id="rId1" Type="http://schemas.openxmlformats.org/officeDocument/2006/relationships/slideLayout" Target="../slideLayouts/slideLayout2.xml"/><Relationship Id="rId5" Type="http://schemas.openxmlformats.org/officeDocument/2006/relationships/slide" Target="slide55.xml"/><Relationship Id="rId4" Type="http://schemas.openxmlformats.org/officeDocument/2006/relationships/slide" Target="slide4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線接點 28"/>
          <p:cNvCxnSpPr/>
          <p:nvPr/>
        </p:nvCxnSpPr>
        <p:spPr>
          <a:xfrm>
            <a:off x="3157953" y="1507862"/>
            <a:ext cx="5779532" cy="0"/>
          </a:xfrm>
          <a:prstGeom prst="line">
            <a:avLst/>
          </a:prstGeom>
          <a:ln w="76200">
            <a:solidFill>
              <a:schemeClr val="bg2">
                <a:lumMod val="25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pic>
        <p:nvPicPr>
          <p:cNvPr id="2050" name="Picture 2" descr="D:\製作中\02再版書\0558909\章首頁\not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3204" y="1487350"/>
            <a:ext cx="3790950" cy="3334940"/>
          </a:xfrm>
          <a:prstGeom prst="rect">
            <a:avLst/>
          </a:prstGeom>
          <a:noFill/>
          <a:extLst>
            <a:ext uri="{909E8E84-426E-40DD-AFC4-6F175D3DCCD1}">
              <a14:hiddenFill xmlns:a14="http://schemas.microsoft.com/office/drawing/2010/main">
                <a:solidFill>
                  <a:srgbClr val="FFFFFF"/>
                </a:solidFill>
              </a14:hiddenFill>
            </a:ext>
          </a:extLst>
        </p:spPr>
      </p:pic>
      <p:sp>
        <p:nvSpPr>
          <p:cNvPr id="7" name="標題 6"/>
          <p:cNvSpPr>
            <a:spLocks noGrp="1"/>
          </p:cNvSpPr>
          <p:nvPr>
            <p:ph type="ctrTitle"/>
          </p:nvPr>
        </p:nvSpPr>
        <p:spPr>
          <a:xfrm>
            <a:off x="3157954" y="782801"/>
            <a:ext cx="5476465" cy="704549"/>
          </a:xfrm>
        </p:spPr>
        <p:txBody>
          <a:bodyPr/>
          <a:lstStyle/>
          <a:p>
            <a:r>
              <a:rPr lang="zh-TW" altLang="en-US" dirty="0"/>
              <a:t>演算法</a:t>
            </a:r>
          </a:p>
        </p:txBody>
      </p:sp>
      <p:pic>
        <p:nvPicPr>
          <p:cNvPr id="6" name="Picture 4"/>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145050" y="1885061"/>
            <a:ext cx="2846089" cy="2134567"/>
          </a:xfrm>
          <a:prstGeom prst="rect">
            <a:avLst/>
          </a:prstGeom>
          <a:noFill/>
          <a:ln w="57150">
            <a:solidFill>
              <a:schemeClr val="bg1"/>
            </a:solidFill>
          </a:ln>
          <a:effectLst>
            <a:outerShdw blurRad="50800" dist="38100" dir="2700000" algn="tl" rotWithShape="0">
              <a:prstClr val="black">
                <a:alpha val="40000"/>
              </a:prstClr>
            </a:outerShdw>
          </a:effectLst>
        </p:spPr>
      </p:pic>
      <p:sp>
        <p:nvSpPr>
          <p:cNvPr id="3" name="矩形 2"/>
          <p:cNvSpPr/>
          <p:nvPr/>
        </p:nvSpPr>
        <p:spPr>
          <a:xfrm>
            <a:off x="5374296" y="1792831"/>
            <a:ext cx="2834430" cy="2585323"/>
          </a:xfrm>
          <a:prstGeom prst="rect">
            <a:avLst/>
          </a:prstGeom>
        </p:spPr>
        <p:txBody>
          <a:bodyPr wrap="none">
            <a:spAutoFit/>
          </a:bodyPr>
          <a:lstStyle/>
          <a:p>
            <a:pPr>
              <a:lnSpc>
                <a:spcPct val="150000"/>
              </a:lnSpc>
            </a:pPr>
            <a:r>
              <a:rPr lang="en-US" altLang="zh-TW" b="1" dirty="0">
                <a:latin typeface="微軟正黑體" pitchFamily="34" charset="-120"/>
                <a:ea typeface="微軟正黑體" pitchFamily="34" charset="-120"/>
                <a:hlinkClick r:id="rId4" action="ppaction://hlinksldjump"/>
              </a:rPr>
              <a:t>11-1 </a:t>
            </a:r>
            <a:r>
              <a:rPr lang="zh-TW" altLang="en-US" b="1" dirty="0">
                <a:latin typeface="微軟正黑體" pitchFamily="34" charset="-120"/>
                <a:ea typeface="微軟正黑體" pitchFamily="34" charset="-120"/>
                <a:hlinkClick r:id="rId4" action="ppaction://hlinksldjump"/>
              </a:rPr>
              <a:t>演算法效率分析</a:t>
            </a:r>
            <a:endParaRPr lang="en-US" altLang="zh-TW" b="1" dirty="0">
              <a:latin typeface="微軟正黑體" pitchFamily="34" charset="-120"/>
              <a:ea typeface="微軟正黑體" pitchFamily="34" charset="-120"/>
            </a:endParaRPr>
          </a:p>
          <a:p>
            <a:pPr>
              <a:lnSpc>
                <a:spcPct val="150000"/>
              </a:lnSpc>
            </a:pPr>
            <a:r>
              <a:rPr lang="en-US" altLang="zh-TW" b="1" dirty="0">
                <a:latin typeface="微軟正黑體" pitchFamily="34" charset="-120"/>
                <a:ea typeface="微軟正黑體" pitchFamily="34" charset="-120"/>
                <a:hlinkClick r:id="rId5" action="ppaction://hlinksldjump"/>
              </a:rPr>
              <a:t>11-2 </a:t>
            </a:r>
            <a:r>
              <a:rPr lang="zh-TW" altLang="en-US" b="1" dirty="0">
                <a:latin typeface="微軟正黑體" pitchFamily="34" charset="-120"/>
                <a:ea typeface="微軟正黑體" pitchFamily="34" charset="-120"/>
                <a:hlinkClick r:id="rId5" action="ppaction://hlinksldjump"/>
              </a:rPr>
              <a:t>最大數及最小數找法</a:t>
            </a:r>
            <a:endParaRPr lang="en-US" altLang="zh-TW" b="1" dirty="0">
              <a:latin typeface="微軟正黑體" pitchFamily="34" charset="-120"/>
              <a:ea typeface="微軟正黑體" pitchFamily="34" charset="-120"/>
            </a:endParaRPr>
          </a:p>
          <a:p>
            <a:pPr>
              <a:lnSpc>
                <a:spcPct val="150000"/>
              </a:lnSpc>
            </a:pPr>
            <a:r>
              <a:rPr lang="en-US" altLang="zh-TW" b="1" dirty="0">
                <a:latin typeface="微軟正黑體" pitchFamily="34" charset="-120"/>
                <a:ea typeface="微軟正黑體" pitchFamily="34" charset="-120"/>
                <a:hlinkClick r:id="rId6" action="ppaction://hlinksldjump"/>
              </a:rPr>
              <a:t>11-3 </a:t>
            </a:r>
            <a:r>
              <a:rPr lang="zh-TW" altLang="en-US" b="1" dirty="0">
                <a:latin typeface="微軟正黑體" pitchFamily="34" charset="-120"/>
                <a:ea typeface="微軟正黑體" pitchFamily="34" charset="-120"/>
                <a:hlinkClick r:id="rId6" action="ppaction://hlinksldjump"/>
              </a:rPr>
              <a:t>排序</a:t>
            </a:r>
            <a:endParaRPr lang="en-US" altLang="zh-TW" b="1" dirty="0">
              <a:latin typeface="微軟正黑體" pitchFamily="34" charset="-120"/>
              <a:ea typeface="微軟正黑體" pitchFamily="34" charset="-120"/>
            </a:endParaRPr>
          </a:p>
          <a:p>
            <a:pPr>
              <a:lnSpc>
                <a:spcPct val="150000"/>
              </a:lnSpc>
            </a:pPr>
            <a:r>
              <a:rPr lang="en-US" altLang="zh-TW" b="1" dirty="0">
                <a:latin typeface="微軟正黑體" pitchFamily="34" charset="-120"/>
                <a:ea typeface="微軟正黑體" pitchFamily="34" charset="-120"/>
                <a:hlinkClick r:id="rId7" action="ppaction://hlinksldjump"/>
              </a:rPr>
              <a:t>11-4 </a:t>
            </a:r>
            <a:r>
              <a:rPr lang="zh-TW" altLang="en-US" b="1" dirty="0">
                <a:latin typeface="微軟正黑體" pitchFamily="34" charset="-120"/>
                <a:ea typeface="微軟正黑體" pitchFamily="34" charset="-120"/>
                <a:hlinkClick r:id="rId7" action="ppaction://hlinksldjump"/>
              </a:rPr>
              <a:t>二元搜尋法</a:t>
            </a:r>
            <a:endParaRPr lang="en-US" altLang="zh-TW" b="1" dirty="0">
              <a:latin typeface="微軟正黑體" pitchFamily="34" charset="-120"/>
              <a:ea typeface="微軟正黑體" pitchFamily="34" charset="-120"/>
            </a:endParaRPr>
          </a:p>
          <a:p>
            <a:pPr>
              <a:lnSpc>
                <a:spcPct val="150000"/>
              </a:lnSpc>
            </a:pPr>
            <a:r>
              <a:rPr lang="en-US" altLang="zh-TW" b="1" dirty="0">
                <a:latin typeface="微軟正黑體" pitchFamily="34" charset="-120"/>
                <a:ea typeface="微軟正黑體" pitchFamily="34" charset="-120"/>
                <a:hlinkClick r:id="rId8" action="ppaction://hlinksldjump"/>
              </a:rPr>
              <a:t>11-5 </a:t>
            </a:r>
            <a:r>
              <a:rPr lang="zh-TW" altLang="en-US" b="1" dirty="0">
                <a:latin typeface="微軟正黑體" pitchFamily="34" charset="-120"/>
                <a:ea typeface="微軟正黑體" pitchFamily="34" charset="-120"/>
                <a:hlinkClick r:id="rId8" action="ppaction://hlinksldjump"/>
              </a:rPr>
              <a:t>動態規劃技巧</a:t>
            </a:r>
            <a:endParaRPr lang="en-US" altLang="zh-TW" b="1" dirty="0">
              <a:latin typeface="微軟正黑體" pitchFamily="34" charset="-120"/>
              <a:ea typeface="微軟正黑體" pitchFamily="34" charset="-120"/>
            </a:endParaRPr>
          </a:p>
          <a:p>
            <a:pPr>
              <a:lnSpc>
                <a:spcPct val="150000"/>
              </a:lnSpc>
            </a:pPr>
            <a:r>
              <a:rPr lang="en-US" altLang="zh-TW" b="1" dirty="0">
                <a:latin typeface="微軟正黑體" pitchFamily="34" charset="-120"/>
                <a:ea typeface="微軟正黑體" pitchFamily="34" charset="-120"/>
                <a:hlinkClick r:id="rId9" action="ppaction://hlinksldjump"/>
              </a:rPr>
              <a:t>11-6 </a:t>
            </a:r>
            <a:r>
              <a:rPr lang="zh-TW" altLang="en-US" b="1" dirty="0">
                <a:latin typeface="微軟正黑體" pitchFamily="34" charset="-120"/>
                <a:ea typeface="微軟正黑體" pitchFamily="34" charset="-120"/>
                <a:hlinkClick r:id="rId9" action="ppaction://hlinksldjump"/>
              </a:rPr>
              <a:t>計算難題</a:t>
            </a:r>
            <a:endParaRPr lang="en-US" altLang="zh-TW" b="1" dirty="0">
              <a:solidFill>
                <a:schemeClr val="tx1">
                  <a:lumMod val="75000"/>
                  <a:lumOff val="25000"/>
                </a:schemeClr>
              </a:solidFill>
              <a:latin typeface="微軟正黑體" pitchFamily="34" charset="-120"/>
              <a:ea typeface="微軟正黑體" pitchFamily="34" charset="-120"/>
            </a:endParaRPr>
          </a:p>
        </p:txBody>
      </p:sp>
      <p:pic>
        <p:nvPicPr>
          <p:cNvPr id="10" name="Picture 4"/>
          <p:cNvPicPr>
            <a:picLocks noChangeAspect="1" noChangeArrowheads="1"/>
          </p:cNvPicPr>
          <p:nvPr/>
        </p:nvPicPr>
        <p:blipFill>
          <a:blip r:embed="rId10" cstate="print">
            <a:extLst>
              <a:ext uri="{28A0092B-C50C-407E-A947-70E740481C1C}">
                <a14:useLocalDpi xmlns:a14="http://schemas.microsoft.com/office/drawing/2010/main" val="0"/>
              </a:ext>
            </a:extLst>
          </a:blip>
          <a:stretch>
            <a:fillRect/>
          </a:stretch>
        </p:blipFill>
        <p:spPr bwMode="auto">
          <a:xfrm>
            <a:off x="1318317" y="1909177"/>
            <a:ext cx="2365438" cy="2365438"/>
          </a:xfrm>
          <a:prstGeom prst="rect">
            <a:avLst/>
          </a:prstGeom>
          <a:noFill/>
          <a:ln w="57150">
            <a:solidFill>
              <a:schemeClr val="bg1"/>
            </a:solidFill>
          </a:ln>
          <a:effectLst>
            <a:outerShdw blurRad="50800" dist="38100" dir="2700000" algn="tl" rotWithShape="0">
              <a:prstClr val="black">
                <a:alpha val="40000"/>
              </a:prstClr>
            </a:outerShdw>
          </a:effectLst>
        </p:spPr>
      </p:pic>
      <p:pic>
        <p:nvPicPr>
          <p:cNvPr id="12" name="Picture 4"/>
          <p:cNvPicPr>
            <a:picLocks noChangeAspect="1" noChangeArrowheads="1"/>
          </p:cNvPicPr>
          <p:nvPr/>
        </p:nvPicPr>
        <p:blipFill>
          <a:blip r:embed="rId10" cstate="print">
            <a:extLst>
              <a:ext uri="{28A0092B-C50C-407E-A947-70E740481C1C}">
                <a14:useLocalDpi xmlns:a14="http://schemas.microsoft.com/office/drawing/2010/main" val="0"/>
              </a:ext>
            </a:extLst>
          </a:blip>
          <a:stretch>
            <a:fillRect/>
          </a:stretch>
        </p:blipFill>
        <p:spPr bwMode="auto">
          <a:xfrm rot="21401888">
            <a:off x="1325597" y="2103618"/>
            <a:ext cx="2365438" cy="2365438"/>
          </a:xfrm>
          <a:prstGeom prst="rect">
            <a:avLst/>
          </a:prstGeom>
          <a:noFill/>
          <a:ln w="57150">
            <a:solidFill>
              <a:schemeClr val="bg1"/>
            </a:solidFill>
          </a:ln>
          <a:effectLst>
            <a:outerShdw blurRad="50800" dist="38100" dir="2700000" algn="tl" rotWithShape="0">
              <a:prstClr val="black">
                <a:alpha val="40000"/>
              </a:prstClr>
            </a:outerShdw>
          </a:effectLst>
        </p:spPr>
      </p:pic>
      <p:pic>
        <p:nvPicPr>
          <p:cNvPr id="13" name="Picture 4"/>
          <p:cNvPicPr>
            <a:picLocks noChangeAspect="1" noChangeArrowheads="1"/>
          </p:cNvPicPr>
          <p:nvPr/>
        </p:nvPicPr>
        <p:blipFill>
          <a:blip r:embed="rId10" cstate="print">
            <a:extLst>
              <a:ext uri="{28A0092B-C50C-407E-A947-70E740481C1C}">
                <a14:useLocalDpi xmlns:a14="http://schemas.microsoft.com/office/drawing/2010/main" val="0"/>
              </a:ext>
            </a:extLst>
          </a:blip>
          <a:stretch>
            <a:fillRect/>
          </a:stretch>
        </p:blipFill>
        <p:spPr bwMode="auto">
          <a:xfrm rot="21077218">
            <a:off x="1475961" y="2342027"/>
            <a:ext cx="2365438" cy="2365438"/>
          </a:xfrm>
          <a:prstGeom prst="rect">
            <a:avLst/>
          </a:prstGeom>
          <a:noFill/>
          <a:ln w="57150">
            <a:solidFill>
              <a:schemeClr val="bg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43748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11-1</a:t>
            </a:r>
            <a:r>
              <a:rPr lang="zh-TW" altLang="en-US" dirty="0"/>
              <a:t> 演算法效率分析</a:t>
            </a:r>
          </a:p>
        </p:txBody>
      </p:sp>
      <p:sp>
        <p:nvSpPr>
          <p:cNvPr id="6" name="內容版面配置區 5"/>
          <p:cNvSpPr>
            <a:spLocks noGrp="1"/>
          </p:cNvSpPr>
          <p:nvPr>
            <p:ph idx="1"/>
          </p:nvPr>
        </p:nvSpPr>
        <p:spPr/>
        <p:txBody>
          <a:bodyPr>
            <a:normAutofit/>
          </a:bodyPr>
          <a:lstStyle/>
          <a:p>
            <a:r>
              <a:rPr lang="zh-TW" altLang="en-US" dirty="0"/>
              <a:t>演算法乃計算機解決問題的逐步過程。</a:t>
            </a:r>
            <a:endParaRPr lang="en-US" altLang="zh-TW" dirty="0"/>
          </a:p>
          <a:p>
            <a:r>
              <a:rPr lang="zh-TW" altLang="en-US" dirty="0"/>
              <a:t>當電腦執行演算法時，中央處理單元執行操作，而記憶體則用以儲存程式和資料。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1401620"/>
            <a:ext cx="8229600" cy="3193003"/>
          </a:xfrm>
        </p:spPr>
        <p:txBody>
          <a:bodyPr>
            <a:normAutofit/>
          </a:bodyPr>
          <a:lstStyle/>
          <a:p>
            <a:r>
              <a:rPr lang="zh-TW" altLang="en-US" dirty="0"/>
              <a:t>令</a:t>
            </a:r>
            <a:r>
              <a:rPr lang="en-US" altLang="zh-TW" dirty="0"/>
              <a:t>n</a:t>
            </a:r>
            <a:r>
              <a:rPr lang="zh-TW" altLang="en-US" dirty="0"/>
              <a:t>為輸入、輸出或它們總和的大小，演算法的時間或空間複雜度通常表示為函數</a:t>
            </a:r>
            <a:r>
              <a:rPr lang="en-US" altLang="zh-TW" dirty="0"/>
              <a:t>f (n)</a:t>
            </a:r>
            <a:r>
              <a:rPr lang="zh-TW" altLang="en-US" dirty="0"/>
              <a:t>。</a:t>
            </a:r>
            <a:endParaRPr lang="en-US" altLang="zh-TW" dirty="0"/>
          </a:p>
          <a:p>
            <a:endParaRPr lang="zh-TW"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1610" y="2431724"/>
            <a:ext cx="7128535" cy="2162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標題 3"/>
          <p:cNvSpPr>
            <a:spLocks noGrp="1"/>
          </p:cNvSpPr>
          <p:nvPr>
            <p:ph type="title"/>
          </p:nvPr>
        </p:nvSpPr>
        <p:spPr/>
        <p:txBody>
          <a:bodyPr/>
          <a:lstStyle/>
          <a:p>
            <a:endParaRPr lang="zh-TW" altLang="en-US"/>
          </a:p>
        </p:txBody>
      </p:sp>
      <p:sp>
        <p:nvSpPr>
          <p:cNvPr id="8" name="文字方塊 7"/>
          <p:cNvSpPr txBox="1"/>
          <p:nvPr/>
        </p:nvSpPr>
        <p:spPr>
          <a:xfrm>
            <a:off x="2051720" y="4686985"/>
            <a:ext cx="5265585" cy="338554"/>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對不同大小的</a:t>
            </a:r>
            <a:r>
              <a:rPr lang="en-US" altLang="zh-TW" sz="1600" b="1" i="1" dirty="0">
                <a:latin typeface="微軟正黑體" panose="020B0604030504040204" pitchFamily="34" charset="-120"/>
                <a:ea typeface="微軟正黑體" panose="020B0604030504040204" pitchFamily="34" charset="-120"/>
              </a:rPr>
              <a:t>n</a:t>
            </a:r>
            <a:r>
              <a:rPr lang="zh-TW" altLang="en-US" sz="1600" b="1" dirty="0">
                <a:latin typeface="微軟正黑體" panose="020B0604030504040204" pitchFamily="34" charset="-120"/>
                <a:ea typeface="微軟正黑體" panose="020B0604030504040204" pitchFamily="34" charset="-120"/>
              </a:rPr>
              <a:t>，</a:t>
            </a:r>
            <a:r>
              <a:rPr lang="en-US" altLang="zh-TW" sz="1600" b="1" i="1" dirty="0">
                <a:latin typeface="微軟正黑體" panose="020B0604030504040204" pitchFamily="34" charset="-120"/>
                <a:ea typeface="微軟正黑體" panose="020B0604030504040204" pitchFamily="34" charset="-120"/>
              </a:rPr>
              <a:t>f </a:t>
            </a:r>
            <a:r>
              <a:rPr lang="en-US" altLang="zh-TW" sz="1600" b="1" dirty="0">
                <a:latin typeface="微軟正黑體" panose="020B0604030504040204" pitchFamily="34" charset="-120"/>
                <a:ea typeface="微軟正黑體" panose="020B0604030504040204" pitchFamily="34" charset="-120"/>
              </a:rPr>
              <a:t>(</a:t>
            </a:r>
            <a:r>
              <a:rPr lang="en-US" altLang="zh-TW" sz="1600" b="1" i="1" dirty="0">
                <a:latin typeface="微軟正黑體" panose="020B0604030504040204" pitchFamily="34" charset="-120"/>
                <a:ea typeface="微軟正黑體" panose="020B0604030504040204" pitchFamily="34" charset="-120"/>
              </a:rPr>
              <a:t>n</a:t>
            </a:r>
            <a:r>
              <a:rPr lang="en-US" altLang="zh-TW" sz="1600" b="1" dirty="0">
                <a:latin typeface="微軟正黑體" panose="020B0604030504040204" pitchFamily="34" charset="-120"/>
                <a:ea typeface="微軟正黑體" panose="020B0604030504040204" pitchFamily="34" charset="-120"/>
              </a:rPr>
              <a:t>)</a:t>
            </a:r>
            <a:r>
              <a:rPr lang="zh-TW" altLang="en-US" sz="1600" b="1" dirty="0">
                <a:latin typeface="微軟正黑體" panose="020B0604030504040204" pitchFamily="34" charset="-120"/>
                <a:ea typeface="微軟正黑體" panose="020B0604030504040204" pitchFamily="34" charset="-120"/>
              </a:rPr>
              <a:t>時間複雜度演算法執行時所需時間</a:t>
            </a:r>
          </a:p>
        </p:txBody>
      </p:sp>
    </p:spTree>
    <p:extLst>
      <p:ext uri="{BB962C8B-B14F-4D97-AF65-F5344CB8AC3E}">
        <p14:creationId xmlns:p14="http://schemas.microsoft.com/office/powerpoint/2010/main" val="4067006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normAutofit/>
          </a:bodyPr>
          <a:lstStyle/>
          <a:p>
            <a:pPr algn="l"/>
            <a:r>
              <a:rPr lang="zh-TW" altLang="zh-TW" dirty="0"/>
              <a:t>即使</a:t>
            </a:r>
            <a:r>
              <a:rPr lang="en-US" altLang="zh-TW" i="1" dirty="0"/>
              <a:t>n</a:t>
            </a:r>
            <a:r>
              <a:rPr lang="zh-TW" altLang="en-US" i="1" dirty="0"/>
              <a:t> </a:t>
            </a:r>
            <a:r>
              <a:rPr lang="zh-TW" altLang="zh-TW" dirty="0"/>
              <a:t>很小，像</a:t>
            </a:r>
            <a:r>
              <a:rPr lang="en-US" altLang="zh-TW" dirty="0"/>
              <a:t>10</a:t>
            </a:r>
            <a:r>
              <a:rPr lang="en-US" altLang="zh-TW" i="1" baseline="30000" dirty="0"/>
              <a:t>n</a:t>
            </a:r>
            <a:r>
              <a:rPr lang="zh-TW" altLang="en-US" i="1" baseline="30000" dirty="0"/>
              <a:t> </a:t>
            </a:r>
            <a:r>
              <a:rPr lang="zh-TW" altLang="zh-TW" dirty="0"/>
              <a:t>那樣的指數演算法成長得相當快。二次方和三次方函數成長速度仍比線性函數快許多。</a:t>
            </a:r>
            <a:endParaRPr lang="en-US" altLang="zh-TW" dirty="0"/>
          </a:p>
          <a:p>
            <a:pPr algn="l"/>
            <a:r>
              <a:rPr lang="zh-TW" altLang="zh-TW" dirty="0"/>
              <a:t>二次方或更高時間複雜度的演算法，通常無法用來處理大數據。</a:t>
            </a:r>
            <a:endParaRPr lang="zh-TW" altLang="en-US" dirty="0"/>
          </a:p>
        </p:txBody>
      </p:sp>
    </p:spTree>
    <p:extLst>
      <p:ext uri="{BB962C8B-B14F-4D97-AF65-F5344CB8AC3E}">
        <p14:creationId xmlns:p14="http://schemas.microsoft.com/office/powerpoint/2010/main" val="699315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38146" y="726545"/>
            <a:ext cx="8229600" cy="857250"/>
          </a:xfrm>
        </p:spPr>
        <p:txBody>
          <a:bodyPr/>
          <a:lstStyle/>
          <a:p>
            <a:endParaRPr lang="zh-TW" altLang="en-US" dirty="0"/>
          </a:p>
        </p:txBody>
      </p:sp>
      <p:sp>
        <p:nvSpPr>
          <p:cNvPr id="3" name="內容版面配置區 2"/>
          <p:cNvSpPr>
            <a:spLocks noGrp="1"/>
          </p:cNvSpPr>
          <p:nvPr>
            <p:ph idx="1"/>
          </p:nvPr>
        </p:nvSpPr>
        <p:spPr>
          <a:xfrm>
            <a:off x="457200" y="1491854"/>
            <a:ext cx="8229600" cy="3102769"/>
          </a:xfrm>
        </p:spPr>
        <p:txBody>
          <a:bodyPr/>
          <a:lstStyle/>
          <a:p>
            <a:r>
              <a:rPr lang="zh-TW" altLang="zh-TW" dirty="0"/>
              <a:t>即使計算機變快一百萬倍，</a:t>
            </a:r>
            <a:r>
              <a:rPr lang="en-US" altLang="zh-TW" dirty="0"/>
              <a:t>10</a:t>
            </a:r>
            <a:r>
              <a:rPr lang="en-US" altLang="zh-TW" i="1" baseline="30000" dirty="0"/>
              <a:t>n</a:t>
            </a:r>
            <a:r>
              <a:rPr lang="zh-TW" altLang="zh-TW" dirty="0"/>
              <a:t>時間複雜度演算法只在可處理的輸入大小上增加</a:t>
            </a:r>
            <a:r>
              <a:rPr lang="en-US" altLang="zh-TW" dirty="0"/>
              <a:t>6</a:t>
            </a:r>
            <a:r>
              <a:rPr lang="zh-TW" altLang="zh-TW" dirty="0"/>
              <a:t>，指數時間複雜度方法中等大小輸入也不可行。</a:t>
            </a:r>
            <a:endParaRPr lang="zh-TW"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1659" y="3021800"/>
            <a:ext cx="5975893" cy="1629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字方塊 4"/>
          <p:cNvSpPr txBox="1"/>
          <p:nvPr/>
        </p:nvSpPr>
        <p:spPr>
          <a:xfrm>
            <a:off x="2051720" y="4651332"/>
            <a:ext cx="4545505" cy="338554"/>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計算機速度變快時，可解的輸出入大小的增加量</a:t>
            </a:r>
          </a:p>
        </p:txBody>
      </p:sp>
    </p:spTree>
    <p:extLst>
      <p:ext uri="{BB962C8B-B14F-4D97-AF65-F5344CB8AC3E}">
        <p14:creationId xmlns:p14="http://schemas.microsoft.com/office/powerpoint/2010/main" val="3966649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pPr algn="l"/>
            <a:r>
              <a:rPr lang="zh-TW" altLang="zh-TW" dirty="0"/>
              <a:t>大</a:t>
            </a:r>
            <a:r>
              <a:rPr lang="en-US" altLang="zh-TW" dirty="0"/>
              <a:t>O</a:t>
            </a:r>
            <a:r>
              <a:rPr lang="zh-TW" altLang="zh-TW" dirty="0"/>
              <a:t>符號定義：</a:t>
            </a:r>
            <a:r>
              <a:rPr lang="en-US" altLang="zh-TW" dirty="0"/>
              <a:t>f</a:t>
            </a:r>
            <a:r>
              <a:rPr lang="zh-TW" altLang="en-US" dirty="0"/>
              <a:t> </a:t>
            </a:r>
            <a:r>
              <a:rPr lang="en-US" altLang="zh-TW" dirty="0"/>
              <a:t>(n) = O</a:t>
            </a:r>
            <a:r>
              <a:rPr lang="zh-TW" altLang="en-US" dirty="0"/>
              <a:t> </a:t>
            </a:r>
            <a:r>
              <a:rPr lang="en-US" altLang="zh-TW" dirty="0"/>
              <a:t>(g(n)) </a:t>
            </a:r>
            <a:r>
              <a:rPr lang="zh-TW" altLang="zh-TW" dirty="0"/>
              <a:t>若存在正整數</a:t>
            </a:r>
            <a:r>
              <a:rPr lang="en-US" altLang="zh-TW" dirty="0"/>
              <a:t>c</a:t>
            </a:r>
            <a:r>
              <a:rPr lang="zh-TW" altLang="zh-TW" dirty="0"/>
              <a:t>和</a:t>
            </a:r>
            <a:r>
              <a:rPr lang="en-US" altLang="zh-TW" dirty="0"/>
              <a:t>n</a:t>
            </a:r>
            <a:r>
              <a:rPr lang="en-US" altLang="zh-TW" baseline="-25000" dirty="0"/>
              <a:t>0</a:t>
            </a:r>
            <a:r>
              <a:rPr lang="zh-TW" altLang="zh-TW" dirty="0"/>
              <a:t>，使對所有</a:t>
            </a:r>
            <a:r>
              <a:rPr lang="en-US" altLang="zh-TW" dirty="0"/>
              <a:t>n</a:t>
            </a:r>
            <a:r>
              <a:rPr lang="zh-TW" altLang="en-US" dirty="0"/>
              <a:t> </a:t>
            </a:r>
            <a:r>
              <a:rPr lang="en-US" altLang="zh-TW" dirty="0"/>
              <a:t>≥n</a:t>
            </a:r>
            <a:r>
              <a:rPr lang="en-US" altLang="zh-TW" baseline="30000" dirty="0"/>
              <a:t>0</a:t>
            </a:r>
            <a:r>
              <a:rPr lang="zh-TW" altLang="zh-TW" dirty="0"/>
              <a:t>，</a:t>
            </a:r>
            <a:r>
              <a:rPr lang="en-US" altLang="zh-TW" dirty="0"/>
              <a:t>0</a:t>
            </a:r>
            <a:r>
              <a:rPr lang="zh-TW" altLang="zh-TW" dirty="0"/>
              <a:t>≦</a:t>
            </a:r>
            <a:r>
              <a:rPr lang="en-US" altLang="zh-TW" dirty="0"/>
              <a:t>f</a:t>
            </a:r>
            <a:r>
              <a:rPr lang="zh-TW" altLang="en-US" dirty="0"/>
              <a:t> </a:t>
            </a:r>
            <a:r>
              <a:rPr lang="en-US" altLang="zh-TW" dirty="0"/>
              <a:t>(n)</a:t>
            </a:r>
            <a:r>
              <a:rPr lang="zh-TW" altLang="zh-TW" dirty="0"/>
              <a:t>≦</a:t>
            </a:r>
            <a:r>
              <a:rPr lang="en-US" altLang="zh-TW" dirty="0"/>
              <a:t>cg(n)</a:t>
            </a:r>
            <a:r>
              <a:rPr lang="zh-TW" altLang="zh-TW" dirty="0"/>
              <a:t>。</a:t>
            </a:r>
            <a:endParaRPr lang="en-US" altLang="zh-TW" dirty="0"/>
          </a:p>
          <a:p>
            <a:pPr algn="l"/>
            <a:r>
              <a:rPr lang="zh-TW" altLang="en-US" dirty="0"/>
              <a:t>對於足夠大的</a:t>
            </a:r>
            <a:r>
              <a:rPr lang="en-US" altLang="zh-TW" dirty="0"/>
              <a:t>n</a:t>
            </a:r>
            <a:r>
              <a:rPr lang="zh-TW" altLang="en-US" dirty="0"/>
              <a:t>，</a:t>
            </a:r>
            <a:r>
              <a:rPr lang="en-US" altLang="zh-TW" dirty="0"/>
              <a:t>cg(n)</a:t>
            </a:r>
            <a:r>
              <a:rPr lang="zh-TW" altLang="en-US" dirty="0"/>
              <a:t>是</a:t>
            </a:r>
            <a:r>
              <a:rPr lang="en-US" altLang="zh-TW" dirty="0"/>
              <a:t>f (n)</a:t>
            </a:r>
            <a:r>
              <a:rPr lang="zh-TW" altLang="en-US" dirty="0"/>
              <a:t>的上界。</a:t>
            </a:r>
            <a:br>
              <a:rPr lang="en-US" altLang="zh-TW" dirty="0"/>
            </a:br>
            <a:br>
              <a:rPr lang="en-US" altLang="zh-TW" dirty="0"/>
            </a:br>
            <a:endParaRPr lang="zh-TW" altLang="en-US" dirty="0"/>
          </a:p>
        </p:txBody>
      </p:sp>
    </p:spTree>
    <p:extLst>
      <p:ext uri="{BB962C8B-B14F-4D97-AF65-F5344CB8AC3E}">
        <p14:creationId xmlns:p14="http://schemas.microsoft.com/office/powerpoint/2010/main" val="4223356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92500"/>
          </a:bodyPr>
          <a:lstStyle/>
          <a:p>
            <a:r>
              <a:rPr lang="zh-TW" altLang="en-US" dirty="0"/>
              <a:t>漸近分析（</a:t>
            </a:r>
            <a:r>
              <a:rPr lang="en-US" altLang="zh-TW" dirty="0"/>
              <a:t>asymptotic analysis</a:t>
            </a:r>
            <a:r>
              <a:rPr lang="zh-TW" altLang="en-US" dirty="0"/>
              <a:t>）中，最關鍵的部分是函數的等級，而不是函數的常數係數。</a:t>
            </a:r>
            <a:endParaRPr lang="en-US" altLang="zh-TW" dirty="0"/>
          </a:p>
          <a:p>
            <a:r>
              <a:rPr lang="zh-TW" altLang="en-US" dirty="0"/>
              <a:t>例如，當</a:t>
            </a:r>
            <a:r>
              <a:rPr lang="en-US" altLang="zh-TW" dirty="0"/>
              <a:t>f (n) = 3n</a:t>
            </a:r>
            <a:r>
              <a:rPr lang="en-US" altLang="zh-TW" baseline="30000" dirty="0"/>
              <a:t>2</a:t>
            </a:r>
            <a:r>
              <a:rPr lang="en-US" altLang="zh-TW" dirty="0"/>
              <a:t>+5n</a:t>
            </a:r>
            <a:r>
              <a:rPr lang="zh-TW" altLang="en-US" dirty="0"/>
              <a:t>時，我們可以透過令</a:t>
            </a:r>
            <a:br>
              <a:rPr lang="en-US" altLang="zh-TW" dirty="0"/>
            </a:br>
            <a:r>
              <a:rPr lang="en-US" altLang="zh-TW" dirty="0"/>
              <a:t>c =4, n</a:t>
            </a:r>
            <a:r>
              <a:rPr lang="en-US" altLang="zh-TW" baseline="-25000" dirty="0"/>
              <a:t>0</a:t>
            </a:r>
            <a:r>
              <a:rPr lang="en-US" altLang="zh-TW" dirty="0"/>
              <a:t>=10</a:t>
            </a:r>
            <a:r>
              <a:rPr lang="zh-TW" altLang="en-US" dirty="0"/>
              <a:t>來說明</a:t>
            </a:r>
            <a:r>
              <a:rPr lang="en-US" altLang="zh-TW" dirty="0"/>
              <a:t>f (n) = O(n</a:t>
            </a:r>
            <a:r>
              <a:rPr lang="en-US" altLang="zh-TW" baseline="30000" dirty="0"/>
              <a:t>2</a:t>
            </a:r>
            <a:r>
              <a:rPr lang="en-US" altLang="zh-TW" dirty="0"/>
              <a:t>)</a:t>
            </a:r>
            <a:r>
              <a:rPr lang="zh-TW" altLang="en-US" dirty="0"/>
              <a:t>，這顯示</a:t>
            </a:r>
            <a:r>
              <a:rPr lang="en-US" altLang="zh-TW" dirty="0"/>
              <a:t>f(n)</a:t>
            </a:r>
            <a:r>
              <a:rPr lang="zh-TW" altLang="en-US" dirty="0"/>
              <a:t>是</a:t>
            </a:r>
            <a:r>
              <a:rPr lang="en-US" altLang="zh-TW" dirty="0"/>
              <a:t>n</a:t>
            </a:r>
            <a:r>
              <a:rPr lang="en-US" altLang="zh-TW" baseline="30000" dirty="0"/>
              <a:t>2</a:t>
            </a:r>
            <a:r>
              <a:rPr lang="zh-TW" altLang="en-US" dirty="0"/>
              <a:t>等級，</a:t>
            </a:r>
            <a:r>
              <a:rPr lang="en-US" altLang="zh-TW" dirty="0"/>
              <a:t>5n</a:t>
            </a:r>
            <a:r>
              <a:rPr lang="zh-TW" altLang="en-US" dirty="0"/>
              <a:t>那個項次在</a:t>
            </a:r>
            <a:r>
              <a:rPr lang="en-US" altLang="zh-TW" dirty="0"/>
              <a:t>n</a:t>
            </a:r>
            <a:r>
              <a:rPr lang="zh-TW" altLang="en-US" dirty="0"/>
              <a:t>夠大時並不是最關鍵的。</a:t>
            </a:r>
            <a:endParaRPr lang="zh-TW" altLang="zh-TW" dirty="0"/>
          </a:p>
          <a:p>
            <a:endParaRPr lang="zh-TW" altLang="en-US" dirty="0"/>
          </a:p>
        </p:txBody>
      </p:sp>
    </p:spTree>
    <p:extLst>
      <p:ext uri="{BB962C8B-B14F-4D97-AF65-F5344CB8AC3E}">
        <p14:creationId xmlns:p14="http://schemas.microsoft.com/office/powerpoint/2010/main" val="3521526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11-2 </a:t>
            </a:r>
            <a:r>
              <a:rPr lang="zh-TW" altLang="en-US" b="1" dirty="0"/>
              <a:t>最大數及最小數找法</a:t>
            </a:r>
            <a:endParaRPr lang="zh-TW" altLang="en-US" dirty="0"/>
          </a:p>
        </p:txBody>
      </p:sp>
      <p:sp>
        <p:nvSpPr>
          <p:cNvPr id="4" name="內容版面配置區 3"/>
          <p:cNvSpPr>
            <a:spLocks noGrp="1"/>
          </p:cNvSpPr>
          <p:nvPr>
            <p:ph idx="1"/>
          </p:nvPr>
        </p:nvSpPr>
        <p:spPr/>
        <p:txBody>
          <a:bodyPr>
            <a:normAutofit/>
          </a:bodyPr>
          <a:lstStyle/>
          <a:p>
            <a:r>
              <a:rPr lang="zh-TW" altLang="en-US" dirty="0">
                <a:hlinkClick r:id="rId2" action="ppaction://hlinksldjump"/>
              </a:rPr>
              <a:t>作法</a:t>
            </a:r>
            <a:r>
              <a:rPr lang="en-US" altLang="zh-TW" dirty="0">
                <a:hlinkClick r:id="rId2" action="ppaction://hlinksldjump"/>
              </a:rPr>
              <a:t>1</a:t>
            </a:r>
            <a:r>
              <a:rPr lang="zh-TW" altLang="en-US" dirty="0">
                <a:hlinkClick r:id="rId2" action="ppaction://hlinksldjump"/>
              </a:rPr>
              <a:t>─逐一比較法</a:t>
            </a:r>
            <a:endParaRPr lang="en-US" altLang="zh-TW" dirty="0"/>
          </a:p>
          <a:p>
            <a:r>
              <a:rPr lang="zh-TW" altLang="en-US" dirty="0">
                <a:hlinkClick r:id="rId3" action="ppaction://hlinksldjump"/>
              </a:rPr>
              <a:t>作法</a:t>
            </a:r>
            <a:r>
              <a:rPr lang="en-US" altLang="zh-TW" dirty="0">
                <a:hlinkClick r:id="rId3" action="ppaction://hlinksldjump"/>
              </a:rPr>
              <a:t>2</a:t>
            </a:r>
            <a:r>
              <a:rPr lang="zh-TW" altLang="en-US" dirty="0">
                <a:hlinkClick r:id="rId3" action="ppaction://hlinksldjump"/>
              </a:rPr>
              <a:t>─兩兩比較法</a:t>
            </a:r>
            <a:endParaRPr lang="zh-TW" altLang="en-US" dirty="0"/>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2191" y="2357427"/>
            <a:ext cx="4234609" cy="22942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向左箭號 9"/>
          <p:cNvSpPr/>
          <p:nvPr/>
        </p:nvSpPr>
        <p:spPr>
          <a:xfrm flipH="1">
            <a:off x="1421650" y="3938262"/>
            <a:ext cx="2789085" cy="733663"/>
          </a:xfrm>
          <a:prstGeom prst="leftArrow">
            <a:avLst/>
          </a:prstGeom>
          <a:ln/>
        </p:spPr>
        <p:style>
          <a:lnRef idx="2">
            <a:schemeClr val="accent5"/>
          </a:lnRef>
          <a:fillRef idx="1">
            <a:schemeClr val="lt1"/>
          </a:fillRef>
          <a:effectRef idx="0">
            <a:schemeClr val="accent5"/>
          </a:effectRef>
          <a:fontRef idx="minor">
            <a:schemeClr val="dk1"/>
          </a:fontRef>
        </p:style>
        <p:txBody>
          <a:bodyPr wrap="square">
            <a:spAutoFit/>
          </a:bodyPr>
          <a:lstStyle/>
          <a:p>
            <a:r>
              <a:rPr lang="zh-TW" altLang="en-US" b="1" dirty="0">
                <a:solidFill>
                  <a:schemeClr val="tx1"/>
                </a:solidFill>
                <a:latin typeface="微軟正黑體" pitchFamily="34" charset="-120"/>
                <a:ea typeface="微軟正黑體" pitchFamily="34" charset="-120"/>
              </a:rPr>
              <a:t>逐一比較找出最大數</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作法</a:t>
            </a:r>
            <a:r>
              <a:rPr lang="en-US" altLang="zh-TW" dirty="0"/>
              <a:t>1</a:t>
            </a:r>
            <a:r>
              <a:rPr lang="zh-TW" altLang="en-US" dirty="0"/>
              <a:t>－逐一比較法</a:t>
            </a:r>
          </a:p>
        </p:txBody>
      </p:sp>
      <p:sp>
        <p:nvSpPr>
          <p:cNvPr id="2" name="內容版面配置區 1"/>
          <p:cNvSpPr>
            <a:spLocks noGrp="1"/>
          </p:cNvSpPr>
          <p:nvPr>
            <p:ph idx="1"/>
          </p:nvPr>
        </p:nvSpPr>
        <p:spPr/>
        <p:txBody>
          <a:bodyPr>
            <a:normAutofit/>
          </a:bodyPr>
          <a:lstStyle/>
          <a:p>
            <a:r>
              <a:rPr lang="zh-TW" altLang="en-US" dirty="0"/>
              <a:t>從第一個數看起，記錄到目前為止最大的數，循序往後面的數看去，如果接下來的數比所記錄的最大數更大，則取代之，直到最後一個數，則所記錄的數即為最大數。</a:t>
            </a:r>
          </a:p>
          <a:p>
            <a:endParaRPr lang="zh-TW" altLang="en-US" dirty="0"/>
          </a:p>
        </p:txBody>
      </p:sp>
    </p:spTree>
    <p:extLst>
      <p:ext uri="{BB962C8B-B14F-4D97-AF65-F5344CB8AC3E}">
        <p14:creationId xmlns:p14="http://schemas.microsoft.com/office/powerpoint/2010/main" val="126364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作法</a:t>
            </a:r>
            <a:r>
              <a:rPr lang="en-US" altLang="zh-TW" dirty="0"/>
              <a:t>1</a:t>
            </a:r>
            <a:r>
              <a:rPr lang="zh-TW" altLang="en-US" dirty="0"/>
              <a:t>－逐一比較法</a:t>
            </a:r>
          </a:p>
        </p:txBody>
      </p:sp>
      <p:sp>
        <p:nvSpPr>
          <p:cNvPr id="3" name="內容版面配置區 2"/>
          <p:cNvSpPr>
            <a:spLocks noGrp="1"/>
          </p:cNvSpPr>
          <p:nvPr>
            <p:ph idx="1"/>
          </p:nvPr>
        </p:nvSpPr>
        <p:spPr/>
        <p:txBody>
          <a:bodyPr/>
          <a:lstStyle/>
          <a:p>
            <a:r>
              <a:rPr lang="zh-TW" altLang="en-US" dirty="0">
                <a:solidFill>
                  <a:schemeClr val="accent5"/>
                </a:solidFill>
              </a:rPr>
              <a:t>範例</a:t>
            </a:r>
            <a:r>
              <a:rPr lang="en-US" altLang="zh-TW" dirty="0">
                <a:solidFill>
                  <a:schemeClr val="accent5"/>
                </a:solidFill>
              </a:rPr>
              <a:t>1</a:t>
            </a:r>
            <a:r>
              <a:rPr lang="zh-TW" altLang="en-US" dirty="0"/>
              <a:t>：</a:t>
            </a:r>
            <a:endParaRPr lang="en-US" altLang="zh-TW" dirty="0"/>
          </a:p>
          <a:p>
            <a:pPr lvl="1"/>
            <a:r>
              <a:rPr lang="zh-TW" altLang="en-US" dirty="0"/>
              <a:t>請使用逐一比較法，找出</a:t>
            </a:r>
            <a:r>
              <a:rPr lang="en-US" altLang="zh-TW" dirty="0"/>
              <a:t>16</a:t>
            </a:r>
            <a:r>
              <a:rPr lang="zh-TW" altLang="en-US" dirty="0"/>
              <a:t>、</a:t>
            </a:r>
            <a:r>
              <a:rPr lang="en-US" altLang="zh-TW" dirty="0"/>
              <a:t>77</a:t>
            </a:r>
            <a:r>
              <a:rPr lang="zh-TW" altLang="en-US" dirty="0"/>
              <a:t>、</a:t>
            </a:r>
            <a:r>
              <a:rPr lang="en-US" altLang="zh-TW" dirty="0"/>
              <a:t>25</a:t>
            </a:r>
            <a:r>
              <a:rPr lang="zh-TW" altLang="en-US" dirty="0"/>
              <a:t>、</a:t>
            </a:r>
            <a:r>
              <a:rPr lang="en-US" altLang="zh-TW" dirty="0"/>
              <a:t>85</a:t>
            </a:r>
            <a:r>
              <a:rPr lang="zh-TW" altLang="en-US" dirty="0"/>
              <a:t>、</a:t>
            </a:r>
            <a:r>
              <a:rPr lang="en-US" altLang="zh-TW" dirty="0"/>
              <a:t>12</a:t>
            </a:r>
            <a:r>
              <a:rPr lang="zh-TW" altLang="en-US" dirty="0"/>
              <a:t>、</a:t>
            </a:r>
            <a:r>
              <a:rPr lang="en-US" altLang="zh-TW" dirty="0"/>
              <a:t>8</a:t>
            </a:r>
            <a:r>
              <a:rPr lang="zh-TW" altLang="en-US" dirty="0"/>
              <a:t>、</a:t>
            </a:r>
            <a:r>
              <a:rPr lang="en-US" altLang="zh-TW" dirty="0"/>
              <a:t>36</a:t>
            </a:r>
            <a:r>
              <a:rPr lang="zh-TW" altLang="en-US" dirty="0"/>
              <a:t>及</a:t>
            </a:r>
            <a:r>
              <a:rPr lang="en-US" altLang="zh-TW" dirty="0"/>
              <a:t>52</a:t>
            </a:r>
            <a:r>
              <a:rPr lang="zh-TW" altLang="en-US" dirty="0"/>
              <a:t>裡的最大數。</a:t>
            </a:r>
          </a:p>
          <a:p>
            <a:endParaRPr lang="zh-TW" altLang="en-US" dirty="0"/>
          </a:p>
        </p:txBody>
      </p:sp>
    </p:spTree>
    <p:extLst>
      <p:ext uri="{BB962C8B-B14F-4D97-AF65-F5344CB8AC3E}">
        <p14:creationId xmlns:p14="http://schemas.microsoft.com/office/powerpoint/2010/main" val="30413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1</a:t>
            </a:r>
            <a:r>
              <a:rPr lang="zh-TW" altLang="en-US" dirty="0"/>
              <a:t>－逐一比較法</a:t>
            </a:r>
          </a:p>
        </p:txBody>
      </p:sp>
      <p:sp>
        <p:nvSpPr>
          <p:cNvPr id="3" name="內容版面配置區 2"/>
          <p:cNvSpPr>
            <a:spLocks noGrp="1"/>
          </p:cNvSpPr>
          <p:nvPr>
            <p:ph idx="1"/>
          </p:nvPr>
        </p:nvSpPr>
        <p:spPr/>
        <p:txBody>
          <a:bodyPr>
            <a:normAutofit fontScale="92500"/>
          </a:bodyPr>
          <a:lstStyle/>
          <a:p>
            <a:r>
              <a:rPr lang="zh-TW" altLang="en-US" dirty="0"/>
              <a:t>一開始</a:t>
            </a:r>
            <a:r>
              <a:rPr lang="en-US" altLang="zh-TW" dirty="0"/>
              <a:t>16</a:t>
            </a:r>
            <a:r>
              <a:rPr lang="zh-TW" altLang="en-US" dirty="0"/>
              <a:t>是紀錄上最大的數。</a:t>
            </a:r>
            <a:endParaRPr lang="en-US" altLang="zh-TW" dirty="0"/>
          </a:p>
          <a:p>
            <a:r>
              <a:rPr lang="zh-TW" altLang="en-US" dirty="0"/>
              <a:t>等看到</a:t>
            </a:r>
            <a:r>
              <a:rPr lang="en-US" altLang="zh-TW" dirty="0"/>
              <a:t>77</a:t>
            </a:r>
            <a:r>
              <a:rPr lang="zh-TW" altLang="en-US" dirty="0"/>
              <a:t>時，</a:t>
            </a:r>
            <a:r>
              <a:rPr lang="en-US" altLang="zh-TW" dirty="0"/>
              <a:t>77</a:t>
            </a:r>
            <a:r>
              <a:rPr lang="zh-TW" altLang="en-US" dirty="0"/>
              <a:t>比</a:t>
            </a:r>
            <a:r>
              <a:rPr lang="en-US" altLang="zh-TW" dirty="0"/>
              <a:t>16</a:t>
            </a:r>
            <a:r>
              <a:rPr lang="zh-TW" altLang="en-US" dirty="0"/>
              <a:t>大，將所記錄的數改成</a:t>
            </a:r>
            <a:r>
              <a:rPr lang="en-US" altLang="zh-TW" dirty="0"/>
              <a:t>77</a:t>
            </a:r>
            <a:r>
              <a:rPr lang="zh-TW" altLang="en-US" dirty="0"/>
              <a:t>。</a:t>
            </a:r>
            <a:endParaRPr lang="en-US" altLang="zh-TW" dirty="0"/>
          </a:p>
          <a:p>
            <a:r>
              <a:rPr lang="zh-TW" altLang="en-US" dirty="0"/>
              <a:t>接著是</a:t>
            </a:r>
            <a:r>
              <a:rPr lang="en-US" altLang="zh-TW" dirty="0"/>
              <a:t>25</a:t>
            </a:r>
            <a:r>
              <a:rPr lang="zh-TW" altLang="en-US" dirty="0"/>
              <a:t>，但</a:t>
            </a:r>
            <a:r>
              <a:rPr lang="en-US" altLang="zh-TW" dirty="0"/>
              <a:t>25</a:t>
            </a:r>
            <a:r>
              <a:rPr lang="zh-TW" altLang="en-US" dirty="0"/>
              <a:t>比</a:t>
            </a:r>
            <a:r>
              <a:rPr lang="en-US" altLang="zh-TW" dirty="0"/>
              <a:t>77</a:t>
            </a:r>
            <a:r>
              <a:rPr lang="zh-TW" altLang="en-US" dirty="0"/>
              <a:t>小，所以不更改紀錄。</a:t>
            </a:r>
            <a:endParaRPr lang="en-US" altLang="zh-TW" dirty="0"/>
          </a:p>
          <a:p>
            <a:r>
              <a:rPr lang="zh-TW" altLang="en-US" dirty="0"/>
              <a:t>接著是</a:t>
            </a:r>
            <a:r>
              <a:rPr lang="en-US" altLang="zh-TW" dirty="0"/>
              <a:t>85</a:t>
            </a:r>
            <a:r>
              <a:rPr lang="zh-TW" altLang="en-US" dirty="0"/>
              <a:t>，它比</a:t>
            </a:r>
            <a:r>
              <a:rPr lang="en-US" altLang="zh-TW" dirty="0"/>
              <a:t>77</a:t>
            </a:r>
            <a:r>
              <a:rPr lang="zh-TW" altLang="en-US" dirty="0"/>
              <a:t>大，所以最大數改成</a:t>
            </a:r>
            <a:r>
              <a:rPr lang="en-US" altLang="zh-TW" dirty="0"/>
              <a:t>85</a:t>
            </a:r>
            <a:r>
              <a:rPr lang="zh-TW" altLang="en-US" dirty="0"/>
              <a:t>，之後</a:t>
            </a:r>
            <a:r>
              <a:rPr lang="en-US" altLang="zh-TW" dirty="0"/>
              <a:t>85</a:t>
            </a:r>
            <a:r>
              <a:rPr lang="zh-TW" altLang="en-US" dirty="0"/>
              <a:t>持續為最大數，一直到最後，因此，最大數為</a:t>
            </a:r>
            <a:r>
              <a:rPr lang="en-US" altLang="zh-TW" dirty="0"/>
              <a:t>85</a:t>
            </a:r>
            <a:r>
              <a:rPr lang="zh-TW" altLang="en-US" dirty="0"/>
              <a:t>。</a:t>
            </a:r>
          </a:p>
          <a:p>
            <a:endParaRPr lang="zh-TW" altLang="en-US" dirty="0"/>
          </a:p>
        </p:txBody>
      </p:sp>
    </p:spTree>
    <p:extLst>
      <p:ext uri="{BB962C8B-B14F-4D97-AF65-F5344CB8AC3E}">
        <p14:creationId xmlns:p14="http://schemas.microsoft.com/office/powerpoint/2010/main" val="1538666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1</a:t>
            </a:r>
            <a:r>
              <a:rPr lang="zh-TW" altLang="en-US" dirty="0"/>
              <a:t>－逐一比較法</a:t>
            </a:r>
          </a:p>
        </p:txBody>
      </p:sp>
      <p:sp>
        <p:nvSpPr>
          <p:cNvPr id="4" name="內容版面配置區 3"/>
          <p:cNvSpPr>
            <a:spLocks noGrp="1"/>
          </p:cNvSpPr>
          <p:nvPr>
            <p:ph idx="1"/>
          </p:nvPr>
        </p:nvSpPr>
        <p:spPr/>
        <p:txBody>
          <a:bodyPr/>
          <a:lstStyle/>
          <a:p>
            <a:r>
              <a:rPr lang="zh-TW" altLang="en-US" dirty="0"/>
              <a:t>作法</a:t>
            </a:r>
            <a:r>
              <a:rPr lang="en-US" altLang="zh-TW" dirty="0"/>
              <a:t>1</a:t>
            </a:r>
            <a:r>
              <a:rPr lang="zh-TW" altLang="en-US" dirty="0"/>
              <a:t>從八個數中找出最大數，共需多少次的比較呢？</a:t>
            </a:r>
            <a:endParaRPr lang="en-US" altLang="zh-TW" dirty="0"/>
          </a:p>
          <a:p>
            <a:r>
              <a:rPr lang="zh-TW" altLang="en-US" dirty="0"/>
              <a:t>前面兩個數需要一次，之後每個數都需一次比較，所以共用了</a:t>
            </a:r>
            <a:r>
              <a:rPr lang="en-US" altLang="zh-TW" dirty="0"/>
              <a:t>7</a:t>
            </a:r>
            <a:r>
              <a:rPr lang="zh-TW" altLang="en-US" dirty="0"/>
              <a:t>次比較。</a:t>
            </a:r>
            <a:endParaRPr lang="en-US" altLang="zh-TW"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1</a:t>
            </a:r>
            <a:r>
              <a:rPr lang="zh-TW" altLang="en-US" dirty="0"/>
              <a:t>－逐一比較法</a:t>
            </a:r>
          </a:p>
        </p:txBody>
      </p:sp>
      <p:sp>
        <p:nvSpPr>
          <p:cNvPr id="3" name="內容版面配置區 2"/>
          <p:cNvSpPr>
            <a:spLocks noGrp="1"/>
          </p:cNvSpPr>
          <p:nvPr>
            <p:ph idx="1"/>
          </p:nvPr>
        </p:nvSpPr>
        <p:spPr/>
        <p:txBody>
          <a:bodyPr/>
          <a:lstStyle/>
          <a:p>
            <a:r>
              <a:rPr lang="zh-TW" altLang="en-US" dirty="0"/>
              <a:t>同理可推，給定</a:t>
            </a:r>
            <a:r>
              <a:rPr lang="en-US" altLang="zh-TW" dirty="0"/>
              <a:t>n</a:t>
            </a:r>
            <a:r>
              <a:rPr lang="zh-TW" altLang="en-US" dirty="0"/>
              <a:t>個數，作法</a:t>
            </a:r>
            <a:r>
              <a:rPr lang="en-US" altLang="zh-TW" dirty="0"/>
              <a:t>1</a:t>
            </a:r>
            <a:r>
              <a:rPr lang="zh-TW" altLang="en-US" dirty="0"/>
              <a:t>需用</a:t>
            </a:r>
            <a:r>
              <a:rPr lang="en-US" altLang="zh-TW" dirty="0"/>
              <a:t>n-1</a:t>
            </a:r>
            <a:r>
              <a:rPr lang="zh-TW" altLang="en-US" dirty="0"/>
              <a:t>次比較找出最大數。</a:t>
            </a:r>
          </a:p>
          <a:p>
            <a:endParaRPr lang="zh-TW" altLang="en-US" dirty="0"/>
          </a:p>
        </p:txBody>
      </p:sp>
    </p:spTree>
    <p:extLst>
      <p:ext uri="{BB962C8B-B14F-4D97-AF65-F5344CB8AC3E}">
        <p14:creationId xmlns:p14="http://schemas.microsoft.com/office/powerpoint/2010/main" val="255541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2" name="內容版面配置區 1"/>
          <p:cNvSpPr>
            <a:spLocks noGrp="1"/>
          </p:cNvSpPr>
          <p:nvPr>
            <p:ph idx="1"/>
          </p:nvPr>
        </p:nvSpPr>
        <p:spPr/>
        <p:txBody>
          <a:bodyPr/>
          <a:lstStyle/>
          <a:p>
            <a:r>
              <a:rPr lang="zh-TW" altLang="en-US" dirty="0">
                <a:solidFill>
                  <a:schemeClr val="accent5"/>
                </a:solidFill>
              </a:rPr>
              <a:t>範例</a:t>
            </a:r>
            <a:r>
              <a:rPr lang="en-US" altLang="zh-TW" dirty="0">
                <a:solidFill>
                  <a:schemeClr val="accent5"/>
                </a:solidFill>
              </a:rPr>
              <a:t>2</a:t>
            </a:r>
            <a:r>
              <a:rPr lang="zh-TW" altLang="en-US" dirty="0"/>
              <a:t>：</a:t>
            </a:r>
            <a:endParaRPr lang="en-US" altLang="zh-TW" dirty="0"/>
          </a:p>
          <a:p>
            <a:pPr lvl="1"/>
            <a:r>
              <a:rPr lang="zh-TW" altLang="en-US" dirty="0"/>
              <a:t>請使用兩兩比較法，找出</a:t>
            </a:r>
            <a:r>
              <a:rPr lang="en-US" altLang="zh-TW" dirty="0"/>
              <a:t>16</a:t>
            </a:r>
            <a:r>
              <a:rPr lang="zh-TW" altLang="en-US" dirty="0"/>
              <a:t>、</a:t>
            </a:r>
            <a:r>
              <a:rPr lang="en-US" altLang="zh-TW" dirty="0"/>
              <a:t>77</a:t>
            </a:r>
            <a:r>
              <a:rPr lang="zh-TW" altLang="en-US" dirty="0"/>
              <a:t>、</a:t>
            </a:r>
            <a:r>
              <a:rPr lang="en-US" altLang="zh-TW" dirty="0"/>
              <a:t>25</a:t>
            </a:r>
            <a:r>
              <a:rPr lang="zh-TW" altLang="en-US" dirty="0"/>
              <a:t>、</a:t>
            </a:r>
            <a:r>
              <a:rPr lang="en-US" altLang="zh-TW" dirty="0"/>
              <a:t>85</a:t>
            </a:r>
            <a:r>
              <a:rPr lang="zh-TW" altLang="en-US" dirty="0"/>
              <a:t>、</a:t>
            </a:r>
            <a:r>
              <a:rPr lang="en-US" altLang="zh-TW" dirty="0"/>
              <a:t>12</a:t>
            </a:r>
            <a:r>
              <a:rPr lang="zh-TW" altLang="en-US" dirty="0"/>
              <a:t>、</a:t>
            </a:r>
            <a:r>
              <a:rPr lang="en-US" altLang="zh-TW" dirty="0"/>
              <a:t>8</a:t>
            </a:r>
            <a:r>
              <a:rPr lang="zh-TW" altLang="en-US" dirty="0"/>
              <a:t>、</a:t>
            </a:r>
            <a:r>
              <a:rPr lang="en-US" altLang="zh-TW" dirty="0"/>
              <a:t>36</a:t>
            </a:r>
            <a:r>
              <a:rPr lang="zh-TW" altLang="en-US" dirty="0"/>
              <a:t>及</a:t>
            </a:r>
            <a:r>
              <a:rPr lang="en-US" altLang="zh-TW" dirty="0"/>
              <a:t>52</a:t>
            </a:r>
            <a:r>
              <a:rPr lang="zh-TW" altLang="en-US" dirty="0"/>
              <a:t>裡的最大數。</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3" name="內容版面配置區 2"/>
          <p:cNvSpPr>
            <a:spLocks noGrp="1"/>
          </p:cNvSpPr>
          <p:nvPr>
            <p:ph idx="1"/>
          </p:nvPr>
        </p:nvSpPr>
        <p:spPr/>
        <p:txBody>
          <a:bodyPr/>
          <a:lstStyle/>
          <a:p>
            <a:r>
              <a:rPr lang="zh-TW" altLang="en-US" dirty="0"/>
              <a:t>將比較大的數再用同樣作法兩兩比較，直到最後勝出的數即為最大。</a:t>
            </a:r>
            <a:endParaRPr lang="en-US" altLang="zh-TW" dirty="0"/>
          </a:p>
          <a:p>
            <a:endParaRPr lang="zh-TW" altLang="en-US" dirty="0"/>
          </a:p>
        </p:txBody>
      </p:sp>
    </p:spTree>
    <p:extLst>
      <p:ext uri="{BB962C8B-B14F-4D97-AF65-F5344CB8AC3E}">
        <p14:creationId xmlns:p14="http://schemas.microsoft.com/office/powerpoint/2010/main" val="335044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作法</a:t>
            </a:r>
            <a:r>
              <a:rPr lang="en-US" altLang="zh-TW"/>
              <a:t>2</a:t>
            </a:r>
            <a:r>
              <a:rPr lang="zh-TW" altLang="en-US"/>
              <a:t>－兩兩比較法</a:t>
            </a:r>
            <a:endParaRPr lang="zh-TW" altLang="en-US" dirty="0"/>
          </a:p>
        </p:txBody>
      </p:sp>
      <p:sp>
        <p:nvSpPr>
          <p:cNvPr id="3" name="內容版面配置區 2"/>
          <p:cNvSpPr>
            <a:spLocks noGrp="1"/>
          </p:cNvSpPr>
          <p:nvPr>
            <p:ph idx="1"/>
          </p:nvPr>
        </p:nvSpPr>
        <p:spPr/>
        <p:txBody>
          <a:bodyPr/>
          <a:lstStyle/>
          <a:p>
            <a:r>
              <a:rPr lang="zh-TW" altLang="en-US"/>
              <a:t>如下圖所示，第一輪勝出的數為</a:t>
            </a:r>
            <a:r>
              <a:rPr lang="en-US" altLang="zh-TW"/>
              <a:t>77</a:t>
            </a:r>
            <a:r>
              <a:rPr lang="zh-TW" altLang="en-US"/>
              <a:t>、</a:t>
            </a:r>
            <a:r>
              <a:rPr lang="en-US" altLang="zh-TW"/>
              <a:t>85</a:t>
            </a:r>
            <a:r>
              <a:rPr lang="zh-TW" altLang="en-US"/>
              <a:t>、</a:t>
            </a:r>
            <a:r>
              <a:rPr lang="en-US" altLang="zh-TW"/>
              <a:t>12</a:t>
            </a:r>
            <a:r>
              <a:rPr lang="zh-TW" altLang="en-US"/>
              <a:t>及</a:t>
            </a:r>
            <a:r>
              <a:rPr lang="en-US" altLang="zh-TW"/>
              <a:t>52</a:t>
            </a:r>
            <a:r>
              <a:rPr lang="zh-TW" altLang="en-US"/>
              <a:t>；第二輪勝出的數為</a:t>
            </a:r>
            <a:r>
              <a:rPr lang="en-US" altLang="zh-TW"/>
              <a:t>85</a:t>
            </a:r>
            <a:r>
              <a:rPr lang="zh-TW" altLang="en-US"/>
              <a:t>及</a:t>
            </a:r>
            <a:r>
              <a:rPr lang="en-US" altLang="zh-TW"/>
              <a:t>52</a:t>
            </a:r>
            <a:r>
              <a:rPr lang="zh-TW" altLang="en-US"/>
              <a:t>；第三輪勝出的數為</a:t>
            </a:r>
            <a:r>
              <a:rPr lang="en-US" altLang="zh-TW"/>
              <a:t>85</a:t>
            </a:r>
            <a:r>
              <a:rPr lang="zh-TW" altLang="en-US"/>
              <a:t>，此數即為最大數。</a:t>
            </a:r>
            <a:endParaRPr lang="en-US" altLang="zh-TW"/>
          </a:p>
          <a:p>
            <a:endParaRPr lang="zh-TW" alt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2395" y="3265154"/>
            <a:ext cx="4254270" cy="18783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向左箭號 4"/>
          <p:cNvSpPr/>
          <p:nvPr/>
        </p:nvSpPr>
        <p:spPr>
          <a:xfrm>
            <a:off x="6147175" y="3503272"/>
            <a:ext cx="2437180" cy="733663"/>
          </a:xfrm>
          <a:prstGeom prst="leftArrow">
            <a:avLst/>
          </a:prstGeom>
          <a:ln/>
        </p:spPr>
        <p:style>
          <a:lnRef idx="2">
            <a:schemeClr val="accent5"/>
          </a:lnRef>
          <a:fillRef idx="1">
            <a:schemeClr val="lt1"/>
          </a:fillRef>
          <a:effectRef idx="0">
            <a:schemeClr val="accent5"/>
          </a:effectRef>
          <a:fontRef idx="minor">
            <a:schemeClr val="dk1"/>
          </a:fontRef>
        </p:style>
        <p:txBody>
          <a:bodyPr wrap="none">
            <a:spAutoFit/>
          </a:bodyPr>
          <a:lstStyle/>
          <a:p>
            <a:r>
              <a:rPr lang="zh-TW" altLang="en-US" b="1" dirty="0">
                <a:solidFill>
                  <a:schemeClr val="tx1"/>
                </a:solidFill>
                <a:latin typeface="微軟正黑體" pitchFamily="34" charset="-120"/>
                <a:ea typeface="微軟正黑體" pitchFamily="34" charset="-120"/>
              </a:rPr>
              <a:t>兩兩比較找出最大數</a:t>
            </a:r>
          </a:p>
        </p:txBody>
      </p:sp>
    </p:spTree>
    <p:extLst>
      <p:ext uri="{BB962C8B-B14F-4D97-AF65-F5344CB8AC3E}">
        <p14:creationId xmlns:p14="http://schemas.microsoft.com/office/powerpoint/2010/main" val="277000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3" name="內容版面配置區 2"/>
          <p:cNvSpPr>
            <a:spLocks noGrp="1"/>
          </p:cNvSpPr>
          <p:nvPr>
            <p:ph idx="1"/>
          </p:nvPr>
        </p:nvSpPr>
        <p:spPr/>
        <p:txBody>
          <a:bodyPr>
            <a:normAutofit/>
          </a:bodyPr>
          <a:lstStyle/>
          <a:p>
            <a:r>
              <a:rPr lang="zh-TW" altLang="en-US" dirty="0"/>
              <a:t>作法</a:t>
            </a:r>
            <a:r>
              <a:rPr lang="en-US" altLang="zh-TW" dirty="0"/>
              <a:t>2</a:t>
            </a:r>
            <a:r>
              <a:rPr lang="zh-TW" altLang="en-US" dirty="0"/>
              <a:t>從八個數中找出最大數，共需多少次的比較？</a:t>
            </a:r>
          </a:p>
          <a:p>
            <a:r>
              <a:rPr lang="zh-TW" altLang="en-US" dirty="0"/>
              <a:t>第一輪需要</a:t>
            </a:r>
            <a:r>
              <a:rPr lang="en-US" altLang="zh-TW" dirty="0"/>
              <a:t>4</a:t>
            </a:r>
            <a:r>
              <a:rPr lang="zh-TW" altLang="en-US" dirty="0"/>
              <a:t>次比較、第二輪</a:t>
            </a:r>
            <a:r>
              <a:rPr lang="en-US" altLang="zh-TW" dirty="0"/>
              <a:t>2</a:t>
            </a:r>
            <a:r>
              <a:rPr lang="zh-TW" altLang="en-US" dirty="0"/>
              <a:t>次、第三輪</a:t>
            </a:r>
            <a:r>
              <a:rPr lang="en-US" altLang="zh-TW" dirty="0"/>
              <a:t>1</a:t>
            </a:r>
            <a:r>
              <a:rPr lang="zh-TW" altLang="en-US" dirty="0"/>
              <a:t>次，總共</a:t>
            </a:r>
            <a:r>
              <a:rPr lang="en-US" altLang="zh-TW" dirty="0"/>
              <a:t>7</a:t>
            </a:r>
            <a:r>
              <a:rPr lang="zh-TW" altLang="en-US" dirty="0"/>
              <a:t>次，和作法</a:t>
            </a:r>
            <a:r>
              <a:rPr lang="en-US" altLang="zh-TW" dirty="0"/>
              <a:t>1</a:t>
            </a:r>
            <a:r>
              <a:rPr lang="zh-TW" altLang="en-US" dirty="0"/>
              <a:t>次數相同。</a:t>
            </a:r>
            <a:endParaRPr lang="en-US" altLang="zh-TW" dirty="0"/>
          </a:p>
          <a:p>
            <a:endParaRPr lang="zh-TW" altLang="en-US" dirty="0"/>
          </a:p>
        </p:txBody>
      </p:sp>
    </p:spTree>
    <p:extLst>
      <p:ext uri="{BB962C8B-B14F-4D97-AF65-F5344CB8AC3E}">
        <p14:creationId xmlns:p14="http://schemas.microsoft.com/office/powerpoint/2010/main" val="739636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3" name="內容版面配置區 2"/>
          <p:cNvSpPr>
            <a:spLocks noGrp="1"/>
          </p:cNvSpPr>
          <p:nvPr>
            <p:ph idx="1"/>
          </p:nvPr>
        </p:nvSpPr>
        <p:spPr/>
        <p:txBody>
          <a:bodyPr/>
          <a:lstStyle/>
          <a:p>
            <a:r>
              <a:rPr lang="zh-TW" altLang="en-US" dirty="0"/>
              <a:t>假設</a:t>
            </a:r>
            <a:r>
              <a:rPr lang="en-US" altLang="zh-TW" dirty="0"/>
              <a:t>n</a:t>
            </a:r>
            <a:r>
              <a:rPr lang="zh-TW" altLang="en-US" dirty="0"/>
              <a:t>是</a:t>
            </a:r>
            <a:r>
              <a:rPr lang="en-US" altLang="zh-TW" dirty="0"/>
              <a:t>2</a:t>
            </a:r>
            <a:r>
              <a:rPr lang="zh-TW" altLang="en-US" dirty="0"/>
              <a:t>的整數次方，給定</a:t>
            </a:r>
            <a:r>
              <a:rPr lang="en-US" altLang="zh-TW" dirty="0"/>
              <a:t>n</a:t>
            </a:r>
            <a:r>
              <a:rPr lang="zh-TW" altLang="en-US" dirty="0"/>
              <a:t>個數，第一輪需要</a:t>
            </a:r>
            <a:r>
              <a:rPr lang="en-US" altLang="zh-TW" dirty="0"/>
              <a:t>n/2</a:t>
            </a:r>
            <a:r>
              <a:rPr lang="zh-TW" altLang="en-US" dirty="0"/>
              <a:t>、第二輪</a:t>
            </a:r>
            <a:r>
              <a:rPr lang="en-US" altLang="zh-TW" dirty="0"/>
              <a:t>n/2</a:t>
            </a:r>
            <a:r>
              <a:rPr lang="en-US" altLang="zh-TW" baseline="30000" dirty="0"/>
              <a:t>2</a:t>
            </a:r>
            <a:r>
              <a:rPr lang="zh-TW" altLang="en-US" dirty="0"/>
              <a:t>、第三輪</a:t>
            </a:r>
            <a:r>
              <a:rPr lang="en-US" altLang="zh-TW" dirty="0"/>
              <a:t>n/2</a:t>
            </a:r>
            <a:r>
              <a:rPr lang="en-US" altLang="zh-TW" baseline="30000" dirty="0"/>
              <a:t>3</a:t>
            </a:r>
            <a:r>
              <a:rPr lang="zh-TW" altLang="en-US" dirty="0"/>
              <a:t>、</a:t>
            </a:r>
            <a:r>
              <a:rPr lang="en-US" altLang="zh-TW" dirty="0"/>
              <a:t>...</a:t>
            </a:r>
            <a:r>
              <a:rPr lang="zh-TW" altLang="en-US" dirty="0"/>
              <a:t>，所以共需</a:t>
            </a:r>
            <a:r>
              <a:rPr lang="en-US" altLang="zh-TW" dirty="0"/>
              <a:t>n/2 + n/2</a:t>
            </a:r>
            <a:r>
              <a:rPr lang="en-US" altLang="zh-TW" baseline="30000" dirty="0"/>
              <a:t>2</a:t>
            </a:r>
            <a:r>
              <a:rPr lang="en-US" altLang="zh-TW" dirty="0"/>
              <a:t> +n/2</a:t>
            </a:r>
            <a:r>
              <a:rPr lang="en-US" altLang="zh-TW" baseline="30000" dirty="0"/>
              <a:t>3</a:t>
            </a:r>
            <a:r>
              <a:rPr lang="en-US" altLang="zh-TW" dirty="0"/>
              <a:t> + ... + 1 = n-1</a:t>
            </a:r>
            <a:r>
              <a:rPr lang="zh-TW" altLang="en-US" dirty="0"/>
              <a:t>，和作法</a:t>
            </a:r>
            <a:r>
              <a:rPr lang="en-US" altLang="zh-TW" dirty="0"/>
              <a:t>1</a:t>
            </a:r>
            <a:r>
              <a:rPr lang="zh-TW" altLang="en-US" dirty="0"/>
              <a:t>次數相同。</a:t>
            </a:r>
          </a:p>
          <a:p>
            <a:endParaRPr lang="zh-TW" altLang="en-US" dirty="0"/>
          </a:p>
        </p:txBody>
      </p:sp>
    </p:spTree>
    <p:extLst>
      <p:ext uri="{BB962C8B-B14F-4D97-AF65-F5344CB8AC3E}">
        <p14:creationId xmlns:p14="http://schemas.microsoft.com/office/powerpoint/2010/main" val="3865293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2" name="內容版面配置區 1"/>
          <p:cNvSpPr>
            <a:spLocks noGrp="1"/>
          </p:cNvSpPr>
          <p:nvPr>
            <p:ph idx="1"/>
          </p:nvPr>
        </p:nvSpPr>
        <p:spPr/>
        <p:txBody>
          <a:bodyPr>
            <a:normAutofit/>
          </a:bodyPr>
          <a:lstStyle/>
          <a:p>
            <a:r>
              <a:rPr lang="zh-TW" altLang="en-US" dirty="0">
                <a:solidFill>
                  <a:schemeClr val="accent5"/>
                </a:solidFill>
              </a:rPr>
              <a:t>範例</a:t>
            </a:r>
            <a:r>
              <a:rPr lang="en-US" altLang="zh-TW" dirty="0">
                <a:solidFill>
                  <a:schemeClr val="accent5"/>
                </a:solidFill>
              </a:rPr>
              <a:t>3</a:t>
            </a:r>
            <a:r>
              <a:rPr lang="zh-TW" altLang="en-US" dirty="0"/>
              <a:t>：</a:t>
            </a:r>
            <a:endParaRPr lang="en-US" altLang="zh-TW" dirty="0"/>
          </a:p>
          <a:p>
            <a:pPr lvl="1"/>
            <a:r>
              <a:rPr lang="zh-TW" altLang="en-US" dirty="0"/>
              <a:t>請找出</a:t>
            </a:r>
            <a:r>
              <a:rPr lang="en-US" altLang="zh-TW" dirty="0"/>
              <a:t>16</a:t>
            </a:r>
            <a:r>
              <a:rPr lang="zh-TW" altLang="en-US" dirty="0"/>
              <a:t>、</a:t>
            </a:r>
            <a:r>
              <a:rPr lang="en-US" altLang="zh-TW" dirty="0"/>
              <a:t>77</a:t>
            </a:r>
            <a:r>
              <a:rPr lang="zh-TW" altLang="en-US" dirty="0"/>
              <a:t>、</a:t>
            </a:r>
            <a:r>
              <a:rPr lang="en-US" altLang="zh-TW" dirty="0"/>
              <a:t>25</a:t>
            </a:r>
            <a:r>
              <a:rPr lang="zh-TW" altLang="en-US" dirty="0"/>
              <a:t>、</a:t>
            </a:r>
            <a:r>
              <a:rPr lang="en-US" altLang="zh-TW" dirty="0"/>
              <a:t>85</a:t>
            </a:r>
            <a:r>
              <a:rPr lang="zh-TW" altLang="en-US" dirty="0"/>
              <a:t>、</a:t>
            </a:r>
            <a:r>
              <a:rPr lang="en-US" altLang="zh-TW" dirty="0"/>
              <a:t>12</a:t>
            </a:r>
            <a:r>
              <a:rPr lang="zh-TW" altLang="en-US" dirty="0"/>
              <a:t>、</a:t>
            </a:r>
            <a:r>
              <a:rPr lang="en-US" altLang="zh-TW" dirty="0"/>
              <a:t>8</a:t>
            </a:r>
            <a:r>
              <a:rPr lang="zh-TW" altLang="en-US" dirty="0"/>
              <a:t>、</a:t>
            </a:r>
            <a:r>
              <a:rPr lang="en-US" altLang="zh-TW" dirty="0"/>
              <a:t>36</a:t>
            </a:r>
            <a:r>
              <a:rPr lang="zh-TW" altLang="en-US" dirty="0"/>
              <a:t>及</a:t>
            </a:r>
            <a:r>
              <a:rPr lang="en-US" altLang="zh-TW" dirty="0"/>
              <a:t>52</a:t>
            </a:r>
            <a:r>
              <a:rPr lang="zh-TW" altLang="en-US" dirty="0"/>
              <a:t>裡的最大數及最小數。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3" name="內容版面配置區 2"/>
          <p:cNvSpPr>
            <a:spLocks noGrp="1"/>
          </p:cNvSpPr>
          <p:nvPr>
            <p:ph idx="1"/>
          </p:nvPr>
        </p:nvSpPr>
        <p:spPr/>
        <p:txBody>
          <a:bodyPr/>
          <a:lstStyle/>
          <a:p>
            <a:r>
              <a:rPr lang="zh-TW" altLang="en-US" dirty="0"/>
              <a:t>先看看圖</a:t>
            </a:r>
            <a:r>
              <a:rPr lang="en-US" altLang="zh-TW" dirty="0"/>
              <a:t>11-1</a:t>
            </a:r>
            <a:r>
              <a:rPr lang="zh-TW" altLang="en-US" dirty="0"/>
              <a:t>作法</a:t>
            </a:r>
            <a:r>
              <a:rPr lang="en-US" altLang="zh-TW" dirty="0"/>
              <a:t>1</a:t>
            </a:r>
            <a:r>
              <a:rPr lang="zh-TW" altLang="en-US" dirty="0"/>
              <a:t>，以</a:t>
            </a:r>
            <a:r>
              <a:rPr lang="en-US" altLang="zh-TW" dirty="0"/>
              <a:t>7</a:t>
            </a:r>
            <a:r>
              <a:rPr lang="zh-TW" altLang="en-US" dirty="0"/>
              <a:t>次比較找出最大數，再從最大數</a:t>
            </a:r>
            <a:r>
              <a:rPr lang="en-US" altLang="zh-TW" dirty="0"/>
              <a:t>85</a:t>
            </a:r>
            <a:r>
              <a:rPr lang="zh-TW" altLang="en-US" dirty="0"/>
              <a:t>外的其他</a:t>
            </a:r>
            <a:r>
              <a:rPr lang="en-US" altLang="zh-TW" dirty="0"/>
              <a:t>7</a:t>
            </a:r>
            <a:r>
              <a:rPr lang="zh-TW" altLang="en-US" dirty="0"/>
              <a:t>個數</a:t>
            </a:r>
            <a:r>
              <a:rPr lang="en-US" altLang="zh-TW" dirty="0"/>
              <a:t>(16</a:t>
            </a:r>
            <a:r>
              <a:rPr lang="zh-TW" altLang="en-US" dirty="0"/>
              <a:t>、</a:t>
            </a:r>
            <a:r>
              <a:rPr lang="en-US" altLang="zh-TW" dirty="0"/>
              <a:t>77</a:t>
            </a:r>
            <a:r>
              <a:rPr lang="zh-TW" altLang="en-US" dirty="0"/>
              <a:t>、</a:t>
            </a:r>
            <a:r>
              <a:rPr lang="en-US" altLang="zh-TW" dirty="0"/>
              <a:t>25</a:t>
            </a:r>
            <a:r>
              <a:rPr lang="zh-TW" altLang="en-US" dirty="0"/>
              <a:t>、</a:t>
            </a:r>
            <a:r>
              <a:rPr lang="en-US" altLang="zh-TW" dirty="0"/>
              <a:t>12</a:t>
            </a:r>
            <a:r>
              <a:rPr lang="zh-TW" altLang="en-US" dirty="0"/>
              <a:t>、</a:t>
            </a:r>
            <a:r>
              <a:rPr lang="en-US" altLang="zh-TW" dirty="0"/>
              <a:t>8</a:t>
            </a:r>
            <a:r>
              <a:rPr lang="zh-TW" altLang="en-US" dirty="0"/>
              <a:t>、</a:t>
            </a:r>
            <a:r>
              <a:rPr lang="en-US" altLang="zh-TW" dirty="0"/>
              <a:t>36</a:t>
            </a:r>
            <a:r>
              <a:rPr lang="zh-TW" altLang="en-US" dirty="0"/>
              <a:t>及</a:t>
            </a:r>
            <a:r>
              <a:rPr lang="en-US" altLang="zh-TW" dirty="0"/>
              <a:t>52)</a:t>
            </a:r>
            <a:r>
              <a:rPr lang="zh-TW" altLang="en-US" dirty="0"/>
              <a:t>中，以</a:t>
            </a:r>
            <a:r>
              <a:rPr lang="en-US" altLang="zh-TW" dirty="0"/>
              <a:t>6</a:t>
            </a:r>
            <a:r>
              <a:rPr lang="zh-TW" altLang="en-US" dirty="0"/>
              <a:t>次比較找出最小數</a:t>
            </a:r>
            <a:r>
              <a:rPr lang="en-US" altLang="zh-TW" dirty="0"/>
              <a:t>8</a:t>
            </a:r>
            <a:r>
              <a:rPr lang="zh-TW" altLang="en-US" dirty="0"/>
              <a:t>，這樣共用了</a:t>
            </a:r>
            <a:r>
              <a:rPr lang="en-US" altLang="zh-TW" dirty="0"/>
              <a:t>7+6=13</a:t>
            </a:r>
            <a:r>
              <a:rPr lang="zh-TW" altLang="en-US" dirty="0"/>
              <a:t>次比較，是否有更少次數的比較方式呢？</a:t>
            </a:r>
          </a:p>
          <a:p>
            <a:endParaRPr lang="zh-TW" altLang="en-US" dirty="0"/>
          </a:p>
        </p:txBody>
      </p:sp>
    </p:spTree>
    <p:extLst>
      <p:ext uri="{BB962C8B-B14F-4D97-AF65-F5344CB8AC3E}">
        <p14:creationId xmlns:p14="http://schemas.microsoft.com/office/powerpoint/2010/main" val="813753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2" name="內容版面配置區 1"/>
          <p:cNvSpPr>
            <a:spLocks noGrp="1"/>
          </p:cNvSpPr>
          <p:nvPr>
            <p:ph idx="1"/>
          </p:nvPr>
        </p:nvSpPr>
        <p:spPr/>
        <p:txBody>
          <a:bodyPr>
            <a:normAutofit/>
          </a:bodyPr>
          <a:lstStyle/>
          <a:p>
            <a:pPr>
              <a:lnSpc>
                <a:spcPct val="120000"/>
              </a:lnSpc>
            </a:pPr>
            <a:r>
              <a:rPr lang="zh-TW" altLang="en-US" sz="2800" dirty="0"/>
              <a:t>現在請回頭再看看剛剛圖</a:t>
            </a:r>
            <a:r>
              <a:rPr lang="en-US" altLang="zh-TW" sz="2800" dirty="0"/>
              <a:t>11-2</a:t>
            </a:r>
            <a:r>
              <a:rPr lang="zh-TW" altLang="en-US" sz="2800" dirty="0"/>
              <a:t>的作法</a:t>
            </a:r>
            <a:r>
              <a:rPr lang="en-US" altLang="zh-TW" sz="2800" dirty="0"/>
              <a:t>2</a:t>
            </a:r>
            <a:r>
              <a:rPr lang="zh-TW" altLang="en-US" sz="2800" dirty="0"/>
              <a:t>，以</a:t>
            </a:r>
            <a:r>
              <a:rPr lang="en-US" altLang="zh-TW" sz="2800" dirty="0"/>
              <a:t>7</a:t>
            </a:r>
            <a:r>
              <a:rPr lang="zh-TW" altLang="en-US" sz="2800" dirty="0"/>
              <a:t>次比較找出最大數，要找最小數。</a:t>
            </a:r>
            <a:endParaRPr lang="en-US" altLang="zh-TW" sz="2800" dirty="0"/>
          </a:p>
          <a:p>
            <a:pPr>
              <a:lnSpc>
                <a:spcPct val="120000"/>
              </a:lnSpc>
            </a:pPr>
            <a:r>
              <a:rPr lang="zh-TW" altLang="en-US" sz="2800" dirty="0"/>
              <a:t>只要考慮第一輪輸掉的那些數即可，也就是</a:t>
            </a:r>
            <a:r>
              <a:rPr lang="en-US" altLang="zh-TW" sz="2800" dirty="0"/>
              <a:t>16</a:t>
            </a:r>
            <a:r>
              <a:rPr lang="zh-TW" altLang="en-US" sz="2800" dirty="0"/>
              <a:t>、</a:t>
            </a:r>
            <a:r>
              <a:rPr lang="en-US" altLang="zh-TW" sz="2800" dirty="0"/>
              <a:t>25</a:t>
            </a:r>
            <a:r>
              <a:rPr lang="zh-TW" altLang="en-US" sz="2800" dirty="0"/>
              <a:t>、</a:t>
            </a:r>
            <a:r>
              <a:rPr lang="en-US" altLang="zh-TW" sz="2800" dirty="0"/>
              <a:t>8</a:t>
            </a:r>
            <a:r>
              <a:rPr lang="zh-TW" altLang="en-US" sz="2800" dirty="0"/>
              <a:t>及</a:t>
            </a:r>
            <a:r>
              <a:rPr lang="en-US" altLang="zh-TW" sz="2800" dirty="0"/>
              <a:t>36</a:t>
            </a:r>
            <a:r>
              <a:rPr lang="zh-TW" altLang="en-US" sz="2800" dirty="0"/>
              <a:t>這四個數，因此只要再用</a:t>
            </a:r>
            <a:r>
              <a:rPr lang="en-US" altLang="zh-TW" sz="2800" dirty="0"/>
              <a:t>3</a:t>
            </a:r>
            <a:r>
              <a:rPr lang="zh-TW" altLang="en-US" sz="2800" dirty="0"/>
              <a:t>次比較即可找出最小數</a:t>
            </a:r>
            <a:r>
              <a:rPr lang="en-US" altLang="zh-TW" sz="2800" dirty="0"/>
              <a:t>8</a:t>
            </a:r>
            <a:r>
              <a:rPr lang="zh-TW" altLang="en-US" sz="2800" dirty="0"/>
              <a:t>，這樣共用了</a:t>
            </a:r>
            <a:r>
              <a:rPr lang="en-US" altLang="zh-TW" sz="2800" dirty="0"/>
              <a:t>7+3=10</a:t>
            </a:r>
            <a:r>
              <a:rPr lang="zh-TW" altLang="en-US" sz="2800" dirty="0"/>
              <a:t>次比較。</a:t>
            </a:r>
          </a:p>
          <a:p>
            <a:endParaRPr lang="zh-TW" altLang="en-US" dirty="0"/>
          </a:p>
        </p:txBody>
      </p:sp>
    </p:spTree>
    <p:extLst>
      <p:ext uri="{BB962C8B-B14F-4D97-AF65-F5344CB8AC3E}">
        <p14:creationId xmlns:p14="http://schemas.microsoft.com/office/powerpoint/2010/main" val="3342718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2" name="內容版面配置區 1"/>
          <p:cNvSpPr>
            <a:spLocks noGrp="1"/>
          </p:cNvSpPr>
          <p:nvPr>
            <p:ph idx="1"/>
          </p:nvPr>
        </p:nvSpPr>
        <p:spPr/>
        <p:txBody>
          <a:bodyPr>
            <a:normAutofit fontScale="92500" lnSpcReduction="10000"/>
          </a:bodyPr>
          <a:lstStyle/>
          <a:p>
            <a:r>
              <a:rPr lang="zh-TW" altLang="en-US" dirty="0"/>
              <a:t>假設</a:t>
            </a:r>
            <a:r>
              <a:rPr lang="en-US" altLang="zh-TW" dirty="0"/>
              <a:t>n</a:t>
            </a:r>
            <a:r>
              <a:rPr lang="zh-TW" altLang="en-US" dirty="0"/>
              <a:t>是</a:t>
            </a:r>
            <a:r>
              <a:rPr lang="en-US" altLang="zh-TW" dirty="0"/>
              <a:t>2</a:t>
            </a:r>
            <a:r>
              <a:rPr lang="zh-TW" altLang="en-US" dirty="0"/>
              <a:t>的整數次方，如果問題是要從</a:t>
            </a:r>
            <a:r>
              <a:rPr lang="en-US" altLang="zh-TW" dirty="0"/>
              <a:t>n</a:t>
            </a:r>
            <a:r>
              <a:rPr lang="zh-TW" altLang="en-US" dirty="0"/>
              <a:t>個數中找出最大數及最小數，要用多少次比較呢？</a:t>
            </a:r>
            <a:endParaRPr lang="en-US" altLang="zh-TW" dirty="0"/>
          </a:p>
          <a:p>
            <a:pPr lvl="1"/>
            <a:r>
              <a:rPr lang="zh-TW" altLang="en-US" dirty="0"/>
              <a:t>可以用作法</a:t>
            </a:r>
            <a:r>
              <a:rPr lang="en-US" altLang="zh-TW" dirty="0"/>
              <a:t>1</a:t>
            </a:r>
            <a:r>
              <a:rPr lang="zh-TW" altLang="en-US" dirty="0"/>
              <a:t>以</a:t>
            </a:r>
            <a:r>
              <a:rPr lang="en-US" altLang="zh-TW" dirty="0"/>
              <a:t>n-1</a:t>
            </a:r>
            <a:r>
              <a:rPr lang="zh-TW" altLang="en-US" dirty="0"/>
              <a:t>次比較找出最大數，再以</a:t>
            </a:r>
            <a:r>
              <a:rPr lang="en-US" altLang="zh-TW" dirty="0"/>
              <a:t>n-2</a:t>
            </a:r>
            <a:r>
              <a:rPr lang="zh-TW" altLang="en-US" dirty="0"/>
              <a:t>次比較。</a:t>
            </a:r>
            <a:endParaRPr lang="en-US" altLang="zh-TW" dirty="0"/>
          </a:p>
          <a:p>
            <a:pPr lvl="1"/>
            <a:r>
              <a:rPr lang="zh-TW" altLang="en-US" dirty="0"/>
              <a:t>從除了最大數之外的</a:t>
            </a:r>
            <a:r>
              <a:rPr lang="en-US" altLang="zh-TW" dirty="0"/>
              <a:t>n-1</a:t>
            </a:r>
            <a:r>
              <a:rPr lang="zh-TW" altLang="en-US" dirty="0"/>
              <a:t>個數中，找出最小數，這樣的作法共需</a:t>
            </a:r>
            <a:r>
              <a:rPr lang="en-US" altLang="zh-TW" dirty="0"/>
              <a:t>(n-1)+(n-2) =</a:t>
            </a:r>
            <a:r>
              <a:rPr lang="en-US" altLang="zh-TW" dirty="0" err="1"/>
              <a:t>2n</a:t>
            </a:r>
            <a:r>
              <a:rPr lang="en-US" altLang="zh-TW" dirty="0"/>
              <a:t>-3</a:t>
            </a:r>
            <a:r>
              <a:rPr lang="zh-TW" altLang="en-US" dirty="0"/>
              <a:t>次比較。</a:t>
            </a:r>
          </a:p>
          <a:p>
            <a:endParaRPr lang="zh-TW" altLang="en-US" dirty="0"/>
          </a:p>
        </p:txBody>
      </p:sp>
    </p:spTree>
    <p:extLst>
      <p:ext uri="{BB962C8B-B14F-4D97-AF65-F5344CB8AC3E}">
        <p14:creationId xmlns:p14="http://schemas.microsoft.com/office/powerpoint/2010/main" val="194187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2" name="內容版面配置區 1"/>
          <p:cNvSpPr>
            <a:spLocks noGrp="1"/>
          </p:cNvSpPr>
          <p:nvPr>
            <p:ph idx="1"/>
          </p:nvPr>
        </p:nvSpPr>
        <p:spPr/>
        <p:txBody>
          <a:bodyPr>
            <a:normAutofit/>
          </a:bodyPr>
          <a:lstStyle/>
          <a:p>
            <a:r>
              <a:rPr lang="zh-TW" altLang="en-US" dirty="0"/>
              <a:t>也可用作法</a:t>
            </a:r>
            <a:r>
              <a:rPr lang="en-US" altLang="zh-TW" dirty="0"/>
              <a:t>2</a:t>
            </a:r>
            <a:r>
              <a:rPr lang="zh-TW" altLang="en-US" dirty="0"/>
              <a:t>以</a:t>
            </a:r>
            <a:r>
              <a:rPr lang="en-US" altLang="zh-TW" dirty="0"/>
              <a:t>n-1</a:t>
            </a:r>
            <a:r>
              <a:rPr lang="zh-TW" altLang="en-US" dirty="0"/>
              <a:t>次比較找出最大數，再以</a:t>
            </a:r>
            <a:r>
              <a:rPr lang="en-US" altLang="zh-TW" dirty="0"/>
              <a:t>n/2-1</a:t>
            </a:r>
            <a:r>
              <a:rPr lang="zh-TW" altLang="en-US" dirty="0"/>
              <a:t>次比較，從第一輪輸掉的</a:t>
            </a:r>
            <a:r>
              <a:rPr lang="en-US" altLang="zh-TW" dirty="0"/>
              <a:t>n/2</a:t>
            </a:r>
            <a:r>
              <a:rPr lang="zh-TW" altLang="en-US" dirty="0"/>
              <a:t>個數中，找出最小數。</a:t>
            </a:r>
            <a:endParaRPr lang="en-US" altLang="zh-TW" dirty="0"/>
          </a:p>
          <a:p>
            <a:r>
              <a:rPr lang="zh-TW" altLang="en-US" dirty="0"/>
              <a:t>這樣的作法共需</a:t>
            </a:r>
            <a:r>
              <a:rPr lang="en-US" altLang="zh-TW" dirty="0"/>
              <a:t>(n-1)+(n/2-1) = 3n/2-2</a:t>
            </a:r>
            <a:r>
              <a:rPr lang="zh-TW" altLang="en-US" dirty="0"/>
              <a:t>次比較，可以證明這是最少的比較次數。</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3" name="內容版面配置區 2"/>
          <p:cNvSpPr>
            <a:spLocks noGrp="1"/>
          </p:cNvSpPr>
          <p:nvPr>
            <p:ph idx="1"/>
          </p:nvPr>
        </p:nvSpPr>
        <p:spPr/>
        <p:txBody>
          <a:bodyPr>
            <a:normAutofit/>
          </a:bodyPr>
          <a:lstStyle/>
          <a:p>
            <a:r>
              <a:rPr lang="zh-TW" altLang="en-US" dirty="0">
                <a:solidFill>
                  <a:schemeClr val="accent5"/>
                </a:solidFill>
              </a:rPr>
              <a:t>範例</a:t>
            </a:r>
            <a:r>
              <a:rPr lang="en-US" altLang="zh-TW" dirty="0">
                <a:solidFill>
                  <a:schemeClr val="accent5"/>
                </a:solidFill>
              </a:rPr>
              <a:t>4</a:t>
            </a:r>
            <a:r>
              <a:rPr lang="zh-TW" altLang="en-US" dirty="0"/>
              <a:t>：</a:t>
            </a:r>
            <a:endParaRPr lang="en-US" altLang="zh-TW" dirty="0"/>
          </a:p>
          <a:p>
            <a:pPr lvl="1"/>
            <a:r>
              <a:rPr lang="zh-TW" altLang="en-US" dirty="0"/>
              <a:t>請找出</a:t>
            </a:r>
            <a:r>
              <a:rPr lang="en-US" altLang="zh-TW" dirty="0"/>
              <a:t>16</a:t>
            </a:r>
            <a:r>
              <a:rPr lang="zh-TW" altLang="en-US" dirty="0"/>
              <a:t>、</a:t>
            </a:r>
            <a:r>
              <a:rPr lang="en-US" altLang="zh-TW" dirty="0"/>
              <a:t>77</a:t>
            </a:r>
            <a:r>
              <a:rPr lang="zh-TW" altLang="en-US" dirty="0"/>
              <a:t>、</a:t>
            </a:r>
            <a:r>
              <a:rPr lang="en-US" altLang="zh-TW" dirty="0"/>
              <a:t>25</a:t>
            </a:r>
            <a:r>
              <a:rPr lang="zh-TW" altLang="en-US" dirty="0"/>
              <a:t>、</a:t>
            </a:r>
            <a:r>
              <a:rPr lang="en-US" altLang="zh-TW" dirty="0"/>
              <a:t>85</a:t>
            </a:r>
            <a:r>
              <a:rPr lang="zh-TW" altLang="en-US" dirty="0"/>
              <a:t>、</a:t>
            </a:r>
            <a:r>
              <a:rPr lang="en-US" altLang="zh-TW" dirty="0"/>
              <a:t>12</a:t>
            </a:r>
            <a:r>
              <a:rPr lang="zh-TW" altLang="en-US" dirty="0"/>
              <a:t>、</a:t>
            </a:r>
            <a:r>
              <a:rPr lang="en-US" altLang="zh-TW" dirty="0"/>
              <a:t>8</a:t>
            </a:r>
            <a:r>
              <a:rPr lang="zh-TW" altLang="en-US" dirty="0"/>
              <a:t>、</a:t>
            </a:r>
            <a:r>
              <a:rPr lang="en-US" altLang="zh-TW" dirty="0"/>
              <a:t>36</a:t>
            </a:r>
            <a:r>
              <a:rPr lang="zh-TW" altLang="en-US" dirty="0"/>
              <a:t>及</a:t>
            </a:r>
            <a:r>
              <a:rPr lang="en-US" altLang="zh-TW" dirty="0"/>
              <a:t>52</a:t>
            </a:r>
            <a:r>
              <a:rPr lang="zh-TW" altLang="en-US" dirty="0"/>
              <a:t>裡的最大數及第二大數。 </a:t>
            </a:r>
          </a:p>
        </p:txBody>
      </p:sp>
    </p:spTree>
    <p:extLst>
      <p:ext uri="{BB962C8B-B14F-4D97-AF65-F5344CB8AC3E}">
        <p14:creationId xmlns:p14="http://schemas.microsoft.com/office/powerpoint/2010/main" val="2799116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作法</a:t>
            </a:r>
            <a:r>
              <a:rPr lang="en-US" altLang="zh-TW"/>
              <a:t>2</a:t>
            </a:r>
            <a:r>
              <a:rPr lang="zh-TW" altLang="en-US"/>
              <a:t>－兩兩比較法</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a:t>在作法</a:t>
            </a:r>
            <a:r>
              <a:rPr lang="en-US" altLang="zh-TW" dirty="0"/>
              <a:t>1</a:t>
            </a:r>
            <a:r>
              <a:rPr lang="zh-TW" altLang="en-US" dirty="0"/>
              <a:t>中，以</a:t>
            </a:r>
            <a:r>
              <a:rPr lang="en-US" altLang="zh-TW" dirty="0"/>
              <a:t>7</a:t>
            </a:r>
            <a:r>
              <a:rPr lang="zh-TW" altLang="en-US" dirty="0"/>
              <a:t>次比較找出最大數，再從最大數</a:t>
            </a:r>
            <a:r>
              <a:rPr lang="en-US" altLang="zh-TW" dirty="0"/>
              <a:t>85</a:t>
            </a:r>
            <a:r>
              <a:rPr lang="zh-TW" altLang="en-US" dirty="0"/>
              <a:t>外的其他</a:t>
            </a:r>
            <a:r>
              <a:rPr lang="en-US" altLang="zh-TW" dirty="0"/>
              <a:t>7</a:t>
            </a:r>
            <a:r>
              <a:rPr lang="zh-TW" altLang="en-US" dirty="0"/>
              <a:t>個數</a:t>
            </a:r>
            <a:r>
              <a:rPr lang="en-US" altLang="zh-TW" dirty="0"/>
              <a:t>(16</a:t>
            </a:r>
            <a:r>
              <a:rPr lang="zh-TW" altLang="en-US" dirty="0"/>
              <a:t>、</a:t>
            </a:r>
            <a:r>
              <a:rPr lang="en-US" altLang="zh-TW" dirty="0"/>
              <a:t>77</a:t>
            </a:r>
            <a:r>
              <a:rPr lang="zh-TW" altLang="en-US" dirty="0"/>
              <a:t>、</a:t>
            </a:r>
            <a:r>
              <a:rPr lang="en-US" altLang="zh-TW" dirty="0"/>
              <a:t>25</a:t>
            </a:r>
            <a:r>
              <a:rPr lang="zh-TW" altLang="en-US" dirty="0"/>
              <a:t>、</a:t>
            </a:r>
            <a:r>
              <a:rPr lang="en-US" altLang="zh-TW" dirty="0"/>
              <a:t>12</a:t>
            </a:r>
            <a:r>
              <a:rPr lang="zh-TW" altLang="en-US" dirty="0"/>
              <a:t>、</a:t>
            </a:r>
            <a:r>
              <a:rPr lang="en-US" altLang="zh-TW" dirty="0"/>
              <a:t>8</a:t>
            </a:r>
            <a:r>
              <a:rPr lang="zh-TW" altLang="en-US" dirty="0"/>
              <a:t>、</a:t>
            </a:r>
            <a:r>
              <a:rPr lang="en-US" altLang="zh-TW" dirty="0"/>
              <a:t>36</a:t>
            </a:r>
            <a:r>
              <a:rPr lang="zh-TW" altLang="en-US" dirty="0"/>
              <a:t>及</a:t>
            </a:r>
            <a:r>
              <a:rPr lang="en-US" altLang="zh-TW" dirty="0"/>
              <a:t>52)</a:t>
            </a:r>
            <a:r>
              <a:rPr lang="zh-TW" altLang="en-US" dirty="0"/>
              <a:t>中，以</a:t>
            </a:r>
            <a:r>
              <a:rPr lang="en-US" altLang="zh-TW" dirty="0"/>
              <a:t>6</a:t>
            </a:r>
            <a:r>
              <a:rPr lang="zh-TW" altLang="en-US" dirty="0"/>
              <a:t>次比較找出其中的最大數</a:t>
            </a:r>
            <a:r>
              <a:rPr lang="en-US" altLang="zh-TW" dirty="0"/>
              <a:t>77(</a:t>
            </a:r>
            <a:r>
              <a:rPr lang="zh-TW" altLang="en-US" dirty="0"/>
              <a:t>也就是全部的第二大數</a:t>
            </a:r>
            <a:r>
              <a:rPr lang="en-US" altLang="zh-TW" dirty="0"/>
              <a:t>)</a:t>
            </a:r>
            <a:r>
              <a:rPr lang="zh-TW" altLang="en-US" dirty="0"/>
              <a:t>。</a:t>
            </a:r>
            <a:endParaRPr lang="en-US" altLang="zh-TW" dirty="0"/>
          </a:p>
          <a:p>
            <a:r>
              <a:rPr lang="zh-TW" altLang="en-US" dirty="0"/>
              <a:t>這樣共用了</a:t>
            </a:r>
            <a:r>
              <a:rPr lang="en-US" altLang="zh-TW" dirty="0"/>
              <a:t>7+6=13</a:t>
            </a:r>
            <a:r>
              <a:rPr lang="zh-TW" altLang="en-US" dirty="0"/>
              <a:t>次比較，是否有更少次數的比較方式呢？</a:t>
            </a:r>
          </a:p>
          <a:p>
            <a:endParaRPr lang="zh-TW" altLang="en-US" dirty="0"/>
          </a:p>
        </p:txBody>
      </p:sp>
    </p:spTree>
    <p:extLst>
      <p:ext uri="{BB962C8B-B14F-4D97-AF65-F5344CB8AC3E}">
        <p14:creationId xmlns:p14="http://schemas.microsoft.com/office/powerpoint/2010/main" val="40290627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3" name="內容版面配置區 2"/>
          <p:cNvSpPr>
            <a:spLocks noGrp="1"/>
          </p:cNvSpPr>
          <p:nvPr>
            <p:ph idx="1"/>
          </p:nvPr>
        </p:nvSpPr>
        <p:spPr/>
        <p:txBody>
          <a:bodyPr/>
          <a:lstStyle/>
          <a:p>
            <a:r>
              <a:rPr lang="zh-TW" altLang="en-US" dirty="0"/>
              <a:t>在作法</a:t>
            </a:r>
            <a:r>
              <a:rPr lang="en-US" altLang="zh-TW" dirty="0"/>
              <a:t>2</a:t>
            </a:r>
            <a:r>
              <a:rPr lang="zh-TW" altLang="en-US" dirty="0"/>
              <a:t>中，以</a:t>
            </a:r>
            <a:r>
              <a:rPr lang="en-US" altLang="zh-TW" dirty="0"/>
              <a:t>7</a:t>
            </a:r>
            <a:r>
              <a:rPr lang="zh-TW" altLang="en-US" dirty="0"/>
              <a:t>次比較找出最大數，要找第二大數，只要考慮曾輸給最大數的那些數即可，也就是</a:t>
            </a:r>
            <a:r>
              <a:rPr lang="en-US" altLang="zh-TW" dirty="0"/>
              <a:t>52</a:t>
            </a:r>
            <a:r>
              <a:rPr lang="zh-TW" altLang="en-US" dirty="0"/>
              <a:t>、</a:t>
            </a:r>
            <a:r>
              <a:rPr lang="en-US" altLang="zh-TW" dirty="0"/>
              <a:t>77</a:t>
            </a:r>
            <a:r>
              <a:rPr lang="zh-TW" altLang="en-US" dirty="0"/>
              <a:t>及</a:t>
            </a:r>
            <a:r>
              <a:rPr lang="en-US" altLang="zh-TW" dirty="0"/>
              <a:t>25</a:t>
            </a:r>
            <a:r>
              <a:rPr lang="zh-TW" altLang="en-US" dirty="0"/>
              <a:t>這三個數。</a:t>
            </a:r>
            <a:endParaRPr lang="en-US" altLang="zh-TW" dirty="0"/>
          </a:p>
          <a:p>
            <a:r>
              <a:rPr lang="zh-TW" altLang="en-US" dirty="0"/>
              <a:t>因此只要再用</a:t>
            </a:r>
            <a:r>
              <a:rPr lang="en-US" altLang="zh-TW" dirty="0"/>
              <a:t>2</a:t>
            </a:r>
            <a:r>
              <a:rPr lang="zh-TW" altLang="en-US" dirty="0"/>
              <a:t>次比較即可找出第二大數</a:t>
            </a:r>
            <a:r>
              <a:rPr lang="en-US" altLang="zh-TW" dirty="0"/>
              <a:t>77</a:t>
            </a:r>
            <a:r>
              <a:rPr lang="zh-TW" altLang="en-US" dirty="0"/>
              <a:t>，這樣共用了</a:t>
            </a:r>
            <a:r>
              <a:rPr lang="en-US" altLang="zh-TW" dirty="0"/>
              <a:t>7+2=9</a:t>
            </a:r>
            <a:r>
              <a:rPr lang="zh-TW" altLang="en-US" dirty="0"/>
              <a:t>次比較。</a:t>
            </a:r>
          </a:p>
          <a:p>
            <a:endParaRPr lang="zh-TW" altLang="en-US" dirty="0"/>
          </a:p>
        </p:txBody>
      </p:sp>
    </p:spTree>
    <p:extLst>
      <p:ext uri="{BB962C8B-B14F-4D97-AF65-F5344CB8AC3E}">
        <p14:creationId xmlns:p14="http://schemas.microsoft.com/office/powerpoint/2010/main" val="29592972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a:t>作法</a:t>
            </a:r>
            <a:r>
              <a:rPr lang="en-US" altLang="zh-TW"/>
              <a:t>2</a:t>
            </a:r>
            <a:r>
              <a:rPr lang="zh-TW" altLang="en-US"/>
              <a:t>－兩兩比較法</a:t>
            </a:r>
            <a:endParaRPr lang="zh-TW" altLang="en-US" dirty="0"/>
          </a:p>
        </p:txBody>
      </p:sp>
      <p:sp>
        <p:nvSpPr>
          <p:cNvPr id="2" name="內容版面配置區 1"/>
          <p:cNvSpPr>
            <a:spLocks noGrp="1"/>
          </p:cNvSpPr>
          <p:nvPr>
            <p:ph idx="1"/>
          </p:nvPr>
        </p:nvSpPr>
        <p:spPr/>
        <p:txBody>
          <a:bodyPr>
            <a:normAutofit fontScale="92500" lnSpcReduction="10000"/>
          </a:bodyPr>
          <a:lstStyle/>
          <a:p>
            <a:r>
              <a:rPr lang="zh-TW" altLang="en-US" dirty="0"/>
              <a:t>假設</a:t>
            </a:r>
            <a:r>
              <a:rPr lang="en-US" altLang="zh-TW" dirty="0"/>
              <a:t>n</a:t>
            </a:r>
            <a:r>
              <a:rPr lang="zh-TW" altLang="en-US" dirty="0"/>
              <a:t>是</a:t>
            </a:r>
            <a:r>
              <a:rPr lang="en-US" altLang="zh-TW" dirty="0"/>
              <a:t>2</a:t>
            </a:r>
            <a:r>
              <a:rPr lang="zh-TW" altLang="en-US" dirty="0"/>
              <a:t>的整數次方，如果問題是從</a:t>
            </a:r>
            <a:r>
              <a:rPr lang="en-US" altLang="zh-TW" dirty="0"/>
              <a:t>n</a:t>
            </a:r>
            <a:r>
              <a:rPr lang="zh-TW" altLang="en-US" dirty="0"/>
              <a:t>個數中找出最大數及第二大數，要用多少次比較呢？</a:t>
            </a:r>
            <a:endParaRPr lang="en-US" altLang="zh-TW" dirty="0"/>
          </a:p>
          <a:p>
            <a:pPr lvl="1"/>
            <a:r>
              <a:rPr lang="zh-TW" altLang="en-US" dirty="0"/>
              <a:t>以作法</a:t>
            </a:r>
            <a:r>
              <a:rPr lang="en-US" altLang="zh-TW" dirty="0"/>
              <a:t>1</a:t>
            </a:r>
            <a:r>
              <a:rPr lang="zh-TW" altLang="en-US" dirty="0"/>
              <a:t>進行，需要</a:t>
            </a:r>
            <a:r>
              <a:rPr lang="en-US" altLang="zh-TW" dirty="0"/>
              <a:t>(n-1)+(n-2) = 2n-3</a:t>
            </a:r>
            <a:r>
              <a:rPr lang="zh-TW" altLang="en-US" dirty="0"/>
              <a:t>次比較。</a:t>
            </a:r>
            <a:endParaRPr lang="en-US" altLang="zh-TW" dirty="0"/>
          </a:p>
          <a:p>
            <a:pPr lvl="1"/>
            <a:r>
              <a:rPr lang="zh-TW" altLang="en-US" dirty="0"/>
              <a:t>以作法</a:t>
            </a:r>
            <a:r>
              <a:rPr lang="en-US" altLang="zh-TW" dirty="0"/>
              <a:t>2</a:t>
            </a:r>
            <a:r>
              <a:rPr lang="zh-TW" altLang="en-US" dirty="0"/>
              <a:t>進行，只有</a:t>
            </a:r>
            <a:r>
              <a:rPr lang="en-US" altLang="zh-TW" dirty="0"/>
              <a:t>log</a:t>
            </a:r>
            <a:r>
              <a:rPr lang="en-US" altLang="zh-TW" baseline="-25000" dirty="0"/>
              <a:t>2</a:t>
            </a:r>
            <a:r>
              <a:rPr lang="en-US" altLang="zh-TW" dirty="0"/>
              <a:t>n</a:t>
            </a:r>
            <a:r>
              <a:rPr lang="zh-TW" altLang="en-US" dirty="0"/>
              <a:t>個數曾輸給最大數，因此，總共需要</a:t>
            </a:r>
            <a:r>
              <a:rPr lang="en-US" altLang="zh-TW" dirty="0"/>
              <a:t>(n-1)+(log</a:t>
            </a:r>
            <a:r>
              <a:rPr lang="en-US" altLang="zh-TW" baseline="-25000" dirty="0"/>
              <a:t>2</a:t>
            </a:r>
            <a:r>
              <a:rPr lang="en-US" altLang="zh-TW" dirty="0"/>
              <a:t>n-1) =n+log</a:t>
            </a:r>
            <a:r>
              <a:rPr lang="en-US" altLang="zh-TW" baseline="-25000" dirty="0"/>
              <a:t>2</a:t>
            </a:r>
            <a:r>
              <a:rPr lang="en-US" altLang="zh-TW" dirty="0"/>
              <a:t>n-2</a:t>
            </a:r>
            <a:r>
              <a:rPr lang="zh-TW" altLang="en-US" dirty="0"/>
              <a:t>次比較，可以證明這是最少的比較次數。</a:t>
            </a:r>
            <a:endParaRPr lang="en-US" altLang="zh-TW"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11-3 </a:t>
            </a:r>
            <a:r>
              <a:rPr lang="zh-TW" altLang="en-US" dirty="0"/>
              <a:t>排序</a:t>
            </a:r>
          </a:p>
        </p:txBody>
      </p:sp>
      <p:sp>
        <p:nvSpPr>
          <p:cNvPr id="3" name="內容版面配置區 2"/>
          <p:cNvSpPr>
            <a:spLocks noGrp="1"/>
          </p:cNvSpPr>
          <p:nvPr>
            <p:ph idx="1"/>
          </p:nvPr>
        </p:nvSpPr>
        <p:spPr/>
        <p:txBody>
          <a:bodyPr/>
          <a:lstStyle/>
          <a:p>
            <a:r>
              <a:rPr lang="zh-TW" altLang="en-US" dirty="0">
                <a:hlinkClick r:id="rId2" action="ppaction://hlinksldjump"/>
              </a:rPr>
              <a:t>選擇排序法（</a:t>
            </a:r>
            <a:r>
              <a:rPr lang="en-US" altLang="zh-TW" dirty="0">
                <a:hlinkClick r:id="rId2" action="ppaction://hlinksldjump"/>
              </a:rPr>
              <a:t>selection sort</a:t>
            </a:r>
            <a:r>
              <a:rPr lang="zh-TW" altLang="en-US" dirty="0">
                <a:hlinkClick r:id="rId2" action="ppaction://hlinksldjump"/>
              </a:rPr>
              <a:t>）</a:t>
            </a:r>
            <a:endParaRPr lang="en-US" altLang="zh-TW" dirty="0"/>
          </a:p>
          <a:p>
            <a:r>
              <a:rPr lang="zh-TW" altLang="en-US" dirty="0">
                <a:hlinkClick r:id="rId3" action="ppaction://hlinksldjump"/>
              </a:rPr>
              <a:t>插入排序法（</a:t>
            </a:r>
            <a:r>
              <a:rPr lang="en-US" altLang="zh-TW" dirty="0">
                <a:hlinkClick r:id="rId3" action="ppaction://hlinksldjump"/>
              </a:rPr>
              <a:t>insertion sort</a:t>
            </a:r>
            <a:r>
              <a:rPr lang="zh-TW" altLang="en-US" dirty="0">
                <a:hlinkClick r:id="rId3" action="ppaction://hlinksldjump"/>
              </a:rPr>
              <a:t>）</a:t>
            </a:r>
            <a:endParaRPr lang="en-US" altLang="zh-TW" dirty="0"/>
          </a:p>
          <a:p>
            <a:r>
              <a:rPr lang="zh-TW" altLang="en-US" dirty="0">
                <a:hlinkClick r:id="rId4" action="ppaction://hlinksldjump"/>
              </a:rPr>
              <a:t>泡沫排序法（</a:t>
            </a:r>
            <a:r>
              <a:rPr lang="en-US" altLang="zh-TW" dirty="0">
                <a:hlinkClick r:id="rId4" action="ppaction://hlinksldjump"/>
              </a:rPr>
              <a:t>bubble sort</a:t>
            </a:r>
            <a:r>
              <a:rPr lang="zh-TW" altLang="en-US" dirty="0">
                <a:hlinkClick r:id="rId4" action="ppaction://hlinksldjump"/>
              </a:rPr>
              <a:t>）</a:t>
            </a:r>
            <a:endParaRPr lang="en-US" altLang="zh-TW" dirty="0"/>
          </a:p>
          <a:p>
            <a:r>
              <a:rPr lang="zh-TW" altLang="en-US" dirty="0">
                <a:hlinkClick r:id="rId5" action="ppaction://hlinksldjump"/>
              </a:rPr>
              <a:t>快速排序法（</a:t>
            </a:r>
            <a:r>
              <a:rPr lang="en-US" altLang="zh-TW" dirty="0">
                <a:hlinkClick r:id="rId5" action="ppaction://hlinksldjump"/>
              </a:rPr>
              <a:t>quick sort</a:t>
            </a:r>
            <a:r>
              <a:rPr lang="zh-TW" altLang="en-US" dirty="0">
                <a:hlinkClick r:id="rId5" action="ppaction://hlinksldjump"/>
              </a:rPr>
              <a:t>）</a:t>
            </a:r>
            <a:endParaRPr lang="zh-TW" altLang="en-US" dirty="0"/>
          </a:p>
        </p:txBody>
      </p:sp>
    </p:spTree>
    <p:extLst>
      <p:ext uri="{BB962C8B-B14F-4D97-AF65-F5344CB8AC3E}">
        <p14:creationId xmlns:p14="http://schemas.microsoft.com/office/powerpoint/2010/main" val="13259504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11-3 </a:t>
            </a:r>
            <a:r>
              <a:rPr lang="zh-TW" altLang="en-US" dirty="0"/>
              <a:t>排序</a:t>
            </a:r>
          </a:p>
        </p:txBody>
      </p:sp>
      <p:sp>
        <p:nvSpPr>
          <p:cNvPr id="4" name="內容版面配置區 3"/>
          <p:cNvSpPr>
            <a:spLocks noGrp="1"/>
          </p:cNvSpPr>
          <p:nvPr>
            <p:ph idx="1"/>
          </p:nvPr>
        </p:nvSpPr>
        <p:spPr/>
        <p:txBody>
          <a:bodyPr/>
          <a:lstStyle/>
          <a:p>
            <a:r>
              <a:rPr lang="zh-TW" altLang="en-US" dirty="0"/>
              <a:t>排序問題：給定</a:t>
            </a:r>
            <a:r>
              <a:rPr lang="en-US" altLang="zh-TW" dirty="0"/>
              <a:t>n</a:t>
            </a:r>
            <a:r>
              <a:rPr lang="zh-TW" altLang="en-US" dirty="0"/>
              <a:t>個數，請將它們由小排到大。排序是電腦經常用到的演算法，資料一旦排序之後，後續尋找便能快速進行。</a:t>
            </a:r>
            <a:endParaRPr lang="en-US" altLang="zh-TW" dirty="0"/>
          </a:p>
          <a:p>
            <a:r>
              <a:rPr lang="zh-TW" altLang="en-US" dirty="0"/>
              <a:t>但排序的演算法效率差別很大，當資料量變大時，演算法的好壞將影響執行所需時間甚鉅。</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11-3 </a:t>
            </a:r>
            <a:r>
              <a:rPr lang="zh-TW" altLang="en-US" dirty="0"/>
              <a:t>排序</a:t>
            </a:r>
          </a:p>
        </p:txBody>
      </p:sp>
      <p:sp>
        <p:nvSpPr>
          <p:cNvPr id="5" name="內容版面配置區 4"/>
          <p:cNvSpPr>
            <a:spLocks noGrp="1"/>
          </p:cNvSpPr>
          <p:nvPr>
            <p:ph idx="1"/>
          </p:nvPr>
        </p:nvSpPr>
        <p:spPr/>
        <p:txBody>
          <a:bodyPr>
            <a:normAutofit lnSpcReduction="10000"/>
          </a:bodyPr>
          <a:lstStyle/>
          <a:p>
            <a:r>
              <a:rPr lang="zh-TW" altLang="en-US" dirty="0"/>
              <a:t>快速排序法</a:t>
            </a:r>
            <a:endParaRPr lang="en-US" altLang="zh-TW" dirty="0"/>
          </a:p>
          <a:p>
            <a:pPr lvl="1"/>
            <a:r>
              <a:rPr lang="zh-TW" altLang="en-US" dirty="0"/>
              <a:t>先任挑一個資料，將比這資料小的都放在它的前面；比這資料大的放在它後面。</a:t>
            </a:r>
            <a:endParaRPr lang="en-US" altLang="zh-TW" dirty="0"/>
          </a:p>
          <a:p>
            <a:pPr lvl="1"/>
            <a:r>
              <a:rPr lang="zh-TW" altLang="en-US" dirty="0"/>
              <a:t>然後，針對資料比較小及資料比較大的那兩部分，也都使用同樣方法來排序，以此類推。到最後，整組資料也是由小排到大。</a:t>
            </a:r>
            <a:endParaRPr lang="en-US" altLang="zh-TW"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11-3 </a:t>
            </a:r>
            <a:r>
              <a:rPr lang="zh-TW" altLang="en-US" dirty="0"/>
              <a:t>排序</a:t>
            </a:r>
          </a:p>
        </p:txBody>
      </p:sp>
      <p:sp>
        <p:nvSpPr>
          <p:cNvPr id="3" name="內容版面配置區 2"/>
          <p:cNvSpPr>
            <a:spLocks noGrp="1"/>
          </p:cNvSpPr>
          <p:nvPr>
            <p:ph idx="1"/>
          </p:nvPr>
        </p:nvSpPr>
        <p:spPr/>
        <p:txBody>
          <a:bodyPr/>
          <a:lstStyle/>
          <a:p>
            <a:r>
              <a:rPr lang="zh-TW" altLang="en-US" dirty="0"/>
              <a:t>快速排序法</a:t>
            </a:r>
            <a:endParaRPr lang="en-US" altLang="zh-TW" dirty="0"/>
          </a:p>
          <a:p>
            <a:pPr lvl="1"/>
            <a:r>
              <a:rPr lang="zh-TW" altLang="en-US" dirty="0"/>
              <a:t>這方法平均而言，所做的比較次數會和總筆數乘上總筆數的二基底對數成正比。</a:t>
            </a:r>
          </a:p>
          <a:p>
            <a:endParaRPr lang="zh-TW" altLang="en-US" dirty="0"/>
          </a:p>
        </p:txBody>
      </p:sp>
    </p:spTree>
    <p:extLst>
      <p:ext uri="{BB962C8B-B14F-4D97-AF65-F5344CB8AC3E}">
        <p14:creationId xmlns:p14="http://schemas.microsoft.com/office/powerpoint/2010/main" val="19100189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zh-TW" altLang="en-US" dirty="0"/>
              <a:t>選擇排序法</a:t>
            </a:r>
          </a:p>
        </p:txBody>
      </p:sp>
      <p:sp>
        <p:nvSpPr>
          <p:cNvPr id="2" name="內容版面配置區 1"/>
          <p:cNvSpPr>
            <a:spLocks noGrp="1"/>
          </p:cNvSpPr>
          <p:nvPr>
            <p:ph idx="1"/>
          </p:nvPr>
        </p:nvSpPr>
        <p:spPr/>
        <p:txBody>
          <a:bodyPr>
            <a:normAutofit fontScale="92500" lnSpcReduction="20000"/>
          </a:bodyPr>
          <a:lstStyle/>
          <a:p>
            <a:r>
              <a:rPr lang="zh-TW" altLang="en-US" dirty="0">
                <a:solidFill>
                  <a:srgbClr val="C00000"/>
                </a:solidFill>
              </a:rPr>
              <a:t>選擇排序法</a:t>
            </a:r>
            <a:r>
              <a:rPr lang="en-US" altLang="zh-TW" dirty="0"/>
              <a:t>(selection sort)</a:t>
            </a:r>
            <a:r>
              <a:rPr lang="zh-TW" altLang="en-US" dirty="0"/>
              <a:t>將數列切成兩部分：</a:t>
            </a:r>
            <a:endParaRPr lang="en-US" altLang="zh-TW" dirty="0"/>
          </a:p>
          <a:p>
            <a:pPr lvl="1"/>
            <a:r>
              <a:rPr lang="zh-TW" altLang="en-US" dirty="0">
                <a:solidFill>
                  <a:srgbClr val="C00000"/>
                </a:solidFill>
              </a:rPr>
              <a:t>已排序數列</a:t>
            </a:r>
            <a:r>
              <a:rPr lang="zh-TW" altLang="en-US" dirty="0"/>
              <a:t>及</a:t>
            </a:r>
            <a:r>
              <a:rPr lang="zh-TW" altLang="en-US" dirty="0">
                <a:solidFill>
                  <a:srgbClr val="C00000"/>
                </a:solidFill>
              </a:rPr>
              <a:t>未排序數列</a:t>
            </a:r>
            <a:r>
              <a:rPr lang="zh-TW" altLang="en-US" dirty="0"/>
              <a:t>。</a:t>
            </a:r>
            <a:endParaRPr lang="en-US" altLang="zh-TW" dirty="0"/>
          </a:p>
          <a:p>
            <a:pPr lvl="1"/>
            <a:r>
              <a:rPr lang="zh-TW" altLang="en-US" dirty="0"/>
              <a:t>每次從未排序的數列中挑出最小的數，將它移到未排序數列的最前面，這個數不會小於已排序數列的任何數，而且也不會大於未排序數列的任何數，因此它已就定位了，所以可以將它歸入已排序數列，整個關鍵動作如下圖所示。</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選擇排序法</a:t>
            </a:r>
          </a:p>
        </p:txBody>
      </p:sp>
      <p:sp>
        <p:nvSpPr>
          <p:cNvPr id="7" name="矩形 6"/>
          <p:cNvSpPr/>
          <p:nvPr/>
        </p:nvSpPr>
        <p:spPr>
          <a:xfrm>
            <a:off x="1667179" y="4190503"/>
            <a:ext cx="5759633"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lgn="ctr"/>
            <a:r>
              <a:rPr lang="zh-TW" altLang="en-US" b="1" dirty="0">
                <a:solidFill>
                  <a:schemeClr val="bg1"/>
                </a:solidFill>
                <a:latin typeface="微軟正黑體" pitchFamily="34" charset="-120"/>
                <a:ea typeface="微軟正黑體" pitchFamily="34" charset="-120"/>
              </a:rPr>
              <a:t>選擇排序法將未排序數列的最小數移到序列前端</a:t>
            </a:r>
          </a:p>
        </p:txBody>
      </p:sp>
      <p:pic>
        <p:nvPicPr>
          <p:cNvPr id="5"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593450" y="1761660"/>
            <a:ext cx="5867400" cy="2235200"/>
          </a:xfrm>
          <a:prstGeom prst="rect">
            <a:avLst/>
          </a:prstGeom>
          <a:noFill/>
          <a:ln w="9525">
            <a:noFill/>
            <a:miter lim="800000"/>
            <a:headEnd/>
            <a:tailEnd/>
          </a:ln>
          <a:effectLst/>
        </p:spPr>
      </p:pic>
    </p:spTree>
    <p:extLst>
      <p:ext uri="{BB962C8B-B14F-4D97-AF65-F5344CB8AC3E}">
        <p14:creationId xmlns:p14="http://schemas.microsoft.com/office/powerpoint/2010/main" val="14912691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選擇排序法</a:t>
            </a:r>
          </a:p>
        </p:txBody>
      </p:sp>
      <p:sp>
        <p:nvSpPr>
          <p:cNvPr id="2" name="內容版面配置區 1"/>
          <p:cNvSpPr>
            <a:spLocks noGrp="1"/>
          </p:cNvSpPr>
          <p:nvPr>
            <p:ph idx="1"/>
          </p:nvPr>
        </p:nvSpPr>
        <p:spPr>
          <a:xfrm>
            <a:off x="457200" y="1392721"/>
            <a:ext cx="8229600" cy="2934224"/>
          </a:xfrm>
        </p:spPr>
        <p:txBody>
          <a:bodyPr>
            <a:normAutofit/>
          </a:bodyPr>
          <a:lstStyle/>
          <a:p>
            <a:r>
              <a:rPr lang="zh-TW" altLang="en-US" dirty="0"/>
              <a:t>摘要步驟如下：</a:t>
            </a:r>
          </a:p>
        </p:txBody>
      </p:sp>
      <p:graphicFrame>
        <p:nvGraphicFramePr>
          <p:cNvPr id="5" name="資料庫圖表 4"/>
          <p:cNvGraphicFramePr/>
          <p:nvPr>
            <p:extLst>
              <p:ext uri="{D42A27DB-BD31-4B8C-83A1-F6EECF244321}">
                <p14:modId xmlns:p14="http://schemas.microsoft.com/office/powerpoint/2010/main" val="3096143259"/>
              </p:ext>
            </p:extLst>
          </p:nvPr>
        </p:nvGraphicFramePr>
        <p:xfrm>
          <a:off x="1106615" y="1750072"/>
          <a:ext cx="7380820" cy="31169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邊形 3"/>
          <p:cNvSpPr/>
          <p:nvPr/>
        </p:nvSpPr>
        <p:spPr>
          <a:xfrm>
            <a:off x="233466" y="681540"/>
            <a:ext cx="4245896" cy="338554"/>
          </a:xfrm>
          <a:prstGeom prst="homePlate">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一開始，全部數列都算是未排序數列。</a:t>
            </a:r>
            <a:endParaRPr lang="en-US" altLang="zh-TW" sz="1600" b="1" dirty="0">
              <a:latin typeface="微軟正黑體" panose="020B0604030504040204" pitchFamily="34" charset="-120"/>
              <a:ea typeface="微軟正黑體" panose="020B0604030504040204" pitchFamily="34" charset="-120"/>
            </a:endParaRPr>
          </a:p>
        </p:txBody>
      </p:sp>
      <p:sp>
        <p:nvSpPr>
          <p:cNvPr id="5" name="五邊形 4"/>
          <p:cNvSpPr/>
          <p:nvPr/>
        </p:nvSpPr>
        <p:spPr>
          <a:xfrm>
            <a:off x="233466" y="1380713"/>
            <a:ext cx="4293529" cy="830997"/>
          </a:xfrm>
          <a:prstGeom prst="homePlate">
            <a:avLst/>
          </a:prstGeom>
          <a:ln>
            <a:solidFill>
              <a:schemeClr val="accent3">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其中以</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最小，所以它和第一個位 置的</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互換，造成已排序數列中有</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，而未排序數列中有</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p:txBody>
      </p:sp>
      <p:sp>
        <p:nvSpPr>
          <p:cNvPr id="6" name="五邊形 5"/>
          <p:cNvSpPr/>
          <p:nvPr/>
        </p:nvSpPr>
        <p:spPr>
          <a:xfrm>
            <a:off x="233466" y="2325818"/>
            <a:ext cx="4248524" cy="830997"/>
          </a:xfrm>
          <a:prstGeom prst="homePlate">
            <a:avLst/>
          </a:prstGeom>
          <a:ln>
            <a:solidFill>
              <a:schemeClr val="accent1">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其中以</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最小，所以它和第一個位置的</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互換，造成已排序數列中有</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，而未排序數列中有</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p:txBody>
      </p:sp>
      <p:sp>
        <p:nvSpPr>
          <p:cNvPr id="7" name="五邊形 6"/>
          <p:cNvSpPr/>
          <p:nvPr/>
        </p:nvSpPr>
        <p:spPr>
          <a:xfrm>
            <a:off x="255774" y="3246825"/>
            <a:ext cx="4046196" cy="1323439"/>
          </a:xfrm>
          <a:prstGeom prst="homePlate">
            <a:avLst/>
          </a:prstGeom>
          <a:ln>
            <a:solidFill>
              <a:schemeClr val="accent4">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其中以</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最小，所以它和第一個位置</a:t>
            </a:r>
            <a:br>
              <a:rPr lang="en-US" altLang="zh-TW" sz="1600" b="1" dirty="0">
                <a:latin typeface="微軟正黑體" panose="020B0604030504040204" pitchFamily="34" charset="-120"/>
                <a:ea typeface="微軟正黑體" panose="020B0604030504040204" pitchFamily="34" charset="-120"/>
              </a:rPr>
            </a:br>
            <a:r>
              <a:rPr lang="zh-TW" altLang="en-US" sz="1600" b="1" dirty="0">
                <a:latin typeface="微軟正黑體" panose="020B0604030504040204" pitchFamily="34" charset="-120"/>
                <a:ea typeface="微軟正黑體" panose="020B0604030504040204" pitchFamily="34" charset="-120"/>
              </a:rPr>
              <a:t>的</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互換，注意在此時</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換到未排序數列的最前面，它不比已排序數列的數小，也不比未排序數列的數大，因此它移到了自己的定位，可歸到已排序數列。</a:t>
            </a:r>
            <a:endParaRPr lang="en-US" altLang="zh-TW" sz="1600" b="1" dirty="0">
              <a:latin typeface="微軟正黑體" panose="020B0604030504040204" pitchFamily="34" charset="-120"/>
              <a:ea typeface="微軟正黑體" panose="020B0604030504040204" pitchFamily="34" charset="-120"/>
            </a:endParaRPr>
          </a:p>
        </p:txBody>
      </p:sp>
      <p:pic>
        <p:nvPicPr>
          <p:cNvPr id="14" name="Picture 2"/>
          <p:cNvPicPr>
            <a:picLocks noChangeAspect="1" noChangeArrowheads="1"/>
          </p:cNvPicPr>
          <p:nvPr/>
        </p:nvPicPr>
        <p:blipFill rotWithShape="1">
          <a:blip r:embed="rId2" cstate="print"/>
          <a:srcRect t="-1" b="55394"/>
          <a:stretch/>
        </p:blipFill>
        <p:spPr bwMode="auto">
          <a:xfrm>
            <a:off x="4662010" y="501520"/>
            <a:ext cx="3690410" cy="2925325"/>
          </a:xfrm>
          <a:prstGeom prst="rect">
            <a:avLst/>
          </a:prstGeom>
          <a:noFill/>
          <a:ln w="9525">
            <a:noFill/>
            <a:miter lim="800000"/>
            <a:headEnd/>
            <a:tailEnd/>
          </a:ln>
          <a:effectLst/>
        </p:spPr>
      </p:pic>
      <p:pic>
        <p:nvPicPr>
          <p:cNvPr id="15" name="Picture 2"/>
          <p:cNvPicPr>
            <a:picLocks noChangeAspect="1" noChangeArrowheads="1"/>
          </p:cNvPicPr>
          <p:nvPr/>
        </p:nvPicPr>
        <p:blipFill rotWithShape="1">
          <a:blip r:embed="rId2" cstate="print"/>
          <a:srcRect t="44986" b="40080"/>
          <a:stretch/>
        </p:blipFill>
        <p:spPr bwMode="auto">
          <a:xfrm>
            <a:off x="4662010" y="3651870"/>
            <a:ext cx="3690410" cy="979334"/>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邊形 3"/>
          <p:cNvSpPr/>
          <p:nvPr/>
        </p:nvSpPr>
        <p:spPr>
          <a:xfrm>
            <a:off x="253577" y="1154092"/>
            <a:ext cx="3668102" cy="1077218"/>
          </a:xfrm>
          <a:prstGeom prst="homePlate">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其中以</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最小，所以它和第一個位置的</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互換，造成已排序數列中有</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 、</a:t>
            </a:r>
            <a:r>
              <a:rPr lang="en-US" altLang="zh-TW" sz="1600" b="1" dirty="0">
                <a:latin typeface="微軟正黑體" panose="020B0604030504040204" pitchFamily="34" charset="-120"/>
                <a:ea typeface="微軟正黑體" panose="020B0604030504040204" pitchFamily="34" charset="-120"/>
              </a:rPr>
              <a:t>36 </a:t>
            </a:r>
            <a:r>
              <a:rPr lang="zh-TW" altLang="en-US" sz="1600" b="1" dirty="0">
                <a:latin typeface="微軟正黑體" panose="020B0604030504040204" pitchFamily="34" charset="-120"/>
                <a:ea typeface="微軟正黑體" panose="020B0604030504040204" pitchFamily="34" charset="-120"/>
              </a:rPr>
              <a:t>，而未排序數列中有</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p>
        </p:txBody>
      </p:sp>
      <p:sp>
        <p:nvSpPr>
          <p:cNvPr id="7" name="五邊形 6"/>
          <p:cNvSpPr/>
          <p:nvPr/>
        </p:nvSpPr>
        <p:spPr>
          <a:xfrm>
            <a:off x="253577" y="2349627"/>
            <a:ext cx="3668102" cy="1077218"/>
          </a:xfrm>
          <a:prstGeom prst="homePlate">
            <a:avLst/>
          </a:prstGeom>
          <a:ln>
            <a:solidFill>
              <a:schemeClr val="accent5">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其中以</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最小，所以它和第一個位置的</a:t>
            </a:r>
            <a:r>
              <a:rPr lang="en-US" altLang="zh-TW" sz="1600" b="1" dirty="0">
                <a:latin typeface="微軟正黑體" panose="020B0604030504040204" pitchFamily="34" charset="-120"/>
                <a:ea typeface="微軟正黑體" panose="020B0604030504040204" pitchFamily="34" charset="-120"/>
              </a:rPr>
              <a:t>88</a:t>
            </a:r>
            <a:r>
              <a:rPr lang="zh-TW" altLang="en-US" sz="1600" b="1" dirty="0">
                <a:latin typeface="微軟正黑體" panose="020B0604030504040204" pitchFamily="34" charset="-120"/>
                <a:ea typeface="微軟正黑體" panose="020B0604030504040204" pitchFamily="34" charset="-120"/>
              </a:rPr>
              <a:t>互換，造成已排序數列中有</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，而未排序數列中有</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p>
        </p:txBody>
      </p:sp>
      <p:sp>
        <p:nvSpPr>
          <p:cNvPr id="8" name="五邊形 7"/>
          <p:cNvSpPr/>
          <p:nvPr/>
        </p:nvSpPr>
        <p:spPr>
          <a:xfrm>
            <a:off x="267410" y="3561860"/>
            <a:ext cx="3668102" cy="584775"/>
          </a:xfrm>
          <a:prstGeom prst="homePlate">
            <a:avLst/>
          </a:prstGeom>
          <a:ln>
            <a:solidFill>
              <a:schemeClr val="accent4">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得到最終的排序結果：</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p>
        </p:txBody>
      </p:sp>
      <p:grpSp>
        <p:nvGrpSpPr>
          <p:cNvPr id="9" name="群組 8"/>
          <p:cNvGrpSpPr/>
          <p:nvPr/>
        </p:nvGrpSpPr>
        <p:grpSpPr>
          <a:xfrm>
            <a:off x="4076945" y="681540"/>
            <a:ext cx="4860540" cy="3875881"/>
            <a:chOff x="4076945" y="1178750"/>
            <a:chExt cx="4860540" cy="3875881"/>
          </a:xfrm>
        </p:grpSpPr>
        <p:pic>
          <p:nvPicPr>
            <p:cNvPr id="10" name="Picture 2"/>
            <p:cNvPicPr>
              <a:picLocks noChangeAspect="1" noChangeArrowheads="1"/>
            </p:cNvPicPr>
            <p:nvPr/>
          </p:nvPicPr>
          <p:blipFill rotWithShape="1">
            <a:blip r:embed="rId2" cstate="print"/>
            <a:srcRect t="57774" b="-1085"/>
            <a:stretch/>
          </p:blipFill>
          <p:spPr bwMode="auto">
            <a:xfrm>
              <a:off x="4076945" y="1313765"/>
              <a:ext cx="4860540" cy="3740866"/>
            </a:xfrm>
            <a:prstGeom prst="rect">
              <a:avLst/>
            </a:prstGeom>
            <a:noFill/>
            <a:ln w="9525">
              <a:noFill/>
              <a:miter lim="800000"/>
              <a:headEnd/>
              <a:tailEnd/>
            </a:ln>
            <a:effectLst/>
          </p:spPr>
        </p:pic>
        <p:sp>
          <p:nvSpPr>
            <p:cNvPr id="11" name="矩形 10"/>
            <p:cNvSpPr/>
            <p:nvPr/>
          </p:nvSpPr>
          <p:spPr>
            <a:xfrm>
              <a:off x="4887035" y="1178750"/>
              <a:ext cx="1530170" cy="450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0878163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選擇排序法</a:t>
            </a:r>
          </a:p>
        </p:txBody>
      </p:sp>
      <p:sp>
        <p:nvSpPr>
          <p:cNvPr id="2" name="內容版面配置區 1"/>
          <p:cNvSpPr>
            <a:spLocks noGrp="1"/>
          </p:cNvSpPr>
          <p:nvPr>
            <p:ph idx="1"/>
          </p:nvPr>
        </p:nvSpPr>
        <p:spPr/>
        <p:txBody>
          <a:bodyPr>
            <a:normAutofit fontScale="92500" lnSpcReduction="10000"/>
          </a:bodyPr>
          <a:lstStyle/>
          <a:p>
            <a:r>
              <a:rPr lang="zh-TW" altLang="en-US" sz="2800" dirty="0"/>
              <a:t>若給定</a:t>
            </a:r>
            <a:r>
              <a:rPr lang="en-US" altLang="zh-TW" sz="2800" dirty="0"/>
              <a:t>n</a:t>
            </a:r>
            <a:r>
              <a:rPr lang="zh-TW" altLang="en-US" sz="2800" dirty="0"/>
              <a:t>個數，用選擇排序法大約要做多少次的比較呢？</a:t>
            </a:r>
            <a:endParaRPr lang="en-US" altLang="zh-TW" sz="2800" dirty="0"/>
          </a:p>
          <a:p>
            <a:r>
              <a:rPr lang="zh-TW" altLang="en-US" sz="2800" dirty="0"/>
              <a:t>要從</a:t>
            </a:r>
            <a:r>
              <a:rPr lang="en-US" altLang="zh-TW" sz="2800" dirty="0"/>
              <a:t>n</a:t>
            </a:r>
            <a:r>
              <a:rPr lang="zh-TW" altLang="en-US" sz="2800" dirty="0"/>
              <a:t>個數中找出最小數，需要</a:t>
            </a:r>
            <a:r>
              <a:rPr lang="en-US" altLang="zh-TW" sz="2800" dirty="0"/>
              <a:t>n-1</a:t>
            </a:r>
            <a:r>
              <a:rPr lang="zh-TW" altLang="en-US" sz="2800" dirty="0"/>
              <a:t>次的比較；然後再從剩下的</a:t>
            </a:r>
            <a:r>
              <a:rPr lang="en-US" altLang="zh-TW" sz="2800" dirty="0"/>
              <a:t>n-1</a:t>
            </a:r>
            <a:r>
              <a:rPr lang="zh-TW" altLang="en-US" sz="2800" dirty="0"/>
              <a:t>個數中找出最小數，需要</a:t>
            </a:r>
            <a:r>
              <a:rPr lang="en-US" altLang="zh-TW" sz="2800" dirty="0"/>
              <a:t>n-2</a:t>
            </a:r>
            <a:r>
              <a:rPr lang="zh-TW" altLang="en-US" sz="2800" dirty="0"/>
              <a:t>次的比較；</a:t>
            </a:r>
            <a:r>
              <a:rPr lang="en-US" altLang="zh-TW" sz="2800" dirty="0"/>
              <a:t>...</a:t>
            </a:r>
            <a:r>
              <a:rPr lang="zh-TW" altLang="en-US" sz="2800" dirty="0"/>
              <a:t>，所以總共需要</a:t>
            </a:r>
            <a:r>
              <a:rPr lang="en-US" altLang="zh-TW" sz="2800" dirty="0"/>
              <a:t>(n-1)+(n-2)+(n-3)+...+1 = n(n-1)/2</a:t>
            </a:r>
            <a:r>
              <a:rPr lang="zh-TW" altLang="en-US" sz="2800" dirty="0"/>
              <a:t>次比較，和</a:t>
            </a:r>
            <a:r>
              <a:rPr lang="en-US" altLang="zh-TW" sz="2800" dirty="0"/>
              <a:t>n</a:t>
            </a:r>
            <a:r>
              <a:rPr lang="en-US" altLang="zh-TW" sz="2800" baseline="30000" dirty="0"/>
              <a:t>2</a:t>
            </a:r>
            <a:r>
              <a:rPr lang="zh-TW" altLang="en-US" sz="2800" dirty="0"/>
              <a:t>的成長速率成正比。</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zh-TW" altLang="en-US" dirty="0"/>
              <a:t>插入排序法</a:t>
            </a:r>
          </a:p>
        </p:txBody>
      </p:sp>
      <p:sp>
        <p:nvSpPr>
          <p:cNvPr id="2" name="內容版面配置區 1"/>
          <p:cNvSpPr>
            <a:spLocks noGrp="1"/>
          </p:cNvSpPr>
          <p:nvPr>
            <p:ph idx="1"/>
          </p:nvPr>
        </p:nvSpPr>
        <p:spPr/>
        <p:txBody>
          <a:bodyPr/>
          <a:lstStyle/>
          <a:p>
            <a:r>
              <a:rPr lang="zh-TW" altLang="en-US"/>
              <a:t>插入排序法</a:t>
            </a:r>
            <a:r>
              <a:rPr lang="en-US" altLang="zh-TW"/>
              <a:t>(insertion sort)</a:t>
            </a:r>
            <a:r>
              <a:rPr lang="zh-TW" altLang="en-US"/>
              <a:t>將數列切成兩部分：已排序數列及未排序數列，每次將未排序數列中的第一個數，插入到已排序數列中，使得插入後的已排序數列仍然維持由小排到大的性質。</a:t>
            </a:r>
            <a:endParaRPr lang="zh-TW"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插入排序法</a:t>
            </a:r>
          </a:p>
        </p:txBody>
      </p:sp>
      <p:sp>
        <p:nvSpPr>
          <p:cNvPr id="3" name="內容版面配置區 2"/>
          <p:cNvSpPr>
            <a:spLocks noGrp="1"/>
          </p:cNvSpPr>
          <p:nvPr>
            <p:ph idx="1"/>
          </p:nvPr>
        </p:nvSpPr>
        <p:spPr/>
        <p:txBody>
          <a:bodyPr/>
          <a:lstStyle/>
          <a:p>
            <a:endParaRPr lang="zh-TW" altLang="en-US"/>
          </a:p>
        </p:txBody>
      </p:sp>
      <p:pic>
        <p:nvPicPr>
          <p:cNvPr id="4" name="Picture 2"/>
          <p:cNvPicPr>
            <a:picLocks noChangeAspect="1" noChangeArrowheads="1"/>
          </p:cNvPicPr>
          <p:nvPr/>
        </p:nvPicPr>
        <p:blipFill>
          <a:blip r:embed="rId2" cstate="print"/>
          <a:srcRect/>
          <a:stretch>
            <a:fillRect/>
          </a:stretch>
        </p:blipFill>
        <p:spPr bwMode="auto">
          <a:xfrm>
            <a:off x="1781690" y="2210937"/>
            <a:ext cx="4809376" cy="2115235"/>
          </a:xfrm>
          <a:prstGeom prst="rect">
            <a:avLst/>
          </a:prstGeom>
          <a:noFill/>
          <a:ln w="9525">
            <a:noFill/>
            <a:miter lim="800000"/>
            <a:headEnd/>
            <a:tailEnd/>
          </a:ln>
          <a:effectLst/>
        </p:spPr>
      </p:pic>
      <p:sp>
        <p:nvSpPr>
          <p:cNvPr id="5" name="圓角矩形圖說文字 4"/>
          <p:cNvSpPr/>
          <p:nvPr/>
        </p:nvSpPr>
        <p:spPr>
          <a:xfrm>
            <a:off x="6237185" y="1806665"/>
            <a:ext cx="2205246" cy="1021556"/>
          </a:xfrm>
          <a:prstGeom prst="wedgeRoundRectCallout">
            <a:avLst>
              <a:gd name="adj1" fmla="val -62298"/>
              <a:gd name="adj2" fmla="val 42010"/>
              <a:gd name="adj3" fmla="val 16667"/>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zh-TW" altLang="en-US" b="1" dirty="0">
                <a:solidFill>
                  <a:schemeClr val="bg1"/>
                </a:solidFill>
                <a:latin typeface="微軟正黑體" pitchFamily="34" charset="-120"/>
                <a:ea typeface="微軟正黑體" pitchFamily="34" charset="-120"/>
              </a:rPr>
              <a:t>插入排序法將未排序數合序插入已排序數列中</a:t>
            </a:r>
          </a:p>
        </p:txBody>
      </p:sp>
    </p:spTree>
    <p:extLst>
      <p:ext uri="{BB962C8B-B14F-4D97-AF65-F5344CB8AC3E}">
        <p14:creationId xmlns:p14="http://schemas.microsoft.com/office/powerpoint/2010/main" val="33976576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zh-TW" altLang="en-US" dirty="0"/>
              <a:t>插入排序法</a:t>
            </a:r>
          </a:p>
        </p:txBody>
      </p:sp>
      <p:sp>
        <p:nvSpPr>
          <p:cNvPr id="2" name="內容版面配置區 1"/>
          <p:cNvSpPr>
            <a:spLocks noGrp="1"/>
          </p:cNvSpPr>
          <p:nvPr>
            <p:ph idx="1"/>
          </p:nvPr>
        </p:nvSpPr>
        <p:spPr>
          <a:xfrm>
            <a:off x="457200" y="1581640"/>
            <a:ext cx="8229600" cy="2934224"/>
          </a:xfrm>
        </p:spPr>
        <p:txBody>
          <a:bodyPr/>
          <a:lstStyle/>
          <a:p>
            <a:r>
              <a:rPr lang="zh-TW" altLang="en-US"/>
              <a:t>摘要步驟如下：</a:t>
            </a:r>
            <a:endParaRPr lang="en-US" altLang="zh-TW" dirty="0"/>
          </a:p>
        </p:txBody>
      </p:sp>
      <p:graphicFrame>
        <p:nvGraphicFramePr>
          <p:cNvPr id="5" name="資料庫圖表 4"/>
          <p:cNvGraphicFramePr/>
          <p:nvPr>
            <p:extLst>
              <p:ext uri="{D42A27DB-BD31-4B8C-83A1-F6EECF244321}">
                <p14:modId xmlns:p14="http://schemas.microsoft.com/office/powerpoint/2010/main" val="3979314186"/>
              </p:ext>
            </p:extLst>
          </p:nvPr>
        </p:nvGraphicFramePr>
        <p:xfrm>
          <a:off x="971600" y="2076695"/>
          <a:ext cx="7560840" cy="26552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五邊形 4"/>
          <p:cNvSpPr/>
          <p:nvPr/>
        </p:nvSpPr>
        <p:spPr>
          <a:xfrm>
            <a:off x="251520" y="906565"/>
            <a:ext cx="4068000" cy="1077218"/>
          </a:xfrm>
          <a:prstGeom prst="homePlate">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一開始，只有第一個位置的數</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在已排序數列裡。</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未排序數列的第一個數為</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，將它插入已排序數列。</a:t>
            </a:r>
            <a:endParaRPr lang="en-US" altLang="zh-TW" sz="1600" b="1" dirty="0">
              <a:latin typeface="微軟正黑體" panose="020B0604030504040204" pitchFamily="34" charset="-120"/>
              <a:ea typeface="微軟正黑體" panose="020B0604030504040204" pitchFamily="34" charset="-120"/>
            </a:endParaRPr>
          </a:p>
        </p:txBody>
      </p:sp>
      <p:sp>
        <p:nvSpPr>
          <p:cNvPr id="6" name="五邊形 5"/>
          <p:cNvSpPr/>
          <p:nvPr/>
        </p:nvSpPr>
        <p:spPr>
          <a:xfrm>
            <a:off x="243153" y="2166705"/>
            <a:ext cx="4068000" cy="1077218"/>
          </a:xfrm>
          <a:prstGeom prst="homePlate">
            <a:avLst/>
          </a:prstGeom>
          <a:ln>
            <a:solidFill>
              <a:schemeClr val="accent5">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因為</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最大，所以放在後面，此時已排序數列為</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未排序數列為</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再將第一個數</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插入到已排序數列裡。</a:t>
            </a:r>
            <a:endParaRPr lang="en-US" altLang="zh-TW" sz="1600" b="1" dirty="0">
              <a:latin typeface="微軟正黑體" panose="020B0604030504040204" pitchFamily="34" charset="-120"/>
              <a:ea typeface="微軟正黑體" panose="020B0604030504040204" pitchFamily="34" charset="-120"/>
            </a:endParaRPr>
          </a:p>
        </p:txBody>
      </p:sp>
      <p:sp>
        <p:nvSpPr>
          <p:cNvPr id="7" name="五邊形 6"/>
          <p:cNvSpPr/>
          <p:nvPr/>
        </p:nvSpPr>
        <p:spPr>
          <a:xfrm>
            <a:off x="243153" y="3471850"/>
            <a:ext cx="4068000" cy="830997"/>
          </a:xfrm>
          <a:prstGeom prst="homePlate">
            <a:avLst/>
          </a:prstGeom>
          <a:ln>
            <a:solidFill>
              <a:schemeClr val="accent3">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已排序數列為</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未排序數列為</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再將第一個數</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插入到已排序數列裡。</a:t>
            </a:r>
            <a:endParaRPr lang="en-US" altLang="zh-TW" sz="1600" b="1" dirty="0">
              <a:latin typeface="微軟正黑體" panose="020B0604030504040204" pitchFamily="34" charset="-120"/>
              <a:ea typeface="微軟正黑體" panose="020B0604030504040204" pitchFamily="34" charset="-120"/>
            </a:endParaRPr>
          </a:p>
        </p:txBody>
      </p:sp>
      <p:pic>
        <p:nvPicPr>
          <p:cNvPr id="8" name="Picture 2"/>
          <p:cNvPicPr>
            <a:picLocks noChangeAspect="1" noChangeArrowheads="1"/>
          </p:cNvPicPr>
          <p:nvPr/>
        </p:nvPicPr>
        <p:blipFill rotWithShape="1">
          <a:blip r:embed="rId2" cstate="print"/>
          <a:srcRect b="56359"/>
          <a:stretch/>
        </p:blipFill>
        <p:spPr bwMode="auto">
          <a:xfrm>
            <a:off x="4438523" y="951570"/>
            <a:ext cx="4283120" cy="3403028"/>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五邊形 5"/>
          <p:cNvSpPr/>
          <p:nvPr/>
        </p:nvSpPr>
        <p:spPr>
          <a:xfrm>
            <a:off x="431540" y="726545"/>
            <a:ext cx="4068000" cy="830997"/>
          </a:xfrm>
          <a:prstGeom prst="homePlate">
            <a:avLst/>
          </a:prstGeom>
          <a:ln>
            <a:solidFill>
              <a:schemeClr val="accent3">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此時已排序數列為</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未排序數列為</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再將第一個數</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插入到已排序數列裡。</a:t>
            </a:r>
            <a:endParaRPr lang="en-US" altLang="zh-TW" sz="1600" b="1" dirty="0">
              <a:latin typeface="微軟正黑體" panose="020B0604030504040204" pitchFamily="34" charset="-120"/>
              <a:ea typeface="微軟正黑體" panose="020B0604030504040204" pitchFamily="34" charset="-120"/>
            </a:endParaRPr>
          </a:p>
        </p:txBody>
      </p:sp>
      <p:sp>
        <p:nvSpPr>
          <p:cNvPr id="7" name="五邊形 6"/>
          <p:cNvSpPr/>
          <p:nvPr/>
        </p:nvSpPr>
        <p:spPr>
          <a:xfrm>
            <a:off x="431540" y="1716655"/>
            <a:ext cx="4068000" cy="830997"/>
          </a:xfrm>
          <a:prstGeom prst="homePlate">
            <a:avLst/>
          </a:prstGeom>
          <a:ln>
            <a:solidFill>
              <a:schemeClr val="accent4">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此時已排序數列為</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未排序數列為</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再將第一個數</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插入到已排序數列裡。</a:t>
            </a:r>
            <a:endParaRPr lang="en-US" altLang="zh-TW" sz="1600" b="1" dirty="0">
              <a:latin typeface="微軟正黑體" panose="020B0604030504040204" pitchFamily="34" charset="-120"/>
              <a:ea typeface="微軟正黑體" panose="020B0604030504040204" pitchFamily="34" charset="-120"/>
            </a:endParaRPr>
          </a:p>
        </p:txBody>
      </p:sp>
      <p:sp>
        <p:nvSpPr>
          <p:cNvPr id="8" name="五邊形 7"/>
          <p:cNvSpPr/>
          <p:nvPr/>
        </p:nvSpPr>
        <p:spPr>
          <a:xfrm>
            <a:off x="431539" y="2751770"/>
            <a:ext cx="4068000" cy="1077218"/>
          </a:xfrm>
          <a:prstGeom prst="homePlate">
            <a:avLst/>
          </a:prstGeom>
          <a:ln>
            <a:solidFill>
              <a:schemeClr val="accent5">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此時已排序數列為</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未排序數列為</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再將第一個數</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插入到已排序數列裡。</a:t>
            </a:r>
            <a:endParaRPr lang="en-US" altLang="zh-TW" sz="1600" b="1" dirty="0">
              <a:latin typeface="微軟正黑體" panose="020B0604030504040204" pitchFamily="34" charset="-120"/>
              <a:ea typeface="微軟正黑體" panose="020B0604030504040204" pitchFamily="34" charset="-120"/>
            </a:endParaRPr>
          </a:p>
        </p:txBody>
      </p:sp>
      <p:sp>
        <p:nvSpPr>
          <p:cNvPr id="9" name="五邊形 8"/>
          <p:cNvSpPr/>
          <p:nvPr/>
        </p:nvSpPr>
        <p:spPr>
          <a:xfrm>
            <a:off x="431539" y="3966905"/>
            <a:ext cx="4068000" cy="584775"/>
          </a:xfrm>
          <a:prstGeom prst="homePlate">
            <a:avLst/>
          </a:prstGeom>
          <a:ln>
            <a:solidFill>
              <a:schemeClr val="accent6">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最終的排序結果：</a:t>
            </a:r>
            <a:endParaRPr lang="en-US" altLang="zh-TW" sz="1600" b="1" dirty="0">
              <a:latin typeface="微軟正黑體" panose="020B0604030504040204" pitchFamily="34" charset="-120"/>
              <a:ea typeface="微軟正黑體" panose="020B0604030504040204" pitchFamily="34" charset="-120"/>
            </a:endParaRPr>
          </a:p>
          <a:p>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p:txBody>
      </p:sp>
      <p:pic>
        <p:nvPicPr>
          <p:cNvPr id="10" name="Picture 2"/>
          <p:cNvPicPr>
            <a:picLocks noChangeAspect="1" noChangeArrowheads="1"/>
          </p:cNvPicPr>
          <p:nvPr/>
        </p:nvPicPr>
        <p:blipFill rotWithShape="1">
          <a:blip r:embed="rId2" cstate="print"/>
          <a:srcRect t="43640" b="-175"/>
          <a:stretch/>
        </p:blipFill>
        <p:spPr bwMode="auto">
          <a:xfrm>
            <a:off x="4642164" y="636535"/>
            <a:ext cx="3935281" cy="4050450"/>
          </a:xfrm>
          <a:prstGeom prst="rect">
            <a:avLst/>
          </a:prstGeom>
          <a:noFill/>
          <a:ln w="9525">
            <a:noFill/>
            <a:miter lim="800000"/>
            <a:headEnd/>
            <a:tailEnd/>
          </a:ln>
          <a:effectLst/>
        </p:spPr>
      </p:pic>
    </p:spTree>
    <p:extLst>
      <p:ext uri="{BB962C8B-B14F-4D97-AF65-F5344CB8AC3E}">
        <p14:creationId xmlns:p14="http://schemas.microsoft.com/office/powerpoint/2010/main" val="25911806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插入排序法</a:t>
            </a:r>
          </a:p>
        </p:txBody>
      </p:sp>
      <p:sp>
        <p:nvSpPr>
          <p:cNvPr id="2" name="內容版面配置區 1"/>
          <p:cNvSpPr>
            <a:spLocks noGrp="1"/>
          </p:cNvSpPr>
          <p:nvPr>
            <p:ph idx="1"/>
          </p:nvPr>
        </p:nvSpPr>
        <p:spPr>
          <a:xfrm>
            <a:off x="457200" y="1660399"/>
            <a:ext cx="8229600" cy="3116596"/>
          </a:xfrm>
        </p:spPr>
        <p:txBody>
          <a:bodyPr>
            <a:normAutofit/>
          </a:bodyPr>
          <a:lstStyle/>
          <a:p>
            <a:r>
              <a:rPr lang="zh-TW" altLang="en-US" dirty="0"/>
              <a:t>若給定</a:t>
            </a:r>
            <a:r>
              <a:rPr lang="en-US" altLang="zh-TW" dirty="0"/>
              <a:t>n</a:t>
            </a:r>
            <a:r>
              <a:rPr lang="zh-TW" altLang="en-US" dirty="0"/>
              <a:t>個數，用插入排序法大約要做多少次的比較呢？</a:t>
            </a:r>
          </a:p>
          <a:p>
            <a:r>
              <a:rPr lang="zh-TW" altLang="en-US" dirty="0"/>
              <a:t>一開始，已排序數列的數只有一個，因此只要</a:t>
            </a:r>
            <a:r>
              <a:rPr lang="en-US" altLang="zh-TW" dirty="0"/>
              <a:t>1</a:t>
            </a:r>
            <a:r>
              <a:rPr lang="zh-TW" altLang="en-US" dirty="0"/>
              <a:t>次比較即可，等到已排序數列的數漸漸多了，所需的比較次數逐漸增加。</a:t>
            </a:r>
            <a:endParaRPr lang="en-US" altLang="zh-TW"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插入排序法</a:t>
            </a:r>
          </a:p>
        </p:txBody>
      </p:sp>
      <p:sp>
        <p:nvSpPr>
          <p:cNvPr id="3" name="內容版面配置區 2"/>
          <p:cNvSpPr>
            <a:spLocks noGrp="1"/>
          </p:cNvSpPr>
          <p:nvPr>
            <p:ph idx="1"/>
          </p:nvPr>
        </p:nvSpPr>
        <p:spPr/>
        <p:txBody>
          <a:bodyPr/>
          <a:lstStyle/>
          <a:p>
            <a:r>
              <a:rPr lang="zh-TW" altLang="en-US" dirty="0"/>
              <a:t>在</a:t>
            </a:r>
            <a:r>
              <a:rPr lang="en-US" altLang="zh-TW" dirty="0"/>
              <a:t>n</a:t>
            </a:r>
            <a:r>
              <a:rPr lang="zh-TW" altLang="en-US" dirty="0"/>
              <a:t>個已排序的數中，找尋一個數最合序的位置</a:t>
            </a:r>
            <a:r>
              <a:rPr lang="en-US" altLang="zh-TW" dirty="0"/>
              <a:t>(</a:t>
            </a:r>
            <a:r>
              <a:rPr lang="zh-TW" altLang="en-US" dirty="0"/>
              <a:t>也就是在那個位置之前的數都沒有比較大，且之後的數都沒有比較小</a:t>
            </a:r>
            <a:r>
              <a:rPr lang="en-US" altLang="zh-TW" dirty="0"/>
              <a:t>)</a:t>
            </a:r>
            <a:r>
              <a:rPr lang="zh-TW" altLang="en-US" dirty="0"/>
              <a:t>，只要</a:t>
            </a:r>
            <a:r>
              <a:rPr lang="en-US" altLang="zh-TW" dirty="0"/>
              <a:t>log</a:t>
            </a:r>
            <a:r>
              <a:rPr lang="en-US" altLang="zh-TW" baseline="-25000" dirty="0"/>
              <a:t>2</a:t>
            </a:r>
            <a:r>
              <a:rPr lang="en-US" altLang="zh-TW" dirty="0"/>
              <a:t>n</a:t>
            </a:r>
            <a:r>
              <a:rPr lang="zh-TW" altLang="en-US" dirty="0"/>
              <a:t>個比較即可，因此最多也不會用超過</a:t>
            </a:r>
            <a:r>
              <a:rPr lang="en-US" altLang="zh-TW" dirty="0"/>
              <a:t>nlog</a:t>
            </a:r>
            <a:r>
              <a:rPr lang="en-US" altLang="zh-TW" baseline="-25000" dirty="0"/>
              <a:t>2</a:t>
            </a:r>
            <a:r>
              <a:rPr lang="en-US" altLang="zh-TW" dirty="0"/>
              <a:t>n</a:t>
            </a:r>
            <a:r>
              <a:rPr lang="zh-TW" altLang="en-US" dirty="0"/>
              <a:t>個比較。</a:t>
            </a:r>
          </a:p>
          <a:p>
            <a:endParaRPr lang="zh-TW" altLang="en-US" dirty="0"/>
          </a:p>
        </p:txBody>
      </p:sp>
    </p:spTree>
    <p:extLst>
      <p:ext uri="{BB962C8B-B14F-4D97-AF65-F5344CB8AC3E}">
        <p14:creationId xmlns:p14="http://schemas.microsoft.com/office/powerpoint/2010/main" val="35000197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插入排序法</a:t>
            </a:r>
          </a:p>
        </p:txBody>
      </p:sp>
      <p:sp>
        <p:nvSpPr>
          <p:cNvPr id="3" name="內容版面配置區 2"/>
          <p:cNvSpPr>
            <a:spLocks noGrp="1"/>
          </p:cNvSpPr>
          <p:nvPr>
            <p:ph idx="1"/>
          </p:nvPr>
        </p:nvSpPr>
        <p:spPr/>
        <p:txBody>
          <a:bodyPr>
            <a:normAutofit/>
          </a:bodyPr>
          <a:lstStyle/>
          <a:p>
            <a:r>
              <a:rPr lang="zh-TW" altLang="en-US" dirty="0"/>
              <a:t>這裡的問題是：找到一個數合序的位置時，必須去移動該數插入後，在已排序數列中該位置之後的數都要往後移動一個位置，這樣最慘的情況下，代價可不小。</a:t>
            </a:r>
            <a:endParaRPr lang="en-US" altLang="zh-TW" dirty="0"/>
          </a:p>
        </p:txBody>
      </p:sp>
    </p:spTree>
    <p:extLst>
      <p:ext uri="{BB962C8B-B14F-4D97-AF65-F5344CB8AC3E}">
        <p14:creationId xmlns:p14="http://schemas.microsoft.com/office/powerpoint/2010/main" val="3016565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插入排序法</a:t>
            </a:r>
          </a:p>
        </p:txBody>
      </p:sp>
      <p:sp>
        <p:nvSpPr>
          <p:cNvPr id="3" name="內容版面配置區 2"/>
          <p:cNvSpPr>
            <a:spLocks noGrp="1"/>
          </p:cNvSpPr>
          <p:nvPr>
            <p:ph idx="1"/>
          </p:nvPr>
        </p:nvSpPr>
        <p:spPr/>
        <p:txBody>
          <a:bodyPr/>
          <a:lstStyle/>
          <a:p>
            <a:r>
              <a:rPr lang="zh-TW" altLang="en-US" dirty="0"/>
              <a:t>假設給定的數列是由大排到小，則每次都插到已排序數列的最左邊，等於所有已排序數列的數每次都要移動位置，所以總共需</a:t>
            </a:r>
            <a:r>
              <a:rPr lang="en-US" altLang="zh-TW" dirty="0"/>
              <a:t>1+2+3+...+(n-2)+(n-1)=n(n-1)/2</a:t>
            </a:r>
            <a:r>
              <a:rPr lang="zh-TW" altLang="en-US" dirty="0"/>
              <a:t>次移動，和</a:t>
            </a:r>
            <a:r>
              <a:rPr lang="en-US" altLang="zh-TW" dirty="0"/>
              <a:t>n</a:t>
            </a:r>
            <a:r>
              <a:rPr lang="en-US" altLang="zh-TW" baseline="30000" dirty="0"/>
              <a:t>2</a:t>
            </a:r>
            <a:r>
              <a:rPr lang="zh-TW" altLang="en-US" dirty="0"/>
              <a:t>的成長速率成正比。</a:t>
            </a:r>
          </a:p>
          <a:p>
            <a:endParaRPr lang="zh-TW" altLang="en-US" dirty="0"/>
          </a:p>
        </p:txBody>
      </p:sp>
    </p:spTree>
    <p:extLst>
      <p:ext uri="{BB962C8B-B14F-4D97-AF65-F5344CB8AC3E}">
        <p14:creationId xmlns:p14="http://schemas.microsoft.com/office/powerpoint/2010/main" val="32907531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插入排序法</a:t>
            </a:r>
          </a:p>
        </p:txBody>
      </p:sp>
      <p:sp>
        <p:nvSpPr>
          <p:cNvPr id="2" name="內容版面配置區 1"/>
          <p:cNvSpPr>
            <a:spLocks noGrp="1"/>
          </p:cNvSpPr>
          <p:nvPr>
            <p:ph idx="1"/>
          </p:nvPr>
        </p:nvSpPr>
        <p:spPr/>
        <p:txBody>
          <a:bodyPr>
            <a:normAutofit/>
          </a:bodyPr>
          <a:lstStyle/>
          <a:p>
            <a:r>
              <a:rPr lang="zh-TW" altLang="en-US" dirty="0"/>
              <a:t>排序前半段的時候，已排序數列比較短，所以插入排序法比較有效率，到了後半段，未排序數列比較短，選擇排序法就會比較有效。</a:t>
            </a:r>
            <a:endParaRPr lang="en-US" altLang="zh-TW"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插入排序法</a:t>
            </a:r>
          </a:p>
        </p:txBody>
      </p:sp>
      <p:sp>
        <p:nvSpPr>
          <p:cNvPr id="3" name="內容版面配置區 2"/>
          <p:cNvSpPr>
            <a:spLocks noGrp="1"/>
          </p:cNvSpPr>
          <p:nvPr>
            <p:ph idx="1"/>
          </p:nvPr>
        </p:nvSpPr>
        <p:spPr/>
        <p:txBody>
          <a:bodyPr>
            <a:normAutofit fontScale="92500" lnSpcReduction="10000"/>
          </a:bodyPr>
          <a:lstStyle/>
          <a:p>
            <a:r>
              <a:rPr lang="zh-TW" altLang="en-US" dirty="0"/>
              <a:t>可不可以綜合這兩種排序法而找到更有效率的方法呢？</a:t>
            </a:r>
            <a:endParaRPr lang="en-US" altLang="zh-TW" dirty="0"/>
          </a:p>
          <a:p>
            <a:r>
              <a:rPr lang="zh-TW" altLang="en-US" dirty="0"/>
              <a:t>答案是肯定的，在前半段使用插入排序法，最慘情況共需</a:t>
            </a:r>
            <a:r>
              <a:rPr lang="en-US" altLang="zh-TW" dirty="0"/>
              <a:t>1+2+3+...+n/2=(1+n/2)n/4</a:t>
            </a:r>
            <a:r>
              <a:rPr lang="zh-TW" altLang="en-US" dirty="0"/>
              <a:t>次移動。</a:t>
            </a:r>
            <a:endParaRPr lang="en-US" altLang="zh-TW" dirty="0"/>
          </a:p>
          <a:p>
            <a:r>
              <a:rPr lang="zh-TW" altLang="en-US" dirty="0"/>
              <a:t>在後半段使用選擇排序法，共需</a:t>
            </a:r>
            <a:r>
              <a:rPr lang="en-US" altLang="zh-TW" dirty="0"/>
              <a:t>n/2+(n/2-1)+...+1=(1+n/2)n/4</a:t>
            </a:r>
            <a:r>
              <a:rPr lang="zh-TW" altLang="en-US" dirty="0"/>
              <a:t>次比較。</a:t>
            </a:r>
          </a:p>
          <a:p>
            <a:endParaRPr lang="zh-TW" altLang="en-US" dirty="0"/>
          </a:p>
        </p:txBody>
      </p:sp>
    </p:spTree>
    <p:extLst>
      <p:ext uri="{BB962C8B-B14F-4D97-AF65-F5344CB8AC3E}">
        <p14:creationId xmlns:p14="http://schemas.microsoft.com/office/powerpoint/2010/main" val="23036902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normAutofit/>
          </a:bodyPr>
          <a:lstStyle/>
          <a:p>
            <a:r>
              <a:rPr lang="zh-TW" altLang="en-US" dirty="0"/>
              <a:t>泡沫排序法</a:t>
            </a:r>
          </a:p>
        </p:txBody>
      </p:sp>
      <p:sp>
        <p:nvSpPr>
          <p:cNvPr id="3" name="內容版面配置區 2"/>
          <p:cNvSpPr>
            <a:spLocks noGrp="1"/>
          </p:cNvSpPr>
          <p:nvPr>
            <p:ph idx="1"/>
          </p:nvPr>
        </p:nvSpPr>
        <p:spPr/>
        <p:txBody>
          <a:bodyPr>
            <a:normAutofit/>
          </a:bodyPr>
          <a:lstStyle/>
          <a:p>
            <a:r>
              <a:rPr lang="zh-TW" altLang="en-US" dirty="0"/>
              <a:t>泡沫排序法</a:t>
            </a:r>
            <a:r>
              <a:rPr lang="en-US" altLang="zh-TW" dirty="0"/>
              <a:t>(bubble sort)</a:t>
            </a:r>
            <a:r>
              <a:rPr lang="zh-TW" altLang="en-US" dirty="0"/>
              <a:t>將數列切成兩部分：已排序數列及未排序數列。</a:t>
            </a:r>
            <a:endParaRPr lang="en-US" altLang="zh-TW"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泡沫排序法</a:t>
            </a:r>
          </a:p>
        </p:txBody>
      </p:sp>
      <p:sp>
        <p:nvSpPr>
          <p:cNvPr id="3" name="內容版面配置區 2"/>
          <p:cNvSpPr>
            <a:spLocks noGrp="1"/>
          </p:cNvSpPr>
          <p:nvPr>
            <p:ph idx="1"/>
          </p:nvPr>
        </p:nvSpPr>
        <p:spPr/>
        <p:txBody>
          <a:bodyPr/>
          <a:lstStyle/>
          <a:p>
            <a:r>
              <a:rPr lang="zh-TW" altLang="en-US" dirty="0"/>
              <a:t>每次從未排序數列中的最後一個數看起，如果它比前面的數小，則往前移，一直看到未排序數列的第一個數為止，在這過程裡，未排序數列最小的數會像泡沫一樣，浮到最前面，這過程和選擇排序法類似。</a:t>
            </a:r>
          </a:p>
          <a:p>
            <a:endParaRPr lang="zh-TW" altLang="en-US" dirty="0"/>
          </a:p>
        </p:txBody>
      </p:sp>
    </p:spTree>
    <p:extLst>
      <p:ext uri="{BB962C8B-B14F-4D97-AF65-F5344CB8AC3E}">
        <p14:creationId xmlns:p14="http://schemas.microsoft.com/office/powerpoint/2010/main" val="36479204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泡沫排序法</a:t>
            </a:r>
          </a:p>
        </p:txBody>
      </p:sp>
      <p:sp>
        <p:nvSpPr>
          <p:cNvPr id="5" name="五邊形 4"/>
          <p:cNvSpPr/>
          <p:nvPr/>
        </p:nvSpPr>
        <p:spPr>
          <a:xfrm>
            <a:off x="470804" y="1664555"/>
            <a:ext cx="2846219" cy="646331"/>
          </a:xfrm>
          <a:prstGeom prst="homePlate">
            <a:avLst/>
          </a:prstGeom>
          <a:effectLst>
            <a:outerShdw blurRad="40000" dist="23000" dir="5400000" rotWithShape="0">
              <a:srgbClr val="000000">
                <a:alpha val="35000"/>
              </a:srgbClr>
            </a:outerShdw>
            <a:reflection blurRad="6350" stA="50000" endA="300" endPos="55000" dir="5400000" sy="-100000" algn="bl" rotWithShape="0"/>
          </a:effectLst>
        </p:spPr>
        <p:style>
          <a:lnRef idx="0">
            <a:schemeClr val="accent4"/>
          </a:lnRef>
          <a:fillRef idx="3">
            <a:schemeClr val="accent4"/>
          </a:fillRef>
          <a:effectRef idx="3">
            <a:schemeClr val="accent4"/>
          </a:effectRef>
          <a:fontRef idx="minor">
            <a:schemeClr val="lt1"/>
          </a:fontRef>
        </p:style>
        <p:txBody>
          <a:bodyPr wrap="square">
            <a:spAutoFit/>
          </a:bodyPr>
          <a:lstStyle/>
          <a:p>
            <a:r>
              <a:rPr lang="zh-TW" altLang="en-US" b="1" dirty="0">
                <a:solidFill>
                  <a:schemeClr val="bg1"/>
                </a:solidFill>
                <a:latin typeface="微軟正黑體" pitchFamily="34" charset="-120"/>
                <a:ea typeface="微軟正黑體" pitchFamily="34" charset="-120"/>
              </a:rPr>
              <a:t>泡沫排序法將未排序數列數列的小數往前推</a:t>
            </a:r>
          </a:p>
        </p:txBody>
      </p:sp>
      <p:pic>
        <p:nvPicPr>
          <p:cNvPr id="6" name="Picture 2"/>
          <p:cNvPicPr>
            <a:picLocks noChangeAspect="1" noChangeArrowheads="1"/>
          </p:cNvPicPr>
          <p:nvPr/>
        </p:nvPicPr>
        <p:blipFill>
          <a:blip r:embed="rId2" cstate="print"/>
          <a:srcRect/>
          <a:stretch>
            <a:fillRect/>
          </a:stretch>
        </p:blipFill>
        <p:spPr bwMode="auto">
          <a:xfrm>
            <a:off x="1893913" y="2481740"/>
            <a:ext cx="5401180" cy="2021870"/>
          </a:xfrm>
          <a:prstGeom prst="rect">
            <a:avLst/>
          </a:prstGeom>
          <a:noFill/>
          <a:ln w="9525">
            <a:noFill/>
            <a:miter lim="800000"/>
            <a:headEnd/>
            <a:tailEnd/>
          </a:ln>
          <a:effectLst/>
        </p:spPr>
      </p:pic>
    </p:spTree>
    <p:extLst>
      <p:ext uri="{BB962C8B-B14F-4D97-AF65-F5344CB8AC3E}">
        <p14:creationId xmlns:p14="http://schemas.microsoft.com/office/powerpoint/2010/main" val="16737553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zh-TW" altLang="en-US" dirty="0"/>
              <a:t>泡沫排序法</a:t>
            </a:r>
          </a:p>
        </p:txBody>
      </p:sp>
      <p:sp>
        <p:nvSpPr>
          <p:cNvPr id="2" name="內容版面配置區 1"/>
          <p:cNvSpPr>
            <a:spLocks noGrp="1"/>
          </p:cNvSpPr>
          <p:nvPr>
            <p:ph idx="1"/>
          </p:nvPr>
        </p:nvSpPr>
        <p:spPr>
          <a:xfrm>
            <a:off x="457200" y="1401620"/>
            <a:ext cx="8229600" cy="2934224"/>
          </a:xfrm>
        </p:spPr>
        <p:txBody>
          <a:bodyPr/>
          <a:lstStyle/>
          <a:p>
            <a:r>
              <a:rPr lang="zh-TW" altLang="en-US" dirty="0"/>
              <a:t>摘要步驟如下：</a:t>
            </a:r>
          </a:p>
        </p:txBody>
      </p:sp>
      <p:graphicFrame>
        <p:nvGraphicFramePr>
          <p:cNvPr id="4" name="資料庫圖表 3"/>
          <p:cNvGraphicFramePr/>
          <p:nvPr>
            <p:extLst>
              <p:ext uri="{D42A27DB-BD31-4B8C-83A1-F6EECF244321}">
                <p14:modId xmlns:p14="http://schemas.microsoft.com/office/powerpoint/2010/main" val="3225118116"/>
              </p:ext>
            </p:extLst>
          </p:nvPr>
        </p:nvGraphicFramePr>
        <p:xfrm>
          <a:off x="1016605" y="1941679"/>
          <a:ext cx="7290810" cy="2925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五邊形 6"/>
          <p:cNvSpPr/>
          <p:nvPr/>
        </p:nvSpPr>
        <p:spPr>
          <a:xfrm>
            <a:off x="251520" y="951570"/>
            <a:ext cx="3915435" cy="830997"/>
          </a:xfrm>
          <a:prstGeom prst="homePlate">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全部數列都是未排序數列，從最後一個數</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看起，它沒比</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小，所以不做任何動作。</a:t>
            </a:r>
            <a:endParaRPr lang="en-US" altLang="zh-TW" sz="1600" b="1" dirty="0">
              <a:latin typeface="微軟正黑體" panose="020B0604030504040204" pitchFamily="34" charset="-120"/>
              <a:ea typeface="微軟正黑體" panose="020B0604030504040204" pitchFamily="34" charset="-120"/>
            </a:endParaRPr>
          </a:p>
        </p:txBody>
      </p:sp>
      <p:sp>
        <p:nvSpPr>
          <p:cNvPr id="10" name="五邊形 9"/>
          <p:cNvSpPr/>
          <p:nvPr/>
        </p:nvSpPr>
        <p:spPr>
          <a:xfrm>
            <a:off x="251520" y="2145798"/>
            <a:ext cx="3915435" cy="830997"/>
          </a:xfrm>
          <a:prstGeom prst="homePlate">
            <a:avLst/>
          </a:prstGeom>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看到</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，它比前面的</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小，所以往前推，又比</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小，再往前推，一直被推到最前面，造成已排序數列中有</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p:txBody>
      </p:sp>
      <p:sp>
        <p:nvSpPr>
          <p:cNvPr id="11" name="五邊形 10"/>
          <p:cNvSpPr/>
          <p:nvPr/>
        </p:nvSpPr>
        <p:spPr>
          <a:xfrm>
            <a:off x="251520" y="3339737"/>
            <a:ext cx="3915435" cy="1077218"/>
          </a:xfrm>
          <a:prstGeom prst="homePlate">
            <a:avLst/>
          </a:prstGeom>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再從最後一個數</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看起，它沒比</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小，所以不做任何動作，接著看到</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，它比前面的</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小，所以往前推，又比</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小，再往前推，一直被推到最前面。</a:t>
            </a:r>
            <a:endParaRPr lang="en-US" altLang="zh-TW" sz="1600" b="1" dirty="0">
              <a:latin typeface="微軟正黑體" panose="020B0604030504040204" pitchFamily="34" charset="-120"/>
              <a:ea typeface="微軟正黑體" panose="020B0604030504040204" pitchFamily="34" charset="-120"/>
            </a:endParaRPr>
          </a:p>
        </p:txBody>
      </p:sp>
      <p:pic>
        <p:nvPicPr>
          <p:cNvPr id="6" name="Picture 2"/>
          <p:cNvPicPr>
            <a:picLocks noChangeAspect="1" noChangeArrowheads="1"/>
          </p:cNvPicPr>
          <p:nvPr/>
        </p:nvPicPr>
        <p:blipFill rotWithShape="1">
          <a:blip r:embed="rId2" cstate="print"/>
          <a:srcRect b="50648"/>
          <a:stretch/>
        </p:blipFill>
        <p:spPr bwMode="auto">
          <a:xfrm>
            <a:off x="4346975" y="771550"/>
            <a:ext cx="4471189" cy="3616336"/>
          </a:xfrm>
          <a:prstGeom prst="rect">
            <a:avLst/>
          </a:prstGeom>
          <a:noFill/>
          <a:ln w="9525">
            <a:noFill/>
            <a:miter lim="800000"/>
            <a:headEnd/>
            <a:tailEnd/>
          </a:ln>
          <a:effectLst/>
        </p:spPr>
      </p:pic>
    </p:spTree>
    <p:extLst>
      <p:ext uri="{BB962C8B-B14F-4D97-AF65-F5344CB8AC3E}">
        <p14:creationId xmlns:p14="http://schemas.microsoft.com/office/powerpoint/2010/main" val="37051995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五邊形 8"/>
          <p:cNvSpPr/>
          <p:nvPr/>
        </p:nvSpPr>
        <p:spPr>
          <a:xfrm>
            <a:off x="251519" y="727294"/>
            <a:ext cx="4320481" cy="1077218"/>
          </a:xfrm>
          <a:prstGeom prst="homePlate">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再從最後一個數</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看起，它比前面</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小，所以往前推，但推完後它比前面</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大，所以就停住，再看</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，它比前面的</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小，所以往前推，但推完後它比前面</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大。</a:t>
            </a:r>
            <a:endParaRPr lang="en-US" altLang="zh-TW" sz="1600" b="1" dirty="0">
              <a:latin typeface="微軟正黑體" panose="020B0604030504040204" pitchFamily="34" charset="-120"/>
              <a:ea typeface="微軟正黑體" panose="020B0604030504040204" pitchFamily="34" charset="-120"/>
            </a:endParaRPr>
          </a:p>
        </p:txBody>
      </p:sp>
      <p:sp>
        <p:nvSpPr>
          <p:cNvPr id="11" name="五邊形 10"/>
          <p:cNvSpPr/>
          <p:nvPr/>
        </p:nvSpPr>
        <p:spPr>
          <a:xfrm>
            <a:off x="251519" y="1980263"/>
            <a:ext cx="4320481" cy="1077218"/>
          </a:xfrm>
          <a:prstGeom prst="homePlate">
            <a:avLst/>
          </a:prstGeom>
          <a:ln>
            <a:solidFill>
              <a:schemeClr val="accent3">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再從最後一個數</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看起，它沒比</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小，所以不做任何動作，接著看到</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，它比前面的</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小，所以往前推，但推完後它比前面</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大，所以就停住。</a:t>
            </a:r>
            <a:endParaRPr lang="en-US" altLang="zh-TW" sz="1600" b="1" dirty="0">
              <a:latin typeface="微軟正黑體" panose="020B0604030504040204" pitchFamily="34" charset="-120"/>
              <a:ea typeface="微軟正黑體" panose="020B0604030504040204" pitchFamily="34" charset="-120"/>
            </a:endParaRPr>
          </a:p>
        </p:txBody>
      </p:sp>
      <p:sp>
        <p:nvSpPr>
          <p:cNvPr id="12" name="五邊形 11"/>
          <p:cNvSpPr/>
          <p:nvPr/>
        </p:nvSpPr>
        <p:spPr>
          <a:xfrm>
            <a:off x="251519" y="3196991"/>
            <a:ext cx="4320481" cy="1323439"/>
          </a:xfrm>
          <a:prstGeom prst="homePlate">
            <a:avLst/>
          </a:prstGeom>
          <a:ln>
            <a:solidFill>
              <a:schemeClr val="accent5">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再從最後一個數</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看起，這一次從</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一直看到</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，都沒有往前推的動作，表示在未排序數列中，每個數都不比前面的數小，亦即它也已排序，因此得到最終的排序結果：</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p:txBody>
      </p:sp>
      <p:pic>
        <p:nvPicPr>
          <p:cNvPr id="10" name="Picture 2"/>
          <p:cNvPicPr>
            <a:picLocks noChangeAspect="1" noChangeArrowheads="1"/>
          </p:cNvPicPr>
          <p:nvPr/>
        </p:nvPicPr>
        <p:blipFill rotWithShape="1">
          <a:blip r:embed="rId2" cstate="print"/>
          <a:srcRect t="49352" b="33968"/>
          <a:stretch/>
        </p:blipFill>
        <p:spPr bwMode="auto">
          <a:xfrm>
            <a:off x="4842030" y="727294"/>
            <a:ext cx="4067286" cy="1111837"/>
          </a:xfrm>
          <a:prstGeom prst="rect">
            <a:avLst/>
          </a:prstGeom>
          <a:noFill/>
          <a:ln w="9525">
            <a:noFill/>
            <a:miter lim="800000"/>
            <a:headEnd/>
            <a:tailEnd/>
          </a:ln>
          <a:effectLst/>
        </p:spPr>
      </p:pic>
      <p:pic>
        <p:nvPicPr>
          <p:cNvPr id="15" name="Picture 2"/>
          <p:cNvPicPr>
            <a:picLocks noChangeAspect="1" noChangeArrowheads="1"/>
          </p:cNvPicPr>
          <p:nvPr/>
        </p:nvPicPr>
        <p:blipFill rotWithShape="1">
          <a:blip r:embed="rId2" cstate="print"/>
          <a:srcRect t="66265" b="16752"/>
          <a:stretch/>
        </p:blipFill>
        <p:spPr bwMode="auto">
          <a:xfrm>
            <a:off x="4842030" y="1980263"/>
            <a:ext cx="4067286" cy="1132094"/>
          </a:xfrm>
          <a:prstGeom prst="rect">
            <a:avLst/>
          </a:prstGeom>
          <a:noFill/>
          <a:ln w="9525">
            <a:noFill/>
            <a:miter lim="800000"/>
            <a:headEnd/>
            <a:tailEnd/>
          </a:ln>
          <a:effectLst/>
        </p:spPr>
      </p:pic>
      <p:pic>
        <p:nvPicPr>
          <p:cNvPr id="16" name="Picture 2"/>
          <p:cNvPicPr>
            <a:picLocks noChangeAspect="1" noChangeArrowheads="1"/>
          </p:cNvPicPr>
          <p:nvPr/>
        </p:nvPicPr>
        <p:blipFill rotWithShape="1">
          <a:blip r:embed="rId2" cstate="print"/>
          <a:srcRect t="84331" b="-1314"/>
          <a:stretch/>
        </p:blipFill>
        <p:spPr bwMode="auto">
          <a:xfrm>
            <a:off x="4858676" y="3471850"/>
            <a:ext cx="4067286" cy="1132094"/>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快速排序法</a:t>
            </a:r>
          </a:p>
        </p:txBody>
      </p:sp>
      <p:sp>
        <p:nvSpPr>
          <p:cNvPr id="2" name="內容版面配置區 1"/>
          <p:cNvSpPr>
            <a:spLocks noGrp="1"/>
          </p:cNvSpPr>
          <p:nvPr>
            <p:ph idx="1"/>
          </p:nvPr>
        </p:nvSpPr>
        <p:spPr/>
        <p:txBody>
          <a:bodyPr/>
          <a:lstStyle/>
          <a:p>
            <a:r>
              <a:rPr lang="zh-TW" altLang="en-US"/>
              <a:t>快速排序法</a:t>
            </a:r>
            <a:r>
              <a:rPr lang="en-US" altLang="zh-TW"/>
              <a:t>(quick sort)</a:t>
            </a:r>
            <a:r>
              <a:rPr lang="zh-TW" altLang="en-US"/>
              <a:t>的概念比較複雜，在此並不深入討論細節，僅就整個方向略加敘述，希望讀者能有所體會。</a:t>
            </a:r>
            <a:endParaRPr lang="en-US" altLang="zh-TW"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快速排序法</a:t>
            </a:r>
          </a:p>
        </p:txBody>
      </p:sp>
      <p:sp>
        <p:nvSpPr>
          <p:cNvPr id="3" name="內容版面配置區 2"/>
          <p:cNvSpPr>
            <a:spLocks noGrp="1"/>
          </p:cNvSpPr>
          <p:nvPr>
            <p:ph idx="1"/>
          </p:nvPr>
        </p:nvSpPr>
        <p:spPr/>
        <p:txBody>
          <a:bodyPr>
            <a:normAutofit lnSpcReduction="10000"/>
          </a:bodyPr>
          <a:lstStyle/>
          <a:p>
            <a:r>
              <a:rPr lang="zh-TW" altLang="en-US" dirty="0"/>
              <a:t>它的作法是先取一個數，通常是最前面的那個數，決定這個數該在的位置，等這個數就定位後，比它小的數會在該數的前面，而比它大的數會在該數的後面，再將同樣招數套在前面那一堆以及後面那一堆，等到大家都就定位後，整個數列也已排序了。</a:t>
            </a:r>
          </a:p>
          <a:p>
            <a:endParaRPr lang="zh-TW" altLang="en-US" dirty="0"/>
          </a:p>
        </p:txBody>
      </p:sp>
    </p:spTree>
    <p:extLst>
      <p:ext uri="{BB962C8B-B14F-4D97-AF65-F5344CB8AC3E}">
        <p14:creationId xmlns:p14="http://schemas.microsoft.com/office/powerpoint/2010/main" val="8281273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圓角矩形 4"/>
          <p:cNvSpPr/>
          <p:nvPr/>
        </p:nvSpPr>
        <p:spPr>
          <a:xfrm>
            <a:off x="599609" y="766411"/>
            <a:ext cx="4242421" cy="1736646"/>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lgn="just" hangingPunct="0"/>
            <a:r>
              <a:rPr lang="zh-TW" altLang="en-US" sz="1600" b="1" dirty="0">
                <a:latin typeface="微軟正黑體" panose="020B0604030504040204" pitchFamily="34" charset="-120"/>
                <a:ea typeface="微軟正黑體" panose="020B0604030504040204" pitchFamily="34" charset="-120"/>
              </a:rPr>
              <a:t>分別從數列的前面和後面往中間看起，從前面過來的會停在比</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大的地方，因為我們希望將比</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大的數都往後移，因此停在</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；從後面過來的，會停在比</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小的地方，因為我們希望將比</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小的都往前移，因此停在</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；此時，將</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和</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互調。</a:t>
            </a:r>
            <a:endParaRPr lang="en-US" altLang="zh-TW" sz="1600" b="1" dirty="0">
              <a:latin typeface="微軟正黑體" panose="020B0604030504040204" pitchFamily="34" charset="-120"/>
              <a:ea typeface="微軟正黑體" panose="020B0604030504040204" pitchFamily="34" charset="-120"/>
            </a:endParaRPr>
          </a:p>
        </p:txBody>
      </p:sp>
      <p:sp>
        <p:nvSpPr>
          <p:cNvPr id="7" name="圓角矩形 6"/>
          <p:cNvSpPr/>
          <p:nvPr/>
        </p:nvSpPr>
        <p:spPr>
          <a:xfrm>
            <a:off x="599609" y="2751770"/>
            <a:ext cx="4242421" cy="919401"/>
          </a:xfrm>
          <a:prstGeom prst="roundRect">
            <a:avLst/>
          </a:prstGeom>
          <a:ln>
            <a:solidFill>
              <a:schemeClr val="accent5">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lgn="just" hangingPunct="0"/>
            <a:r>
              <a:rPr lang="zh-TW" altLang="en-US" sz="1600" b="1" dirty="0">
                <a:latin typeface="微軟正黑體" panose="020B0604030504040204" pitchFamily="34" charset="-120"/>
                <a:ea typeface="微軟正黑體" panose="020B0604030504040204" pitchFamily="34" charset="-120"/>
              </a:rPr>
              <a:t>接著再往中間邁進，因此又互調了</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和</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，最後我們得到</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p:txBody>
      </p:sp>
      <p:sp>
        <p:nvSpPr>
          <p:cNvPr id="8" name="圓角矩形 7"/>
          <p:cNvSpPr/>
          <p:nvPr/>
        </p:nvSpPr>
        <p:spPr>
          <a:xfrm>
            <a:off x="599609" y="3936293"/>
            <a:ext cx="4242421" cy="646986"/>
          </a:xfrm>
          <a:prstGeom prst="roundRect">
            <a:avLst/>
          </a:prstGeom>
          <a:ln>
            <a:solidFill>
              <a:schemeClr val="accent1">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lgn="just" hangingPunct="0"/>
            <a:r>
              <a:rPr lang="zh-TW" altLang="en-US" sz="1600" b="1" dirty="0">
                <a:latin typeface="微軟正黑體" panose="020B0604030504040204" pitchFamily="34" charset="-120"/>
                <a:ea typeface="微軟正黑體" panose="020B0604030504040204" pitchFamily="34" charset="-120"/>
              </a:rPr>
              <a:t>再把</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和</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互調，得到</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p:txBody>
      </p:sp>
      <p:pic>
        <p:nvPicPr>
          <p:cNvPr id="10" name="Picture 2"/>
          <p:cNvPicPr>
            <a:picLocks noChangeAspect="1" noChangeArrowheads="1"/>
          </p:cNvPicPr>
          <p:nvPr/>
        </p:nvPicPr>
        <p:blipFill rotWithShape="1">
          <a:blip r:embed="rId2" cstate="print"/>
          <a:srcRect t="1" b="80969"/>
          <a:stretch/>
        </p:blipFill>
        <p:spPr bwMode="auto">
          <a:xfrm>
            <a:off x="5202070" y="1185168"/>
            <a:ext cx="3375375" cy="981537"/>
          </a:xfrm>
          <a:prstGeom prst="rect">
            <a:avLst/>
          </a:prstGeom>
          <a:noFill/>
          <a:ln w="9525">
            <a:noFill/>
            <a:miter lim="800000"/>
            <a:headEnd/>
            <a:tailEnd/>
          </a:ln>
          <a:effectLst/>
        </p:spPr>
      </p:pic>
      <p:pic>
        <p:nvPicPr>
          <p:cNvPr id="11" name="Picture 2"/>
          <p:cNvPicPr>
            <a:picLocks noChangeAspect="1" noChangeArrowheads="1"/>
          </p:cNvPicPr>
          <p:nvPr/>
        </p:nvPicPr>
        <p:blipFill rotWithShape="1">
          <a:blip r:embed="rId2" cstate="print"/>
          <a:srcRect t="19057" b="61913"/>
          <a:stretch/>
        </p:blipFill>
        <p:spPr bwMode="auto">
          <a:xfrm>
            <a:off x="5202070" y="2777474"/>
            <a:ext cx="3375375" cy="981537"/>
          </a:xfrm>
          <a:prstGeom prst="rect">
            <a:avLst/>
          </a:prstGeom>
          <a:noFill/>
          <a:ln w="9525">
            <a:noFill/>
            <a:miter lim="800000"/>
            <a:headEnd/>
            <a:tailEnd/>
          </a:ln>
          <a:effectLst/>
        </p:spPr>
      </p:pic>
      <p:pic>
        <p:nvPicPr>
          <p:cNvPr id="12" name="Picture 2"/>
          <p:cNvPicPr>
            <a:picLocks noChangeAspect="1" noChangeArrowheads="1"/>
          </p:cNvPicPr>
          <p:nvPr/>
        </p:nvPicPr>
        <p:blipFill rotWithShape="1">
          <a:blip r:embed="rId2" cstate="print"/>
          <a:srcRect t="37196" b="43774"/>
          <a:stretch/>
        </p:blipFill>
        <p:spPr bwMode="auto">
          <a:xfrm>
            <a:off x="5202070" y="3794721"/>
            <a:ext cx="3375375" cy="981537"/>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圓角矩形 4"/>
          <p:cNvSpPr/>
          <p:nvPr/>
        </p:nvSpPr>
        <p:spPr>
          <a:xfrm>
            <a:off x="408843" y="1671650"/>
            <a:ext cx="3668102" cy="919401"/>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lgn="just" hangingPunct="0"/>
            <a:r>
              <a:rPr lang="zh-TW" altLang="en-US" sz="1600" b="1" dirty="0">
                <a:latin typeface="微軟正黑體" panose="020B0604030504040204" pitchFamily="34" charset="-120"/>
                <a:ea typeface="微軟正黑體" panose="020B0604030504040204" pitchFamily="34" charset="-120"/>
              </a:rPr>
              <a:t>此時</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已就定位，剩下的任務就是把</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及</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這兩個子數列排好。</a:t>
            </a:r>
            <a:endParaRPr lang="en-US" altLang="zh-TW" sz="1600" b="1" dirty="0">
              <a:latin typeface="微軟正黑體" panose="020B0604030504040204" pitchFamily="34" charset="-120"/>
              <a:ea typeface="微軟正黑體" panose="020B0604030504040204" pitchFamily="34" charset="-120"/>
            </a:endParaRPr>
          </a:p>
        </p:txBody>
      </p:sp>
      <p:sp>
        <p:nvSpPr>
          <p:cNvPr id="7" name="圓角矩形 6"/>
          <p:cNvSpPr/>
          <p:nvPr/>
        </p:nvSpPr>
        <p:spPr>
          <a:xfrm>
            <a:off x="408843" y="3279143"/>
            <a:ext cx="3668102" cy="646986"/>
          </a:xfrm>
          <a:prstGeom prst="roundRect">
            <a:avLst/>
          </a:prstGeom>
          <a:ln>
            <a:solidFill>
              <a:schemeClr val="accent5">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lgn="just" hangingPunct="0"/>
            <a:r>
              <a:rPr lang="zh-TW" altLang="en-US" sz="1600" b="1" dirty="0">
                <a:latin typeface="微軟正黑體" panose="020B0604030504040204" pitchFamily="34" charset="-120"/>
                <a:ea typeface="微軟正黑體" panose="020B0604030504040204" pitchFamily="34" charset="-120"/>
              </a:rPr>
              <a:t>套用同樣的招式將這兩個子數列一一解決。</a:t>
            </a:r>
            <a:endParaRPr lang="en-US" altLang="zh-TW" sz="1600" b="1" dirty="0">
              <a:latin typeface="微軟正黑體" panose="020B0604030504040204" pitchFamily="34" charset="-120"/>
              <a:ea typeface="微軟正黑體" panose="020B0604030504040204" pitchFamily="34" charset="-120"/>
            </a:endParaRPr>
          </a:p>
        </p:txBody>
      </p:sp>
      <p:pic>
        <p:nvPicPr>
          <p:cNvPr id="6" name="Picture 2"/>
          <p:cNvPicPr>
            <a:picLocks noChangeAspect="1" noChangeArrowheads="1"/>
          </p:cNvPicPr>
          <p:nvPr/>
        </p:nvPicPr>
        <p:blipFill rotWithShape="1">
          <a:blip r:embed="rId2" cstate="print"/>
          <a:srcRect t="56562" b="411"/>
          <a:stretch/>
        </p:blipFill>
        <p:spPr bwMode="auto">
          <a:xfrm>
            <a:off x="4234810" y="1356615"/>
            <a:ext cx="4498494" cy="2957730"/>
          </a:xfrm>
          <a:prstGeom prst="rect">
            <a:avLst/>
          </a:prstGeom>
          <a:noFill/>
          <a:ln w="9525">
            <a:noFill/>
            <a:miter lim="800000"/>
            <a:headEnd/>
            <a:tailEnd/>
          </a:ln>
          <a:effectLst/>
        </p:spPr>
      </p:pic>
    </p:spTree>
    <p:extLst>
      <p:ext uri="{BB962C8B-B14F-4D97-AF65-F5344CB8AC3E}">
        <p14:creationId xmlns:p14="http://schemas.microsoft.com/office/powerpoint/2010/main" val="18578808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快速排序法</a:t>
            </a:r>
          </a:p>
        </p:txBody>
      </p:sp>
      <p:sp>
        <p:nvSpPr>
          <p:cNvPr id="2" name="內容版面配置區 1"/>
          <p:cNvSpPr>
            <a:spLocks noGrp="1"/>
          </p:cNvSpPr>
          <p:nvPr>
            <p:ph idx="1"/>
          </p:nvPr>
        </p:nvSpPr>
        <p:spPr>
          <a:xfrm>
            <a:off x="457200" y="1660398"/>
            <a:ext cx="8229600" cy="3071591"/>
          </a:xfrm>
        </p:spPr>
        <p:txBody>
          <a:bodyPr>
            <a:normAutofit/>
          </a:bodyPr>
          <a:lstStyle/>
          <a:p>
            <a:r>
              <a:rPr lang="zh-TW" altLang="en-US" dirty="0"/>
              <a:t>快速排序法通常執行起來，比前面的方法要快許多，若每次就定位的數正好把數列切成兩個大小差不多的子數列，子數列的大小每次縮小一半，等到子數列被切到只剩一個數。</a:t>
            </a:r>
            <a:endParaRPr lang="en-US" altLang="zh-TW" dirty="0"/>
          </a:p>
        </p:txBody>
      </p:sp>
    </p:spTree>
    <p:extLst>
      <p:ext uri="{BB962C8B-B14F-4D97-AF65-F5344CB8AC3E}">
        <p14:creationId xmlns:p14="http://schemas.microsoft.com/office/powerpoint/2010/main" val="7622798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快速排序法</a:t>
            </a:r>
          </a:p>
        </p:txBody>
      </p:sp>
      <p:sp>
        <p:nvSpPr>
          <p:cNvPr id="3" name="內容版面配置區 2"/>
          <p:cNvSpPr>
            <a:spLocks noGrp="1"/>
          </p:cNvSpPr>
          <p:nvPr>
            <p:ph idx="1"/>
          </p:nvPr>
        </p:nvSpPr>
        <p:spPr/>
        <p:txBody>
          <a:bodyPr/>
          <a:lstStyle/>
          <a:p>
            <a:r>
              <a:rPr lang="zh-TW" altLang="en-US" dirty="0"/>
              <a:t>假設</a:t>
            </a:r>
            <a:r>
              <a:rPr lang="en-US" altLang="zh-TW" dirty="0"/>
              <a:t>n</a:t>
            </a:r>
            <a:r>
              <a:rPr lang="zh-TW" altLang="en-US" dirty="0"/>
              <a:t>是</a:t>
            </a:r>
            <a:r>
              <a:rPr lang="en-US" altLang="zh-TW" dirty="0"/>
              <a:t>2</a:t>
            </a:r>
            <a:r>
              <a:rPr lang="zh-TW" altLang="en-US" dirty="0"/>
              <a:t>的整數次方，如果一個數列長度為</a:t>
            </a:r>
            <a:r>
              <a:rPr lang="en-US" altLang="zh-TW" dirty="0"/>
              <a:t>n</a:t>
            </a:r>
            <a:r>
              <a:rPr lang="zh-TW" altLang="en-US" dirty="0"/>
              <a:t>，每次若被切為一半，得到所切的次數大約為</a:t>
            </a:r>
            <a:r>
              <a:rPr lang="en-US" altLang="zh-TW" dirty="0"/>
              <a:t>log</a:t>
            </a:r>
            <a:r>
              <a:rPr lang="en-US" altLang="zh-TW" baseline="-25000" dirty="0"/>
              <a:t>2</a:t>
            </a:r>
            <a:r>
              <a:rPr lang="en-US" altLang="zh-TW" dirty="0"/>
              <a:t>n</a:t>
            </a:r>
            <a:r>
              <a:rPr lang="zh-TW" altLang="en-US" dirty="0"/>
              <a:t>，精細的計算可證明快速排序法所用比較次數的平均和</a:t>
            </a:r>
            <a:r>
              <a:rPr lang="en-US" altLang="zh-TW" dirty="0"/>
              <a:t>nlog</a:t>
            </a:r>
            <a:r>
              <a:rPr lang="en-US" altLang="zh-TW" baseline="-25000" dirty="0"/>
              <a:t>2</a:t>
            </a:r>
            <a:r>
              <a:rPr lang="en-US" altLang="zh-TW" dirty="0"/>
              <a:t>n</a:t>
            </a:r>
            <a:r>
              <a:rPr lang="zh-TW" altLang="en-US" dirty="0"/>
              <a:t>的常數倍成正比。</a:t>
            </a:r>
          </a:p>
          <a:p>
            <a:endParaRPr lang="zh-TW" altLang="en-US" dirty="0"/>
          </a:p>
        </p:txBody>
      </p:sp>
    </p:spTree>
    <p:extLst>
      <p:ext uri="{BB962C8B-B14F-4D97-AF65-F5344CB8AC3E}">
        <p14:creationId xmlns:p14="http://schemas.microsoft.com/office/powerpoint/2010/main" val="29195573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11-4 </a:t>
            </a:r>
            <a:r>
              <a:rPr lang="zh-TW" altLang="en-US" dirty="0"/>
              <a:t>二元搜尋法</a:t>
            </a:r>
          </a:p>
        </p:txBody>
      </p:sp>
      <p:sp>
        <p:nvSpPr>
          <p:cNvPr id="4" name="內容版面配置區 3"/>
          <p:cNvSpPr>
            <a:spLocks noGrp="1"/>
          </p:cNvSpPr>
          <p:nvPr>
            <p:ph idx="1"/>
          </p:nvPr>
        </p:nvSpPr>
        <p:spPr/>
        <p:txBody>
          <a:bodyPr>
            <a:normAutofit/>
          </a:bodyPr>
          <a:lstStyle/>
          <a:p>
            <a:r>
              <a:rPr lang="zh-TW" altLang="en-US" dirty="0"/>
              <a:t>給定一個數列，搜尋問題問的是某個數是否在裡面？例如：給定一個數列</a:t>
            </a:r>
            <a:r>
              <a:rPr lang="en-US" altLang="zh-TW" dirty="0"/>
              <a:t>16</a:t>
            </a:r>
            <a:r>
              <a:rPr lang="zh-TW" altLang="en-US" dirty="0"/>
              <a:t>、</a:t>
            </a:r>
            <a:r>
              <a:rPr lang="en-US" altLang="zh-TW" dirty="0"/>
              <a:t>77</a:t>
            </a:r>
            <a:r>
              <a:rPr lang="zh-TW" altLang="en-US" dirty="0"/>
              <a:t>、</a:t>
            </a:r>
            <a:r>
              <a:rPr lang="en-US" altLang="zh-TW" dirty="0"/>
              <a:t>25</a:t>
            </a:r>
            <a:r>
              <a:rPr lang="zh-TW" altLang="en-US" dirty="0"/>
              <a:t>、</a:t>
            </a:r>
            <a:r>
              <a:rPr lang="en-US" altLang="zh-TW" dirty="0"/>
              <a:t>85</a:t>
            </a:r>
            <a:r>
              <a:rPr lang="zh-TW" altLang="en-US" dirty="0"/>
              <a:t>、</a:t>
            </a:r>
            <a:r>
              <a:rPr lang="en-US" altLang="zh-TW" dirty="0"/>
              <a:t>12</a:t>
            </a:r>
            <a:r>
              <a:rPr lang="zh-TW" altLang="en-US" dirty="0"/>
              <a:t>、</a:t>
            </a:r>
            <a:r>
              <a:rPr lang="en-US" altLang="zh-TW" dirty="0"/>
              <a:t>8</a:t>
            </a:r>
            <a:r>
              <a:rPr lang="zh-TW" altLang="en-US" dirty="0"/>
              <a:t>、</a:t>
            </a:r>
            <a:r>
              <a:rPr lang="en-US" altLang="zh-TW" dirty="0"/>
              <a:t>36</a:t>
            </a:r>
            <a:r>
              <a:rPr lang="zh-TW" altLang="en-US" dirty="0"/>
              <a:t>、</a:t>
            </a:r>
            <a:r>
              <a:rPr lang="en-US" altLang="zh-TW" dirty="0"/>
              <a:t>52</a:t>
            </a:r>
            <a:r>
              <a:rPr lang="zh-TW" altLang="en-US" dirty="0"/>
              <a:t>，請問</a:t>
            </a:r>
            <a:r>
              <a:rPr lang="en-US" altLang="zh-TW" dirty="0"/>
              <a:t>5</a:t>
            </a:r>
            <a:r>
              <a:rPr lang="zh-TW" altLang="en-US" dirty="0"/>
              <a:t>在不在裡面？</a:t>
            </a:r>
            <a:endParaRPr lang="en-US" altLang="zh-TW" dirty="0"/>
          </a:p>
          <a:p>
            <a:pPr lvl="1"/>
            <a:r>
              <a:rPr lang="zh-TW" altLang="en-US" dirty="0"/>
              <a:t>逐一比對後發現</a:t>
            </a:r>
            <a:r>
              <a:rPr lang="en-US" altLang="zh-TW" dirty="0"/>
              <a:t>5</a:t>
            </a:r>
            <a:r>
              <a:rPr lang="zh-TW" altLang="en-US" dirty="0"/>
              <a:t>並不在裡面，所以回答</a:t>
            </a:r>
            <a:r>
              <a:rPr lang="en-US" altLang="zh-TW" dirty="0"/>
              <a:t>5</a:t>
            </a:r>
            <a:r>
              <a:rPr lang="zh-TW" altLang="en-US" dirty="0"/>
              <a:t>不在這數列裡。</a:t>
            </a:r>
            <a:endParaRPr lang="en-US" altLang="zh-TW"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11-4 </a:t>
            </a:r>
            <a:r>
              <a:rPr lang="zh-TW" altLang="en-US" dirty="0"/>
              <a:t>二元搜尋法</a:t>
            </a:r>
          </a:p>
        </p:txBody>
      </p:sp>
      <p:sp>
        <p:nvSpPr>
          <p:cNvPr id="3" name="內容版面配置區 2"/>
          <p:cNvSpPr>
            <a:spLocks noGrp="1"/>
          </p:cNvSpPr>
          <p:nvPr>
            <p:ph idx="1"/>
          </p:nvPr>
        </p:nvSpPr>
        <p:spPr/>
        <p:txBody>
          <a:bodyPr>
            <a:normAutofit fontScale="92500" lnSpcReduction="20000"/>
          </a:bodyPr>
          <a:lstStyle/>
          <a:p>
            <a:r>
              <a:rPr lang="zh-TW" altLang="en-US" dirty="0"/>
              <a:t>請問</a:t>
            </a:r>
            <a:r>
              <a:rPr lang="en-US" altLang="zh-TW" dirty="0"/>
              <a:t>12</a:t>
            </a:r>
            <a:r>
              <a:rPr lang="zh-TW" altLang="en-US" dirty="0"/>
              <a:t>在不在裡面呢？</a:t>
            </a:r>
            <a:endParaRPr lang="en-US" altLang="zh-TW" dirty="0"/>
          </a:p>
          <a:p>
            <a:pPr lvl="1"/>
            <a:r>
              <a:rPr lang="zh-TW" altLang="en-US" dirty="0"/>
              <a:t>一一看過去，發現第五個位置有</a:t>
            </a:r>
            <a:r>
              <a:rPr lang="en-US" altLang="zh-TW" dirty="0"/>
              <a:t>12</a:t>
            </a:r>
            <a:r>
              <a:rPr lang="zh-TW" altLang="en-US" dirty="0"/>
              <a:t>，因此回答</a:t>
            </a:r>
            <a:r>
              <a:rPr lang="en-US" altLang="zh-TW" dirty="0"/>
              <a:t>12</a:t>
            </a:r>
            <a:r>
              <a:rPr lang="zh-TW" altLang="en-US" dirty="0"/>
              <a:t>在這數列裡。</a:t>
            </a:r>
            <a:endParaRPr lang="en-US" altLang="zh-TW" dirty="0"/>
          </a:p>
          <a:p>
            <a:pPr lvl="1"/>
            <a:r>
              <a:rPr lang="zh-TW" altLang="en-US" dirty="0"/>
              <a:t>這種逐一比較搜尋的方法稱為循序搜尋法</a:t>
            </a:r>
            <a:r>
              <a:rPr lang="en-US" altLang="zh-TW" dirty="0"/>
              <a:t>(sequential search)</a:t>
            </a:r>
            <a:r>
              <a:rPr lang="zh-TW" altLang="en-US" dirty="0"/>
              <a:t>，在數列很短的時候，還撐得過去，但當數列很長的時候，每次搜尋都要一一比對，則效率就差了。</a:t>
            </a:r>
          </a:p>
          <a:p>
            <a:endParaRPr lang="zh-TW" altLang="en-US" dirty="0"/>
          </a:p>
        </p:txBody>
      </p:sp>
    </p:spTree>
    <p:extLst>
      <p:ext uri="{BB962C8B-B14F-4D97-AF65-F5344CB8AC3E}">
        <p14:creationId xmlns:p14="http://schemas.microsoft.com/office/powerpoint/2010/main" val="9473045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11-4 </a:t>
            </a:r>
            <a:r>
              <a:rPr lang="zh-TW" altLang="en-US" dirty="0"/>
              <a:t>二元搜尋法</a:t>
            </a:r>
          </a:p>
        </p:txBody>
      </p:sp>
      <p:sp>
        <p:nvSpPr>
          <p:cNvPr id="3" name="內容版面配置區 2"/>
          <p:cNvSpPr>
            <a:spLocks noGrp="1"/>
          </p:cNvSpPr>
          <p:nvPr>
            <p:ph idx="1"/>
          </p:nvPr>
        </p:nvSpPr>
        <p:spPr/>
        <p:txBody>
          <a:bodyPr/>
          <a:lstStyle/>
          <a:p>
            <a:r>
              <a:rPr lang="zh-TW" altLang="en-US" dirty="0">
                <a:solidFill>
                  <a:srgbClr val="C00000"/>
                </a:solidFill>
              </a:rPr>
              <a:t>二元搜尋法</a:t>
            </a:r>
            <a:r>
              <a:rPr lang="zh-TW" altLang="en-US" dirty="0"/>
              <a:t>（</a:t>
            </a:r>
            <a:r>
              <a:rPr lang="en-US" altLang="zh-TW" dirty="0"/>
              <a:t>binary search</a:t>
            </a:r>
            <a:r>
              <a:rPr lang="zh-TW" altLang="en-US" dirty="0"/>
              <a:t>）的運作道理：如果先有個排序好的數列，則搜尋起來就有效多了。</a:t>
            </a:r>
          </a:p>
          <a:p>
            <a:endParaRPr lang="zh-TW" altLang="en-US" dirty="0"/>
          </a:p>
        </p:txBody>
      </p:sp>
    </p:spTree>
    <p:extLst>
      <p:ext uri="{BB962C8B-B14F-4D97-AF65-F5344CB8AC3E}">
        <p14:creationId xmlns:p14="http://schemas.microsoft.com/office/powerpoint/2010/main" val="10179399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11-4 </a:t>
            </a:r>
            <a:r>
              <a:rPr lang="zh-TW" altLang="en-US" dirty="0"/>
              <a:t>二元搜尋法</a:t>
            </a:r>
          </a:p>
        </p:txBody>
      </p:sp>
      <p:sp>
        <p:nvSpPr>
          <p:cNvPr id="2" name="內容版面配置區 1"/>
          <p:cNvSpPr>
            <a:spLocks noGrp="1"/>
          </p:cNvSpPr>
          <p:nvPr>
            <p:ph idx="1"/>
          </p:nvPr>
        </p:nvSpPr>
        <p:spPr/>
        <p:txBody>
          <a:bodyPr>
            <a:normAutofit/>
          </a:bodyPr>
          <a:lstStyle/>
          <a:p>
            <a:r>
              <a:rPr lang="zh-TW" altLang="en-US" sz="2400" dirty="0"/>
              <a:t>給定一個排序好的數列，二元搜尋法的步驟如下</a:t>
            </a:r>
            <a:r>
              <a:rPr lang="en-US" altLang="zh-TW" sz="2400" dirty="0"/>
              <a:t>(</a:t>
            </a:r>
            <a:r>
              <a:rPr lang="zh-TW" altLang="en-US" sz="2400" dirty="0"/>
              <a:t>實作時須注意儲存數列的陣列是從</a:t>
            </a:r>
            <a:r>
              <a:rPr lang="en-US" altLang="zh-TW" sz="2400" dirty="0"/>
              <a:t>0</a:t>
            </a:r>
            <a:r>
              <a:rPr lang="zh-TW" altLang="en-US" sz="2400" dirty="0"/>
              <a:t>的位置算起，或是從</a:t>
            </a:r>
            <a:r>
              <a:rPr lang="en-US" altLang="zh-TW" sz="2400" dirty="0"/>
              <a:t>1</a:t>
            </a:r>
            <a:r>
              <a:rPr lang="zh-TW" altLang="en-US" sz="2400" dirty="0"/>
              <a:t>的位置算起。</a:t>
            </a:r>
            <a:r>
              <a:rPr lang="en-US" altLang="zh-TW" sz="2400" dirty="0"/>
              <a:t>)</a:t>
            </a:r>
            <a:r>
              <a:rPr lang="zh-TW" altLang="en-US" sz="2400" dirty="0"/>
              <a:t>：</a:t>
            </a:r>
          </a:p>
        </p:txBody>
      </p:sp>
      <p:graphicFrame>
        <p:nvGraphicFramePr>
          <p:cNvPr id="7" name="資料庫圖表 6"/>
          <p:cNvGraphicFramePr/>
          <p:nvPr>
            <p:extLst>
              <p:ext uri="{D42A27DB-BD31-4B8C-83A1-F6EECF244321}">
                <p14:modId xmlns:p14="http://schemas.microsoft.com/office/powerpoint/2010/main" val="1732518023"/>
              </p:ext>
            </p:extLst>
          </p:nvPr>
        </p:nvGraphicFramePr>
        <p:xfrm>
          <a:off x="971600" y="3111810"/>
          <a:ext cx="7515835" cy="16539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11-4 </a:t>
            </a:r>
            <a:r>
              <a:rPr lang="zh-TW" altLang="en-US" dirty="0"/>
              <a:t>二元搜尋法</a:t>
            </a:r>
          </a:p>
        </p:txBody>
      </p:sp>
      <p:graphicFrame>
        <p:nvGraphicFramePr>
          <p:cNvPr id="9" name="資料庫圖表 8"/>
          <p:cNvGraphicFramePr/>
          <p:nvPr>
            <p:extLst>
              <p:ext uri="{D42A27DB-BD31-4B8C-83A1-F6EECF244321}">
                <p14:modId xmlns:p14="http://schemas.microsoft.com/office/powerpoint/2010/main" val="2680668905"/>
              </p:ext>
            </p:extLst>
          </p:nvPr>
        </p:nvGraphicFramePr>
        <p:xfrm>
          <a:off x="791580" y="1592892"/>
          <a:ext cx="7740860" cy="28690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11-4 </a:t>
            </a:r>
            <a:r>
              <a:rPr lang="zh-TW" altLang="en-US" dirty="0"/>
              <a:t>二元搜尋法</a:t>
            </a:r>
          </a:p>
        </p:txBody>
      </p:sp>
      <p:sp>
        <p:nvSpPr>
          <p:cNvPr id="4" name="矩形 3"/>
          <p:cNvSpPr/>
          <p:nvPr/>
        </p:nvSpPr>
        <p:spPr>
          <a:xfrm>
            <a:off x="2249366" y="4142936"/>
            <a:ext cx="4998935"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zh-TW" altLang="en-US" b="1" dirty="0">
                <a:solidFill>
                  <a:schemeClr val="bg1"/>
                </a:solidFill>
                <a:latin typeface="微軟正黑體" pitchFamily="34" charset="-120"/>
                <a:ea typeface="微軟正黑體" pitchFamily="34" charset="-120"/>
              </a:rPr>
              <a:t>二元搜尋法只要比較一次，問題大小就至少減半</a:t>
            </a:r>
          </a:p>
        </p:txBody>
      </p:sp>
      <p:pic>
        <p:nvPicPr>
          <p:cNvPr id="6" name="Picture 2"/>
          <p:cNvPicPr>
            <a:picLocks noChangeAspect="1" noChangeArrowheads="1"/>
          </p:cNvPicPr>
          <p:nvPr/>
        </p:nvPicPr>
        <p:blipFill>
          <a:blip r:embed="rId2" cstate="print"/>
          <a:stretch>
            <a:fillRect/>
          </a:stretch>
        </p:blipFill>
        <p:spPr bwMode="auto">
          <a:xfrm>
            <a:off x="1684562" y="1671650"/>
            <a:ext cx="6101336" cy="2218232"/>
          </a:xfrm>
          <a:prstGeom prst="rect">
            <a:avLst/>
          </a:prstGeom>
          <a:noFill/>
          <a:ln w="9525">
            <a:no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11-4 </a:t>
            </a:r>
            <a:r>
              <a:rPr lang="zh-TW" altLang="en-US" dirty="0"/>
              <a:t>二元搜尋法</a:t>
            </a:r>
          </a:p>
        </p:txBody>
      </p:sp>
      <p:sp>
        <p:nvSpPr>
          <p:cNvPr id="2" name="內容版面配置區 1"/>
          <p:cNvSpPr>
            <a:spLocks noGrp="1"/>
          </p:cNvSpPr>
          <p:nvPr>
            <p:ph idx="1"/>
          </p:nvPr>
        </p:nvSpPr>
        <p:spPr/>
        <p:txBody>
          <a:bodyPr>
            <a:normAutofit/>
          </a:bodyPr>
          <a:lstStyle/>
          <a:p>
            <a:r>
              <a:rPr lang="zh-TW" altLang="en-US" dirty="0"/>
              <a:t>假設數列有</a:t>
            </a:r>
            <a:r>
              <a:rPr lang="en-US" altLang="zh-TW" dirty="0"/>
              <a:t>2</a:t>
            </a:r>
            <a:r>
              <a:rPr lang="en-US" altLang="zh-TW" baseline="30000" dirty="0"/>
              <a:t>30</a:t>
            </a:r>
            <a:r>
              <a:rPr lang="zh-TW" altLang="en-US" dirty="0"/>
              <a:t>個數，也就是大約十億個數，若該數列已排序，以二元搜尋法找某數是否在裡面，最多需要幾次比較呢？</a:t>
            </a:r>
            <a:endParaRPr lang="en-US" altLang="zh-TW"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11-4 </a:t>
            </a:r>
            <a:r>
              <a:rPr lang="zh-TW" altLang="en-US" dirty="0"/>
              <a:t>二元搜尋法</a:t>
            </a:r>
          </a:p>
        </p:txBody>
      </p:sp>
      <p:sp>
        <p:nvSpPr>
          <p:cNvPr id="3" name="內容版面配置區 2"/>
          <p:cNvSpPr>
            <a:spLocks noGrp="1"/>
          </p:cNvSpPr>
          <p:nvPr>
            <p:ph idx="1"/>
          </p:nvPr>
        </p:nvSpPr>
        <p:spPr/>
        <p:txBody>
          <a:bodyPr/>
          <a:lstStyle/>
          <a:p>
            <a:pPr marL="457200" lvl="1">
              <a:buClrTx/>
              <a:buBlip>
                <a:blip r:embed="rId2"/>
              </a:buBlip>
            </a:pPr>
            <a:r>
              <a:rPr lang="zh-TW" altLang="en-US" dirty="0"/>
              <a:t>先比一次中間數，所須考慮的子數列個數就從</a:t>
            </a:r>
            <a:r>
              <a:rPr lang="en-US" altLang="zh-TW" dirty="0"/>
              <a:t>2</a:t>
            </a:r>
            <a:r>
              <a:rPr lang="en-US" altLang="zh-TW" baseline="30000" dirty="0"/>
              <a:t>30</a:t>
            </a:r>
            <a:r>
              <a:rPr lang="zh-TW" altLang="en-US" dirty="0"/>
              <a:t>減半成為</a:t>
            </a:r>
            <a:r>
              <a:rPr lang="en-US" altLang="zh-TW" dirty="0"/>
              <a:t>2</a:t>
            </a:r>
            <a:r>
              <a:rPr lang="en-US" altLang="zh-TW" baseline="30000" dirty="0"/>
              <a:t>29</a:t>
            </a:r>
            <a:r>
              <a:rPr lang="zh-TW" altLang="en-US" dirty="0"/>
              <a:t>，再一次比較，所須考慮的子數列個數最多為</a:t>
            </a:r>
            <a:r>
              <a:rPr lang="en-US" altLang="zh-TW" dirty="0"/>
              <a:t>2</a:t>
            </a:r>
            <a:r>
              <a:rPr lang="en-US" altLang="zh-TW" baseline="30000" dirty="0"/>
              <a:t>28</a:t>
            </a:r>
            <a:r>
              <a:rPr lang="zh-TW" altLang="en-US" dirty="0"/>
              <a:t>，</a:t>
            </a:r>
            <a:r>
              <a:rPr lang="en-US" altLang="zh-TW" dirty="0"/>
              <a:t>...</a:t>
            </a:r>
            <a:r>
              <a:rPr lang="zh-TW" altLang="en-US" dirty="0"/>
              <a:t>，經過</a:t>
            </a:r>
            <a:r>
              <a:rPr lang="en-US" altLang="zh-TW" dirty="0"/>
              <a:t>30</a:t>
            </a:r>
            <a:r>
              <a:rPr lang="zh-TW" altLang="en-US" dirty="0"/>
              <a:t>次比較後，子數列最多只剩</a:t>
            </a:r>
            <a:r>
              <a:rPr lang="en-US" altLang="zh-TW" dirty="0"/>
              <a:t>2</a:t>
            </a:r>
            <a:r>
              <a:rPr lang="en-US" altLang="zh-TW" baseline="30000" dirty="0"/>
              <a:t>0</a:t>
            </a:r>
            <a:r>
              <a:rPr lang="zh-TW" altLang="en-US" dirty="0"/>
              <a:t>個，此時再一次比較就可確認某數是否在裡面。</a:t>
            </a:r>
          </a:p>
          <a:p>
            <a:endParaRPr lang="zh-TW" altLang="en-US" dirty="0"/>
          </a:p>
        </p:txBody>
      </p:sp>
    </p:spTree>
    <p:extLst>
      <p:ext uri="{BB962C8B-B14F-4D97-AF65-F5344CB8AC3E}">
        <p14:creationId xmlns:p14="http://schemas.microsoft.com/office/powerpoint/2010/main" val="14805404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11-4 </a:t>
            </a:r>
            <a:r>
              <a:rPr lang="zh-TW" altLang="en-US" dirty="0"/>
              <a:t>二元搜尋法</a:t>
            </a:r>
          </a:p>
        </p:txBody>
      </p:sp>
      <p:sp>
        <p:nvSpPr>
          <p:cNvPr id="3" name="內容版面配置區 2"/>
          <p:cNvSpPr>
            <a:spLocks noGrp="1"/>
          </p:cNvSpPr>
          <p:nvPr>
            <p:ph idx="1"/>
          </p:nvPr>
        </p:nvSpPr>
        <p:spPr/>
        <p:txBody>
          <a:bodyPr/>
          <a:lstStyle/>
          <a:p>
            <a:r>
              <a:rPr lang="zh-TW" altLang="en-US" dirty="0"/>
              <a:t>因此，二元搜尋法最多只要</a:t>
            </a:r>
            <a:r>
              <a:rPr lang="en-US" altLang="zh-TW" dirty="0"/>
              <a:t>31</a:t>
            </a:r>
            <a:r>
              <a:rPr lang="zh-TW" altLang="en-US" dirty="0"/>
              <a:t>次比較，就可判斷某數是否在一個有十億個數的數列裡。</a:t>
            </a:r>
            <a:endParaRPr lang="en-US" altLang="zh-TW" dirty="0"/>
          </a:p>
          <a:p>
            <a:r>
              <a:rPr lang="zh-TW" altLang="en-US" dirty="0"/>
              <a:t>同理，可知道若已排序的數列長度為</a:t>
            </a:r>
            <a:r>
              <a:rPr lang="en-US" altLang="zh-TW" dirty="0"/>
              <a:t>n</a:t>
            </a:r>
            <a:r>
              <a:rPr lang="zh-TW" altLang="en-US" dirty="0"/>
              <a:t>，則二元搜尋法的最多比較次數大約為</a:t>
            </a:r>
            <a:r>
              <a:rPr lang="en-US" altLang="zh-TW" dirty="0"/>
              <a:t>log</a:t>
            </a:r>
            <a:r>
              <a:rPr lang="en-US" altLang="zh-TW" baseline="-25000" dirty="0"/>
              <a:t>2</a:t>
            </a:r>
            <a:r>
              <a:rPr lang="en-US" altLang="zh-TW" dirty="0"/>
              <a:t>n</a:t>
            </a:r>
            <a:r>
              <a:rPr lang="zh-TW" altLang="en-US" dirty="0"/>
              <a:t>。</a:t>
            </a:r>
            <a:endParaRPr lang="en-US" altLang="zh-TW" dirty="0"/>
          </a:p>
        </p:txBody>
      </p:sp>
    </p:spTree>
    <p:extLst>
      <p:ext uri="{BB962C8B-B14F-4D97-AF65-F5344CB8AC3E}">
        <p14:creationId xmlns:p14="http://schemas.microsoft.com/office/powerpoint/2010/main" val="7111958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11-5 </a:t>
            </a:r>
            <a:r>
              <a:rPr lang="zh-TW" altLang="en-US" dirty="0"/>
              <a:t>動態規劃技巧</a:t>
            </a:r>
          </a:p>
        </p:txBody>
      </p:sp>
      <p:sp>
        <p:nvSpPr>
          <p:cNvPr id="4" name="內容版面配置區 3"/>
          <p:cNvSpPr>
            <a:spLocks noGrp="1"/>
          </p:cNvSpPr>
          <p:nvPr>
            <p:ph idx="1"/>
          </p:nvPr>
        </p:nvSpPr>
        <p:spPr/>
        <p:txBody>
          <a:bodyPr>
            <a:normAutofit fontScale="92500" lnSpcReduction="10000"/>
          </a:bodyPr>
          <a:lstStyle/>
          <a:p>
            <a:pPr algn="l"/>
            <a:r>
              <a:rPr lang="zh-TW" altLang="en-US" dirty="0">
                <a:solidFill>
                  <a:srgbClr val="C00000"/>
                </a:solidFill>
              </a:rPr>
              <a:t>動態規劃技巧</a:t>
            </a:r>
            <a:r>
              <a:rPr lang="en-US" altLang="zh-TW" dirty="0"/>
              <a:t>(dynamic programming)</a:t>
            </a:r>
            <a:r>
              <a:rPr lang="zh-TW" altLang="en-US" dirty="0"/>
              <a:t>的</a:t>
            </a:r>
            <a:r>
              <a:rPr lang="en-US" altLang="zh-TW" dirty="0"/>
              <a:t>programming</a:t>
            </a:r>
            <a:r>
              <a:rPr lang="zh-TW" altLang="en-US" dirty="0"/>
              <a:t>在此並不是程式設計的意思，而是代表一種「列表式」的運算。</a:t>
            </a:r>
            <a:endParaRPr lang="en-US" altLang="zh-TW" dirty="0"/>
          </a:p>
          <a:p>
            <a:r>
              <a:rPr lang="zh-TW" altLang="en-US" dirty="0"/>
              <a:t>在正式介紹動態規劃技巧之前，先從一個簡單的例子來感受列表式的計算為何有時可較有效率地求得結果。</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11-5 </a:t>
            </a:r>
            <a:r>
              <a:rPr lang="zh-TW" altLang="en-US" dirty="0"/>
              <a:t>動態規劃技巧</a:t>
            </a:r>
          </a:p>
        </p:txBody>
      </p:sp>
      <p:sp>
        <p:nvSpPr>
          <p:cNvPr id="3" name="內容版面配置區 2"/>
          <p:cNvSpPr>
            <a:spLocks noGrp="1"/>
          </p:cNvSpPr>
          <p:nvPr>
            <p:ph idx="1"/>
          </p:nvPr>
        </p:nvSpPr>
        <p:spPr/>
        <p:txBody>
          <a:bodyPr>
            <a:normAutofit/>
          </a:bodyPr>
          <a:lstStyle/>
          <a:p>
            <a:r>
              <a:rPr lang="zh-TW" altLang="en-US" dirty="0">
                <a:solidFill>
                  <a:srgbClr val="C00000"/>
                </a:solidFill>
              </a:rPr>
              <a:t>費氏數</a:t>
            </a:r>
            <a:r>
              <a:rPr lang="en-US" altLang="zh-TW" dirty="0"/>
              <a:t>(Fibonacci</a:t>
            </a:r>
            <a:r>
              <a:rPr lang="zh-TW" altLang="en-US" dirty="0"/>
              <a:t> </a:t>
            </a:r>
            <a:r>
              <a:rPr lang="en-US" altLang="zh-TW" dirty="0"/>
              <a:t>number)</a:t>
            </a:r>
            <a:r>
              <a:rPr lang="zh-TW" altLang="en-US" dirty="0"/>
              <a:t>可用下列的遞迴關係</a:t>
            </a:r>
            <a:r>
              <a:rPr lang="en-US" altLang="zh-TW" dirty="0"/>
              <a:t>(recurrence)</a:t>
            </a:r>
            <a:r>
              <a:rPr lang="zh-TW" altLang="en-US" dirty="0"/>
              <a:t>來描述：</a:t>
            </a:r>
            <a:endParaRPr lang="en-US" altLang="zh-TW" dirty="0"/>
          </a:p>
          <a:p>
            <a:endParaRPr lang="en-US" altLang="zh-TW" dirty="0"/>
          </a:p>
          <a:p>
            <a:endParaRPr lang="en-US" altLang="zh-TW" dirty="0"/>
          </a:p>
          <a:p>
            <a:endParaRPr lang="zh-TW" altLang="en-US" dirty="0"/>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2636785" y="3066805"/>
            <a:ext cx="3725147" cy="170345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129015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11-5 </a:t>
            </a:r>
            <a:r>
              <a:rPr lang="zh-TW" altLang="en-US" dirty="0"/>
              <a:t>動態規劃技巧</a:t>
            </a:r>
          </a:p>
        </p:txBody>
      </p:sp>
      <p:sp>
        <p:nvSpPr>
          <p:cNvPr id="3" name="內容版面配置區 2"/>
          <p:cNvSpPr>
            <a:spLocks noGrp="1"/>
          </p:cNvSpPr>
          <p:nvPr>
            <p:ph idx="1"/>
          </p:nvPr>
        </p:nvSpPr>
        <p:spPr/>
        <p:txBody>
          <a:bodyPr/>
          <a:lstStyle/>
          <a:p>
            <a:r>
              <a:rPr lang="zh-TW" altLang="en-US" dirty="0"/>
              <a:t>如果想知道</a:t>
            </a:r>
            <a:r>
              <a:rPr lang="en-US" altLang="zh-TW" dirty="0"/>
              <a:t>F</a:t>
            </a:r>
            <a:r>
              <a:rPr lang="en-US" altLang="zh-TW" baseline="-25000" dirty="0"/>
              <a:t>20</a:t>
            </a:r>
            <a:r>
              <a:rPr lang="zh-TW" altLang="en-US" dirty="0"/>
              <a:t>的值是多少，有人可能會以程式語言中的遞迴呼叫</a:t>
            </a:r>
            <a:r>
              <a:rPr lang="en-US" altLang="zh-TW" dirty="0"/>
              <a:t>(recursive call)</a:t>
            </a:r>
            <a:r>
              <a:rPr lang="zh-TW" altLang="en-US" dirty="0"/>
              <a:t>這麼做：先試著去求得</a:t>
            </a:r>
            <a:r>
              <a:rPr lang="en-US" altLang="zh-TW" dirty="0"/>
              <a:t>F</a:t>
            </a:r>
            <a:r>
              <a:rPr lang="en-US" altLang="zh-TW" baseline="-25000" dirty="0"/>
              <a:t>19</a:t>
            </a:r>
            <a:r>
              <a:rPr lang="zh-TW" altLang="en-US" dirty="0"/>
              <a:t>，然後再設法求</a:t>
            </a:r>
            <a:r>
              <a:rPr lang="en-US" altLang="zh-TW" dirty="0"/>
              <a:t>F</a:t>
            </a:r>
            <a:r>
              <a:rPr lang="en-US" altLang="zh-TW" baseline="-25000" dirty="0"/>
              <a:t>18</a:t>
            </a:r>
            <a:r>
              <a:rPr lang="zh-TW" altLang="en-US" dirty="0"/>
              <a:t>，最後再將兩個加起來。</a:t>
            </a:r>
          </a:p>
          <a:p>
            <a:endParaRPr lang="zh-TW" altLang="en-US" dirty="0"/>
          </a:p>
        </p:txBody>
      </p:sp>
    </p:spTree>
    <p:extLst>
      <p:ext uri="{BB962C8B-B14F-4D97-AF65-F5344CB8AC3E}">
        <p14:creationId xmlns:p14="http://schemas.microsoft.com/office/powerpoint/2010/main" val="20923735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11-5 </a:t>
            </a:r>
            <a:r>
              <a:rPr lang="zh-TW" altLang="en-US" dirty="0"/>
              <a:t>動態規劃技巧</a:t>
            </a:r>
          </a:p>
        </p:txBody>
      </p:sp>
      <p:sp>
        <p:nvSpPr>
          <p:cNvPr id="4" name="內容版面配置區 3"/>
          <p:cNvSpPr>
            <a:spLocks noGrp="1"/>
          </p:cNvSpPr>
          <p:nvPr>
            <p:ph idx="1"/>
          </p:nvPr>
        </p:nvSpPr>
        <p:spPr/>
        <p:txBody>
          <a:bodyPr>
            <a:normAutofit/>
          </a:bodyPr>
          <a:lstStyle/>
          <a:p>
            <a:pPr>
              <a:lnSpc>
                <a:spcPct val="120000"/>
              </a:lnSpc>
            </a:pPr>
            <a:r>
              <a:rPr lang="zh-TW" altLang="en-US" dirty="0"/>
              <a:t>要如何求得</a:t>
            </a:r>
            <a:r>
              <a:rPr lang="en-US" altLang="zh-TW" dirty="0"/>
              <a:t>F</a:t>
            </a:r>
            <a:r>
              <a:rPr lang="en-US" altLang="zh-TW" baseline="-25000" dirty="0"/>
              <a:t>19</a:t>
            </a:r>
            <a:r>
              <a:rPr lang="zh-TW" altLang="en-US" dirty="0"/>
              <a:t>呢？</a:t>
            </a:r>
            <a:endParaRPr lang="en-US" altLang="zh-TW" dirty="0"/>
          </a:p>
          <a:p>
            <a:pPr>
              <a:lnSpc>
                <a:spcPct val="120000"/>
              </a:lnSpc>
            </a:pPr>
            <a:r>
              <a:rPr lang="zh-TW" altLang="en-US" dirty="0"/>
              <a:t>將</a:t>
            </a:r>
            <a:r>
              <a:rPr lang="en-US" altLang="zh-TW" dirty="0"/>
              <a:t>F</a:t>
            </a:r>
            <a:r>
              <a:rPr lang="en-US" altLang="zh-TW" baseline="-25000" dirty="0"/>
              <a:t>18</a:t>
            </a:r>
            <a:r>
              <a:rPr lang="zh-TW" altLang="en-US" dirty="0"/>
              <a:t>及</a:t>
            </a:r>
            <a:r>
              <a:rPr lang="en-US" altLang="zh-TW" dirty="0"/>
              <a:t>F</a:t>
            </a:r>
            <a:r>
              <a:rPr lang="en-US" altLang="zh-TW" baseline="-25000" dirty="0"/>
              <a:t>17</a:t>
            </a:r>
            <a:r>
              <a:rPr lang="zh-TW" altLang="en-US" dirty="0"/>
              <a:t>算出來就可以了。</a:t>
            </a:r>
            <a:endParaRPr lang="en-US" altLang="zh-TW" dirty="0"/>
          </a:p>
          <a:p>
            <a:pPr>
              <a:lnSpc>
                <a:spcPct val="120000"/>
              </a:lnSpc>
            </a:pPr>
            <a:r>
              <a:rPr lang="en-US" altLang="zh-TW" dirty="0"/>
              <a:t>F</a:t>
            </a:r>
            <a:r>
              <a:rPr lang="en-US" altLang="zh-TW" baseline="-25000" dirty="0"/>
              <a:t>18</a:t>
            </a:r>
            <a:r>
              <a:rPr lang="zh-TW" altLang="en-US" dirty="0"/>
              <a:t>不是已經算過了？為何現在又要重算？</a:t>
            </a:r>
            <a:endParaRPr lang="en-US" altLang="zh-TW" dirty="0"/>
          </a:p>
          <a:p>
            <a:pPr>
              <a:lnSpc>
                <a:spcPct val="120000"/>
              </a:lnSpc>
            </a:pPr>
            <a:r>
              <a:rPr lang="zh-TW" altLang="en-US" dirty="0"/>
              <a:t>實際上，以遞迴呼叫來處理這樣的問題，重算的次數還真嚇人呢！</a:t>
            </a:r>
            <a:endParaRPr lang="en-US" altLang="zh-TW"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11-5 </a:t>
            </a:r>
            <a:r>
              <a:rPr lang="zh-TW" altLang="en-US" dirty="0"/>
              <a:t>動態規劃技巧</a:t>
            </a:r>
          </a:p>
        </p:txBody>
      </p:sp>
      <p:sp>
        <p:nvSpPr>
          <p:cNvPr id="3" name="內容版面配置區 2"/>
          <p:cNvSpPr>
            <a:spLocks noGrp="1"/>
          </p:cNvSpPr>
          <p:nvPr>
            <p:ph idx="1"/>
          </p:nvPr>
        </p:nvSpPr>
        <p:spPr/>
        <p:txBody>
          <a:bodyPr>
            <a:normAutofit fontScale="92500" lnSpcReduction="20000"/>
          </a:bodyPr>
          <a:lstStyle/>
          <a:p>
            <a:r>
              <a:rPr lang="zh-TW" altLang="en-US" dirty="0"/>
              <a:t>如果以列表式方法逐一從</a:t>
            </a:r>
            <a:r>
              <a:rPr lang="en-US" altLang="zh-TW" dirty="0"/>
              <a:t>F</a:t>
            </a:r>
            <a:r>
              <a:rPr lang="en-US" altLang="zh-TW" sz="3100" baseline="-25000" dirty="0"/>
              <a:t>0</a:t>
            </a:r>
            <a:r>
              <a:rPr lang="zh-TW" altLang="en-US" dirty="0"/>
              <a:t>、</a:t>
            </a:r>
            <a:r>
              <a:rPr lang="en-US" altLang="zh-TW" dirty="0"/>
              <a:t>F</a:t>
            </a:r>
            <a:r>
              <a:rPr lang="en-US" altLang="zh-TW" sz="3100" baseline="-25000" dirty="0"/>
              <a:t>1</a:t>
            </a:r>
            <a:r>
              <a:rPr lang="zh-TW" altLang="en-US" dirty="0"/>
              <a:t>、</a:t>
            </a:r>
            <a:r>
              <a:rPr lang="en-US" altLang="zh-TW" dirty="0"/>
              <a:t>F</a:t>
            </a:r>
            <a:r>
              <a:rPr lang="en-US" altLang="zh-TW" sz="3100" baseline="-25000" dirty="0"/>
              <a:t>2</a:t>
            </a:r>
            <a:r>
              <a:rPr lang="zh-TW" altLang="en-US" dirty="0"/>
              <a:t>等往</a:t>
            </a:r>
            <a:r>
              <a:rPr lang="en-US" altLang="zh-TW" dirty="0"/>
              <a:t>F</a:t>
            </a:r>
            <a:r>
              <a:rPr lang="en-US" altLang="zh-TW" sz="3100" baseline="-25000" dirty="0"/>
              <a:t>20</a:t>
            </a:r>
            <a:r>
              <a:rPr lang="zh-TW" altLang="en-US" dirty="0"/>
              <a:t>算去，會發現在</a:t>
            </a:r>
            <a:r>
              <a:rPr lang="en-US" altLang="zh-TW" dirty="0"/>
              <a:t>20</a:t>
            </a:r>
            <a:r>
              <a:rPr lang="zh-TW" altLang="en-US" dirty="0"/>
              <a:t>次運算之內就能算出</a:t>
            </a:r>
            <a:r>
              <a:rPr lang="en-US" altLang="zh-TW" dirty="0"/>
              <a:t>F</a:t>
            </a:r>
            <a:r>
              <a:rPr lang="en-US" altLang="zh-TW" sz="3100" baseline="-25000" dirty="0"/>
              <a:t>20</a:t>
            </a:r>
            <a:r>
              <a:rPr lang="zh-TW" altLang="en-US" dirty="0"/>
              <a:t>的值：</a:t>
            </a:r>
            <a:endParaRPr lang="en-US" altLang="zh-TW" dirty="0"/>
          </a:p>
          <a:p>
            <a:endParaRPr lang="en-US" altLang="zh-TW" dirty="0"/>
          </a:p>
          <a:p>
            <a:endParaRPr lang="en-US" altLang="zh-TW" dirty="0"/>
          </a:p>
          <a:p>
            <a:r>
              <a:rPr lang="zh-TW" altLang="en-US" dirty="0"/>
              <a:t>列表式方法最大的作用就是避免重複計算</a:t>
            </a:r>
            <a:r>
              <a:rPr lang="en-US" altLang="zh-TW" dirty="0"/>
              <a:t>(</a:t>
            </a:r>
            <a:r>
              <a:rPr lang="en-US" altLang="zh-TW" dirty="0" err="1"/>
              <a:t>recomputation</a:t>
            </a:r>
            <a:r>
              <a:rPr lang="en-US" altLang="zh-TW" dirty="0"/>
              <a:t>)</a:t>
            </a:r>
            <a:r>
              <a:rPr lang="zh-TW" altLang="en-US" dirty="0"/>
              <a:t> 。</a:t>
            </a:r>
          </a:p>
        </p:txBody>
      </p:sp>
      <p:pic>
        <p:nvPicPr>
          <p:cNvPr id="5" name="Picture 2"/>
          <p:cNvPicPr>
            <a:picLocks noChangeAspect="1" noChangeArrowheads="1"/>
          </p:cNvPicPr>
          <p:nvPr/>
        </p:nvPicPr>
        <p:blipFill>
          <a:blip r:embed="rId2" cstate="print"/>
          <a:srcRect/>
          <a:stretch>
            <a:fillRect/>
          </a:stretch>
        </p:blipFill>
        <p:spPr bwMode="auto">
          <a:xfrm>
            <a:off x="1691679" y="2720938"/>
            <a:ext cx="6615736" cy="691196"/>
          </a:xfrm>
          <a:prstGeom prst="rect">
            <a:avLst/>
          </a:prstGeom>
          <a:noFill/>
          <a:ln w="9525">
            <a:noFill/>
            <a:miter lim="800000"/>
            <a:headEnd/>
            <a:tailEnd/>
          </a:ln>
          <a:effectLst/>
        </p:spPr>
      </p:pic>
    </p:spTree>
    <p:extLst>
      <p:ext uri="{BB962C8B-B14F-4D97-AF65-F5344CB8AC3E}">
        <p14:creationId xmlns:p14="http://schemas.microsoft.com/office/powerpoint/2010/main" val="28319573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11-5 </a:t>
            </a:r>
            <a:r>
              <a:rPr lang="zh-TW" altLang="en-US" dirty="0"/>
              <a:t>動態規劃技巧</a:t>
            </a:r>
          </a:p>
        </p:txBody>
      </p:sp>
      <p:sp>
        <p:nvSpPr>
          <p:cNvPr id="2" name="內容版面配置區 1"/>
          <p:cNvSpPr>
            <a:spLocks noGrp="1"/>
          </p:cNvSpPr>
          <p:nvPr>
            <p:ph idx="1"/>
          </p:nvPr>
        </p:nvSpPr>
        <p:spPr/>
        <p:txBody>
          <a:bodyPr>
            <a:normAutofit/>
          </a:bodyPr>
          <a:lstStyle/>
          <a:p>
            <a:r>
              <a:rPr lang="zh-TW" altLang="en-US" dirty="0"/>
              <a:t>基本上，動態規劃技巧有三個主要部分：</a:t>
            </a:r>
            <a:endParaRPr lang="en-US" altLang="zh-TW" dirty="0"/>
          </a:p>
          <a:p>
            <a:pPr lvl="1"/>
            <a:r>
              <a:rPr lang="zh-TW" altLang="en-US" dirty="0"/>
              <a:t>遞迴關係</a:t>
            </a:r>
            <a:r>
              <a:rPr lang="en-US" altLang="zh-TW" dirty="0"/>
              <a:t>(recurrence relation)</a:t>
            </a:r>
          </a:p>
          <a:p>
            <a:pPr lvl="1"/>
            <a:r>
              <a:rPr lang="zh-TW" altLang="en-US" dirty="0"/>
              <a:t>列表式運算</a:t>
            </a:r>
            <a:r>
              <a:rPr lang="en-US" altLang="zh-TW" dirty="0"/>
              <a:t>(tabular computation)</a:t>
            </a:r>
          </a:p>
          <a:p>
            <a:pPr lvl="1"/>
            <a:r>
              <a:rPr lang="zh-TW" altLang="en-US" dirty="0"/>
              <a:t>路徑迴溯</a:t>
            </a:r>
            <a:r>
              <a:rPr lang="en-US" altLang="zh-TW" dirty="0"/>
              <a:t>(</a:t>
            </a:r>
            <a:r>
              <a:rPr lang="en-US" altLang="zh-TW" dirty="0" err="1"/>
              <a:t>traceback</a:t>
            </a:r>
            <a:r>
              <a:rPr lang="en-US" altLang="zh-TW" dirty="0"/>
              <a: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11-5 </a:t>
            </a:r>
            <a:r>
              <a:rPr lang="zh-TW" altLang="en-US" dirty="0"/>
              <a:t>動態規劃技巧</a:t>
            </a:r>
          </a:p>
        </p:txBody>
      </p:sp>
      <p:sp>
        <p:nvSpPr>
          <p:cNvPr id="3" name="內容版面配置區 2"/>
          <p:cNvSpPr>
            <a:spLocks noGrp="1"/>
          </p:cNvSpPr>
          <p:nvPr>
            <p:ph idx="1"/>
          </p:nvPr>
        </p:nvSpPr>
        <p:spPr/>
        <p:txBody>
          <a:bodyPr/>
          <a:lstStyle/>
          <a:p>
            <a:pPr algn="l"/>
            <a:r>
              <a:rPr lang="zh-TW" altLang="en-US" dirty="0"/>
              <a:t>以</a:t>
            </a:r>
            <a:r>
              <a:rPr lang="zh-TW" altLang="en-US" dirty="0">
                <a:solidFill>
                  <a:srgbClr val="C00000"/>
                </a:solidFill>
              </a:rPr>
              <a:t>最長共同子序列</a:t>
            </a:r>
            <a:r>
              <a:rPr lang="en-US" altLang="zh-TW" dirty="0"/>
              <a:t>(Longest Common Subsequence</a:t>
            </a:r>
            <a:r>
              <a:rPr lang="zh-TW" altLang="en-US" dirty="0"/>
              <a:t>；</a:t>
            </a:r>
            <a:r>
              <a:rPr lang="en-US" altLang="zh-TW" dirty="0"/>
              <a:t>LCS)</a:t>
            </a:r>
            <a:r>
              <a:rPr lang="zh-TW" altLang="en-US" dirty="0"/>
              <a:t>問題為例來談談這些特性。</a:t>
            </a:r>
            <a:endParaRPr lang="en-US" altLang="zh-TW" dirty="0"/>
          </a:p>
          <a:p>
            <a:endParaRPr lang="zh-TW" altLang="en-US" dirty="0"/>
          </a:p>
        </p:txBody>
      </p:sp>
    </p:spTree>
    <p:extLst>
      <p:ext uri="{BB962C8B-B14F-4D97-AF65-F5344CB8AC3E}">
        <p14:creationId xmlns:p14="http://schemas.microsoft.com/office/powerpoint/2010/main" val="17183547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11-5 </a:t>
            </a:r>
            <a:r>
              <a:rPr lang="zh-TW" altLang="en-US" dirty="0"/>
              <a:t>動態規劃技巧</a:t>
            </a:r>
          </a:p>
        </p:txBody>
      </p:sp>
      <p:sp>
        <p:nvSpPr>
          <p:cNvPr id="3" name="內容版面配置區 2"/>
          <p:cNvSpPr>
            <a:spLocks noGrp="1"/>
          </p:cNvSpPr>
          <p:nvPr>
            <p:ph idx="1"/>
          </p:nvPr>
        </p:nvSpPr>
        <p:spPr/>
        <p:txBody>
          <a:bodyPr>
            <a:normAutofit/>
          </a:bodyPr>
          <a:lstStyle/>
          <a:p>
            <a:r>
              <a:rPr lang="zh-TW" altLang="en-US" dirty="0">
                <a:solidFill>
                  <a:srgbClr val="C00000"/>
                </a:solidFill>
              </a:rPr>
              <a:t>子序列</a:t>
            </a:r>
            <a:r>
              <a:rPr lang="en-US" altLang="zh-TW" dirty="0"/>
              <a:t>(subsequence)</a:t>
            </a:r>
            <a:r>
              <a:rPr lang="zh-TW" altLang="en-US" dirty="0"/>
              <a:t>就是將一個序列中的一些</a:t>
            </a:r>
            <a:r>
              <a:rPr lang="en-US" altLang="zh-TW" dirty="0"/>
              <a:t>(</a:t>
            </a:r>
            <a:r>
              <a:rPr lang="zh-TW" altLang="en-US" dirty="0"/>
              <a:t>可能是零個</a:t>
            </a:r>
            <a:r>
              <a:rPr lang="en-US" altLang="zh-TW" dirty="0"/>
              <a:t>)</a:t>
            </a:r>
            <a:r>
              <a:rPr lang="zh-TW" altLang="en-US" dirty="0"/>
              <a:t>字元去掉所得到的序列，例如：</a:t>
            </a:r>
            <a:r>
              <a:rPr lang="en-US" altLang="zh-TW" dirty="0" err="1"/>
              <a:t>pred</a:t>
            </a:r>
            <a:r>
              <a:rPr lang="zh-TW" altLang="en-US" dirty="0"/>
              <a:t>、</a:t>
            </a:r>
            <a:r>
              <a:rPr lang="en-US" altLang="zh-TW" dirty="0" err="1"/>
              <a:t>sdn</a:t>
            </a:r>
            <a:r>
              <a:rPr lang="zh-TW" altLang="en-US" dirty="0"/>
              <a:t>、</a:t>
            </a:r>
            <a:r>
              <a:rPr lang="en-US" altLang="zh-TW" dirty="0" err="1"/>
              <a:t>predent</a:t>
            </a:r>
            <a:r>
              <a:rPr lang="zh-TW" altLang="en-US" dirty="0"/>
              <a:t>等都是</a:t>
            </a:r>
            <a:r>
              <a:rPr lang="en-US" altLang="zh-TW" dirty="0">
                <a:solidFill>
                  <a:srgbClr val="0070C0"/>
                </a:solidFill>
              </a:rPr>
              <a:t>president</a:t>
            </a:r>
            <a:r>
              <a:rPr lang="zh-TW" altLang="en-US" dirty="0"/>
              <a:t>的子序列。</a:t>
            </a:r>
            <a:endParaRPr lang="en-US" altLang="zh-TW" dirty="0"/>
          </a:p>
          <a:p>
            <a:endParaRPr lang="zh-TW" altLang="en-US" dirty="0"/>
          </a:p>
        </p:txBody>
      </p:sp>
    </p:spTree>
    <p:extLst>
      <p:ext uri="{BB962C8B-B14F-4D97-AF65-F5344CB8AC3E}">
        <p14:creationId xmlns:p14="http://schemas.microsoft.com/office/powerpoint/2010/main" val="16103938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11-5 </a:t>
            </a:r>
            <a:r>
              <a:rPr lang="zh-TW" altLang="en-US" dirty="0"/>
              <a:t>動態規劃技巧</a:t>
            </a:r>
          </a:p>
        </p:txBody>
      </p:sp>
      <p:sp>
        <p:nvSpPr>
          <p:cNvPr id="3" name="內容版面配置區 2"/>
          <p:cNvSpPr>
            <a:spLocks noGrp="1"/>
          </p:cNvSpPr>
          <p:nvPr>
            <p:ph idx="1"/>
          </p:nvPr>
        </p:nvSpPr>
        <p:spPr/>
        <p:txBody>
          <a:bodyPr/>
          <a:lstStyle/>
          <a:p>
            <a:r>
              <a:rPr lang="zh-TW" altLang="en-US" dirty="0"/>
              <a:t>給定兩序列，最長共同子序列</a:t>
            </a:r>
            <a:r>
              <a:rPr lang="en-US" altLang="zh-TW" dirty="0"/>
              <a:t>(LCS)</a:t>
            </a:r>
            <a:r>
              <a:rPr lang="zh-TW" altLang="en-US" dirty="0"/>
              <a:t>問題是決定一個子序列，使得：</a:t>
            </a:r>
            <a:endParaRPr lang="en-US" altLang="zh-TW" dirty="0"/>
          </a:p>
          <a:p>
            <a:pPr lvl="1"/>
            <a:r>
              <a:rPr lang="zh-TW" altLang="en-US" dirty="0"/>
              <a:t>該子序列是這兩序列的子序列。</a:t>
            </a:r>
            <a:endParaRPr lang="en-US" altLang="zh-TW" dirty="0"/>
          </a:p>
          <a:p>
            <a:pPr lvl="1"/>
            <a:r>
              <a:rPr lang="zh-TW" altLang="en-US" dirty="0"/>
              <a:t>它的長度是最長的。</a:t>
            </a:r>
            <a:endParaRPr lang="en-US" altLang="zh-TW" dirty="0"/>
          </a:p>
          <a:p>
            <a:endParaRPr lang="zh-TW" altLang="en-US" dirty="0"/>
          </a:p>
        </p:txBody>
      </p:sp>
    </p:spTree>
    <p:extLst>
      <p:ext uri="{BB962C8B-B14F-4D97-AF65-F5344CB8AC3E}">
        <p14:creationId xmlns:p14="http://schemas.microsoft.com/office/powerpoint/2010/main" val="38119704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p:cNvSpPr>
            <a:spLocks noGrp="1"/>
          </p:cNvSpPr>
          <p:nvPr>
            <p:ph idx="1"/>
          </p:nvPr>
        </p:nvSpPr>
        <p:spPr/>
        <p:txBody>
          <a:bodyPr/>
          <a:lstStyle/>
          <a:p>
            <a:r>
              <a:rPr lang="zh-TW" altLang="en-US" dirty="0"/>
              <a:t>當然最長共同子序列不一定是唯一，現在來探討如何找出其中一個最長的子序列，讀者們應能將此方法擴充為找出所有最長共同子序列的方法：</a:t>
            </a:r>
          </a:p>
        </p:txBody>
      </p:sp>
      <p:sp>
        <p:nvSpPr>
          <p:cNvPr id="8" name="標題 7"/>
          <p:cNvSpPr>
            <a:spLocks noGrp="1"/>
          </p:cNvSpPr>
          <p:nvPr>
            <p:ph type="title"/>
          </p:nvPr>
        </p:nvSpPr>
        <p:spPr/>
        <p:txBody>
          <a:bodyPr/>
          <a:lstStyle/>
          <a:p>
            <a:r>
              <a:rPr lang="en-US" altLang="zh-TW" dirty="0"/>
              <a:t>11-5 </a:t>
            </a:r>
            <a:r>
              <a:rPr lang="zh-TW" altLang="en-US" dirty="0"/>
              <a:t>動態規劃技巧</a:t>
            </a:r>
          </a:p>
        </p:txBody>
      </p:sp>
      <p:pic>
        <p:nvPicPr>
          <p:cNvPr id="6" name="Picture 2"/>
          <p:cNvPicPr>
            <a:picLocks noChangeAspect="1" noChangeArrowheads="1"/>
          </p:cNvPicPr>
          <p:nvPr/>
        </p:nvPicPr>
        <p:blipFill rotWithShape="1">
          <a:blip r:embed="rId2" cstate="print"/>
          <a:srcRect l="2827" t="8670" r="1691" b="8968"/>
          <a:stretch/>
        </p:blipFill>
        <p:spPr bwMode="auto">
          <a:xfrm>
            <a:off x="2094647" y="3262127"/>
            <a:ext cx="5044714" cy="704778"/>
          </a:xfrm>
          <a:prstGeom prst="rect">
            <a:avLst/>
          </a:prstGeom>
          <a:ln>
            <a:noFill/>
          </a:ln>
          <a:effectLst>
            <a:outerShdw blurRad="190500" algn="tl" rotWithShape="0">
              <a:srgbClr val="000000">
                <a:alpha val="70000"/>
              </a:srgbClr>
            </a:outerShdw>
          </a:effectLst>
        </p:spPr>
      </p:pic>
      <p:pic>
        <p:nvPicPr>
          <p:cNvPr id="7" name="Picture 4"/>
          <p:cNvPicPr>
            <a:picLocks noChangeAspect="1" noChangeArrowheads="1"/>
          </p:cNvPicPr>
          <p:nvPr/>
        </p:nvPicPr>
        <p:blipFill rotWithShape="1">
          <a:blip r:embed="rId3" cstate="print"/>
          <a:srcRect l="2583" t="6555" r="1519" b="5946"/>
          <a:stretch/>
        </p:blipFill>
        <p:spPr bwMode="auto">
          <a:xfrm>
            <a:off x="2100482" y="4101920"/>
            <a:ext cx="5081808" cy="74187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11-5 </a:t>
            </a:r>
            <a:r>
              <a:rPr lang="zh-TW" altLang="en-US" dirty="0"/>
              <a:t>動態規劃技巧</a:t>
            </a:r>
          </a:p>
        </p:txBody>
      </p:sp>
      <p:sp>
        <p:nvSpPr>
          <p:cNvPr id="2" name="內容版面配置區 1"/>
          <p:cNvSpPr>
            <a:spLocks noGrp="1"/>
          </p:cNvSpPr>
          <p:nvPr>
            <p:ph idx="1"/>
          </p:nvPr>
        </p:nvSpPr>
        <p:spPr/>
        <p:txBody>
          <a:bodyPr>
            <a:normAutofit/>
          </a:bodyPr>
          <a:lstStyle/>
          <a:p>
            <a:r>
              <a:rPr lang="zh-TW" altLang="en-US" sz="2800" dirty="0"/>
              <a:t>給定兩序列</a:t>
            </a:r>
            <a:r>
              <a:rPr lang="en-US" altLang="zh-TW" sz="2800" dirty="0"/>
              <a:t>A=a</a:t>
            </a:r>
            <a:r>
              <a:rPr lang="en-US" altLang="zh-TW" sz="2800" baseline="-25000" dirty="0"/>
              <a:t>1</a:t>
            </a:r>
            <a:r>
              <a:rPr lang="en-US" altLang="zh-TW" sz="2800" dirty="0"/>
              <a:t>a</a:t>
            </a:r>
            <a:r>
              <a:rPr lang="en-US" altLang="zh-TW" sz="2800" baseline="-25000" dirty="0"/>
              <a:t>2</a:t>
            </a:r>
            <a:r>
              <a:rPr lang="en-US" altLang="zh-TW" sz="2800" dirty="0"/>
              <a:t>...a</a:t>
            </a:r>
            <a:r>
              <a:rPr lang="en-US" altLang="zh-TW" sz="2800" baseline="-25000" dirty="0"/>
              <a:t>m</a:t>
            </a:r>
            <a:r>
              <a:rPr lang="zh-TW" altLang="en-US" sz="2800" dirty="0"/>
              <a:t>及</a:t>
            </a:r>
            <a:r>
              <a:rPr lang="en-US" altLang="zh-TW" sz="2800" dirty="0"/>
              <a:t>B=b</a:t>
            </a:r>
            <a:r>
              <a:rPr lang="en-US" altLang="zh-TW" sz="2800" baseline="-25000" dirty="0"/>
              <a:t>1</a:t>
            </a:r>
            <a:r>
              <a:rPr lang="en-US" altLang="zh-TW" sz="2800" dirty="0"/>
              <a:t>b</a:t>
            </a:r>
            <a:r>
              <a:rPr lang="en-US" altLang="zh-TW" sz="2800" baseline="-25000" dirty="0"/>
              <a:t>2</a:t>
            </a:r>
            <a:r>
              <a:rPr lang="en-US" altLang="zh-TW" sz="2800" dirty="0"/>
              <a:t>...</a:t>
            </a:r>
            <a:r>
              <a:rPr lang="en-US" altLang="zh-TW" sz="2800" dirty="0" err="1"/>
              <a:t>b</a:t>
            </a:r>
            <a:r>
              <a:rPr lang="en-US" altLang="zh-TW" sz="2800" baseline="-25000" dirty="0" err="1"/>
              <a:t>n</a:t>
            </a:r>
            <a:r>
              <a:rPr lang="zh-TW" altLang="en-US" sz="2800" dirty="0"/>
              <a:t>，令</a:t>
            </a:r>
            <a:r>
              <a:rPr lang="en-US" altLang="zh-TW" sz="2800" dirty="0" err="1"/>
              <a:t>len</a:t>
            </a:r>
            <a:r>
              <a:rPr lang="en-US" altLang="zh-TW" sz="2800" dirty="0"/>
              <a:t>(</a:t>
            </a:r>
            <a:r>
              <a:rPr lang="en-US" altLang="zh-TW" sz="2800" dirty="0" err="1"/>
              <a:t>i,j</a:t>
            </a:r>
            <a:r>
              <a:rPr lang="en-US" altLang="zh-TW" sz="2800" dirty="0"/>
              <a:t>)</a:t>
            </a:r>
            <a:r>
              <a:rPr lang="zh-TW" altLang="en-US" sz="2800" dirty="0"/>
              <a:t>表示</a:t>
            </a:r>
            <a:r>
              <a:rPr lang="en-US" altLang="zh-TW" sz="2800" dirty="0"/>
              <a:t>a</a:t>
            </a:r>
            <a:r>
              <a:rPr lang="en-US" altLang="zh-TW" sz="2800" baseline="-25000" dirty="0"/>
              <a:t>1</a:t>
            </a:r>
            <a:r>
              <a:rPr lang="en-US" altLang="zh-TW" sz="2800" dirty="0"/>
              <a:t>a</a:t>
            </a:r>
            <a:r>
              <a:rPr lang="en-US" altLang="zh-TW" sz="2800" baseline="-25000" dirty="0"/>
              <a:t>2</a:t>
            </a:r>
            <a:r>
              <a:rPr lang="en-US" altLang="zh-TW" sz="2800" dirty="0"/>
              <a:t>...</a:t>
            </a:r>
            <a:r>
              <a:rPr lang="en-US" altLang="zh-TW" sz="2800" dirty="0" err="1"/>
              <a:t>a</a:t>
            </a:r>
            <a:r>
              <a:rPr lang="en-US" altLang="zh-TW" sz="2800" baseline="-25000" dirty="0" err="1"/>
              <a:t>i</a:t>
            </a:r>
            <a:r>
              <a:rPr lang="zh-TW" altLang="en-US" sz="2800" dirty="0"/>
              <a:t>與</a:t>
            </a:r>
            <a:r>
              <a:rPr lang="en-US" altLang="zh-TW" sz="2800" dirty="0"/>
              <a:t>b</a:t>
            </a:r>
            <a:r>
              <a:rPr lang="en-US" altLang="zh-TW" sz="2800" baseline="-25000" dirty="0"/>
              <a:t>1</a:t>
            </a:r>
            <a:r>
              <a:rPr lang="en-US" altLang="zh-TW" sz="2800" dirty="0"/>
              <a:t>b</a:t>
            </a:r>
            <a:r>
              <a:rPr lang="en-US" altLang="zh-TW" sz="2800" baseline="-25000" dirty="0"/>
              <a:t>2</a:t>
            </a:r>
            <a:r>
              <a:rPr lang="en-US" altLang="zh-TW" sz="2800" dirty="0"/>
              <a:t>...</a:t>
            </a:r>
            <a:r>
              <a:rPr lang="en-US" altLang="zh-TW" sz="2800" dirty="0" err="1"/>
              <a:t>b</a:t>
            </a:r>
            <a:r>
              <a:rPr lang="en-US" altLang="zh-TW" sz="2800" baseline="-25000" dirty="0" err="1"/>
              <a:t>j</a:t>
            </a:r>
            <a:r>
              <a:rPr lang="zh-TW" altLang="en-US" sz="2800" dirty="0"/>
              <a:t>的</a:t>
            </a:r>
            <a:r>
              <a:rPr lang="en-US" altLang="zh-TW" sz="2800" dirty="0"/>
              <a:t>LCS</a:t>
            </a:r>
            <a:r>
              <a:rPr lang="zh-TW" altLang="en-US" sz="2800" dirty="0"/>
              <a:t>之長度，則下列遞迴關係可用來計算</a:t>
            </a:r>
            <a:r>
              <a:rPr lang="en-US" altLang="zh-TW" sz="2800" dirty="0" err="1"/>
              <a:t>len</a:t>
            </a:r>
            <a:r>
              <a:rPr lang="en-US" altLang="zh-TW" sz="2800" dirty="0"/>
              <a:t>(</a:t>
            </a:r>
            <a:r>
              <a:rPr lang="en-US" altLang="zh-TW" sz="2800" dirty="0" err="1"/>
              <a:t>i</a:t>
            </a:r>
            <a:r>
              <a:rPr lang="en-US" altLang="zh-TW" sz="2800" dirty="0"/>
              <a:t>, j)</a:t>
            </a:r>
            <a:r>
              <a:rPr lang="zh-TW" altLang="en-US" sz="2800" dirty="0"/>
              <a:t>：</a:t>
            </a:r>
          </a:p>
        </p:txBody>
      </p:sp>
      <p:pic>
        <p:nvPicPr>
          <p:cNvPr id="5" name="Picture 2"/>
          <p:cNvPicPr>
            <a:picLocks noChangeAspect="1" noChangeArrowheads="1"/>
          </p:cNvPicPr>
          <p:nvPr/>
        </p:nvPicPr>
        <p:blipFill rotWithShape="1">
          <a:blip r:embed="rId2" cstate="print"/>
          <a:srcRect l="2106" t="3474" r="1008" b="6196"/>
          <a:stretch/>
        </p:blipFill>
        <p:spPr bwMode="auto">
          <a:xfrm>
            <a:off x="1241630" y="3424493"/>
            <a:ext cx="6210690" cy="117013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11-5 </a:t>
            </a:r>
            <a:r>
              <a:rPr lang="zh-TW" altLang="en-US" dirty="0"/>
              <a:t>動態規劃技巧</a:t>
            </a:r>
          </a:p>
        </p:txBody>
      </p:sp>
      <p:sp>
        <p:nvSpPr>
          <p:cNvPr id="2" name="內容版面配置區 1"/>
          <p:cNvSpPr>
            <a:spLocks noGrp="1"/>
          </p:cNvSpPr>
          <p:nvPr>
            <p:ph idx="1"/>
          </p:nvPr>
        </p:nvSpPr>
        <p:spPr>
          <a:xfrm>
            <a:off x="457200" y="1494049"/>
            <a:ext cx="8229600" cy="3341621"/>
          </a:xfrm>
        </p:spPr>
        <p:txBody>
          <a:bodyPr>
            <a:normAutofit/>
          </a:bodyPr>
          <a:lstStyle/>
          <a:p>
            <a:r>
              <a:rPr lang="zh-TW" altLang="en-US" dirty="0"/>
              <a:t>遞迴關係：當某個序列是空序列時，</a:t>
            </a:r>
            <a:r>
              <a:rPr lang="en-US" altLang="zh-TW" dirty="0"/>
              <a:t>LCS</a:t>
            </a:r>
            <a:r>
              <a:rPr lang="zh-TW" altLang="en-US" dirty="0"/>
              <a:t>的長度為</a:t>
            </a:r>
            <a:r>
              <a:rPr lang="en-US" altLang="zh-TW" dirty="0"/>
              <a:t>0</a:t>
            </a:r>
            <a:r>
              <a:rPr lang="zh-TW" altLang="en-US" dirty="0"/>
              <a:t>；當</a:t>
            </a:r>
            <a:r>
              <a:rPr lang="en-US" altLang="zh-TW" dirty="0" err="1"/>
              <a:t>a</a:t>
            </a:r>
            <a:r>
              <a:rPr lang="en-US" altLang="zh-TW" baseline="-25000" dirty="0" err="1"/>
              <a:t>i</a:t>
            </a:r>
            <a:r>
              <a:rPr lang="en-US" altLang="zh-TW" dirty="0"/>
              <a:t>=</a:t>
            </a:r>
            <a:r>
              <a:rPr lang="en-US" altLang="zh-TW" dirty="0" err="1"/>
              <a:t>b</a:t>
            </a:r>
            <a:r>
              <a:rPr lang="en-US" altLang="zh-TW" baseline="-25000" dirty="0" err="1"/>
              <a:t>j</a:t>
            </a:r>
            <a:r>
              <a:rPr lang="zh-TW" altLang="en-US" dirty="0"/>
              <a:t>時，將</a:t>
            </a:r>
            <a:r>
              <a:rPr lang="en-US" altLang="zh-TW" dirty="0"/>
              <a:t>a</a:t>
            </a:r>
            <a:r>
              <a:rPr lang="en-US" altLang="zh-TW" baseline="-25000" dirty="0"/>
              <a:t>1</a:t>
            </a:r>
            <a:r>
              <a:rPr lang="en-US" altLang="zh-TW" dirty="0"/>
              <a:t>a</a:t>
            </a:r>
            <a:r>
              <a:rPr lang="en-US" altLang="zh-TW" baseline="-25000" dirty="0"/>
              <a:t>2</a:t>
            </a:r>
            <a:r>
              <a:rPr lang="en-US" altLang="zh-TW" dirty="0"/>
              <a:t>...a</a:t>
            </a:r>
            <a:r>
              <a:rPr lang="en-US" altLang="zh-TW" baseline="-25000" dirty="0"/>
              <a:t>i-1</a:t>
            </a:r>
            <a:r>
              <a:rPr lang="zh-TW" altLang="en-US" dirty="0"/>
              <a:t>及</a:t>
            </a:r>
            <a:r>
              <a:rPr lang="en-US" altLang="zh-TW" dirty="0"/>
              <a:t>b</a:t>
            </a:r>
            <a:r>
              <a:rPr lang="en-US" altLang="zh-TW" baseline="-25000" dirty="0"/>
              <a:t>1</a:t>
            </a:r>
            <a:r>
              <a:rPr lang="en-US" altLang="zh-TW" dirty="0"/>
              <a:t>b</a:t>
            </a:r>
            <a:r>
              <a:rPr lang="en-US" altLang="zh-TW" baseline="-25000" dirty="0"/>
              <a:t>2</a:t>
            </a:r>
            <a:r>
              <a:rPr lang="en-US" altLang="zh-TW" dirty="0"/>
              <a:t>...b</a:t>
            </a:r>
            <a:r>
              <a:rPr lang="en-US" altLang="zh-TW" baseline="-25000" dirty="0"/>
              <a:t>j-1</a:t>
            </a:r>
            <a:r>
              <a:rPr lang="zh-TW" altLang="en-US" dirty="0"/>
              <a:t>的</a:t>
            </a:r>
            <a:r>
              <a:rPr lang="en-US" altLang="zh-TW" dirty="0"/>
              <a:t>LCS</a:t>
            </a:r>
            <a:r>
              <a:rPr lang="zh-TW" altLang="en-US" dirty="0"/>
              <a:t>長度再加上</a:t>
            </a:r>
            <a:r>
              <a:rPr lang="en-US" altLang="zh-TW" dirty="0"/>
              <a:t>1</a:t>
            </a:r>
            <a:r>
              <a:rPr lang="zh-TW" altLang="en-US" dirty="0"/>
              <a:t>即可</a:t>
            </a:r>
            <a:r>
              <a:rPr lang="en-US" altLang="zh-TW" dirty="0"/>
              <a:t>(</a:t>
            </a:r>
            <a:r>
              <a:rPr lang="zh-TW" altLang="en-US" dirty="0"/>
              <a:t>因為最後的字元相同，可使</a:t>
            </a:r>
            <a:r>
              <a:rPr lang="en-US" altLang="zh-TW" dirty="0"/>
              <a:t>LCS</a:t>
            </a:r>
            <a:r>
              <a:rPr lang="zh-TW" altLang="en-US" dirty="0"/>
              <a:t>的長度增加</a:t>
            </a:r>
            <a:r>
              <a:rPr lang="en-US" altLang="zh-TW" dirty="0"/>
              <a:t>1</a:t>
            </a:r>
            <a:r>
              <a:rPr lang="zh-TW" altLang="en-US" dirty="0"/>
              <a:t>。</a:t>
            </a:r>
            <a:r>
              <a:rPr lang="en-US" altLang="zh-TW" dirty="0"/>
              <a: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11-5 </a:t>
            </a:r>
            <a:r>
              <a:rPr lang="zh-TW" altLang="en-US" dirty="0"/>
              <a:t>動態規劃技巧</a:t>
            </a:r>
          </a:p>
        </p:txBody>
      </p:sp>
      <p:sp>
        <p:nvSpPr>
          <p:cNvPr id="3" name="內容版面配置區 2"/>
          <p:cNvSpPr>
            <a:spLocks noGrp="1"/>
          </p:cNvSpPr>
          <p:nvPr>
            <p:ph idx="1"/>
          </p:nvPr>
        </p:nvSpPr>
        <p:spPr/>
        <p:txBody>
          <a:bodyPr/>
          <a:lstStyle/>
          <a:p>
            <a:r>
              <a:rPr lang="zh-TW" altLang="en-US" dirty="0"/>
              <a:t>當</a:t>
            </a:r>
            <a:r>
              <a:rPr lang="en-US" altLang="zh-TW" dirty="0" err="1"/>
              <a:t>a</a:t>
            </a:r>
            <a:r>
              <a:rPr lang="en-US" altLang="zh-TW" baseline="-25000" dirty="0" err="1"/>
              <a:t>i</a:t>
            </a:r>
            <a:r>
              <a:rPr lang="zh-TW" altLang="en-US" dirty="0"/>
              <a:t>≠</a:t>
            </a:r>
            <a:r>
              <a:rPr lang="en-US" altLang="zh-TW" dirty="0" err="1"/>
              <a:t>b</a:t>
            </a:r>
            <a:r>
              <a:rPr lang="en-US" altLang="zh-TW" baseline="-25000" dirty="0" err="1"/>
              <a:t>j</a:t>
            </a:r>
            <a:r>
              <a:rPr lang="zh-TW" altLang="en-US" dirty="0"/>
              <a:t>時，這兩個字元不可能配對來貢獻給</a:t>
            </a:r>
            <a:r>
              <a:rPr lang="en-US" altLang="zh-TW" dirty="0"/>
              <a:t>LCS</a:t>
            </a:r>
            <a:r>
              <a:rPr lang="zh-TW" altLang="en-US" dirty="0"/>
              <a:t>，所以取</a:t>
            </a:r>
            <a:r>
              <a:rPr lang="en-US" altLang="zh-TW" dirty="0"/>
              <a:t>a</a:t>
            </a:r>
            <a:r>
              <a:rPr lang="en-US" altLang="zh-TW" baseline="-25000" dirty="0"/>
              <a:t>1</a:t>
            </a:r>
            <a:r>
              <a:rPr lang="en-US" altLang="zh-TW" dirty="0"/>
              <a:t>a</a:t>
            </a:r>
            <a:r>
              <a:rPr lang="en-US" altLang="zh-TW" baseline="-25000" dirty="0"/>
              <a:t>2</a:t>
            </a:r>
            <a:r>
              <a:rPr lang="en-US" altLang="zh-TW" dirty="0"/>
              <a:t>...</a:t>
            </a:r>
            <a:r>
              <a:rPr lang="en-US" altLang="zh-TW" dirty="0" err="1"/>
              <a:t>a</a:t>
            </a:r>
            <a:r>
              <a:rPr lang="en-US" altLang="zh-TW" baseline="-25000" dirty="0" err="1"/>
              <a:t>i</a:t>
            </a:r>
            <a:r>
              <a:rPr lang="zh-TW" altLang="en-US" dirty="0"/>
              <a:t>與</a:t>
            </a:r>
            <a:r>
              <a:rPr lang="en-US" altLang="zh-TW" dirty="0"/>
              <a:t>b</a:t>
            </a:r>
            <a:r>
              <a:rPr lang="en-US" altLang="zh-TW" baseline="-25000" dirty="0"/>
              <a:t>1</a:t>
            </a:r>
            <a:r>
              <a:rPr lang="en-US" altLang="zh-TW" dirty="0"/>
              <a:t>b</a:t>
            </a:r>
            <a:r>
              <a:rPr lang="en-US" altLang="zh-TW" baseline="-25000" dirty="0"/>
              <a:t>2</a:t>
            </a:r>
            <a:r>
              <a:rPr lang="en-US" altLang="zh-TW" dirty="0"/>
              <a:t>...b</a:t>
            </a:r>
            <a:r>
              <a:rPr lang="en-US" altLang="zh-TW" baseline="-25000" dirty="0"/>
              <a:t>j-1</a:t>
            </a:r>
            <a:r>
              <a:rPr lang="zh-TW" altLang="en-US" dirty="0"/>
              <a:t>的</a:t>
            </a:r>
            <a:r>
              <a:rPr lang="en-US" altLang="zh-TW" dirty="0"/>
              <a:t>LCS</a:t>
            </a:r>
            <a:r>
              <a:rPr lang="zh-TW" altLang="en-US" dirty="0"/>
              <a:t>或</a:t>
            </a:r>
            <a:r>
              <a:rPr lang="en-US" altLang="zh-TW" dirty="0"/>
              <a:t>a</a:t>
            </a:r>
            <a:r>
              <a:rPr lang="en-US" altLang="zh-TW" baseline="-25000" dirty="0"/>
              <a:t>1</a:t>
            </a:r>
            <a:r>
              <a:rPr lang="en-US" altLang="zh-TW" dirty="0"/>
              <a:t>a</a:t>
            </a:r>
            <a:r>
              <a:rPr lang="en-US" altLang="zh-TW" baseline="-25000" dirty="0"/>
              <a:t>2</a:t>
            </a:r>
            <a:r>
              <a:rPr lang="en-US" altLang="zh-TW" dirty="0"/>
              <a:t>...a</a:t>
            </a:r>
            <a:r>
              <a:rPr lang="en-US" altLang="zh-TW" baseline="-25000" dirty="0"/>
              <a:t>i-1</a:t>
            </a:r>
            <a:r>
              <a:rPr lang="zh-TW" altLang="en-US" dirty="0"/>
              <a:t>與</a:t>
            </a:r>
            <a:r>
              <a:rPr lang="en-US" altLang="zh-TW" dirty="0"/>
              <a:t>b</a:t>
            </a:r>
            <a:r>
              <a:rPr lang="en-US" altLang="zh-TW" baseline="-25000" dirty="0"/>
              <a:t>1</a:t>
            </a:r>
            <a:r>
              <a:rPr lang="en-US" altLang="zh-TW" dirty="0"/>
              <a:t>b</a:t>
            </a:r>
            <a:r>
              <a:rPr lang="en-US" altLang="zh-TW" baseline="-25000" dirty="0"/>
              <a:t>2</a:t>
            </a:r>
            <a:r>
              <a:rPr lang="en-US" altLang="zh-TW" dirty="0"/>
              <a:t>...</a:t>
            </a:r>
            <a:r>
              <a:rPr lang="en-US" altLang="zh-TW" dirty="0" err="1"/>
              <a:t>b</a:t>
            </a:r>
            <a:r>
              <a:rPr lang="en-US" altLang="zh-TW" baseline="-25000" dirty="0" err="1"/>
              <a:t>j</a:t>
            </a:r>
            <a:r>
              <a:rPr lang="zh-TW" altLang="en-US" dirty="0"/>
              <a:t>的</a:t>
            </a:r>
            <a:r>
              <a:rPr lang="en-US" altLang="zh-TW" dirty="0"/>
              <a:t>LCS</a:t>
            </a:r>
            <a:r>
              <a:rPr lang="zh-TW" altLang="en-US" dirty="0"/>
              <a:t>等這兩者中較長的一個作為目前</a:t>
            </a:r>
            <a:r>
              <a:rPr lang="en-US" altLang="zh-TW" dirty="0"/>
              <a:t>LCS</a:t>
            </a:r>
            <a:r>
              <a:rPr lang="zh-TW" altLang="en-US" dirty="0"/>
              <a:t>的長度。</a:t>
            </a:r>
          </a:p>
          <a:p>
            <a:endParaRPr lang="zh-TW" altLang="en-US" dirty="0"/>
          </a:p>
        </p:txBody>
      </p:sp>
    </p:spTree>
    <p:extLst>
      <p:ext uri="{BB962C8B-B14F-4D97-AF65-F5344CB8AC3E}">
        <p14:creationId xmlns:p14="http://schemas.microsoft.com/office/powerpoint/2010/main" val="162980486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11-5 </a:t>
            </a:r>
            <a:r>
              <a:rPr lang="zh-TW" altLang="en-US" dirty="0"/>
              <a:t>動態規劃技巧</a:t>
            </a:r>
          </a:p>
        </p:txBody>
      </p:sp>
      <p:sp>
        <p:nvSpPr>
          <p:cNvPr id="3" name="內容版面配置區 2"/>
          <p:cNvSpPr>
            <a:spLocks noGrp="1"/>
          </p:cNvSpPr>
          <p:nvPr>
            <p:ph idx="1"/>
          </p:nvPr>
        </p:nvSpPr>
        <p:spPr/>
        <p:txBody>
          <a:bodyPr>
            <a:normAutofit/>
          </a:bodyPr>
          <a:lstStyle/>
          <a:p>
            <a:r>
              <a:rPr lang="zh-TW" altLang="en-US" dirty="0"/>
              <a:t>值得注意的是：</a:t>
            </a:r>
            <a:r>
              <a:rPr lang="en-US" altLang="zh-TW" dirty="0" err="1"/>
              <a:t>len</a:t>
            </a:r>
            <a:r>
              <a:rPr lang="en-US" altLang="zh-TW" dirty="0"/>
              <a:t>(</a:t>
            </a:r>
            <a:r>
              <a:rPr lang="en-US" altLang="zh-TW" dirty="0" err="1"/>
              <a:t>m,n</a:t>
            </a:r>
            <a:r>
              <a:rPr lang="en-US" altLang="zh-TW" dirty="0"/>
              <a:t>)</a:t>
            </a:r>
            <a:r>
              <a:rPr lang="zh-TW" altLang="en-US" dirty="0"/>
              <a:t>為</a:t>
            </a:r>
            <a:r>
              <a:rPr lang="en-US" altLang="zh-TW" dirty="0"/>
              <a:t>A=a</a:t>
            </a:r>
            <a:r>
              <a:rPr lang="en-US" altLang="zh-TW" baseline="-25000" dirty="0"/>
              <a:t>1</a:t>
            </a:r>
            <a:r>
              <a:rPr lang="en-US" altLang="zh-TW" dirty="0"/>
              <a:t>a</a:t>
            </a:r>
            <a:r>
              <a:rPr lang="en-US" altLang="zh-TW" baseline="-25000" dirty="0"/>
              <a:t>2</a:t>
            </a:r>
            <a:r>
              <a:rPr lang="en-US" altLang="zh-TW" dirty="0"/>
              <a:t>...a</a:t>
            </a:r>
            <a:r>
              <a:rPr lang="en-US" altLang="zh-TW" baseline="-25000" dirty="0"/>
              <a:t>m</a:t>
            </a:r>
            <a:r>
              <a:rPr lang="zh-TW" altLang="en-US" dirty="0"/>
              <a:t>及</a:t>
            </a:r>
            <a:r>
              <a:rPr lang="en-US" altLang="zh-TW" dirty="0"/>
              <a:t>B =b</a:t>
            </a:r>
            <a:r>
              <a:rPr lang="en-US" altLang="zh-TW" baseline="-25000" dirty="0"/>
              <a:t>1</a:t>
            </a:r>
            <a:r>
              <a:rPr lang="en-US" altLang="zh-TW" dirty="0"/>
              <a:t>b</a:t>
            </a:r>
            <a:r>
              <a:rPr lang="en-US" altLang="zh-TW" baseline="-25000" dirty="0"/>
              <a:t>2</a:t>
            </a:r>
            <a:r>
              <a:rPr lang="en-US" altLang="zh-TW" dirty="0"/>
              <a:t>...</a:t>
            </a:r>
            <a:r>
              <a:rPr lang="en-US" altLang="zh-TW" dirty="0" err="1"/>
              <a:t>b</a:t>
            </a:r>
            <a:r>
              <a:rPr lang="en-US" altLang="zh-TW" baseline="-25000" dirty="0" err="1"/>
              <a:t>n</a:t>
            </a:r>
            <a:r>
              <a:rPr lang="zh-TW" altLang="en-US" dirty="0"/>
              <a:t>這兩個序列的</a:t>
            </a:r>
            <a:r>
              <a:rPr lang="en-US" altLang="zh-TW" dirty="0"/>
              <a:t>LCS</a:t>
            </a:r>
            <a:r>
              <a:rPr lang="zh-TW" altLang="en-US" dirty="0"/>
              <a:t>之長度。</a:t>
            </a:r>
            <a:endParaRPr lang="en-US" altLang="zh-TW" dirty="0"/>
          </a:p>
          <a:p>
            <a:endParaRPr lang="zh-TW" altLang="en-US" dirty="0"/>
          </a:p>
        </p:txBody>
      </p:sp>
    </p:spTree>
    <p:extLst>
      <p:ext uri="{BB962C8B-B14F-4D97-AF65-F5344CB8AC3E}">
        <p14:creationId xmlns:p14="http://schemas.microsoft.com/office/powerpoint/2010/main" val="196918930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11-5 </a:t>
            </a:r>
            <a:r>
              <a:rPr lang="zh-TW" altLang="en-US" dirty="0"/>
              <a:t>動態規劃技巧</a:t>
            </a:r>
          </a:p>
        </p:txBody>
      </p:sp>
      <p:sp>
        <p:nvSpPr>
          <p:cNvPr id="3" name="內容版面配置區 2"/>
          <p:cNvSpPr>
            <a:spLocks noGrp="1"/>
          </p:cNvSpPr>
          <p:nvPr>
            <p:ph idx="1"/>
          </p:nvPr>
        </p:nvSpPr>
        <p:spPr/>
        <p:txBody>
          <a:bodyPr/>
          <a:lstStyle/>
          <a:p>
            <a:r>
              <a:rPr lang="zh-TW" altLang="en-US" dirty="0"/>
              <a:t>可直接用程式語言中的遞迴呼叫</a:t>
            </a:r>
            <a:r>
              <a:rPr lang="en-US" altLang="zh-TW" dirty="0"/>
              <a:t>(recursive call)</a:t>
            </a:r>
            <a:r>
              <a:rPr lang="zh-TW" altLang="en-US" dirty="0"/>
              <a:t>來計算</a:t>
            </a:r>
            <a:r>
              <a:rPr lang="en-US" altLang="zh-TW" dirty="0" err="1"/>
              <a:t>len</a:t>
            </a:r>
            <a:r>
              <a:rPr lang="en-US" altLang="zh-TW" dirty="0"/>
              <a:t>(</a:t>
            </a:r>
            <a:r>
              <a:rPr lang="en-US" altLang="zh-TW" dirty="0" err="1"/>
              <a:t>i,j</a:t>
            </a:r>
            <a:r>
              <a:rPr lang="en-US" altLang="zh-TW" dirty="0"/>
              <a:t>)</a:t>
            </a:r>
            <a:r>
              <a:rPr lang="zh-TW" altLang="en-US" dirty="0"/>
              <a:t>，但這需要</a:t>
            </a:r>
            <a:r>
              <a:rPr lang="en-US" altLang="zh-TW" dirty="0"/>
              <a:t>exponential time</a:t>
            </a:r>
            <a:r>
              <a:rPr lang="zh-TW" altLang="en-US" dirty="0"/>
              <a:t>　</a:t>
            </a:r>
            <a:r>
              <a:rPr lang="en-US" altLang="zh-TW" dirty="0"/>
              <a:t>(</a:t>
            </a:r>
            <a:r>
              <a:rPr lang="zh-TW" altLang="en-US" dirty="0"/>
              <a:t>那是很長很長的時間</a:t>
            </a:r>
            <a:r>
              <a:rPr lang="en-US" altLang="zh-TW" dirty="0"/>
              <a:t>)</a:t>
            </a:r>
            <a:r>
              <a:rPr lang="zh-TW" altLang="en-US" dirty="0"/>
              <a:t>。</a:t>
            </a:r>
            <a:endParaRPr lang="en-US" altLang="zh-TW" dirty="0"/>
          </a:p>
          <a:p>
            <a:r>
              <a:rPr lang="zh-TW" altLang="en-US" dirty="0"/>
              <a:t>若以動態規劃技巧來計算</a:t>
            </a:r>
            <a:r>
              <a:rPr lang="en-US" altLang="zh-TW" dirty="0" err="1"/>
              <a:t>len</a:t>
            </a:r>
            <a:r>
              <a:rPr lang="en-US" altLang="zh-TW" dirty="0"/>
              <a:t>(</a:t>
            </a:r>
            <a:r>
              <a:rPr lang="en-US" altLang="zh-TW" dirty="0" err="1"/>
              <a:t>i,j</a:t>
            </a:r>
            <a:r>
              <a:rPr lang="en-US" altLang="zh-TW" dirty="0"/>
              <a:t>)</a:t>
            </a:r>
            <a:r>
              <a:rPr lang="zh-TW" altLang="en-US" dirty="0"/>
              <a:t>，則在與</a:t>
            </a:r>
            <a:r>
              <a:rPr lang="en-US" altLang="zh-TW" dirty="0" err="1"/>
              <a:t>m×n</a:t>
            </a:r>
            <a:r>
              <a:rPr lang="zh-TW" altLang="en-US" dirty="0"/>
              <a:t>成常數正比的時間內，就能算出</a:t>
            </a:r>
            <a:r>
              <a:rPr lang="en-US" altLang="zh-TW" dirty="0" err="1"/>
              <a:t>len</a:t>
            </a:r>
            <a:r>
              <a:rPr lang="en-US" altLang="zh-TW" dirty="0"/>
              <a:t>(</a:t>
            </a:r>
            <a:r>
              <a:rPr lang="en-US" altLang="zh-TW" dirty="0" err="1"/>
              <a:t>m,n</a:t>
            </a:r>
            <a:r>
              <a:rPr lang="en-US" altLang="zh-TW" dirty="0"/>
              <a:t>)</a:t>
            </a:r>
            <a:r>
              <a:rPr lang="zh-TW" altLang="en-US" dirty="0"/>
              <a:t>。</a:t>
            </a:r>
          </a:p>
          <a:p>
            <a:endParaRPr lang="zh-TW" altLang="en-US" dirty="0"/>
          </a:p>
        </p:txBody>
      </p:sp>
    </p:spTree>
    <p:extLst>
      <p:ext uri="{BB962C8B-B14F-4D97-AF65-F5344CB8AC3E}">
        <p14:creationId xmlns:p14="http://schemas.microsoft.com/office/powerpoint/2010/main" val="19413928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11-5 </a:t>
            </a:r>
            <a:r>
              <a:rPr lang="zh-TW" altLang="en-US" dirty="0"/>
              <a:t>動態規劃技巧</a:t>
            </a:r>
          </a:p>
        </p:txBody>
      </p:sp>
      <p:sp>
        <p:nvSpPr>
          <p:cNvPr id="2" name="內容版面配置區 1"/>
          <p:cNvSpPr>
            <a:spLocks noGrp="1"/>
          </p:cNvSpPr>
          <p:nvPr>
            <p:ph idx="1"/>
          </p:nvPr>
        </p:nvSpPr>
        <p:spPr/>
        <p:txBody>
          <a:bodyPr>
            <a:normAutofit fontScale="92500"/>
          </a:bodyPr>
          <a:lstStyle/>
          <a:p>
            <a:r>
              <a:rPr lang="zh-TW" altLang="en-US" dirty="0"/>
              <a:t>在下頁中，以</a:t>
            </a:r>
            <a:r>
              <a:rPr lang="zh-TW" altLang="en-US" dirty="0">
                <a:solidFill>
                  <a:srgbClr val="C00000"/>
                </a:solidFill>
              </a:rPr>
              <a:t>虛擬碼</a:t>
            </a:r>
            <a:r>
              <a:rPr lang="en-US" altLang="zh-TW" dirty="0"/>
              <a:t>(pseudo code)</a:t>
            </a:r>
            <a:r>
              <a:rPr lang="zh-TW" altLang="en-US" dirty="0"/>
              <a:t>寫成的程序</a:t>
            </a:r>
            <a:r>
              <a:rPr lang="en-US" altLang="zh-TW" dirty="0"/>
              <a:t>LCS-Length</a:t>
            </a:r>
            <a:r>
              <a:rPr lang="zh-TW" altLang="en-US" dirty="0"/>
              <a:t>來說明如何用</a:t>
            </a:r>
            <a:r>
              <a:rPr lang="zh-TW" altLang="en-US" dirty="0">
                <a:solidFill>
                  <a:srgbClr val="C00000"/>
                </a:solidFill>
              </a:rPr>
              <a:t>列表式運算</a:t>
            </a:r>
            <a:r>
              <a:rPr lang="en-US" altLang="zh-TW" dirty="0"/>
              <a:t>(tabular computation)</a:t>
            </a:r>
            <a:r>
              <a:rPr lang="zh-TW" altLang="en-US" dirty="0"/>
              <a:t>來算出序列</a:t>
            </a:r>
            <a:r>
              <a:rPr lang="en-US" altLang="zh-TW" dirty="0"/>
              <a:t>A</a:t>
            </a:r>
            <a:r>
              <a:rPr lang="zh-TW" altLang="en-US" dirty="0"/>
              <a:t>與序列</a:t>
            </a:r>
            <a:r>
              <a:rPr lang="en-US" altLang="zh-TW" dirty="0"/>
              <a:t>B</a:t>
            </a:r>
            <a:r>
              <a:rPr lang="zh-TW" altLang="en-US" dirty="0"/>
              <a:t>的</a:t>
            </a:r>
            <a:r>
              <a:rPr lang="en-US" altLang="zh-TW" dirty="0"/>
              <a:t>LCS</a:t>
            </a:r>
            <a:r>
              <a:rPr lang="zh-TW" altLang="en-US" dirty="0"/>
              <a:t>長度。</a:t>
            </a:r>
            <a:endParaRPr lang="en-US" altLang="zh-TW" dirty="0"/>
          </a:p>
          <a:p>
            <a:r>
              <a:rPr lang="zh-TW" altLang="en-US" dirty="0"/>
              <a:t>在計算過程中，記錄最佳長度的貢獻者，以便稍後能藉由</a:t>
            </a:r>
            <a:r>
              <a:rPr lang="zh-TW" altLang="en-US" dirty="0">
                <a:solidFill>
                  <a:srgbClr val="C00000"/>
                </a:solidFill>
              </a:rPr>
              <a:t>路徑回溯</a:t>
            </a:r>
            <a:r>
              <a:rPr lang="en-US" altLang="zh-TW" dirty="0"/>
              <a:t>(</a:t>
            </a:r>
            <a:r>
              <a:rPr lang="en-US" altLang="zh-TW" dirty="0" err="1"/>
              <a:t>traceback</a:t>
            </a:r>
            <a:r>
              <a:rPr lang="en-US" altLang="zh-TW" dirty="0"/>
              <a:t>)</a:t>
            </a:r>
            <a:r>
              <a:rPr lang="zh-TW" altLang="en-US" dirty="0"/>
              <a:t>找出</a:t>
            </a:r>
            <a:r>
              <a:rPr lang="en-US" altLang="zh-TW" dirty="0"/>
              <a:t>LCS</a:t>
            </a:r>
            <a:r>
              <a:rPr lang="zh-TW" altLang="en-US" dirty="0"/>
              <a: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11-5 </a:t>
            </a:r>
            <a:r>
              <a:rPr lang="zh-TW" altLang="en-US" dirty="0"/>
              <a:t>動態規劃技巧</a:t>
            </a:r>
          </a:p>
        </p:txBody>
      </p:sp>
      <p:pic>
        <p:nvPicPr>
          <p:cNvPr id="6" name="Picture 2"/>
          <p:cNvPicPr>
            <a:picLocks noChangeAspect="1" noChangeArrowheads="1"/>
          </p:cNvPicPr>
          <p:nvPr/>
        </p:nvPicPr>
        <p:blipFill>
          <a:blip r:embed="rId2" cstate="print"/>
          <a:stretch>
            <a:fillRect/>
          </a:stretch>
        </p:blipFill>
        <p:spPr>
          <a:xfrm>
            <a:off x="2276745" y="1671650"/>
            <a:ext cx="4635515" cy="3160113"/>
          </a:xfrm>
          <a:prstGeom prst="rect">
            <a:avLst/>
          </a:prstGeom>
          <a:ln>
            <a:noFill/>
          </a:ln>
          <a:effectLst>
            <a:outerShdw blurRad="190500" algn="tl" rotWithShape="0">
              <a:srgbClr val="000000">
                <a:alpha val="70000"/>
              </a:srgbClr>
            </a:outerShdw>
          </a:effectLst>
        </p:spPr>
      </p:pic>
      <p:sp>
        <p:nvSpPr>
          <p:cNvPr id="4" name="矩形 3"/>
          <p:cNvSpPr/>
          <p:nvPr/>
        </p:nvSpPr>
        <p:spPr>
          <a:xfrm>
            <a:off x="5202071" y="1925419"/>
            <a:ext cx="3716905"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altLang="zh-TW" b="1" dirty="0">
                <a:solidFill>
                  <a:schemeClr val="bg1"/>
                </a:solidFill>
                <a:latin typeface="微軟正黑體" pitchFamily="34" charset="-120"/>
                <a:ea typeface="微軟正黑體" pitchFamily="34" charset="-120"/>
              </a:rPr>
              <a:t>LCS-Length</a:t>
            </a:r>
            <a:r>
              <a:rPr lang="zh-TW" altLang="en-US" b="1" dirty="0">
                <a:solidFill>
                  <a:schemeClr val="bg1"/>
                </a:solidFill>
                <a:latin typeface="微軟正黑體" pitchFamily="34" charset="-120"/>
                <a:ea typeface="微軟正黑體" pitchFamily="34" charset="-120"/>
              </a:rPr>
              <a:t>計算序列</a:t>
            </a:r>
            <a:r>
              <a:rPr lang="en-US" altLang="zh-TW" b="1" dirty="0">
                <a:solidFill>
                  <a:schemeClr val="bg1"/>
                </a:solidFill>
                <a:latin typeface="微軟正黑體" pitchFamily="34" charset="-120"/>
                <a:ea typeface="微軟正黑體" pitchFamily="34" charset="-120"/>
              </a:rPr>
              <a:t>A</a:t>
            </a:r>
            <a:r>
              <a:rPr lang="zh-TW" altLang="en-US" b="1" dirty="0">
                <a:solidFill>
                  <a:schemeClr val="bg1"/>
                </a:solidFill>
                <a:latin typeface="微軟正黑體" pitchFamily="34" charset="-120"/>
                <a:ea typeface="微軟正黑體" pitchFamily="34" charset="-120"/>
              </a:rPr>
              <a:t>及序列</a:t>
            </a:r>
            <a:r>
              <a:rPr lang="en-US" altLang="zh-TW" b="1" dirty="0">
                <a:solidFill>
                  <a:schemeClr val="bg1"/>
                </a:solidFill>
                <a:latin typeface="微軟正黑體" pitchFamily="34" charset="-120"/>
                <a:ea typeface="微軟正黑體" pitchFamily="34" charset="-120"/>
              </a:rPr>
              <a:t>B</a:t>
            </a:r>
            <a:r>
              <a:rPr lang="zh-TW" altLang="en-US" b="1" dirty="0">
                <a:solidFill>
                  <a:schemeClr val="bg1"/>
                </a:solidFill>
                <a:latin typeface="微軟正黑體" pitchFamily="34" charset="-120"/>
                <a:ea typeface="微軟正黑體" pitchFamily="34" charset="-120"/>
              </a:rPr>
              <a:t>的</a:t>
            </a:r>
            <a:r>
              <a:rPr lang="en-US" altLang="zh-TW" b="1" dirty="0">
                <a:solidFill>
                  <a:schemeClr val="bg1"/>
                </a:solidFill>
                <a:latin typeface="微軟正黑體" pitchFamily="34" charset="-120"/>
                <a:ea typeface="微軟正黑體" pitchFamily="34" charset="-120"/>
              </a:rPr>
              <a:t>LCS</a:t>
            </a:r>
            <a:r>
              <a:rPr lang="zh-TW" altLang="en-US" b="1" dirty="0">
                <a:solidFill>
                  <a:schemeClr val="bg1"/>
                </a:solidFill>
                <a:latin typeface="微軟正黑體" pitchFamily="34" charset="-120"/>
                <a:ea typeface="微軟正黑體" pitchFamily="34" charset="-120"/>
              </a:rPr>
              <a:t>之長度，並記錄最佳值的由來</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11-5 </a:t>
            </a:r>
            <a:r>
              <a:rPr lang="zh-TW" altLang="en-US" dirty="0"/>
              <a:t>動態規劃技巧</a:t>
            </a:r>
          </a:p>
        </p:txBody>
      </p:sp>
      <p:sp>
        <p:nvSpPr>
          <p:cNvPr id="2" name="內容版面配置區 1"/>
          <p:cNvSpPr>
            <a:spLocks noGrp="1"/>
          </p:cNvSpPr>
          <p:nvPr>
            <p:ph idx="1"/>
          </p:nvPr>
        </p:nvSpPr>
        <p:spPr/>
        <p:txBody>
          <a:bodyPr>
            <a:normAutofit fontScale="85000" lnSpcReduction="20000"/>
          </a:bodyPr>
          <a:lstStyle/>
          <a:p>
            <a:r>
              <a:rPr lang="zh-TW" altLang="en-US" dirty="0"/>
              <a:t>在</a:t>
            </a:r>
            <a:r>
              <a:rPr lang="en-US" altLang="zh-TW" dirty="0"/>
              <a:t>LCS-Length</a:t>
            </a:r>
            <a:r>
              <a:rPr lang="zh-TW" altLang="en-US" dirty="0"/>
              <a:t>中，依序由小的</a:t>
            </a:r>
            <a:r>
              <a:rPr lang="en-US" altLang="zh-TW" dirty="0" err="1"/>
              <a:t>i</a:t>
            </a:r>
            <a:r>
              <a:rPr lang="zh-TW" altLang="en-US" dirty="0"/>
              <a:t>和</a:t>
            </a:r>
            <a:r>
              <a:rPr lang="en-US" altLang="zh-TW" dirty="0"/>
              <a:t>j</a:t>
            </a:r>
            <a:r>
              <a:rPr lang="zh-TW" altLang="en-US" dirty="0"/>
              <a:t>算起</a:t>
            </a:r>
            <a:r>
              <a:rPr lang="en-US" altLang="zh-TW" dirty="0"/>
              <a:t>(</a:t>
            </a:r>
            <a:r>
              <a:rPr lang="zh-TW" altLang="en-US" dirty="0"/>
              <a:t>這是一種</a:t>
            </a:r>
            <a:r>
              <a:rPr lang="en-US" altLang="zh-TW" dirty="0"/>
              <a:t>bottom-up</a:t>
            </a:r>
            <a:r>
              <a:rPr lang="zh-TW" altLang="en-US" dirty="0"/>
              <a:t>的算法</a:t>
            </a:r>
            <a:r>
              <a:rPr lang="en-US" altLang="zh-TW" dirty="0"/>
              <a:t>)</a:t>
            </a:r>
            <a:r>
              <a:rPr lang="zh-TW" altLang="en-US" dirty="0"/>
              <a:t>，並以</a:t>
            </a:r>
            <a:r>
              <a:rPr lang="en-US" altLang="zh-TW" dirty="0" err="1"/>
              <a:t>prev</a:t>
            </a:r>
            <a:r>
              <a:rPr lang="zh-TW" altLang="en-US" dirty="0"/>
              <a:t>陣列來記錄最大值的由來。</a:t>
            </a:r>
            <a:endParaRPr lang="en-US" altLang="zh-TW" dirty="0"/>
          </a:p>
          <a:p>
            <a:r>
              <a:rPr lang="zh-TW" altLang="en-US" dirty="0"/>
              <a:t>在談到如何藉由</a:t>
            </a:r>
            <a:r>
              <a:rPr lang="en-US" altLang="zh-TW" dirty="0" err="1"/>
              <a:t>prev</a:t>
            </a:r>
            <a:r>
              <a:rPr lang="zh-TW" altLang="en-US" dirty="0"/>
              <a:t>陣列做路徑迴溯前，先用一個例題來進一步說明</a:t>
            </a:r>
            <a:r>
              <a:rPr lang="en-US" altLang="zh-TW" dirty="0"/>
              <a:t>LCS-Length</a:t>
            </a:r>
            <a:r>
              <a:rPr lang="zh-TW" altLang="en-US" dirty="0"/>
              <a:t>。</a:t>
            </a:r>
          </a:p>
          <a:p>
            <a:r>
              <a:rPr lang="zh-TW" altLang="en-US" dirty="0"/>
              <a:t>假設兩序列為</a:t>
            </a:r>
            <a:r>
              <a:rPr lang="en-US" altLang="zh-TW" dirty="0"/>
              <a:t>president</a:t>
            </a:r>
            <a:r>
              <a:rPr lang="zh-TW" altLang="en-US" dirty="0"/>
              <a:t>及</a:t>
            </a:r>
            <a:r>
              <a:rPr lang="en-US" altLang="zh-TW" dirty="0"/>
              <a:t>providence</a:t>
            </a:r>
            <a:r>
              <a:rPr lang="zh-TW" altLang="en-US" dirty="0"/>
              <a:t>，下圖描述了</a:t>
            </a:r>
            <a:r>
              <a:rPr lang="en-US" altLang="zh-TW" dirty="0" err="1"/>
              <a:t>LCSLength</a:t>
            </a:r>
            <a:r>
              <a:rPr lang="zh-TW" altLang="en-US" dirty="0"/>
              <a:t>的運算過程。</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11-5 </a:t>
            </a:r>
            <a:r>
              <a:rPr lang="zh-TW" altLang="en-US" dirty="0"/>
              <a:t>動態規劃技巧</a:t>
            </a:r>
          </a:p>
        </p:txBody>
      </p:sp>
      <p:sp>
        <p:nvSpPr>
          <p:cNvPr id="4" name="矩形 3"/>
          <p:cNvSpPr/>
          <p:nvPr/>
        </p:nvSpPr>
        <p:spPr>
          <a:xfrm>
            <a:off x="2024731" y="4495714"/>
            <a:ext cx="5094536"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en-US" altLang="zh-TW" b="1" dirty="0">
                <a:solidFill>
                  <a:schemeClr val="bg1"/>
                </a:solidFill>
                <a:latin typeface="微軟正黑體" pitchFamily="34" charset="-120"/>
                <a:ea typeface="微軟正黑體" pitchFamily="34" charset="-120"/>
              </a:rPr>
              <a:t>LCS-Length</a:t>
            </a:r>
            <a:r>
              <a:rPr lang="zh-TW" altLang="en-US" b="1" dirty="0">
                <a:solidFill>
                  <a:schemeClr val="bg1"/>
                </a:solidFill>
                <a:latin typeface="微軟正黑體" pitchFamily="34" charset="-120"/>
                <a:ea typeface="微軟正黑體" pitchFamily="34" charset="-120"/>
              </a:rPr>
              <a:t>計算</a:t>
            </a:r>
            <a:r>
              <a:rPr lang="en-US" altLang="zh-TW" b="1" dirty="0">
                <a:solidFill>
                  <a:schemeClr val="bg1"/>
                </a:solidFill>
                <a:latin typeface="微軟正黑體" pitchFamily="34" charset="-120"/>
                <a:ea typeface="微軟正黑體" pitchFamily="34" charset="-120"/>
              </a:rPr>
              <a:t>president</a:t>
            </a:r>
            <a:r>
              <a:rPr lang="zh-TW" altLang="en-US" b="1" dirty="0">
                <a:solidFill>
                  <a:schemeClr val="bg1"/>
                </a:solidFill>
                <a:latin typeface="微軟正黑體" pitchFamily="34" charset="-120"/>
                <a:ea typeface="微軟正黑體" pitchFamily="34" charset="-120"/>
              </a:rPr>
              <a:t>與</a:t>
            </a:r>
            <a:r>
              <a:rPr lang="en-US" altLang="zh-TW" b="1" dirty="0">
                <a:solidFill>
                  <a:schemeClr val="bg1"/>
                </a:solidFill>
                <a:latin typeface="微軟正黑體" pitchFamily="34" charset="-120"/>
                <a:ea typeface="微軟正黑體" pitchFamily="34" charset="-120"/>
              </a:rPr>
              <a:t>providence</a:t>
            </a:r>
            <a:r>
              <a:rPr lang="zh-TW" altLang="en-US" b="1" dirty="0">
                <a:solidFill>
                  <a:schemeClr val="bg1"/>
                </a:solidFill>
                <a:latin typeface="微軟正黑體" pitchFamily="34" charset="-120"/>
                <a:ea typeface="微軟正黑體" pitchFamily="34" charset="-120"/>
              </a:rPr>
              <a:t>的</a:t>
            </a:r>
            <a:r>
              <a:rPr lang="en-US" altLang="zh-TW" b="1" dirty="0">
                <a:solidFill>
                  <a:schemeClr val="bg1"/>
                </a:solidFill>
                <a:latin typeface="微軟正黑體" pitchFamily="34" charset="-120"/>
                <a:ea typeface="微軟正黑體" pitchFamily="34" charset="-120"/>
              </a:rPr>
              <a:t>LCS</a:t>
            </a:r>
            <a:endParaRPr lang="zh-TW" altLang="en-US" b="1" dirty="0">
              <a:solidFill>
                <a:schemeClr val="bg1"/>
              </a:solidFill>
              <a:latin typeface="微軟正黑體" pitchFamily="34" charset="-120"/>
              <a:ea typeface="微軟正黑體" pitchFamily="34" charset="-120"/>
            </a:endParaRPr>
          </a:p>
        </p:txBody>
      </p:sp>
      <p:sp>
        <p:nvSpPr>
          <p:cNvPr id="3" name="內容版面配置區 2"/>
          <p:cNvSpPr>
            <a:spLocks noGrp="1"/>
          </p:cNvSpPr>
          <p:nvPr>
            <p:ph idx="1"/>
          </p:nvPr>
        </p:nvSpPr>
        <p:spPr/>
        <p:txBody>
          <a:bodyPr/>
          <a:lstStyle/>
          <a:p>
            <a:endParaRPr lang="zh-TW" altLang="en-US"/>
          </a:p>
        </p:txBody>
      </p:sp>
      <p:pic>
        <p:nvPicPr>
          <p:cNvPr id="6" name="Picture 2"/>
          <p:cNvPicPr>
            <a:picLocks noChangeAspect="1" noChangeArrowheads="1"/>
          </p:cNvPicPr>
          <p:nvPr/>
        </p:nvPicPr>
        <p:blipFill>
          <a:blip r:embed="rId2" cstate="print"/>
          <a:stretch>
            <a:fillRect/>
          </a:stretch>
        </p:blipFill>
        <p:spPr bwMode="auto">
          <a:xfrm>
            <a:off x="2049504" y="1491854"/>
            <a:ext cx="4747222" cy="2906065"/>
          </a:xfrm>
          <a:prstGeom prst="rect">
            <a:avLst/>
          </a:prstGeom>
          <a:noFill/>
          <a:ln w="9525">
            <a:noFill/>
            <a:miter lim="800000"/>
            <a:headEnd/>
            <a:tailEnd/>
          </a:ln>
          <a:effec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11-5 </a:t>
            </a:r>
            <a:r>
              <a:rPr lang="zh-TW" altLang="en-US" dirty="0"/>
              <a:t>動態規劃技巧</a:t>
            </a:r>
          </a:p>
        </p:txBody>
      </p:sp>
      <p:sp>
        <p:nvSpPr>
          <p:cNvPr id="2" name="內容版面配置區 1"/>
          <p:cNvSpPr>
            <a:spLocks noGrp="1"/>
          </p:cNvSpPr>
          <p:nvPr>
            <p:ph idx="1"/>
          </p:nvPr>
        </p:nvSpPr>
        <p:spPr/>
        <p:txBody>
          <a:bodyPr>
            <a:normAutofit fontScale="92500" lnSpcReduction="10000"/>
          </a:bodyPr>
          <a:lstStyle/>
          <a:p>
            <a:r>
              <a:rPr lang="zh-TW" altLang="en-US" dirty="0"/>
              <a:t>如何藉由路徑回溯</a:t>
            </a:r>
            <a:r>
              <a:rPr lang="en-US" altLang="zh-TW" dirty="0"/>
              <a:t>(</a:t>
            </a:r>
            <a:r>
              <a:rPr lang="en-US" altLang="zh-TW" dirty="0" err="1"/>
              <a:t>traceback</a:t>
            </a:r>
            <a:r>
              <a:rPr lang="en-US" altLang="zh-TW" dirty="0"/>
              <a:t>)</a:t>
            </a:r>
            <a:r>
              <a:rPr lang="zh-TW" altLang="en-US" dirty="0"/>
              <a:t>將最長共同子序列</a:t>
            </a:r>
            <a:r>
              <a:rPr lang="en-US" altLang="zh-TW" dirty="0"/>
              <a:t>(LCS)</a:t>
            </a:r>
            <a:r>
              <a:rPr lang="zh-TW" altLang="en-US" dirty="0"/>
              <a:t>建構出來。</a:t>
            </a:r>
            <a:endParaRPr lang="en-US" altLang="zh-TW" dirty="0"/>
          </a:p>
          <a:p>
            <a:r>
              <a:rPr lang="zh-TW" altLang="en-US" dirty="0"/>
              <a:t>基本上，從</a:t>
            </a:r>
            <a:r>
              <a:rPr lang="en-US" altLang="zh-TW" dirty="0"/>
              <a:t>(</a:t>
            </a:r>
            <a:r>
              <a:rPr lang="en-US" altLang="zh-TW" dirty="0" err="1"/>
              <a:t>m,n</a:t>
            </a:r>
            <a:r>
              <a:rPr lang="en-US" altLang="zh-TW" dirty="0"/>
              <a:t>)</a:t>
            </a:r>
            <a:r>
              <a:rPr lang="zh-TW" altLang="en-US" dirty="0"/>
              <a:t>沿著</a:t>
            </a:r>
            <a:r>
              <a:rPr lang="en-US" altLang="zh-TW" dirty="0" err="1"/>
              <a:t>prev</a:t>
            </a:r>
            <a:r>
              <a:rPr lang="zh-TW" altLang="en-US" dirty="0"/>
              <a:t>所記錄的箭頭方向回溯，每當碰到斜角箭頭時，表示那個位置</a:t>
            </a:r>
            <a:r>
              <a:rPr lang="en-US" altLang="zh-TW" dirty="0" err="1"/>
              <a:t>a</a:t>
            </a:r>
            <a:r>
              <a:rPr lang="en-US" altLang="zh-TW" baseline="-25000" dirty="0" err="1"/>
              <a:t>i</a:t>
            </a:r>
            <a:r>
              <a:rPr lang="en-US" altLang="zh-TW" dirty="0"/>
              <a:t>=</a:t>
            </a:r>
            <a:r>
              <a:rPr lang="en-US" altLang="zh-TW" dirty="0" err="1"/>
              <a:t>b</a:t>
            </a:r>
            <a:r>
              <a:rPr lang="en-US" altLang="zh-TW" baseline="-25000" dirty="0" err="1"/>
              <a:t>j</a:t>
            </a:r>
            <a:r>
              <a:rPr lang="zh-TW" altLang="en-US" dirty="0"/>
              <a:t>，且它也是</a:t>
            </a:r>
            <a:r>
              <a:rPr lang="en-US" altLang="zh-TW" dirty="0"/>
              <a:t>LCS</a:t>
            </a:r>
            <a:r>
              <a:rPr lang="zh-TW" altLang="en-US" dirty="0"/>
              <a:t>的一部分，所以在往前回溯結束後</a:t>
            </a:r>
            <a:r>
              <a:rPr lang="en-US" altLang="zh-TW" dirty="0"/>
              <a:t>(</a:t>
            </a:r>
            <a:r>
              <a:rPr lang="zh-TW" altLang="en-US" dirty="0"/>
              <a:t>回溯過程直到邊界為止</a:t>
            </a:r>
            <a:r>
              <a:rPr lang="en-US" altLang="zh-TW" dirty="0"/>
              <a:t>)</a:t>
            </a:r>
            <a:r>
              <a:rPr lang="zh-TW" altLang="en-US" dirty="0"/>
              <a:t>，還得將這個字符印出。</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11-5 </a:t>
            </a:r>
            <a:r>
              <a:rPr lang="zh-TW" altLang="en-US" dirty="0"/>
              <a:t>動態規劃技巧</a:t>
            </a:r>
          </a:p>
        </p:txBody>
      </p:sp>
      <p:sp>
        <p:nvSpPr>
          <p:cNvPr id="2" name="內容版面配置區 1"/>
          <p:cNvSpPr>
            <a:spLocks noGrp="1"/>
          </p:cNvSpPr>
          <p:nvPr>
            <p:ph idx="1"/>
          </p:nvPr>
        </p:nvSpPr>
        <p:spPr/>
        <p:txBody>
          <a:bodyPr>
            <a:normAutofit/>
          </a:bodyPr>
          <a:lstStyle/>
          <a:p>
            <a:r>
              <a:rPr lang="zh-TW" altLang="en-US" dirty="0"/>
              <a:t>下圖的程序</a:t>
            </a:r>
            <a:r>
              <a:rPr lang="en-US" altLang="zh-TW" dirty="0"/>
              <a:t>Output-LCS</a:t>
            </a:r>
            <a:r>
              <a:rPr lang="zh-TW" altLang="en-US" dirty="0"/>
              <a:t>說明整個回溯過程，起始呼叫為</a:t>
            </a:r>
            <a:r>
              <a:rPr lang="en-US" altLang="zh-TW" dirty="0"/>
              <a:t>Output-LCS(A, </a:t>
            </a:r>
            <a:r>
              <a:rPr lang="en-US" altLang="zh-TW" dirty="0" err="1"/>
              <a:t>prev</a:t>
            </a:r>
            <a:r>
              <a:rPr lang="en-US" altLang="zh-TW" dirty="0"/>
              <a:t>, m, n)</a:t>
            </a:r>
            <a:r>
              <a:rPr lang="zh-TW" altLang="en-US" dirty="0"/>
              <a:t>。</a:t>
            </a:r>
          </a:p>
        </p:txBody>
      </p:sp>
      <p:sp>
        <p:nvSpPr>
          <p:cNvPr id="6" name="矩形 5"/>
          <p:cNvSpPr/>
          <p:nvPr/>
        </p:nvSpPr>
        <p:spPr>
          <a:xfrm>
            <a:off x="2411760" y="4556905"/>
            <a:ext cx="4636782" cy="400110"/>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en-US" altLang="zh-TW" sz="2000" b="1" dirty="0">
                <a:solidFill>
                  <a:schemeClr val="bg1"/>
                </a:solidFill>
                <a:latin typeface="微軟正黑體" pitchFamily="34" charset="-120"/>
                <a:ea typeface="微軟正黑體" pitchFamily="34" charset="-120"/>
              </a:rPr>
              <a:t>Output-LCS</a:t>
            </a:r>
            <a:r>
              <a:rPr lang="zh-TW" altLang="en-US" sz="2000" b="1" dirty="0">
                <a:solidFill>
                  <a:schemeClr val="bg1"/>
                </a:solidFill>
                <a:latin typeface="微軟正黑體" pitchFamily="34" charset="-120"/>
                <a:ea typeface="微軟正黑體" pitchFamily="34" charset="-120"/>
              </a:rPr>
              <a:t>程序可將整個</a:t>
            </a:r>
            <a:r>
              <a:rPr lang="en-US" altLang="zh-TW" sz="2000" b="1" dirty="0">
                <a:solidFill>
                  <a:schemeClr val="bg1"/>
                </a:solidFill>
                <a:latin typeface="微軟正黑體" pitchFamily="34" charset="-120"/>
                <a:ea typeface="微軟正黑體" pitchFamily="34" charset="-120"/>
              </a:rPr>
              <a:t>LCS</a:t>
            </a:r>
            <a:r>
              <a:rPr lang="zh-TW" altLang="en-US" sz="2000" b="1" dirty="0">
                <a:solidFill>
                  <a:schemeClr val="bg1"/>
                </a:solidFill>
                <a:latin typeface="微軟正黑體" pitchFamily="34" charset="-120"/>
                <a:ea typeface="微軟正黑體" pitchFamily="34" charset="-120"/>
              </a:rPr>
              <a:t>回溯出來</a:t>
            </a:r>
          </a:p>
        </p:txBody>
      </p:sp>
      <p:pic>
        <p:nvPicPr>
          <p:cNvPr id="7" name="Picture 2"/>
          <p:cNvPicPr>
            <a:picLocks noChangeAspect="1" noChangeArrowheads="1"/>
          </p:cNvPicPr>
          <p:nvPr/>
        </p:nvPicPr>
        <p:blipFill>
          <a:blip r:embed="rId2" cstate="print"/>
          <a:stretch>
            <a:fillRect/>
          </a:stretch>
        </p:blipFill>
        <p:spPr>
          <a:xfrm>
            <a:off x="2606381" y="2753667"/>
            <a:ext cx="4326794" cy="165836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9132714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11-5 </a:t>
            </a:r>
            <a:r>
              <a:rPr lang="zh-TW" altLang="en-US" dirty="0"/>
              <a:t>動態規劃技巧</a:t>
            </a:r>
          </a:p>
        </p:txBody>
      </p:sp>
      <p:sp>
        <p:nvSpPr>
          <p:cNvPr id="4" name="矩形 3"/>
          <p:cNvSpPr/>
          <p:nvPr/>
        </p:nvSpPr>
        <p:spPr>
          <a:xfrm>
            <a:off x="1377089" y="4281940"/>
            <a:ext cx="6030670"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altLang="zh-TW" b="1" dirty="0">
                <a:solidFill>
                  <a:schemeClr val="bg1"/>
                </a:solidFill>
                <a:latin typeface="微軟正黑體" pitchFamily="34" charset="-120"/>
                <a:ea typeface="微軟正黑體" pitchFamily="34" charset="-120"/>
              </a:rPr>
              <a:t>Output-LCS</a:t>
            </a:r>
            <a:r>
              <a:rPr lang="zh-TW" altLang="en-US" b="1" dirty="0">
                <a:solidFill>
                  <a:schemeClr val="bg1"/>
                </a:solidFill>
                <a:latin typeface="微軟正黑體" pitchFamily="34" charset="-120"/>
                <a:ea typeface="微軟正黑體" pitchFamily="34" charset="-120"/>
              </a:rPr>
              <a:t>的回溯路線序，深色陰影</a:t>
            </a:r>
            <a:r>
              <a:rPr lang="en-US" altLang="zh-TW" b="1" dirty="0">
                <a:solidFill>
                  <a:schemeClr val="bg1"/>
                </a:solidFill>
                <a:latin typeface="微軟正黑體" pitchFamily="34" charset="-120"/>
                <a:ea typeface="微軟正黑體" pitchFamily="34" charset="-120"/>
              </a:rPr>
              <a:t>(</a:t>
            </a:r>
            <a:r>
              <a:rPr lang="en-US" altLang="zh-TW" b="1" dirty="0" err="1">
                <a:solidFill>
                  <a:schemeClr val="bg1"/>
                </a:solidFill>
                <a:latin typeface="微軟正黑體" pitchFamily="34" charset="-120"/>
                <a:ea typeface="微軟正黑體" pitchFamily="34" charset="-120"/>
              </a:rPr>
              <a:t>priden</a:t>
            </a:r>
            <a:r>
              <a:rPr lang="en-US" altLang="zh-TW" b="1" dirty="0">
                <a:solidFill>
                  <a:schemeClr val="bg1"/>
                </a:solidFill>
                <a:latin typeface="微軟正黑體" pitchFamily="34" charset="-120"/>
                <a:ea typeface="微軟正黑體" pitchFamily="34" charset="-120"/>
              </a:rPr>
              <a:t>)</a:t>
            </a:r>
            <a:r>
              <a:rPr lang="zh-TW" altLang="en-US" b="1" dirty="0">
                <a:solidFill>
                  <a:schemeClr val="bg1"/>
                </a:solidFill>
                <a:latin typeface="微軟正黑體" pitchFamily="34" charset="-120"/>
                <a:ea typeface="微軟正黑體" pitchFamily="34" charset="-120"/>
              </a:rPr>
              <a:t>為</a:t>
            </a:r>
            <a:r>
              <a:rPr lang="en-US" altLang="zh-TW" b="1" dirty="0">
                <a:solidFill>
                  <a:schemeClr val="bg1"/>
                </a:solidFill>
                <a:latin typeface="微軟正黑體" pitchFamily="34" charset="-120"/>
                <a:ea typeface="微軟正黑體" pitchFamily="34" charset="-120"/>
              </a:rPr>
              <a:t>LCS</a:t>
            </a:r>
            <a:r>
              <a:rPr lang="zh-TW" altLang="en-US" b="1" dirty="0">
                <a:solidFill>
                  <a:schemeClr val="bg1"/>
                </a:solidFill>
                <a:latin typeface="微軟正黑體" pitchFamily="34" charset="-120"/>
                <a:ea typeface="微軟正黑體" pitchFamily="34" charset="-120"/>
              </a:rPr>
              <a:t>所在</a:t>
            </a:r>
          </a:p>
        </p:txBody>
      </p:sp>
      <p:sp>
        <p:nvSpPr>
          <p:cNvPr id="3" name="內容版面配置區 2"/>
          <p:cNvSpPr>
            <a:spLocks noGrp="1"/>
          </p:cNvSpPr>
          <p:nvPr>
            <p:ph idx="1"/>
          </p:nvPr>
        </p:nvSpPr>
        <p:spPr/>
        <p:txBody>
          <a:bodyPr/>
          <a:lstStyle/>
          <a:p>
            <a:endParaRPr lang="zh-TW" altLang="en-US"/>
          </a:p>
        </p:txBody>
      </p:sp>
      <p:pic>
        <p:nvPicPr>
          <p:cNvPr id="6" name="Picture 2"/>
          <p:cNvPicPr>
            <a:picLocks noChangeAspect="1" noChangeArrowheads="1"/>
          </p:cNvPicPr>
          <p:nvPr/>
        </p:nvPicPr>
        <p:blipFill>
          <a:blip r:embed="rId2" cstate="print"/>
          <a:stretch>
            <a:fillRect/>
          </a:stretch>
        </p:blipFill>
        <p:spPr bwMode="auto">
          <a:xfrm>
            <a:off x="2426033" y="1536635"/>
            <a:ext cx="4291932" cy="2627354"/>
          </a:xfrm>
          <a:prstGeom prst="rect">
            <a:avLst/>
          </a:prstGeom>
          <a:noFill/>
          <a:ln w="9525">
            <a:noFill/>
            <a:miter lim="800000"/>
            <a:headEnd/>
            <a:tailEnd/>
          </a:ln>
          <a:effec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11-6 </a:t>
            </a:r>
            <a:r>
              <a:rPr lang="zh-TW" altLang="en-US" dirty="0"/>
              <a:t>計算難題</a:t>
            </a:r>
          </a:p>
        </p:txBody>
      </p:sp>
      <p:sp>
        <p:nvSpPr>
          <p:cNvPr id="4" name="內容版面配置區 3"/>
          <p:cNvSpPr>
            <a:spLocks noGrp="1"/>
          </p:cNvSpPr>
          <p:nvPr>
            <p:ph idx="1"/>
          </p:nvPr>
        </p:nvSpPr>
        <p:spPr/>
        <p:txBody>
          <a:bodyPr>
            <a:normAutofit fontScale="85000" lnSpcReduction="10000"/>
          </a:bodyPr>
          <a:lstStyle/>
          <a:p>
            <a:r>
              <a:rPr lang="zh-TW" altLang="en-US" dirty="0"/>
              <a:t>是不是所有的數位計算問題，都能找到有效的解答呢？</a:t>
            </a:r>
            <a:endParaRPr lang="en-US" altLang="zh-TW" dirty="0"/>
          </a:p>
          <a:p>
            <a:r>
              <a:rPr lang="zh-TW" altLang="en-US" dirty="0"/>
              <a:t>牛頓曾說：「假如我曾經看得更遠，那是因為站在巨人的肩膀上。」在前輩的耕耘下，有些問題已證明是無解的。</a:t>
            </a:r>
            <a:endParaRPr lang="en-US" altLang="zh-TW" dirty="0"/>
          </a:p>
          <a:p>
            <a:r>
              <a:rPr lang="zh-TW" altLang="en-US" dirty="0"/>
              <a:t>例如：判斷程式是否會停的問題</a:t>
            </a:r>
            <a:r>
              <a:rPr lang="en-US" altLang="zh-TW" dirty="0"/>
              <a:t>(halting problem)</a:t>
            </a:r>
            <a:r>
              <a:rPr lang="zh-TW" altLang="en-US" dirty="0"/>
              <a:t>就可證明是無法解答的。</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11-6 </a:t>
            </a:r>
            <a:r>
              <a:rPr lang="zh-TW" altLang="en-US" dirty="0"/>
              <a:t>計算難題</a:t>
            </a:r>
          </a:p>
        </p:txBody>
      </p:sp>
      <p:sp>
        <p:nvSpPr>
          <p:cNvPr id="3" name="內容版面配置區 2"/>
          <p:cNvSpPr>
            <a:spLocks noGrp="1"/>
          </p:cNvSpPr>
          <p:nvPr>
            <p:ph idx="1"/>
          </p:nvPr>
        </p:nvSpPr>
        <p:spPr/>
        <p:txBody>
          <a:bodyPr>
            <a:normAutofit/>
          </a:bodyPr>
          <a:lstStyle/>
          <a:p>
            <a:r>
              <a:rPr lang="zh-TW" altLang="en-US" dirty="0"/>
              <a:t>在可解的數位計算問題裡，很多都已依它的計算時間及記憶空間複雜度的難易做歸類了，最有名的歸類要算是</a:t>
            </a:r>
            <a:r>
              <a:rPr lang="en-US" altLang="zh-TW" dirty="0"/>
              <a:t>NP-Complete</a:t>
            </a:r>
            <a:r>
              <a:rPr lang="zh-TW" altLang="en-US" dirty="0"/>
              <a:t>問題了。</a:t>
            </a:r>
            <a:endParaRPr lang="en-US" altLang="zh-TW" dirty="0"/>
          </a:p>
        </p:txBody>
      </p:sp>
    </p:spTree>
    <p:extLst>
      <p:ext uri="{BB962C8B-B14F-4D97-AF65-F5344CB8AC3E}">
        <p14:creationId xmlns:p14="http://schemas.microsoft.com/office/powerpoint/2010/main" val="16641590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11-6 </a:t>
            </a:r>
            <a:r>
              <a:rPr lang="zh-TW" altLang="en-US" dirty="0"/>
              <a:t>計算難題</a:t>
            </a:r>
          </a:p>
        </p:txBody>
      </p:sp>
      <p:sp>
        <p:nvSpPr>
          <p:cNvPr id="4" name="內容版面配置區 3"/>
          <p:cNvSpPr>
            <a:spLocks noGrp="1"/>
          </p:cNvSpPr>
          <p:nvPr>
            <p:ph idx="1"/>
          </p:nvPr>
        </p:nvSpPr>
        <p:spPr/>
        <p:txBody>
          <a:bodyPr>
            <a:normAutofit fontScale="92500" lnSpcReduction="10000"/>
          </a:bodyPr>
          <a:lstStyle/>
          <a:p>
            <a:r>
              <a:rPr lang="zh-TW" altLang="en-US" dirty="0"/>
              <a:t>所有</a:t>
            </a:r>
            <a:r>
              <a:rPr lang="en-US" altLang="zh-TW" dirty="0"/>
              <a:t>NP-Complete</a:t>
            </a:r>
            <a:r>
              <a:rPr lang="zh-TW" altLang="en-US" dirty="0"/>
              <a:t>問題，目前都沒有有效的精確解法，而且只要有一個找到有效解法，那所有</a:t>
            </a:r>
            <a:r>
              <a:rPr lang="en-US" altLang="zh-TW" dirty="0"/>
              <a:t>NP-Complete</a:t>
            </a:r>
            <a:r>
              <a:rPr lang="zh-TW" altLang="en-US" dirty="0"/>
              <a:t>問題都有有效解法了。</a:t>
            </a:r>
            <a:endParaRPr lang="en-US" altLang="zh-TW" dirty="0"/>
          </a:p>
          <a:p>
            <a:r>
              <a:rPr lang="zh-TW" altLang="en-US" dirty="0"/>
              <a:t>至今已有數以萬計的問題被證明為</a:t>
            </a:r>
            <a:r>
              <a:rPr lang="en-US" altLang="zh-TW" dirty="0"/>
              <a:t>NP-Complete</a:t>
            </a:r>
            <a:r>
              <a:rPr lang="zh-TW" altLang="en-US" dirty="0"/>
              <a:t>，雖然大家幾乎都認為這類型的問題並不存在有效解法，但到現在都沒有人可以證明。</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546525"/>
            <a:ext cx="8229600" cy="857250"/>
          </a:xfrm>
        </p:spPr>
        <p:txBody>
          <a:bodyPr/>
          <a:lstStyle/>
          <a:p>
            <a:r>
              <a:rPr lang="en-US" altLang="zh-TW" dirty="0"/>
              <a:t>11-6 </a:t>
            </a:r>
            <a:r>
              <a:rPr lang="zh-TW" altLang="en-US" dirty="0"/>
              <a:t>計算難題</a:t>
            </a:r>
          </a:p>
        </p:txBody>
      </p:sp>
      <p:sp>
        <p:nvSpPr>
          <p:cNvPr id="3" name="內容版面配置區 2"/>
          <p:cNvSpPr>
            <a:spLocks noGrp="1"/>
          </p:cNvSpPr>
          <p:nvPr>
            <p:ph idx="1"/>
          </p:nvPr>
        </p:nvSpPr>
        <p:spPr>
          <a:xfrm>
            <a:off x="457200" y="1311610"/>
            <a:ext cx="8229600" cy="3283013"/>
          </a:xfrm>
        </p:spPr>
        <p:txBody>
          <a:bodyPr>
            <a:normAutofit/>
          </a:bodyPr>
          <a:lstStyle/>
          <a:p>
            <a:r>
              <a:rPr lang="zh-TW" altLang="en-US" sz="2400" dirty="0">
                <a:solidFill>
                  <a:srgbClr val="C00000"/>
                </a:solidFill>
              </a:rPr>
              <a:t>旅行推銷員問題</a:t>
            </a:r>
            <a:r>
              <a:rPr lang="zh-TW" altLang="en-US" sz="2400" dirty="0"/>
              <a:t>：已證明是</a:t>
            </a:r>
            <a:r>
              <a:rPr lang="en-US" altLang="zh-TW" sz="2400" dirty="0"/>
              <a:t>NP-Complete</a:t>
            </a:r>
            <a:r>
              <a:rPr lang="zh-TW" altLang="en-US" sz="2400" dirty="0"/>
              <a:t>。</a:t>
            </a:r>
          </a:p>
        </p:txBody>
      </p:sp>
      <p:sp>
        <p:nvSpPr>
          <p:cNvPr id="5" name="圓角矩形 4"/>
          <p:cNvSpPr/>
          <p:nvPr/>
        </p:nvSpPr>
        <p:spPr>
          <a:xfrm>
            <a:off x="881590" y="1896675"/>
            <a:ext cx="7875875" cy="2882340"/>
          </a:xfrm>
          <a:prstGeom prst="roundRect">
            <a:avLst>
              <a:gd name="adj" fmla="val 7312"/>
            </a:avLst>
          </a:prstGeom>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pPr>
            <a:r>
              <a:rPr lang="zh-TW" altLang="en-US" sz="2000" b="1" dirty="0">
                <a:latin typeface="微軟正黑體" panose="020B0604030504040204" pitchFamily="34" charset="-120"/>
                <a:ea typeface="微軟正黑體" panose="020B0604030504040204" pitchFamily="34" charset="-120"/>
              </a:rPr>
              <a:t>有一個推銷員，要到各個城市去推銷產品，他希望能找到一個最短的旅遊途徑，訪問每一個城市，而且每個城市只拜訪一次，然後回到最初出發的城市。如果只有幾個城市要訪問，我們很快就可以找出一個最短的旅遊途徑，但如果有很多很多城市要訪問時，那就會難倒目前所有的數位計算機了。</a:t>
            </a:r>
            <a:endParaRPr lang="en-US" altLang="zh-TW" sz="2000" b="1" dirty="0">
              <a:latin typeface="微軟正黑體" panose="020B0604030504040204" pitchFamily="34" charset="-120"/>
              <a:ea typeface="微軟正黑體" panose="020B0604030504040204" pitchFamily="34" charset="-120"/>
            </a:endParaRPr>
          </a:p>
          <a:p>
            <a:pPr>
              <a:lnSpc>
                <a:spcPct val="110000"/>
              </a:lnSpc>
            </a:pPr>
            <a:r>
              <a:rPr lang="zh-TW" altLang="en-US" sz="2000" b="1" dirty="0">
                <a:latin typeface="微軟正黑體" panose="020B0604030504040204" pitchFamily="34" charset="-120"/>
                <a:ea typeface="微軟正黑體" panose="020B0604030504040204" pitchFamily="34" charset="-120"/>
              </a:rPr>
              <a:t>這問題的關鍵在於：當我們要拜訪很多城市時，可能的拜訪順序組合是天文數字，而我們至今又沒有好的方法，可以快速決定最短的旅遊途徑。</a:t>
            </a:r>
          </a:p>
        </p:txBody>
      </p:sp>
    </p:spTree>
    <p:extLst>
      <p:ext uri="{BB962C8B-B14F-4D97-AF65-F5344CB8AC3E}">
        <p14:creationId xmlns:p14="http://schemas.microsoft.com/office/powerpoint/2010/main" val="366347863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546525"/>
            <a:ext cx="8229600" cy="857250"/>
          </a:xfrm>
        </p:spPr>
        <p:txBody>
          <a:bodyPr/>
          <a:lstStyle/>
          <a:p>
            <a:r>
              <a:rPr lang="en-US" altLang="zh-TW" dirty="0"/>
              <a:t>11-6 </a:t>
            </a:r>
            <a:r>
              <a:rPr lang="zh-TW" altLang="en-US" dirty="0"/>
              <a:t>計算難題</a:t>
            </a:r>
          </a:p>
        </p:txBody>
      </p:sp>
      <p:sp>
        <p:nvSpPr>
          <p:cNvPr id="4" name="圓角矩形 3"/>
          <p:cNvSpPr/>
          <p:nvPr/>
        </p:nvSpPr>
        <p:spPr>
          <a:xfrm>
            <a:off x="836584" y="1763588"/>
            <a:ext cx="6255695" cy="2882340"/>
          </a:xfrm>
          <a:prstGeom prst="roundRect">
            <a:avLst>
              <a:gd name="adj" fmla="val 7312"/>
            </a:avLst>
          </a:prstGeom>
          <a:solidFill>
            <a:schemeClr val="accent5">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pPr>
            <a:r>
              <a:rPr lang="zh-TW" altLang="en-US" sz="2000" b="1" dirty="0">
                <a:latin typeface="微軟正黑體" panose="020B0604030504040204" pitchFamily="34" charset="-120"/>
                <a:ea typeface="微軟正黑體" panose="020B0604030504040204" pitchFamily="34" charset="-120"/>
              </a:rPr>
              <a:t>有個小偷，光顧一家超級市場，他帶了一個背包來裝所偷的東西，假設他的背包最多只能裝三十公斤，而超市內的每樣東西有它的重量及價值，小偷背包問題是要找出最佳的偷法，使得背包內所裝的贓物總價值最高，且總重量又不超過三十公斤。</a:t>
            </a:r>
            <a:endParaRPr lang="en-US" altLang="zh-TW" sz="2000" b="1" dirty="0">
              <a:latin typeface="微軟正黑體" panose="020B0604030504040204" pitchFamily="34" charset="-120"/>
              <a:ea typeface="微軟正黑體" panose="020B0604030504040204" pitchFamily="34" charset="-120"/>
            </a:endParaRPr>
          </a:p>
          <a:p>
            <a:pPr>
              <a:lnSpc>
                <a:spcPct val="110000"/>
              </a:lnSpc>
            </a:pPr>
            <a:r>
              <a:rPr lang="zh-TW" altLang="en-US" sz="2000" b="1" dirty="0">
                <a:latin typeface="微軟正黑體" panose="020B0604030504040204" pitchFamily="34" charset="-120"/>
                <a:ea typeface="微軟正黑體" panose="020B0604030504040204" pitchFamily="34" charset="-120"/>
              </a:rPr>
              <a:t>這樣的一個問題居然也是難題！如果小偷用數位計算機來替他決定最好的偷法，在他得到答案前，可能早就被繩之以法了。</a:t>
            </a:r>
          </a:p>
        </p:txBody>
      </p:sp>
      <p:pic>
        <p:nvPicPr>
          <p:cNvPr id="7" name="圖片 6"/>
          <p:cNvPicPr>
            <a:picLocks noChangeAspect="1"/>
          </p:cNvPicPr>
          <p:nvPr/>
        </p:nvPicPr>
        <p:blipFill>
          <a:blip r:embed="rId2"/>
          <a:stretch>
            <a:fillRect/>
          </a:stretch>
        </p:blipFill>
        <p:spPr>
          <a:xfrm>
            <a:off x="6957265" y="3253092"/>
            <a:ext cx="2160240" cy="1379056"/>
          </a:xfrm>
          <a:prstGeom prst="rect">
            <a:avLst/>
          </a:prstGeom>
        </p:spPr>
      </p:pic>
      <p:sp>
        <p:nvSpPr>
          <p:cNvPr id="3" name="內容版面配置區 2">
            <a:extLst>
              <a:ext uri="{FF2B5EF4-FFF2-40B4-BE49-F238E27FC236}">
                <a16:creationId xmlns:a16="http://schemas.microsoft.com/office/drawing/2014/main" id="{CB15DE03-D858-C635-070D-36168198F332}"/>
              </a:ext>
            </a:extLst>
          </p:cNvPr>
          <p:cNvSpPr>
            <a:spLocks noGrp="1"/>
          </p:cNvSpPr>
          <p:nvPr>
            <p:ph idx="1"/>
          </p:nvPr>
        </p:nvSpPr>
        <p:spPr>
          <a:xfrm>
            <a:off x="457200" y="1266605"/>
            <a:ext cx="8229600" cy="3328019"/>
          </a:xfrm>
        </p:spPr>
        <p:txBody>
          <a:bodyPr>
            <a:normAutofit/>
          </a:bodyPr>
          <a:lstStyle/>
          <a:p>
            <a:r>
              <a:rPr lang="zh-TW" altLang="en-US" sz="2400" dirty="0">
                <a:solidFill>
                  <a:srgbClr val="C00000"/>
                </a:solidFill>
              </a:rPr>
              <a:t>小偷背包問題</a:t>
            </a:r>
            <a:r>
              <a:rPr lang="zh-TW" altLang="en-US" sz="2400" dirty="0"/>
              <a:t>：已證明是</a:t>
            </a:r>
            <a:r>
              <a:rPr lang="en-US" altLang="zh-TW" sz="2400" dirty="0"/>
              <a:t>NP-Complete</a:t>
            </a:r>
            <a:r>
              <a:rPr lang="zh-TW" altLang="en-US" sz="2400" dirty="0"/>
              <a:t>。</a:t>
            </a:r>
          </a:p>
        </p:txBody>
      </p:sp>
    </p:spTree>
    <p:extLst>
      <p:ext uri="{BB962C8B-B14F-4D97-AF65-F5344CB8AC3E}">
        <p14:creationId xmlns:p14="http://schemas.microsoft.com/office/powerpoint/2010/main" val="8122547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11-6 </a:t>
            </a:r>
            <a:r>
              <a:rPr lang="zh-TW" altLang="en-US" dirty="0"/>
              <a:t>計算難題</a:t>
            </a:r>
          </a:p>
        </p:txBody>
      </p:sp>
      <p:sp>
        <p:nvSpPr>
          <p:cNvPr id="2" name="內容版面配置區 1"/>
          <p:cNvSpPr>
            <a:spLocks noGrp="1"/>
          </p:cNvSpPr>
          <p:nvPr>
            <p:ph idx="1"/>
          </p:nvPr>
        </p:nvSpPr>
        <p:spPr/>
        <p:txBody>
          <a:bodyPr>
            <a:normAutofit/>
          </a:bodyPr>
          <a:lstStyle/>
          <a:p>
            <a:r>
              <a:rPr lang="zh-TW" altLang="en-US" dirty="0"/>
              <a:t>不僅如此，還可證明小偷背包問題和旅行推銷員問題的精確解法，它們的難度是一樣的，也就是說，只要其中有一個存在有效率的精確解法，另一個也會存在有效率的精確解法。</a:t>
            </a:r>
            <a:endParaRPr lang="en-US" altLang="zh-TW"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11-6 </a:t>
            </a:r>
            <a:r>
              <a:rPr lang="zh-TW" altLang="en-US" dirty="0"/>
              <a:t>計算難題</a:t>
            </a:r>
          </a:p>
        </p:txBody>
      </p:sp>
      <p:sp>
        <p:nvSpPr>
          <p:cNvPr id="2" name="內容版面配置區 1"/>
          <p:cNvSpPr>
            <a:spLocks noGrp="1"/>
          </p:cNvSpPr>
          <p:nvPr>
            <p:ph idx="1"/>
          </p:nvPr>
        </p:nvSpPr>
        <p:spPr/>
        <p:txBody>
          <a:bodyPr>
            <a:normAutofit fontScale="85000" lnSpcReduction="10000"/>
          </a:bodyPr>
          <a:lstStyle/>
          <a:p>
            <a:r>
              <a:rPr lang="zh-TW" altLang="en-US" dirty="0"/>
              <a:t>十幾年前，如果證明某一個問題是屬於這一類型的問題，那可算是一篇精采的博士論文。可是現在如果找到了新的難題，那還不夠，還必須提出好的近似解法</a:t>
            </a:r>
            <a:r>
              <a:rPr lang="en-US" altLang="zh-TW" dirty="0"/>
              <a:t>(</a:t>
            </a:r>
            <a:r>
              <a:rPr lang="zh-TW" altLang="en-US" dirty="0"/>
              <a:t>在有效率的時間內，找到和最佳解答差不多的近似答案</a:t>
            </a:r>
            <a:r>
              <a:rPr lang="en-US" altLang="zh-TW" dirty="0"/>
              <a:t>)</a:t>
            </a:r>
            <a:r>
              <a:rPr lang="zh-TW" altLang="en-US" dirty="0"/>
              <a:t> 。</a:t>
            </a:r>
            <a:endParaRPr lang="en-US" altLang="zh-TW" dirty="0"/>
          </a:p>
          <a:p>
            <a:r>
              <a:rPr lang="zh-TW" altLang="en-US" dirty="0"/>
              <a:t>很有意思的是，雖然小偷背包問題和旅行推銷員問題的精確解法一樣難，但它們的近似解法卻南轅北轍。</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11-6 </a:t>
            </a:r>
            <a:r>
              <a:rPr lang="zh-TW" altLang="en-US" dirty="0"/>
              <a:t>計算難題</a:t>
            </a:r>
          </a:p>
        </p:txBody>
      </p:sp>
      <p:sp>
        <p:nvSpPr>
          <p:cNvPr id="3" name="內容版面配置區 2"/>
          <p:cNvSpPr>
            <a:spLocks noGrp="1"/>
          </p:cNvSpPr>
          <p:nvPr>
            <p:ph idx="1"/>
          </p:nvPr>
        </p:nvSpPr>
        <p:spPr/>
        <p:txBody>
          <a:bodyPr>
            <a:normAutofit/>
          </a:bodyPr>
          <a:lstStyle/>
          <a:p>
            <a:r>
              <a:rPr lang="zh-TW" altLang="en-US" dirty="0"/>
              <a:t>可以證明旅行推銷員問題不太可能存在好的近似解法，而小偷背包問題卻已有很好的近似解法。</a:t>
            </a:r>
          </a:p>
        </p:txBody>
      </p:sp>
    </p:spTree>
    <p:extLst>
      <p:ext uri="{BB962C8B-B14F-4D97-AF65-F5344CB8AC3E}">
        <p14:creationId xmlns:p14="http://schemas.microsoft.com/office/powerpoint/2010/main" val="3605386876"/>
      </p:ext>
    </p:extLst>
  </p:cSld>
  <p:clrMapOvr>
    <a:masterClrMapping/>
  </p:clrMapOvr>
</p:sld>
</file>

<file path=ppt/theme/theme1.xml><?xml version="1.0" encoding="utf-8"?>
<a:theme xmlns:a="http://schemas.openxmlformats.org/drawingml/2006/main" name="Office 佈景主題">
  <a:themeElements>
    <a:clrScheme name="藍綠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2270</TotalTime>
  <Words>5985</Words>
  <Application>Microsoft Office PowerPoint</Application>
  <PresentationFormat>如螢幕大小 (16:9)</PresentationFormat>
  <Paragraphs>319</Paragraphs>
  <Slides>99</Slides>
  <Notes>1</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99</vt:i4>
      </vt:variant>
    </vt:vector>
  </HeadingPairs>
  <TitlesOfParts>
    <vt:vector size="104" baseType="lpstr">
      <vt:lpstr>微軟正黑體</vt:lpstr>
      <vt:lpstr>Arial</vt:lpstr>
      <vt:lpstr>Calibri</vt:lpstr>
      <vt:lpstr>Wingdings 3</vt:lpstr>
      <vt:lpstr>Office 佈景主題</vt:lpstr>
      <vt:lpstr>演算法</vt:lpstr>
      <vt:lpstr>11-1 演算法效率分析</vt:lpstr>
      <vt:lpstr>PowerPoint 簡報</vt:lpstr>
      <vt:lpstr>PowerPoint 簡報</vt:lpstr>
      <vt:lpstr>PowerPoint 簡報</vt:lpstr>
      <vt:lpstr>PowerPoint 簡報</vt:lpstr>
      <vt:lpstr>PowerPoint 簡報</vt:lpstr>
      <vt:lpstr>11-2 最大數及最小數找法</vt:lpstr>
      <vt:lpstr>作法1－逐一比較法</vt:lpstr>
      <vt:lpstr>作法1－逐一比較法</vt:lpstr>
      <vt:lpstr>作法1－逐一比較法</vt:lpstr>
      <vt:lpstr>作法1－逐一比較法</vt:lpstr>
      <vt:lpstr>作法1－逐一比較法</vt:lpstr>
      <vt:lpstr>作法2－兩兩比較法</vt:lpstr>
      <vt:lpstr>作法2－兩兩比較法</vt:lpstr>
      <vt:lpstr>作法2－兩兩比較法</vt:lpstr>
      <vt:lpstr>作法2－兩兩比較法</vt:lpstr>
      <vt:lpstr>作法2－兩兩比較法</vt:lpstr>
      <vt:lpstr>作法2－兩兩比較法</vt:lpstr>
      <vt:lpstr>作法2－兩兩比較法</vt:lpstr>
      <vt:lpstr>作法2－兩兩比較法</vt:lpstr>
      <vt:lpstr>作法2－兩兩比較法</vt:lpstr>
      <vt:lpstr>作法2－兩兩比較法</vt:lpstr>
      <vt:lpstr>作法2－兩兩比較法</vt:lpstr>
      <vt:lpstr>作法2－兩兩比較法</vt:lpstr>
      <vt:lpstr>作法2－兩兩比較法</vt:lpstr>
      <vt:lpstr>作法2－兩兩比較法</vt:lpstr>
      <vt:lpstr>11-3 排序</vt:lpstr>
      <vt:lpstr>11-3 排序</vt:lpstr>
      <vt:lpstr>11-3 排序</vt:lpstr>
      <vt:lpstr>11-3 排序</vt:lpstr>
      <vt:lpstr>選擇排序法</vt:lpstr>
      <vt:lpstr>選擇排序法</vt:lpstr>
      <vt:lpstr>選擇排序法</vt:lpstr>
      <vt:lpstr>PowerPoint 簡報</vt:lpstr>
      <vt:lpstr>PowerPoint 簡報</vt:lpstr>
      <vt:lpstr>選擇排序法</vt:lpstr>
      <vt:lpstr>插入排序法</vt:lpstr>
      <vt:lpstr>插入排序法</vt:lpstr>
      <vt:lpstr>插入排序法</vt:lpstr>
      <vt:lpstr>PowerPoint 簡報</vt:lpstr>
      <vt:lpstr>PowerPoint 簡報</vt:lpstr>
      <vt:lpstr>插入排序法</vt:lpstr>
      <vt:lpstr>插入排序法</vt:lpstr>
      <vt:lpstr>插入排序法</vt:lpstr>
      <vt:lpstr>插入排序法</vt:lpstr>
      <vt:lpstr>插入排序法</vt:lpstr>
      <vt:lpstr>插入排序法</vt:lpstr>
      <vt:lpstr>泡沫排序法</vt:lpstr>
      <vt:lpstr>泡沫排序法</vt:lpstr>
      <vt:lpstr>泡沫排序法</vt:lpstr>
      <vt:lpstr>泡沫排序法</vt:lpstr>
      <vt:lpstr>PowerPoint 簡報</vt:lpstr>
      <vt:lpstr>PowerPoint 簡報</vt:lpstr>
      <vt:lpstr>快速排序法</vt:lpstr>
      <vt:lpstr>快速排序法</vt:lpstr>
      <vt:lpstr>PowerPoint 簡報</vt:lpstr>
      <vt:lpstr>PowerPoint 簡報</vt:lpstr>
      <vt:lpstr>快速排序法</vt:lpstr>
      <vt:lpstr>快速排序法</vt:lpstr>
      <vt:lpstr>11-4 二元搜尋法</vt:lpstr>
      <vt:lpstr>11-4 二元搜尋法</vt:lpstr>
      <vt:lpstr>11-4 二元搜尋法</vt:lpstr>
      <vt:lpstr>11-4 二元搜尋法</vt:lpstr>
      <vt:lpstr>11-4 二元搜尋法</vt:lpstr>
      <vt:lpstr>11-4 二元搜尋法</vt:lpstr>
      <vt:lpstr>11-4 二元搜尋法</vt:lpstr>
      <vt:lpstr>11-4 二元搜尋法</vt:lpstr>
      <vt:lpstr>11-4 二元搜尋法</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11-6 計算難題</vt:lpstr>
      <vt:lpstr>11-6 計算難題</vt:lpstr>
      <vt:lpstr>11-6 計算難題</vt:lpstr>
      <vt:lpstr>11-6 計算難題</vt:lpstr>
      <vt:lpstr>11-6 計算難題</vt:lpstr>
      <vt:lpstr>11-6 計算難題</vt:lpstr>
      <vt:lpstr>11-6 計算難題</vt:lpstr>
      <vt:lpstr>11-6 計算難題</vt:lpstr>
    </vt:vector>
  </TitlesOfParts>
  <Company>FDZone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ox01ox01</dc:creator>
  <cp:lastModifiedBy>D2</cp:lastModifiedBy>
  <cp:revision>203</cp:revision>
  <dcterms:created xsi:type="dcterms:W3CDTF">2015-04-21T01:58:17Z</dcterms:created>
  <dcterms:modified xsi:type="dcterms:W3CDTF">2026-06-10T02:12:21Z</dcterms:modified>
</cp:coreProperties>
</file>