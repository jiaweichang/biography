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256" r:id="rId2"/>
    <p:sldId id="258" r:id="rId3"/>
    <p:sldId id="259" r:id="rId4"/>
    <p:sldId id="260" r:id="rId5"/>
    <p:sldId id="314" r:id="rId6"/>
    <p:sldId id="343" r:id="rId7"/>
    <p:sldId id="261" r:id="rId8"/>
    <p:sldId id="262" r:id="rId9"/>
    <p:sldId id="263" r:id="rId10"/>
    <p:sldId id="315" r:id="rId11"/>
    <p:sldId id="316" r:id="rId12"/>
    <p:sldId id="264" r:id="rId13"/>
    <p:sldId id="265" r:id="rId14"/>
    <p:sldId id="317" r:id="rId15"/>
    <p:sldId id="266" r:id="rId16"/>
    <p:sldId id="310" r:id="rId17"/>
    <p:sldId id="267" r:id="rId18"/>
    <p:sldId id="333" r:id="rId19"/>
    <p:sldId id="334" r:id="rId20"/>
    <p:sldId id="335" r:id="rId21"/>
    <p:sldId id="338" r:id="rId22"/>
    <p:sldId id="339" r:id="rId23"/>
    <p:sldId id="341" r:id="rId24"/>
    <p:sldId id="342" r:id="rId25"/>
    <p:sldId id="336" r:id="rId26"/>
    <p:sldId id="268" r:id="rId27"/>
    <p:sldId id="269" r:id="rId28"/>
    <p:sldId id="270" r:id="rId29"/>
    <p:sldId id="271" r:id="rId30"/>
    <p:sldId id="272" r:id="rId31"/>
    <p:sldId id="318" r:id="rId32"/>
    <p:sldId id="273" r:id="rId33"/>
    <p:sldId id="274" r:id="rId34"/>
    <p:sldId id="275" r:id="rId35"/>
    <p:sldId id="276" r:id="rId36"/>
    <p:sldId id="277" r:id="rId37"/>
    <p:sldId id="319" r:id="rId38"/>
    <p:sldId id="278" r:id="rId39"/>
    <p:sldId id="279" r:id="rId40"/>
    <p:sldId id="280" r:id="rId41"/>
    <p:sldId id="320" r:id="rId42"/>
    <p:sldId id="281" r:id="rId43"/>
    <p:sldId id="282" r:id="rId44"/>
    <p:sldId id="322" r:id="rId45"/>
    <p:sldId id="287" r:id="rId46"/>
    <p:sldId id="323" r:id="rId47"/>
    <p:sldId id="288" r:id="rId48"/>
    <p:sldId id="289" r:id="rId49"/>
    <p:sldId id="290" r:id="rId50"/>
    <p:sldId id="324" r:id="rId51"/>
    <p:sldId id="291" r:id="rId52"/>
    <p:sldId id="292" r:id="rId53"/>
    <p:sldId id="293" r:id="rId54"/>
    <p:sldId id="294" r:id="rId55"/>
    <p:sldId id="337" r:id="rId56"/>
    <p:sldId id="295" r:id="rId57"/>
    <p:sldId id="296" r:id="rId58"/>
    <p:sldId id="297" r:id="rId59"/>
    <p:sldId id="326" r:id="rId60"/>
    <p:sldId id="298" r:id="rId61"/>
    <p:sldId id="344" r:id="rId62"/>
    <p:sldId id="345" r:id="rId63"/>
    <p:sldId id="346" r:id="rId64"/>
    <p:sldId id="347" r:id="rId65"/>
    <p:sldId id="348" r:id="rId66"/>
    <p:sldId id="349" r:id="rId67"/>
    <p:sldId id="350" r:id="rId68"/>
    <p:sldId id="351" r:id="rId69"/>
    <p:sldId id="352" r:id="rId70"/>
    <p:sldId id="353" r:id="rId71"/>
    <p:sldId id="354" r:id="rId72"/>
    <p:sldId id="355" r:id="rId73"/>
    <p:sldId id="356" r:id="rId74"/>
    <p:sldId id="299" r:id="rId75"/>
    <p:sldId id="300" r:id="rId76"/>
    <p:sldId id="301" r:id="rId77"/>
    <p:sldId id="302" r:id="rId78"/>
    <p:sldId id="303" r:id="rId79"/>
    <p:sldId id="304" r:id="rId80"/>
    <p:sldId id="305" r:id="rId81"/>
    <p:sldId id="306" r:id="rId82"/>
    <p:sldId id="307" r:id="rId83"/>
    <p:sldId id="308" r:id="rId84"/>
    <p:sldId id="309" r:id="rId85"/>
    <p:sldId id="312" r:id="rId86"/>
    <p:sldId id="327" r:id="rId8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FFCC66"/>
    <a:srgbClr val="9BBB59"/>
    <a:srgbClr val="F2F2F2"/>
    <a:srgbClr val="99B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9" autoAdjust="0"/>
    <p:restoredTop sz="92857" autoAdjust="0"/>
  </p:normalViewPr>
  <p:slideViewPr>
    <p:cSldViewPr snapToObjects="1">
      <p:cViewPr varScale="1">
        <p:scale>
          <a:sx n="132" d="100"/>
          <a:sy n="132" d="100"/>
        </p:scale>
        <p:origin x="1038" y="9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981A91-466D-401E-8FD8-D95D61305748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340EE7F4-DF96-4DD2-8EE1-026011ECEE64}">
      <dgm:prSet phldrT="[文字]" custT="1"/>
      <dgm:spPr/>
      <dgm:t>
        <a:bodyPr/>
        <a:lstStyle/>
        <a:p>
          <a:r>
            <a: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rPr>
            <a:t>撰寫郵件</a:t>
          </a:r>
        </a:p>
      </dgm:t>
    </dgm:pt>
    <dgm:pt modelId="{E4B37847-6B88-4730-9C4B-B351EEE86B3D}" type="parTrans" cxnId="{FA62F6C3-E92A-42D0-941A-36307C68AA68}">
      <dgm:prSet/>
      <dgm:spPr/>
      <dgm:t>
        <a:bodyPr/>
        <a:lstStyle/>
        <a:p>
          <a:endParaRPr lang="zh-TW" altLang="en-US"/>
        </a:p>
      </dgm:t>
    </dgm:pt>
    <dgm:pt modelId="{A8C24345-52EE-4B14-96B6-20586B918BAD}" type="sibTrans" cxnId="{FA62F6C3-E92A-42D0-941A-36307C68AA68}">
      <dgm:prSet/>
      <dgm:spPr/>
      <dgm:t>
        <a:bodyPr/>
        <a:lstStyle/>
        <a:p>
          <a:endParaRPr lang="zh-TW" altLang="en-US"/>
        </a:p>
      </dgm:t>
    </dgm:pt>
    <dgm:pt modelId="{8F3EBC4D-8D48-49DF-8C4D-7FF750603802}">
      <dgm:prSet phldrT="[文字]" custT="1"/>
      <dgm:spPr/>
      <dgm:t>
        <a:bodyPr/>
        <a:lstStyle/>
        <a:p>
          <a:r>
            <a: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rPr>
            <a:t>寄送郵件</a:t>
          </a:r>
        </a:p>
      </dgm:t>
    </dgm:pt>
    <dgm:pt modelId="{B4FC839A-E366-4993-BC3F-2A2654A77F82}" type="parTrans" cxnId="{929A533C-9F8E-4E89-9689-FC2279CAAA41}">
      <dgm:prSet/>
      <dgm:spPr/>
      <dgm:t>
        <a:bodyPr/>
        <a:lstStyle/>
        <a:p>
          <a:endParaRPr lang="zh-TW" altLang="en-US"/>
        </a:p>
      </dgm:t>
    </dgm:pt>
    <dgm:pt modelId="{334824FB-6FE4-425D-9F64-6EEEA2363596}" type="sibTrans" cxnId="{929A533C-9F8E-4E89-9689-FC2279CAAA41}">
      <dgm:prSet/>
      <dgm:spPr/>
      <dgm:t>
        <a:bodyPr/>
        <a:lstStyle/>
        <a:p>
          <a:endParaRPr lang="zh-TW" altLang="en-US"/>
        </a:p>
      </dgm:t>
    </dgm:pt>
    <dgm:pt modelId="{EF505EA3-B22D-421E-A909-88F45B0CB56A}">
      <dgm:prSet phldrT="[文字]" custT="1"/>
      <dgm:spPr/>
      <dgm:t>
        <a:bodyPr/>
        <a:lstStyle/>
        <a:p>
          <a:r>
            <a: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rPr>
            <a:t>傳送信件</a:t>
          </a:r>
        </a:p>
      </dgm:t>
    </dgm:pt>
    <dgm:pt modelId="{D7539351-D327-4A5D-ADB5-711C4F393A39}" type="parTrans" cxnId="{2B47ABF6-1363-43FF-A912-B5202F63BC0C}">
      <dgm:prSet/>
      <dgm:spPr/>
      <dgm:t>
        <a:bodyPr/>
        <a:lstStyle/>
        <a:p>
          <a:endParaRPr lang="zh-TW" altLang="en-US"/>
        </a:p>
      </dgm:t>
    </dgm:pt>
    <dgm:pt modelId="{84E88BBE-93FB-4932-9781-EE061D08C130}" type="sibTrans" cxnId="{2B47ABF6-1363-43FF-A912-B5202F63BC0C}">
      <dgm:prSet/>
      <dgm:spPr/>
      <dgm:t>
        <a:bodyPr/>
        <a:lstStyle/>
        <a:p>
          <a:endParaRPr lang="zh-TW" altLang="en-US"/>
        </a:p>
      </dgm:t>
    </dgm:pt>
    <dgm:pt modelId="{C6E154BB-7E0B-4350-A0EC-3F3B4D15CAF1}">
      <dgm:prSet phldrT="[文字]" custT="1"/>
      <dgm:spPr/>
      <dgm:t>
        <a:bodyPr/>
        <a:lstStyle/>
        <a:p>
          <a:r>
            <a: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rPr>
            <a:t>收取信件</a:t>
          </a:r>
        </a:p>
      </dgm:t>
    </dgm:pt>
    <dgm:pt modelId="{115C0881-5D4E-4535-A87D-D81E1DC4A0C3}" type="parTrans" cxnId="{01E4D37D-E3E9-4F7B-A6CA-2B6BDB368A87}">
      <dgm:prSet/>
      <dgm:spPr/>
      <dgm:t>
        <a:bodyPr/>
        <a:lstStyle/>
        <a:p>
          <a:endParaRPr lang="zh-TW" altLang="en-US"/>
        </a:p>
      </dgm:t>
    </dgm:pt>
    <dgm:pt modelId="{722E57E4-EC37-4600-81EE-3DCD579E243A}" type="sibTrans" cxnId="{01E4D37D-E3E9-4F7B-A6CA-2B6BDB368A87}">
      <dgm:prSet/>
      <dgm:spPr/>
      <dgm:t>
        <a:bodyPr/>
        <a:lstStyle/>
        <a:p>
          <a:endParaRPr lang="zh-TW" altLang="en-US"/>
        </a:p>
      </dgm:t>
    </dgm:pt>
    <dgm:pt modelId="{F11EF6B7-F737-403B-960D-15E6C17FDBC6}" type="pres">
      <dgm:prSet presAssocID="{E2981A91-466D-401E-8FD8-D95D61305748}" presName="CompostProcess" presStyleCnt="0">
        <dgm:presLayoutVars>
          <dgm:dir/>
          <dgm:resizeHandles val="exact"/>
        </dgm:presLayoutVars>
      </dgm:prSet>
      <dgm:spPr/>
    </dgm:pt>
    <dgm:pt modelId="{BC3D2EF4-0A0A-45DE-83DE-277C4FEB273E}" type="pres">
      <dgm:prSet presAssocID="{E2981A91-466D-401E-8FD8-D95D61305748}" presName="arrow" presStyleLbl="bgShp" presStyleIdx="0" presStyleCnt="1"/>
      <dgm:spPr/>
    </dgm:pt>
    <dgm:pt modelId="{7B1FC53E-9C0D-494A-A358-6A87FCE9E39A}" type="pres">
      <dgm:prSet presAssocID="{E2981A91-466D-401E-8FD8-D95D61305748}" presName="linearProcess" presStyleCnt="0"/>
      <dgm:spPr/>
    </dgm:pt>
    <dgm:pt modelId="{D7646798-07B0-4B4A-A2E3-102E35468C8C}" type="pres">
      <dgm:prSet presAssocID="{340EE7F4-DF96-4DD2-8EE1-026011ECEE64}" presName="textNode" presStyleLbl="node1" presStyleIdx="0" presStyleCnt="4">
        <dgm:presLayoutVars>
          <dgm:bulletEnabled val="1"/>
        </dgm:presLayoutVars>
      </dgm:prSet>
      <dgm:spPr/>
    </dgm:pt>
    <dgm:pt modelId="{9B8CF3E8-3A68-496E-ABCB-A66D7DDFA41F}" type="pres">
      <dgm:prSet presAssocID="{A8C24345-52EE-4B14-96B6-20586B918BAD}" presName="sibTrans" presStyleCnt="0"/>
      <dgm:spPr/>
    </dgm:pt>
    <dgm:pt modelId="{8D1F50A4-8A1B-469B-A727-5DEF2B539F01}" type="pres">
      <dgm:prSet presAssocID="{8F3EBC4D-8D48-49DF-8C4D-7FF750603802}" presName="textNode" presStyleLbl="node1" presStyleIdx="1" presStyleCnt="4">
        <dgm:presLayoutVars>
          <dgm:bulletEnabled val="1"/>
        </dgm:presLayoutVars>
      </dgm:prSet>
      <dgm:spPr/>
    </dgm:pt>
    <dgm:pt modelId="{95D96D52-B7FA-4C27-B5A2-5876363B2F0A}" type="pres">
      <dgm:prSet presAssocID="{334824FB-6FE4-425D-9F64-6EEEA2363596}" presName="sibTrans" presStyleCnt="0"/>
      <dgm:spPr/>
    </dgm:pt>
    <dgm:pt modelId="{FA53209E-2485-453B-8BE7-16482CDF0C02}" type="pres">
      <dgm:prSet presAssocID="{EF505EA3-B22D-421E-A909-88F45B0CB56A}" presName="textNode" presStyleLbl="node1" presStyleIdx="2" presStyleCnt="4">
        <dgm:presLayoutVars>
          <dgm:bulletEnabled val="1"/>
        </dgm:presLayoutVars>
      </dgm:prSet>
      <dgm:spPr/>
    </dgm:pt>
    <dgm:pt modelId="{1B5CAD21-6B6B-409B-BBE8-9588B2179C83}" type="pres">
      <dgm:prSet presAssocID="{84E88BBE-93FB-4932-9781-EE061D08C130}" presName="sibTrans" presStyleCnt="0"/>
      <dgm:spPr/>
    </dgm:pt>
    <dgm:pt modelId="{E5ABE492-E74C-4497-92E8-C9A84BD0F8F8}" type="pres">
      <dgm:prSet presAssocID="{C6E154BB-7E0B-4350-A0EC-3F3B4D15CAF1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0628DF18-5BA2-4757-978B-F804B28E80DF}" type="presOf" srcId="{8F3EBC4D-8D48-49DF-8C4D-7FF750603802}" destId="{8D1F50A4-8A1B-469B-A727-5DEF2B539F01}" srcOrd="0" destOrd="0" presId="urn:microsoft.com/office/officeart/2005/8/layout/hProcess9"/>
    <dgm:cxn modelId="{4A4A6F1E-209A-49FF-8BC3-75D2C59FF480}" type="presOf" srcId="{C6E154BB-7E0B-4350-A0EC-3F3B4D15CAF1}" destId="{E5ABE492-E74C-4497-92E8-C9A84BD0F8F8}" srcOrd="0" destOrd="0" presId="urn:microsoft.com/office/officeart/2005/8/layout/hProcess9"/>
    <dgm:cxn modelId="{94C3961F-F663-4C06-B4E3-099EDA59B5B9}" type="presOf" srcId="{340EE7F4-DF96-4DD2-8EE1-026011ECEE64}" destId="{D7646798-07B0-4B4A-A2E3-102E35468C8C}" srcOrd="0" destOrd="0" presId="urn:microsoft.com/office/officeart/2005/8/layout/hProcess9"/>
    <dgm:cxn modelId="{929A533C-9F8E-4E89-9689-FC2279CAAA41}" srcId="{E2981A91-466D-401E-8FD8-D95D61305748}" destId="{8F3EBC4D-8D48-49DF-8C4D-7FF750603802}" srcOrd="1" destOrd="0" parTransId="{B4FC839A-E366-4993-BC3F-2A2654A77F82}" sibTransId="{334824FB-6FE4-425D-9F64-6EEEA2363596}"/>
    <dgm:cxn modelId="{62D2CC48-E390-4E8A-B52D-BD8C30B5F353}" type="presOf" srcId="{EF505EA3-B22D-421E-A909-88F45B0CB56A}" destId="{FA53209E-2485-453B-8BE7-16482CDF0C02}" srcOrd="0" destOrd="0" presId="urn:microsoft.com/office/officeart/2005/8/layout/hProcess9"/>
    <dgm:cxn modelId="{01E4D37D-E3E9-4F7B-A6CA-2B6BDB368A87}" srcId="{E2981A91-466D-401E-8FD8-D95D61305748}" destId="{C6E154BB-7E0B-4350-A0EC-3F3B4D15CAF1}" srcOrd="3" destOrd="0" parTransId="{115C0881-5D4E-4535-A87D-D81E1DC4A0C3}" sibTransId="{722E57E4-EC37-4600-81EE-3DCD579E243A}"/>
    <dgm:cxn modelId="{FA62F6C3-E92A-42D0-941A-36307C68AA68}" srcId="{E2981A91-466D-401E-8FD8-D95D61305748}" destId="{340EE7F4-DF96-4DD2-8EE1-026011ECEE64}" srcOrd="0" destOrd="0" parTransId="{E4B37847-6B88-4730-9C4B-B351EEE86B3D}" sibTransId="{A8C24345-52EE-4B14-96B6-20586B918BAD}"/>
    <dgm:cxn modelId="{9A1264EB-0EDC-4987-8F0C-6BED1C5D4DA6}" type="presOf" srcId="{E2981A91-466D-401E-8FD8-D95D61305748}" destId="{F11EF6B7-F737-403B-960D-15E6C17FDBC6}" srcOrd="0" destOrd="0" presId="urn:microsoft.com/office/officeart/2005/8/layout/hProcess9"/>
    <dgm:cxn modelId="{2B47ABF6-1363-43FF-A912-B5202F63BC0C}" srcId="{E2981A91-466D-401E-8FD8-D95D61305748}" destId="{EF505EA3-B22D-421E-A909-88F45B0CB56A}" srcOrd="2" destOrd="0" parTransId="{D7539351-D327-4A5D-ADB5-711C4F393A39}" sibTransId="{84E88BBE-93FB-4932-9781-EE061D08C130}"/>
    <dgm:cxn modelId="{DC9EB854-A958-4B98-9FC2-A7B100E15D74}" type="presParOf" srcId="{F11EF6B7-F737-403B-960D-15E6C17FDBC6}" destId="{BC3D2EF4-0A0A-45DE-83DE-277C4FEB273E}" srcOrd="0" destOrd="0" presId="urn:microsoft.com/office/officeart/2005/8/layout/hProcess9"/>
    <dgm:cxn modelId="{F5C2C4C0-505E-4AA8-A5AF-A60BFEDE658B}" type="presParOf" srcId="{F11EF6B7-F737-403B-960D-15E6C17FDBC6}" destId="{7B1FC53E-9C0D-494A-A358-6A87FCE9E39A}" srcOrd="1" destOrd="0" presId="urn:microsoft.com/office/officeart/2005/8/layout/hProcess9"/>
    <dgm:cxn modelId="{CC3FD061-23C5-46E9-BC6E-C27CE202C3A1}" type="presParOf" srcId="{7B1FC53E-9C0D-494A-A358-6A87FCE9E39A}" destId="{D7646798-07B0-4B4A-A2E3-102E35468C8C}" srcOrd="0" destOrd="0" presId="urn:microsoft.com/office/officeart/2005/8/layout/hProcess9"/>
    <dgm:cxn modelId="{A015E180-D2EC-4187-9B5B-5492F011B087}" type="presParOf" srcId="{7B1FC53E-9C0D-494A-A358-6A87FCE9E39A}" destId="{9B8CF3E8-3A68-496E-ABCB-A66D7DDFA41F}" srcOrd="1" destOrd="0" presId="urn:microsoft.com/office/officeart/2005/8/layout/hProcess9"/>
    <dgm:cxn modelId="{BEAA2F6E-8E85-4F40-BB04-7D7E50CC76F8}" type="presParOf" srcId="{7B1FC53E-9C0D-494A-A358-6A87FCE9E39A}" destId="{8D1F50A4-8A1B-469B-A727-5DEF2B539F01}" srcOrd="2" destOrd="0" presId="urn:microsoft.com/office/officeart/2005/8/layout/hProcess9"/>
    <dgm:cxn modelId="{2A684856-644D-4563-B8F4-0100E87C0D52}" type="presParOf" srcId="{7B1FC53E-9C0D-494A-A358-6A87FCE9E39A}" destId="{95D96D52-B7FA-4C27-B5A2-5876363B2F0A}" srcOrd="3" destOrd="0" presId="urn:microsoft.com/office/officeart/2005/8/layout/hProcess9"/>
    <dgm:cxn modelId="{93895B7C-244C-499C-9067-60EA56B0AA8C}" type="presParOf" srcId="{7B1FC53E-9C0D-494A-A358-6A87FCE9E39A}" destId="{FA53209E-2485-453B-8BE7-16482CDF0C02}" srcOrd="4" destOrd="0" presId="urn:microsoft.com/office/officeart/2005/8/layout/hProcess9"/>
    <dgm:cxn modelId="{3D0AF7AA-4173-41E7-A5DE-B55FECEAE390}" type="presParOf" srcId="{7B1FC53E-9C0D-494A-A358-6A87FCE9E39A}" destId="{1B5CAD21-6B6B-409B-BBE8-9588B2179C83}" srcOrd="5" destOrd="0" presId="urn:microsoft.com/office/officeart/2005/8/layout/hProcess9"/>
    <dgm:cxn modelId="{83C58D4A-CFA9-424A-8D20-BBE76121CE83}" type="presParOf" srcId="{7B1FC53E-9C0D-494A-A358-6A87FCE9E39A}" destId="{E5ABE492-E74C-4497-92E8-C9A84BD0F8F8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D2EF4-0A0A-45DE-83DE-277C4FEB273E}">
      <dsp:nvSpPr>
        <dsp:cNvPr id="0" name=""/>
        <dsp:cNvSpPr/>
      </dsp:nvSpPr>
      <dsp:spPr>
        <a:xfrm>
          <a:off x="578639" y="0"/>
          <a:ext cx="6557920" cy="2576410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46798-07B0-4B4A-A2E3-102E35468C8C}">
      <dsp:nvSpPr>
        <dsp:cNvPr id="0" name=""/>
        <dsp:cNvSpPr/>
      </dsp:nvSpPr>
      <dsp:spPr>
        <a:xfrm>
          <a:off x="2637" y="772923"/>
          <a:ext cx="1713316" cy="103056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撰寫郵件</a:t>
          </a:r>
        </a:p>
      </dsp:txBody>
      <dsp:txXfrm>
        <a:off x="52945" y="823231"/>
        <a:ext cx="1612700" cy="929948"/>
      </dsp:txXfrm>
    </dsp:sp>
    <dsp:sp modelId="{8D1F50A4-8A1B-469B-A727-5DEF2B539F01}">
      <dsp:nvSpPr>
        <dsp:cNvPr id="0" name=""/>
        <dsp:cNvSpPr/>
      </dsp:nvSpPr>
      <dsp:spPr>
        <a:xfrm>
          <a:off x="2001506" y="772923"/>
          <a:ext cx="1713316" cy="1030564"/>
        </a:xfrm>
        <a:prstGeom prst="roundRect">
          <a:avLst/>
        </a:prstGeom>
        <a:solidFill>
          <a:schemeClr val="accent3">
            <a:hueOff val="486707"/>
            <a:satOff val="-9055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寄送郵件</a:t>
          </a:r>
        </a:p>
      </dsp:txBody>
      <dsp:txXfrm>
        <a:off x="2051814" y="823231"/>
        <a:ext cx="1612700" cy="929948"/>
      </dsp:txXfrm>
    </dsp:sp>
    <dsp:sp modelId="{FA53209E-2485-453B-8BE7-16482CDF0C02}">
      <dsp:nvSpPr>
        <dsp:cNvPr id="0" name=""/>
        <dsp:cNvSpPr/>
      </dsp:nvSpPr>
      <dsp:spPr>
        <a:xfrm>
          <a:off x="4000376" y="772923"/>
          <a:ext cx="1713316" cy="1030564"/>
        </a:xfrm>
        <a:prstGeom prst="roundRect">
          <a:avLst/>
        </a:prstGeom>
        <a:solidFill>
          <a:schemeClr val="accent3">
            <a:hueOff val="973413"/>
            <a:satOff val="-18109"/>
            <a:lumOff val="-54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傳送信件</a:t>
          </a:r>
        </a:p>
      </dsp:txBody>
      <dsp:txXfrm>
        <a:off x="4050684" y="823231"/>
        <a:ext cx="1612700" cy="929948"/>
      </dsp:txXfrm>
    </dsp:sp>
    <dsp:sp modelId="{E5ABE492-E74C-4497-92E8-C9A84BD0F8F8}">
      <dsp:nvSpPr>
        <dsp:cNvPr id="0" name=""/>
        <dsp:cNvSpPr/>
      </dsp:nvSpPr>
      <dsp:spPr>
        <a:xfrm>
          <a:off x="5999246" y="772923"/>
          <a:ext cx="1713316" cy="1030564"/>
        </a:xfrm>
        <a:prstGeom prst="roundRect">
          <a:avLst/>
        </a:prstGeom>
        <a:solidFill>
          <a:schemeClr val="accent3">
            <a:hueOff val="1460120"/>
            <a:satOff val="-27164"/>
            <a:lumOff val="-82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收取信件</a:t>
          </a:r>
        </a:p>
      </dsp:txBody>
      <dsp:txXfrm>
        <a:off x="6049554" y="823231"/>
        <a:ext cx="1612700" cy="929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B12AB-0481-4543-9448-EE76391C4D02}" type="datetimeFigureOut">
              <a:rPr lang="zh-TW" altLang="en-US" smtClean="0"/>
              <a:pPr/>
              <a:t>2026/6/22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45B1-C9B5-4CB2-8096-E56E4F101A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8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4DD3A007-EE6A-4F90-A889-15E75F8B6C40}" type="slidenum">
              <a:rPr lang="zh-TW" altLang="en-US" smtClean="0">
                <a:latin typeface="Times New Roman" pitchFamily="18" charset="0"/>
              </a:rPr>
              <a:pPr/>
              <a:t>2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ADBE0ACD-1AB4-45FA-BBA1-30EF8BA95AE1}" type="slidenum">
              <a:rPr lang="zh-TW" altLang="en-US" smtClean="0">
                <a:latin typeface="Times New Roman" pitchFamily="18" charset="0"/>
              </a:rPr>
              <a:pPr/>
              <a:t>26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B2019DC9-87D2-470E-AB93-1DC90F2DD0AE}" type="slidenum">
              <a:rPr lang="zh-TW" altLang="en-US" smtClean="0">
                <a:latin typeface="Times New Roman" pitchFamily="18" charset="0"/>
              </a:rPr>
              <a:pPr/>
              <a:t>27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2FF0331D-A43A-4D00-A496-011253968436}" type="slidenum">
              <a:rPr lang="zh-TW" altLang="en-US" smtClean="0">
                <a:latin typeface="Times New Roman" pitchFamily="18" charset="0"/>
              </a:rPr>
              <a:pPr/>
              <a:t>28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0ED86E15-5028-4A6E-9242-7AA53F760F7C}" type="slidenum">
              <a:rPr lang="zh-TW" altLang="en-US" smtClean="0">
                <a:latin typeface="Times New Roman" pitchFamily="18" charset="0"/>
              </a:rPr>
              <a:pPr/>
              <a:t>29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9F02EA7D-98D8-466F-BD54-5F39D63A4270}" type="slidenum">
              <a:rPr lang="zh-TW" altLang="en-US" smtClean="0">
                <a:latin typeface="Times New Roman" pitchFamily="18" charset="0"/>
              </a:rPr>
              <a:pPr/>
              <a:t>30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245B1-C9B5-4CB2-8096-E56E4F101A5F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02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E363DEF7-BEAB-48AB-AC41-D06054FE2496}" type="slidenum">
              <a:rPr lang="zh-TW" altLang="en-US" smtClean="0">
                <a:latin typeface="Times New Roman" pitchFamily="18" charset="0"/>
              </a:rPr>
              <a:pPr/>
              <a:t>74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B8DFE50C-A439-421C-99F0-7542857E9D2D}" type="slidenum">
              <a:rPr lang="zh-TW" altLang="en-US" smtClean="0">
                <a:latin typeface="Times New Roman" pitchFamily="18" charset="0"/>
              </a:rPr>
              <a:pPr/>
              <a:t>75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6B25726F-E35F-4AB8-9EDB-95242DAFEC79}" type="slidenum">
              <a:rPr lang="zh-TW" altLang="en-US" smtClean="0">
                <a:latin typeface="Times New Roman" pitchFamily="18" charset="0"/>
              </a:rPr>
              <a:pPr/>
              <a:t>76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20577861-EC88-4FAF-B03D-8E11EAEEBB67}" type="slidenum">
              <a:rPr lang="zh-TW" altLang="en-US" smtClean="0">
                <a:latin typeface="Times New Roman" pitchFamily="18" charset="0"/>
              </a:rPr>
              <a:pPr/>
              <a:t>77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3FB98565-64E1-405F-B99E-72828C492FF9}" type="slidenum">
              <a:rPr lang="zh-TW" altLang="en-US" smtClean="0">
                <a:latin typeface="Times New Roman" pitchFamily="18" charset="0"/>
              </a:rPr>
              <a:pPr/>
              <a:t>78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DDBAC1B5-F6AD-4D9F-BAA0-D30DED47A1B0}" type="slidenum">
              <a:rPr lang="zh-TW" altLang="en-US" smtClean="0">
                <a:latin typeface="Times New Roman" pitchFamily="18" charset="0"/>
              </a:rPr>
              <a:pPr/>
              <a:t>80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23874DE7-4900-48D6-9B97-957FB9CB9497}" type="slidenum">
              <a:rPr lang="zh-TW" altLang="en-US" smtClean="0">
                <a:latin typeface="Times New Roman" pitchFamily="18" charset="0"/>
              </a:rPr>
              <a:pPr/>
              <a:t>81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8E60AA6B-A578-4D2A-A2C4-407A542325E6}" type="slidenum">
              <a:rPr lang="zh-TW" altLang="en-US" smtClean="0">
                <a:latin typeface="Times New Roman" pitchFamily="18" charset="0"/>
              </a:rPr>
              <a:pPr/>
              <a:t>82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EA7DB44D-FAB0-4D58-870E-4C94341980AA}" type="slidenum">
              <a:rPr lang="zh-TW" altLang="en-US" smtClean="0">
                <a:latin typeface="Times New Roman" pitchFamily="18" charset="0"/>
              </a:rPr>
              <a:pPr/>
              <a:t>83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CB995A61-22CB-4C77-9758-28B20C9C95B0}" type="slidenum">
              <a:rPr lang="zh-TW" altLang="en-US" smtClean="0">
                <a:latin typeface="Times New Roman" pitchFamily="18" charset="0"/>
              </a:rPr>
              <a:pPr/>
              <a:t>84</a:t>
            </a:fld>
            <a:endParaRPr lang="en-US" altLang="zh-TW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26078" y="377110"/>
            <a:ext cx="9170078" cy="47640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8" name="圓角矩形圖說文字 277"/>
          <p:cNvSpPr/>
          <p:nvPr userDrawn="1"/>
        </p:nvSpPr>
        <p:spPr>
          <a:xfrm>
            <a:off x="272957" y="715295"/>
            <a:ext cx="2737212" cy="742533"/>
          </a:xfrm>
          <a:prstGeom prst="wedgeRoundRectCallout">
            <a:avLst>
              <a:gd name="adj1" fmla="val 34844"/>
              <a:gd name="adj2" fmla="val 81478"/>
              <a:gd name="adj3" fmla="val 16667"/>
            </a:avLst>
          </a:prstGeom>
          <a:solidFill>
            <a:srgbClr val="F2F2F2">
              <a:alpha val="20000"/>
            </a:srgbClr>
          </a:solidFill>
          <a:ln w="28575">
            <a:solidFill>
              <a:srgbClr val="000000">
                <a:alpha val="2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157956" y="782801"/>
            <a:ext cx="5476465" cy="725061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計算機簡介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22802" y="1795463"/>
            <a:ext cx="4194429" cy="2801541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11650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3896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 userDrawn="1"/>
        </p:nvSpPr>
        <p:spPr>
          <a:xfrm>
            <a:off x="258073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 userDrawn="1"/>
        </p:nvSpPr>
        <p:spPr>
          <a:xfrm>
            <a:off x="5420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6944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899699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1172887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1041264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1325287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 userDrawn="1"/>
        </p:nvSpPr>
        <p:spPr>
          <a:xfrm>
            <a:off x="1477687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1698757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97194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840325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212434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227674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2512461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2785649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2654026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2938049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3090449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3318940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359212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3460505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374452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389692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4129030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 userDrawn="1"/>
        </p:nvSpPr>
        <p:spPr>
          <a:xfrm>
            <a:off x="440221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 userDrawn="1"/>
        </p:nvSpPr>
        <p:spPr>
          <a:xfrm>
            <a:off x="4270595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 userDrawn="1"/>
        </p:nvSpPr>
        <p:spPr>
          <a:xfrm>
            <a:off x="455461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 userDrawn="1"/>
        </p:nvSpPr>
        <p:spPr>
          <a:xfrm>
            <a:off x="470701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矩形 77"/>
          <p:cNvSpPr/>
          <p:nvPr userDrawn="1"/>
        </p:nvSpPr>
        <p:spPr>
          <a:xfrm>
            <a:off x="4939117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 userDrawn="1"/>
        </p:nvSpPr>
        <p:spPr>
          <a:xfrm>
            <a:off x="521230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 userDrawn="1"/>
        </p:nvSpPr>
        <p:spPr>
          <a:xfrm>
            <a:off x="5080685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 userDrawn="1"/>
        </p:nvSpPr>
        <p:spPr>
          <a:xfrm>
            <a:off x="5364705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 userDrawn="1"/>
        </p:nvSpPr>
        <p:spPr>
          <a:xfrm>
            <a:off x="5517108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 userDrawn="1"/>
        </p:nvSpPr>
        <p:spPr>
          <a:xfrm>
            <a:off x="5749210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 userDrawn="1"/>
        </p:nvSpPr>
        <p:spPr>
          <a:xfrm>
            <a:off x="602239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5890773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矩形 85"/>
          <p:cNvSpPr/>
          <p:nvPr userDrawn="1"/>
        </p:nvSpPr>
        <p:spPr>
          <a:xfrm>
            <a:off x="617479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/>
          <p:cNvSpPr/>
          <p:nvPr userDrawn="1"/>
        </p:nvSpPr>
        <p:spPr>
          <a:xfrm>
            <a:off x="632719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/>
          <p:cNvSpPr/>
          <p:nvPr userDrawn="1"/>
        </p:nvSpPr>
        <p:spPr>
          <a:xfrm>
            <a:off x="6563899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/>
          <p:cNvSpPr/>
          <p:nvPr userDrawn="1"/>
        </p:nvSpPr>
        <p:spPr>
          <a:xfrm>
            <a:off x="6837087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矩形 89"/>
          <p:cNvSpPr/>
          <p:nvPr userDrawn="1"/>
        </p:nvSpPr>
        <p:spPr>
          <a:xfrm>
            <a:off x="670546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矩形 90"/>
          <p:cNvSpPr/>
          <p:nvPr userDrawn="1"/>
        </p:nvSpPr>
        <p:spPr>
          <a:xfrm>
            <a:off x="6989487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 userDrawn="1"/>
        </p:nvSpPr>
        <p:spPr>
          <a:xfrm>
            <a:off x="7141887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/>
          <p:cNvSpPr/>
          <p:nvPr userDrawn="1"/>
        </p:nvSpPr>
        <p:spPr>
          <a:xfrm>
            <a:off x="7369389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/>
          <p:cNvSpPr/>
          <p:nvPr userDrawn="1"/>
        </p:nvSpPr>
        <p:spPr>
          <a:xfrm>
            <a:off x="764257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 94"/>
          <p:cNvSpPr/>
          <p:nvPr userDrawn="1"/>
        </p:nvSpPr>
        <p:spPr>
          <a:xfrm>
            <a:off x="7510952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/>
          <p:cNvSpPr/>
          <p:nvPr userDrawn="1"/>
        </p:nvSpPr>
        <p:spPr>
          <a:xfrm>
            <a:off x="7794977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 userDrawn="1"/>
        </p:nvSpPr>
        <p:spPr>
          <a:xfrm>
            <a:off x="794737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矩形 97"/>
          <p:cNvSpPr/>
          <p:nvPr userDrawn="1"/>
        </p:nvSpPr>
        <p:spPr>
          <a:xfrm>
            <a:off x="8171735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 userDrawn="1"/>
        </p:nvSpPr>
        <p:spPr>
          <a:xfrm>
            <a:off x="8444925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 userDrawn="1"/>
        </p:nvSpPr>
        <p:spPr>
          <a:xfrm>
            <a:off x="8313302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 userDrawn="1"/>
        </p:nvSpPr>
        <p:spPr>
          <a:xfrm>
            <a:off x="8597325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 userDrawn="1"/>
        </p:nvSpPr>
        <p:spPr>
          <a:xfrm>
            <a:off x="8749725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 userDrawn="1"/>
        </p:nvSpPr>
        <p:spPr>
          <a:xfrm>
            <a:off x="8969632" y="1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5" name="圖片版面配置區 274"/>
          <p:cNvSpPr>
            <a:spLocks noGrp="1"/>
          </p:cNvSpPr>
          <p:nvPr>
            <p:ph type="pic" sz="quarter" idx="13"/>
          </p:nvPr>
        </p:nvSpPr>
        <p:spPr>
          <a:xfrm>
            <a:off x="0" y="1795463"/>
            <a:ext cx="4622800" cy="2801541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276" name="文字方塊 275"/>
          <p:cNvSpPr txBox="1"/>
          <p:nvPr userDrawn="1"/>
        </p:nvSpPr>
        <p:spPr>
          <a:xfrm>
            <a:off x="264913" y="636535"/>
            <a:ext cx="2768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/>
                </a:solidFill>
              </a:rPr>
              <a:t>CHAPTER</a:t>
            </a:r>
            <a:r>
              <a:rPr lang="zh-TW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TW" sz="5400" b="1" dirty="0">
                <a:solidFill>
                  <a:schemeClr val="accent5">
                    <a:lumMod val="50000"/>
                  </a:schemeClr>
                </a:solidFill>
              </a:rPr>
              <a:t>07</a:t>
            </a:r>
            <a:endParaRPr lang="zh-TW" altLang="en-US" sz="5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34604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8229600" cy="2934224"/>
          </a:xfrm>
        </p:spPr>
        <p:txBody>
          <a:bodyPr/>
          <a:lstStyle>
            <a:lvl1pPr marL="457200" indent="-457200" algn="just" hangingPunct="0">
              <a:lnSpc>
                <a:spcPct val="120000"/>
              </a:lnSpc>
              <a:spcBef>
                <a:spcPts val="800"/>
              </a:spcBef>
              <a:buFontTx/>
              <a:buBlip>
                <a:blip r:embed="rId2"/>
              </a:buBlip>
              <a:defRPr sz="2800" b="1">
                <a:latin typeface="微軟正黑體" pitchFamily="34" charset="-120"/>
                <a:ea typeface="微軟正黑體" pitchFamily="34" charset="-120"/>
              </a:defRPr>
            </a:lvl1pPr>
            <a:lvl2pPr marL="914400" indent="-457200" algn="just" hangingPunct="0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Font typeface="Wingdings 3" panose="05040102010807070707" pitchFamily="18" charset="2"/>
              <a:buChar char=""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1257300" indent="-342900" algn="just" hangingPunct="0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Font typeface="微軟正黑體" panose="020B0604030504040204" pitchFamily="34" charset="-120"/>
              <a:buChar char="■"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 algn="just" hangingPunc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 algn="just" hangingPunc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16" name="矩形 15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17" name="矩形 16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1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3" cstate="screen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文字方塊 14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07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30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84063"/>
            <a:ext cx="8229600" cy="3710560"/>
          </a:xfrm>
        </p:spPr>
        <p:txBody>
          <a:bodyPr/>
          <a:lstStyle>
            <a:lvl1pPr marL="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14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6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8" y="1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8073137" y="38694"/>
            <a:ext cx="11251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Chapter</a:t>
            </a:r>
          </a:p>
          <a:p>
            <a:pPr algn="ctr"/>
            <a:r>
              <a:rPr lang="en-US" altLang="zh-TW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07</a:t>
            </a:r>
            <a:endParaRPr lang="zh-TW" altLang="en-US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7677348" y="388487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16" name="矩形 15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17" name="矩形 16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1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文字方塊 14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07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75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546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14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6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8" y="1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8073137" y="38694"/>
            <a:ext cx="11251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Chapter</a:t>
            </a:r>
          </a:p>
          <a:p>
            <a:pPr algn="ctr"/>
            <a:r>
              <a:rPr lang="en-US" altLang="zh-TW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07</a:t>
            </a:r>
            <a:endParaRPr lang="zh-TW" altLang="en-US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812363" y="291554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8" y="388487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457200" y="850309"/>
            <a:ext cx="8229600" cy="3744314"/>
          </a:xfrm>
        </p:spPr>
        <p:txBody>
          <a:bodyPr/>
          <a:lstStyle>
            <a:lvl1pPr marL="457200" indent="-457200">
              <a:buFontTx/>
              <a:buBlip>
                <a:blip r:embed="rId4"/>
              </a:buBlip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4" name="群組 13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5" name="群組 14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17" name="矩形 16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2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5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" name="文字方塊 15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07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720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Picture 15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3616" y="722472"/>
            <a:ext cx="2456765" cy="63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3"/>
          <p:cNvPicPr>
            <a:picLocks noChangeAspect="1" noChangeArrowheads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87232">
            <a:off x="7757944" y="802232"/>
            <a:ext cx="1038226" cy="8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群組 4"/>
          <p:cNvGrpSpPr/>
          <p:nvPr userDrawn="1"/>
        </p:nvGrpSpPr>
        <p:grpSpPr>
          <a:xfrm>
            <a:off x="683018" y="771550"/>
            <a:ext cx="1781968" cy="414607"/>
            <a:chOff x="683018" y="1178750"/>
            <a:chExt cx="1781968" cy="414607"/>
          </a:xfrm>
        </p:grpSpPr>
        <p:sp>
          <p:nvSpPr>
            <p:cNvPr id="24" name="橢圓 23"/>
            <p:cNvSpPr/>
            <p:nvPr userDrawn="1"/>
          </p:nvSpPr>
          <p:spPr>
            <a:xfrm>
              <a:off x="683018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 userDrawn="1"/>
          </p:nvSpPr>
          <p:spPr>
            <a:xfrm>
              <a:off x="115162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 userDrawn="1"/>
          </p:nvSpPr>
          <p:spPr>
            <a:xfrm>
              <a:off x="160167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 userDrawn="1"/>
          </p:nvSpPr>
          <p:spPr>
            <a:xfrm>
              <a:off x="2051720" y="1180091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文字方塊 22"/>
          <p:cNvSpPr txBox="1"/>
          <p:nvPr userDrawn="1"/>
        </p:nvSpPr>
        <p:spPr>
          <a:xfrm>
            <a:off x="701570" y="789784"/>
            <a:ext cx="222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IT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　專    家    </a:t>
            </a:r>
            <a:endParaRPr lang="en-US" altLang="zh-TW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46" name="群組 45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47" name="群組 46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49" name="矩形 48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50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矩形 50"/>
              <p:cNvSpPr/>
              <p:nvPr userDrawn="1"/>
            </p:nvSpPr>
            <p:spPr>
              <a:xfrm>
                <a:off x="906573" y="179684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2" name="矩形 51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矩形 52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矩形 53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8" name="文字方塊 47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603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9"/>
            <a:ext cx="9144000" cy="39154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9144000" cy="546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14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6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8" y="1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8073137" y="38694"/>
            <a:ext cx="11251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Chapter</a:t>
            </a:r>
          </a:p>
          <a:p>
            <a:pPr algn="ctr"/>
            <a:r>
              <a:rPr lang="en-US" altLang="zh-TW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07</a:t>
            </a:r>
            <a:endParaRPr lang="zh-TW" altLang="en-US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812363" y="291554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8" y="388487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8" y="1255355"/>
            <a:ext cx="8604269" cy="31053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內容版面配置區 2"/>
          <p:cNvSpPr>
            <a:spLocks noGrp="1"/>
          </p:cNvSpPr>
          <p:nvPr>
            <p:ph idx="1"/>
          </p:nvPr>
        </p:nvSpPr>
        <p:spPr>
          <a:xfrm>
            <a:off x="406096" y="1692375"/>
            <a:ext cx="8229600" cy="26683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lnSpc>
                <a:spcPct val="120000"/>
              </a:lnSpc>
              <a:spcBef>
                <a:spcPts val="800"/>
              </a:spcBef>
              <a:buNone/>
              <a:defRPr sz="2000" b="1"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lnSpc>
                <a:spcPct val="120000"/>
              </a:lnSpc>
              <a:spcBef>
                <a:spcPts val="800"/>
              </a:spcBef>
              <a:buNone/>
              <a:defRPr sz="2000"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sz="1800"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sz="1800"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6" name="群組 15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17" name="群組 16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20" name="矩形 19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21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矩形 21"/>
              <p:cNvSpPr/>
              <p:nvPr userDrawn="1"/>
            </p:nvSpPr>
            <p:spPr>
              <a:xfrm>
                <a:off x="906573" y="17968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3" name="矩形 22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矩形 23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8" name="文字方塊 17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6" name="群組 25"/>
          <p:cNvGrpSpPr/>
          <p:nvPr userDrawn="1"/>
        </p:nvGrpSpPr>
        <p:grpSpPr>
          <a:xfrm>
            <a:off x="364973" y="636535"/>
            <a:ext cx="8347487" cy="1080120"/>
            <a:chOff x="364973" y="636535"/>
            <a:chExt cx="8347487" cy="1080120"/>
          </a:xfrm>
        </p:grpSpPr>
        <p:pic>
          <p:nvPicPr>
            <p:cNvPr id="27" name="Picture 14"/>
            <p:cNvPicPr>
              <a:picLocks noChangeAspect="1" noChangeArrowheads="1"/>
            </p:cNvPicPr>
            <p:nvPr userDrawn="1"/>
          </p:nvPicPr>
          <p:blipFill>
            <a:blip r:embed="rId5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6036" y="851302"/>
              <a:ext cx="616424" cy="76555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3" descr="D:\製作中\02再版書\0558909\資訊小耳朵 圖.png"/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973" y="636535"/>
              <a:ext cx="3836948" cy="1080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文字方塊 28"/>
            <p:cNvSpPr txBox="1"/>
            <p:nvPr userDrawn="1"/>
          </p:nvSpPr>
          <p:spPr>
            <a:xfrm>
              <a:off x="607663" y="1254990"/>
              <a:ext cx="27942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資    訊    專    欄</a:t>
              </a:r>
              <a:endParaRPr lang="en-US" altLang="zh-TW" sz="2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92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1875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1443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9058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25242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100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999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208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351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7528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1" name="橢圓 10"/>
          <p:cNvSpPr/>
          <p:nvPr userDrawn="1"/>
        </p:nvSpPr>
        <p:spPr>
          <a:xfrm>
            <a:off x="161510" y="4641980"/>
            <a:ext cx="450050" cy="45005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 userDrawn="1"/>
        </p:nvSpPr>
        <p:spPr>
          <a:xfrm>
            <a:off x="296525" y="4641980"/>
            <a:ext cx="450050" cy="450050"/>
          </a:xfrm>
          <a:prstGeom prst="ellipse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Picture 2" descr="D:\桌面\logo.png"/>
          <p:cNvPicPr>
            <a:picLocks noChangeAspect="1" noChangeArrowheads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6595" y="4802608"/>
            <a:ext cx="61025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動作按鈕: 上一項 13">
            <a:hlinkClick r:id="" action="ppaction://hlinkshowjump?jump=previousslide" highlightClick="1"/>
          </p:cNvPr>
          <p:cNvSpPr/>
          <p:nvPr userDrawn="1"/>
        </p:nvSpPr>
        <p:spPr>
          <a:xfrm>
            <a:off x="7452320" y="4668462"/>
            <a:ext cx="360000" cy="360000"/>
          </a:xfrm>
          <a:prstGeom prst="actionButtonBackPreviou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reflection blurRad="6350" stA="50000" endA="300" endPos="90000" dir="5400000" sy="-100000" algn="bl" rotWithShape="0"/>
          </a:effectLst>
          <a:scene3d>
            <a:camera prst="obliqueBottomRight"/>
            <a:lightRig rig="threePt" dir="t"/>
          </a:scene3d>
          <a:sp3d>
            <a:bevelT w="25400" h="254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動作按鈕: 首頁 14">
            <a:hlinkClick r:id="" action="ppaction://hlinkshowjump?jump=firstslide" highlightClick="1"/>
          </p:cNvPr>
          <p:cNvSpPr/>
          <p:nvPr userDrawn="1"/>
        </p:nvSpPr>
        <p:spPr>
          <a:xfrm>
            <a:off x="7992380" y="4668462"/>
            <a:ext cx="360000" cy="360000"/>
          </a:xfrm>
          <a:prstGeom prst="actionButtonHom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reflection blurRad="6350" stA="50000" endA="300" endPos="90000" dir="5400000" sy="-100000" algn="bl" rotWithShape="0"/>
          </a:effectLst>
          <a:scene3d>
            <a:camera prst="obliqueBottomRight"/>
            <a:lightRig rig="threePt" dir="t"/>
          </a:scene3d>
          <a:sp3d>
            <a:bevelT w="25400" h="254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動作按鈕: 下一項 15">
            <a:hlinkClick r:id="" action="ppaction://hlinkshowjump?jump=nextslide" highlightClick="1"/>
          </p:cNvPr>
          <p:cNvSpPr/>
          <p:nvPr userDrawn="1"/>
        </p:nvSpPr>
        <p:spPr>
          <a:xfrm>
            <a:off x="8492930" y="4667573"/>
            <a:ext cx="360000" cy="360000"/>
          </a:xfrm>
          <a:prstGeom prst="actionButtonForwardNex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reflection blurRad="6350" stA="50000" endA="300" endPos="90000" dir="5400000" sy="-100000" algn="bl" rotWithShape="0"/>
          </a:effectLst>
          <a:scene3d>
            <a:camera prst="obliqueBottomRight"/>
            <a:lightRig rig="threePt" dir="t"/>
          </a:scene3d>
          <a:sp3d>
            <a:bevelT w="25400" h="254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116508" y="4694752"/>
            <a:ext cx="58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B089E88-AE65-4CA2-BA11-4B6DC14C3389}" type="slidenum">
              <a:rPr lang="zh-TW" altLang="en-US" smtClean="0">
                <a:solidFill>
                  <a:schemeClr val="bg1"/>
                </a:solidFill>
              </a:rPr>
              <a:pPr algn="ctr"/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0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4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3" Type="http://schemas.openxmlformats.org/officeDocument/2006/relationships/slide" Target="slide2.xml"/><Relationship Id="rId7" Type="http://schemas.openxmlformats.org/officeDocument/2006/relationships/slide" Target="slide7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6.xml"/><Relationship Id="rId5" Type="http://schemas.openxmlformats.org/officeDocument/2006/relationships/slide" Target="slide26.xml"/><Relationship Id="rId4" Type="http://schemas.openxmlformats.org/officeDocument/2006/relationships/slide" Target="slide12.xml"/><Relationship Id="rId9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experiments.withgoogle.com/shared-piano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kripken.github.io/misc-js-benchmarks/banana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/>
          <p:cNvCxnSpPr/>
          <p:nvPr/>
        </p:nvCxnSpPr>
        <p:spPr>
          <a:xfrm>
            <a:off x="3157953" y="1507862"/>
            <a:ext cx="5779532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:\製作中\02再版書\0558909\章首頁\no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204" y="1487350"/>
            <a:ext cx="3790950" cy="33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3157956" y="782802"/>
            <a:ext cx="5476465" cy="704549"/>
          </a:xfrm>
        </p:spPr>
        <p:txBody>
          <a:bodyPr/>
          <a:lstStyle/>
          <a:p>
            <a:r>
              <a:rPr lang="zh-TW" altLang="en-US" dirty="0"/>
              <a:t>網路應用</a:t>
            </a:r>
          </a:p>
        </p:txBody>
      </p:sp>
      <p:sp>
        <p:nvSpPr>
          <p:cNvPr id="3" name="矩形 2"/>
          <p:cNvSpPr/>
          <p:nvPr/>
        </p:nvSpPr>
        <p:spPr>
          <a:xfrm>
            <a:off x="5374295" y="1792831"/>
            <a:ext cx="3530134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 action="ppaction://hlinksldjump"/>
              </a:rPr>
              <a:t>7-1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 action="ppaction://hlinksldjump"/>
              </a:rPr>
              <a:t>電子郵件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 action="ppaction://hlinksldjump"/>
              </a:rPr>
              <a:t>7-2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 action="ppaction://hlinksldjump"/>
              </a:rPr>
              <a:t>電子佈告欄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 action="ppaction://hlinksldjump"/>
              </a:rPr>
              <a:t>7-3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 action="ppaction://hlinksldjump"/>
              </a:rPr>
              <a:t>全球資訊網運作原理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6" action="ppaction://hlinksldjump"/>
              </a:rPr>
              <a:t>7-4 WWW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6" action="ppaction://hlinksldjump"/>
              </a:rPr>
              <a:t>及相關應用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7" action="ppaction://hlinksldjump"/>
              </a:rPr>
              <a:t>7-5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7" action="ppaction://hlinksldjump"/>
              </a:rPr>
              <a:t>網頁製作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7402" y="1939537"/>
            <a:ext cx="2308081" cy="2308081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401888">
            <a:off x="1236381" y="2135582"/>
            <a:ext cx="2308081" cy="2308081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077218">
            <a:off x="1389722" y="2376400"/>
            <a:ext cx="2308081" cy="2308081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374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7-1 </a:t>
            </a:r>
            <a:r>
              <a:rPr lang="zh-TW" altLang="en-US"/>
              <a:t>電子郵件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第一個殺手級應用。</a:t>
            </a:r>
            <a:endParaRPr lang="en-US" altLang="zh-TW"/>
          </a:p>
          <a:p>
            <a:r>
              <a:rPr lang="zh-TW" altLang="en-US"/>
              <a:t>電子郵件系統示意圖。</a:t>
            </a:r>
            <a:endParaRPr lang="en-US" altLang="zh-TW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005" y="1491630"/>
            <a:ext cx="3878733" cy="2651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876589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Email</a:t>
            </a:r>
            <a:r>
              <a:rPr lang="zh-TW" altLang="en-US"/>
              <a:t>位址</a:t>
            </a:r>
            <a:endParaRPr lang="zh-TW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「使用者名稱</a:t>
            </a:r>
            <a:r>
              <a:rPr lang="en-US" altLang="zh-TW"/>
              <a:t>@</a:t>
            </a:r>
            <a:r>
              <a:rPr lang="zh-TW" altLang="en-US"/>
              <a:t>網域名稱」</a:t>
            </a:r>
            <a:endParaRPr lang="en-US" altLang="zh-TW"/>
          </a:p>
          <a:p>
            <a:r>
              <a:rPr lang="zh-TW" altLang="en-US"/>
              <a:t>範例</a:t>
            </a:r>
            <a:endParaRPr lang="en-US" altLang="zh-TW"/>
          </a:p>
          <a:p>
            <a:pPr lvl="1"/>
            <a:r>
              <a:rPr lang="en-US" altLang="zh-TW"/>
              <a:t>sample.user@gmail.com</a:t>
            </a:r>
          </a:p>
          <a:p>
            <a:pPr lvl="1"/>
            <a:r>
              <a:rPr lang="en-US" altLang="zh-TW"/>
              <a:t>user1@yahoo.com</a:t>
            </a:r>
          </a:p>
          <a:p>
            <a:pPr lvl="1"/>
            <a:r>
              <a:rPr lang="en-US" altLang="zh-TW"/>
              <a:t>anotheruser@ntu.edu.tw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801511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電子郵件元素</a:t>
            </a:r>
            <a:endParaRPr lang="zh-TW" altLang="en-US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使用者代理人（</a:t>
            </a:r>
            <a:r>
              <a:rPr lang="en-US" altLang="zh-TW" dirty="0"/>
              <a:t>user agent</a:t>
            </a:r>
            <a:r>
              <a:rPr lang="zh-TW" altLang="en-US" dirty="0"/>
              <a:t>）：</a:t>
            </a:r>
            <a:endParaRPr lang="en-US" altLang="zh-TW" dirty="0"/>
          </a:p>
          <a:p>
            <a:pPr lvl="1"/>
            <a:r>
              <a:rPr lang="zh-TW" altLang="en-US" dirty="0"/>
              <a:t>常見的</a:t>
            </a:r>
            <a:r>
              <a:rPr lang="en-US" altLang="zh-TW" dirty="0"/>
              <a:t>Email</a:t>
            </a:r>
            <a:r>
              <a:rPr lang="zh-TW" altLang="en-US" dirty="0"/>
              <a:t>軟體。</a:t>
            </a:r>
            <a:endParaRPr lang="en-US" altLang="zh-TW" dirty="0"/>
          </a:p>
          <a:p>
            <a:pPr lvl="1"/>
            <a:r>
              <a:rPr lang="en-US" altLang="zh-TW" dirty="0"/>
              <a:t>Windows Mail</a:t>
            </a:r>
            <a:r>
              <a:rPr lang="zh-TW" altLang="en-US" dirty="0"/>
              <a:t>、</a:t>
            </a:r>
            <a:r>
              <a:rPr lang="en-US" altLang="zh-TW" dirty="0"/>
              <a:t>Office Outlook</a:t>
            </a:r>
            <a:r>
              <a:rPr lang="zh-TW" altLang="en-US" dirty="0"/>
              <a:t>、</a:t>
            </a:r>
            <a:r>
              <a:rPr lang="en-US" altLang="zh-TW" dirty="0"/>
              <a:t>Thunderbird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郵件伺服器（</a:t>
            </a:r>
            <a:r>
              <a:rPr lang="en-US" altLang="zh-TW" dirty="0"/>
              <a:t>mail server</a:t>
            </a:r>
            <a:r>
              <a:rPr lang="zh-TW" altLang="en-US" dirty="0"/>
              <a:t>）：</a:t>
            </a:r>
            <a:endParaRPr lang="en-US" altLang="zh-TW" dirty="0"/>
          </a:p>
          <a:p>
            <a:pPr lvl="1"/>
            <a:r>
              <a:rPr lang="zh-TW" altLang="en-US" dirty="0"/>
              <a:t>負責接收、傳送和儲存</a:t>
            </a:r>
            <a:r>
              <a:rPr lang="en-US" altLang="zh-TW" dirty="0"/>
              <a:t>Email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890649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電子郵件元素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　</a:t>
            </a:r>
            <a:r>
              <a:rPr lang="en-US" altLang="zh-TW" dirty="0"/>
              <a:t>Alice</a:t>
            </a:r>
            <a:r>
              <a:rPr lang="zh-TW" altLang="en-US" dirty="0"/>
              <a:t>傳送電子郵件給</a:t>
            </a:r>
            <a:r>
              <a:rPr lang="en-US" altLang="zh-TW" dirty="0"/>
              <a:t>Bob</a:t>
            </a:r>
            <a:r>
              <a:rPr lang="zh-TW" altLang="en-US" dirty="0"/>
              <a:t>的流程示意圖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3"/>
          <a:stretch/>
        </p:blipFill>
        <p:spPr bwMode="auto">
          <a:xfrm>
            <a:off x="1421650" y="2434383"/>
            <a:ext cx="6901446" cy="210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7129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電子郵件元素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1886089"/>
              </p:ext>
            </p:extLst>
          </p:nvPr>
        </p:nvGraphicFramePr>
        <p:xfrm>
          <a:off x="746575" y="1806665"/>
          <a:ext cx="7715200" cy="2576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1833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電子郵件元素</a:t>
            </a:r>
            <a:endParaRPr lang="en-US" altLang="zh-TW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通訊協定（</a:t>
            </a:r>
            <a:r>
              <a:rPr lang="en-US" altLang="zh-TW" dirty="0"/>
              <a:t>protocol</a:t>
            </a:r>
            <a:r>
              <a:rPr lang="zh-TW" altLang="en-US" dirty="0"/>
              <a:t>）：</a:t>
            </a:r>
            <a:endParaRPr lang="en-US" altLang="zh-TW" dirty="0"/>
          </a:p>
          <a:p>
            <a:pPr lvl="1"/>
            <a:r>
              <a:rPr lang="en-US" altLang="zh-TW" dirty="0"/>
              <a:t>SMTP (simple mail transfer protocol)</a:t>
            </a:r>
            <a:r>
              <a:rPr lang="zh-TW" altLang="en-US" dirty="0"/>
              <a:t>用來寄送和傳遞郵件。</a:t>
            </a:r>
            <a:endParaRPr lang="en-US" altLang="zh-TW" dirty="0"/>
          </a:p>
          <a:p>
            <a:pPr lvl="1"/>
            <a:r>
              <a:rPr lang="en-US" altLang="zh-TW" dirty="0"/>
              <a:t>POP3 (post office protocol 3)</a:t>
            </a:r>
            <a:r>
              <a:rPr lang="zh-TW" altLang="en-US" dirty="0"/>
              <a:t>用來下載郵件。</a:t>
            </a:r>
            <a:endParaRPr lang="en-US" altLang="zh-TW" dirty="0"/>
          </a:p>
          <a:p>
            <a:pPr lvl="1"/>
            <a:r>
              <a:rPr lang="en-US" altLang="zh-TW" dirty="0"/>
              <a:t>IMAP (Internet message access protocol)</a:t>
            </a:r>
            <a:r>
              <a:rPr lang="zh-TW" altLang="en-US" dirty="0"/>
              <a:t>用來線上閱讀郵件。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4594835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電子郵件的問題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垃圾郵件</a:t>
            </a:r>
            <a:r>
              <a:rPr lang="en-US" altLang="zh-TW"/>
              <a:t> (spam)</a:t>
            </a:r>
            <a:r>
              <a:rPr lang="zh-TW" altLang="en-US"/>
              <a:t>：</a:t>
            </a:r>
            <a:endParaRPr lang="en-US" altLang="zh-TW"/>
          </a:p>
          <a:p>
            <a:pPr lvl="1"/>
            <a:r>
              <a:rPr lang="zh-TW" altLang="en-US"/>
              <a:t>主要用來發送廣告、進行網路行銷。</a:t>
            </a:r>
            <a:endParaRPr lang="en-US" altLang="zh-TW"/>
          </a:p>
          <a:p>
            <a:r>
              <a:rPr lang="zh-TW" altLang="en-US"/>
              <a:t>詐騙郵件：</a:t>
            </a:r>
            <a:endParaRPr lang="en-US" altLang="zh-TW"/>
          </a:p>
          <a:p>
            <a:pPr lvl="1"/>
            <a:r>
              <a:rPr lang="zh-TW" altLang="en-US"/>
              <a:t>附夾惡意檔案或惡意連結。</a:t>
            </a:r>
            <a:endParaRPr lang="en-US" altLang="zh-TW"/>
          </a:p>
          <a:p>
            <a:r>
              <a:rPr lang="zh-TW" altLang="en-US"/>
              <a:t>無法有效過濾及阻擋上述郵件。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7854377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網頁收信介面</a:t>
            </a:r>
            <a:endParaRPr lang="zh-TW" alt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許多免費的電子郵件都有提供。</a:t>
            </a:r>
            <a:endParaRPr lang="en-US" altLang="zh-TW" dirty="0"/>
          </a:p>
          <a:p>
            <a:r>
              <a:rPr lang="zh-TW" altLang="en-US" dirty="0"/>
              <a:t>方便、快速、一致性。</a:t>
            </a:r>
            <a:endParaRPr lang="en-US" altLang="zh-TW" dirty="0"/>
          </a:p>
          <a:p>
            <a:pPr lvl="1"/>
            <a:r>
              <a:rPr lang="en-US" altLang="zh-TW" dirty="0"/>
              <a:t>Google</a:t>
            </a:r>
            <a:r>
              <a:rPr lang="zh-TW" altLang="en-US" dirty="0"/>
              <a:t>網頁收信介面：電腦版</a:t>
            </a:r>
            <a:r>
              <a:rPr lang="en-US" altLang="zh-TW" dirty="0"/>
              <a:t> VS </a:t>
            </a:r>
            <a:r>
              <a:rPr lang="zh-TW" altLang="en-US" dirty="0"/>
              <a:t>手機版。</a:t>
            </a:r>
          </a:p>
        </p:txBody>
      </p:sp>
    </p:spTree>
    <p:extLst>
      <p:ext uri="{BB962C8B-B14F-4D97-AF65-F5344CB8AC3E}">
        <p14:creationId xmlns:p14="http://schemas.microsoft.com/office/powerpoint/2010/main" val="414954086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氾濫成災的垃圾詐騙訊息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/>
              <a:t>當收到信件主旨為「你中獎了」、「信用卡代辦」、「低利貸款」、「驗證你的雲端帳號」、「快遞待領通知」、「你有一筆退款」、「大筆遺產等待繼承」、「信用卡付款錯誤」、「不明消費發票」、「信箱已滿」等訊息時。</a:t>
            </a:r>
            <a:endParaRPr lang="en-US" altLang="zh-TW" dirty="0"/>
          </a:p>
          <a:p>
            <a:r>
              <a:rPr lang="zh-TW" altLang="en-US" dirty="0"/>
              <a:t>一定要提高警覺，以免暴露個資和損失財物。</a:t>
            </a:r>
          </a:p>
        </p:txBody>
      </p:sp>
    </p:spTree>
    <p:extLst>
      <p:ext uri="{BB962C8B-B14F-4D97-AF65-F5344CB8AC3E}">
        <p14:creationId xmlns:p14="http://schemas.microsoft.com/office/powerpoint/2010/main" val="165779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垃圾詐騙訊息的另一種招式是運用文海戰術，在短時間內連發數十則，讓人砍到手軟！</a:t>
            </a:r>
            <a:endParaRPr lang="en-US" altLang="zh-TW" dirty="0"/>
          </a:p>
          <a:p>
            <a:r>
              <a:rPr lang="zh-TW" altLang="en-US" dirty="0"/>
              <a:t>可以藉由系統偵測或自訂規則自動篩選垃圾郵件，但如果電子郵件收發系統防禦機制不佳，或自訂規則不夠縝密，許多垃圾郵件就成為出現在我們眼前的漏網之魚。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250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7-2 </a:t>
            </a:r>
            <a:r>
              <a:rPr lang="zh-TW" altLang="en-US"/>
              <a:t>電子佈告欄</a:t>
            </a:r>
            <a:r>
              <a:rPr lang="en-US" altLang="zh-TW"/>
              <a:t> BBS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基於</a:t>
            </a:r>
            <a:r>
              <a:rPr lang="en-US" altLang="zh-TW"/>
              <a:t>telnet</a:t>
            </a:r>
            <a:r>
              <a:rPr lang="zh-TW" altLang="en-US"/>
              <a:t>終端機傳輸協定。</a:t>
            </a:r>
            <a:endParaRPr lang="en-US" altLang="zh-TW"/>
          </a:p>
          <a:p>
            <a:pPr lvl="1"/>
            <a:r>
              <a:rPr lang="en-US" altLang="zh-TW"/>
              <a:t>telnet + </a:t>
            </a:r>
            <a:r>
              <a:rPr lang="zh-TW" altLang="en-US"/>
              <a:t>網站的</a:t>
            </a:r>
            <a:r>
              <a:rPr lang="en-US" altLang="zh-TW"/>
              <a:t>IP</a:t>
            </a:r>
            <a:r>
              <a:rPr lang="zh-TW" altLang="en-US"/>
              <a:t>位址或是網域名稱。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850" y="2796775"/>
            <a:ext cx="3105345" cy="2202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86954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BBS</a:t>
            </a:r>
            <a:r>
              <a:rPr lang="zh-TW" altLang="en-US" dirty="0"/>
              <a:t>的特色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早期透過電話線、數據機連線。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Internet</a:t>
            </a:r>
            <a:r>
              <a:rPr lang="zh-TW" altLang="en-US" dirty="0"/>
              <a:t>上透過</a:t>
            </a:r>
            <a:r>
              <a:rPr lang="en-US" altLang="zh-TW" dirty="0"/>
              <a:t>telnet</a:t>
            </a:r>
            <a:r>
              <a:rPr lang="zh-TW" altLang="en-US" dirty="0"/>
              <a:t>協定連線。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2046878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BBS</a:t>
            </a:r>
            <a:r>
              <a:rPr lang="zh-TW" altLang="en-US" dirty="0"/>
              <a:t>的特色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以文字介面為主。</a:t>
            </a:r>
            <a:endParaRPr lang="en-US" altLang="zh-TW" dirty="0"/>
          </a:p>
          <a:p>
            <a:pPr lvl="1"/>
            <a:r>
              <a:rPr lang="zh-TW" altLang="en-US" dirty="0"/>
              <a:t>畫面大小為寬</a:t>
            </a:r>
            <a:r>
              <a:rPr lang="en-US" altLang="zh-TW" dirty="0"/>
              <a:t>80</a:t>
            </a:r>
            <a:r>
              <a:rPr lang="zh-TW" altLang="en-US" dirty="0"/>
              <a:t>個英文字</a:t>
            </a:r>
            <a:r>
              <a:rPr lang="en-US" altLang="zh-TW" dirty="0"/>
              <a:t>(</a:t>
            </a:r>
            <a:r>
              <a:rPr lang="zh-TW" altLang="en-US" dirty="0"/>
              <a:t>或是</a:t>
            </a:r>
            <a:r>
              <a:rPr lang="en-US" altLang="zh-TW" dirty="0"/>
              <a:t>40</a:t>
            </a:r>
            <a:r>
              <a:rPr lang="zh-TW" altLang="en-US" dirty="0"/>
              <a:t>個中文字</a:t>
            </a:r>
            <a:r>
              <a:rPr lang="en-US" altLang="zh-TW" dirty="0"/>
              <a:t>)</a:t>
            </a:r>
            <a:r>
              <a:rPr lang="zh-TW" altLang="en-US" dirty="0"/>
              <a:t>、高</a:t>
            </a:r>
            <a:r>
              <a:rPr lang="en-US" altLang="zh-TW" dirty="0"/>
              <a:t>25</a:t>
            </a:r>
            <a:r>
              <a:rPr lang="zh-TW" altLang="en-US" dirty="0"/>
              <a:t>列。</a:t>
            </a:r>
            <a:endParaRPr lang="en-US" altLang="zh-TW" dirty="0"/>
          </a:p>
          <a:p>
            <a:pPr lvl="1"/>
            <a:r>
              <a:rPr lang="zh-TW" altLang="en-US" dirty="0"/>
              <a:t>透過</a:t>
            </a:r>
            <a:r>
              <a:rPr lang="en-US" altLang="zh-TW" dirty="0"/>
              <a:t>ANSI</a:t>
            </a:r>
            <a:r>
              <a:rPr lang="zh-TW" altLang="en-US" dirty="0"/>
              <a:t>控制碼，可以提供更豐富的介面。</a:t>
            </a:r>
            <a:endParaRPr lang="en-US" altLang="zh-TW" dirty="0"/>
          </a:p>
          <a:p>
            <a:pPr lvl="1"/>
            <a:r>
              <a:rPr lang="en-US" altLang="zh-TW" dirty="0"/>
              <a:t>ANSI</a:t>
            </a:r>
            <a:r>
              <a:rPr lang="zh-TW" altLang="en-US" dirty="0"/>
              <a:t>控制碼：以</a:t>
            </a:r>
            <a:r>
              <a:rPr lang="en-US" altLang="zh-TW" dirty="0"/>
              <a:t>ESC</a:t>
            </a:r>
            <a:r>
              <a:rPr lang="zh-TW" altLang="en-US" dirty="0"/>
              <a:t>字元</a:t>
            </a:r>
            <a:r>
              <a:rPr lang="en-US" altLang="zh-TW" dirty="0"/>
              <a:t> + </a:t>
            </a:r>
            <a:r>
              <a:rPr lang="zh-TW" altLang="en-US" dirty="0"/>
              <a:t>左方括號（</a:t>
            </a:r>
            <a:r>
              <a:rPr lang="en-US" altLang="zh-TW" dirty="0"/>
              <a:t>[</a:t>
            </a:r>
            <a:r>
              <a:rPr lang="zh-TW" altLang="en-US" dirty="0"/>
              <a:t>）。</a:t>
            </a:r>
            <a:endParaRPr lang="en-US" altLang="zh-TW" dirty="0"/>
          </a:p>
          <a:p>
            <a:pPr lvl="1"/>
            <a:r>
              <a:rPr lang="zh-TW" altLang="en-US" dirty="0"/>
              <a:t>不同的站台可能有不同的方式來輸入</a:t>
            </a:r>
            <a:r>
              <a:rPr lang="en-US" altLang="zh-TW" dirty="0"/>
              <a:t>ESC</a:t>
            </a:r>
            <a:r>
              <a:rPr lang="zh-TW" altLang="en-US" dirty="0"/>
              <a:t>字元。</a:t>
            </a:r>
            <a:endParaRPr lang="en-US" altLang="zh-TW" dirty="0"/>
          </a:p>
          <a:p>
            <a:pPr lvl="2"/>
            <a:r>
              <a:rPr lang="zh-TW" altLang="en-US" dirty="0"/>
              <a:t>如</a:t>
            </a:r>
            <a:r>
              <a:rPr lang="en-US" altLang="zh-TW" dirty="0" err="1"/>
              <a:t>ptt</a:t>
            </a:r>
            <a:r>
              <a:rPr lang="zh-TW" altLang="en-US" dirty="0"/>
              <a:t>的</a:t>
            </a:r>
            <a:r>
              <a:rPr lang="en-US" altLang="zh-TW" dirty="0"/>
              <a:t>Ctrl-U</a:t>
            </a:r>
            <a:r>
              <a:rPr lang="zh-TW" altLang="en-US" dirty="0"/>
              <a:t>熱鍵。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67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常見的</a:t>
            </a:r>
            <a:r>
              <a:rPr lang="en-US" altLang="zh-TW"/>
              <a:t>ANSI</a:t>
            </a:r>
            <a:r>
              <a:rPr lang="zh-TW" altLang="en-US"/>
              <a:t>控制碼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96" y="1626645"/>
            <a:ext cx="7998260" cy="2418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704348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常見的</a:t>
            </a:r>
            <a:r>
              <a:rPr lang="en-US" altLang="zh-TW"/>
              <a:t>ANSI</a:t>
            </a:r>
            <a:r>
              <a:rPr lang="zh-TW" altLang="en-US"/>
              <a:t>控制碼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744" y="1491854"/>
            <a:ext cx="6334456" cy="3053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7560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ANSI</a:t>
            </a:r>
            <a:r>
              <a:rPr lang="zh-TW" altLang="en-US" dirty="0"/>
              <a:t>控制碼的範例</a:t>
            </a:r>
          </a:p>
        </p:txBody>
      </p:sp>
      <p:sp>
        <p:nvSpPr>
          <p:cNvPr id="2150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/>
              <a:t>輸入的控制碼及文字：</a:t>
            </a:r>
            <a:endParaRPr lang="en-US" altLang="zh-TW"/>
          </a:p>
          <a:p>
            <a:endParaRPr lang="zh-TW" altLang="en-US"/>
          </a:p>
          <a:p>
            <a:endParaRPr lang="en-US" altLang="zh-TW"/>
          </a:p>
          <a:p>
            <a:endParaRPr lang="zh-TW" altLang="en-US"/>
          </a:p>
          <a:p>
            <a:r>
              <a:rPr lang="zh-TW" altLang="en-US"/>
              <a:t>呈現出來的效果：</a:t>
            </a:r>
            <a:endParaRPr lang="zh-TW" altLang="en-US" dirty="0"/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966791" y="2256715"/>
            <a:ext cx="7488237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r>
              <a:rPr lang="en-US" altLang="zh-TW" dirty="0">
                <a:latin typeface="Consolas" pitchFamily="49" charset="0"/>
                <a:ea typeface="BiauKai" pitchFamily="1" charset="-120"/>
              </a:rPr>
              <a:t>*[31;47m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　　　　　　　　</a:t>
            </a:r>
            <a:r>
              <a:rPr lang="en-US" altLang="ja-JP" dirty="0">
                <a:latin typeface="Consolas" pitchFamily="49" charset="0"/>
                <a:ea typeface="BiauKai" pitchFamily="1" charset="-120"/>
                <a:cs typeface="Consolas" pitchFamily="49" charset="0"/>
              </a:rPr>
              <a:t>*[m</a:t>
            </a:r>
            <a:endParaRPr lang="zh-TW" altLang="en-US" dirty="0">
              <a:latin typeface="Consolas" pitchFamily="49" charset="0"/>
              <a:ea typeface="BiauKai" pitchFamily="1" charset="-120"/>
            </a:endParaRPr>
          </a:p>
          <a:p>
            <a:r>
              <a:rPr lang="en-US" altLang="zh-TW" dirty="0">
                <a:latin typeface="Consolas" pitchFamily="49" charset="0"/>
                <a:ea typeface="BiauKai" pitchFamily="1" charset="-120"/>
              </a:rPr>
              <a:t>*[31;47m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　計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*[32m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算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*[33m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機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*[34m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概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*[35m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論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*[36m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！　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*[m</a:t>
            </a:r>
            <a:endParaRPr lang="zh-TW" altLang="en-US" dirty="0">
              <a:latin typeface="Consolas" pitchFamily="49" charset="0"/>
              <a:ea typeface="BiauKai" pitchFamily="1" charset="-120"/>
            </a:endParaRPr>
          </a:p>
          <a:p>
            <a:r>
              <a:rPr lang="en-US" altLang="zh-TW" dirty="0">
                <a:latin typeface="Consolas" pitchFamily="49" charset="0"/>
                <a:ea typeface="BiauKai" pitchFamily="1" charset="-120"/>
              </a:rPr>
              <a:t>*[1;31;47m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　計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*[32m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算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*[33m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機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*[34m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概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*[35m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論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*[36m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！　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*[m</a:t>
            </a:r>
            <a:endParaRPr lang="zh-TW" altLang="en-US" dirty="0">
              <a:latin typeface="Consolas" pitchFamily="49" charset="0"/>
              <a:ea typeface="BiauKai" pitchFamily="1" charset="-120"/>
            </a:endParaRPr>
          </a:p>
          <a:p>
            <a:r>
              <a:rPr lang="en-US" altLang="zh-TW" dirty="0">
                <a:latin typeface="Consolas" pitchFamily="49" charset="0"/>
                <a:ea typeface="BiauKai" pitchFamily="1" charset="-120"/>
              </a:rPr>
              <a:t>*[31;47m</a:t>
            </a:r>
            <a:r>
              <a:rPr lang="zh-TW" altLang="en-US" dirty="0">
                <a:latin typeface="Consolas" pitchFamily="49" charset="0"/>
                <a:ea typeface="BiauKai" pitchFamily="1" charset="-120"/>
              </a:rPr>
              <a:t>　　　　　　　　</a:t>
            </a:r>
            <a:r>
              <a:rPr lang="en-US" altLang="ja-JP" dirty="0">
                <a:latin typeface="Consolas" pitchFamily="49" charset="0"/>
                <a:ea typeface="BiauKai" pitchFamily="1" charset="-120"/>
              </a:rPr>
              <a:t>*[m</a:t>
            </a:r>
            <a:endParaRPr lang="zh-TW" altLang="en-US" dirty="0">
              <a:latin typeface="Consolas" pitchFamily="49" charset="0"/>
              <a:ea typeface="BiauKai" pitchFamily="1" charset="-12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935" y="3462865"/>
            <a:ext cx="3296596" cy="1337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269171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原理介紹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以終端機存取（如</a:t>
            </a:r>
            <a:r>
              <a:rPr lang="en-US" altLang="zh-TW" dirty="0"/>
              <a:t>Telnet</a:t>
            </a:r>
            <a:r>
              <a:rPr lang="zh-TW" altLang="zh-TW" dirty="0"/>
              <a:t>或</a:t>
            </a:r>
            <a:r>
              <a:rPr lang="en-US" altLang="zh-TW" dirty="0"/>
              <a:t>SSH</a:t>
            </a:r>
            <a:r>
              <a:rPr lang="zh-TW" altLang="zh-TW" dirty="0"/>
              <a:t>）的電子佈</a:t>
            </a:r>
            <a:r>
              <a:rPr lang="zh-TW" altLang="en-US" dirty="0"/>
              <a:t>告</a:t>
            </a:r>
            <a:r>
              <a:rPr lang="zh-TW" altLang="zh-TW" dirty="0"/>
              <a:t>欄與本機終端機程式本質相同，差別僅在</a:t>
            </a:r>
            <a:r>
              <a:rPr lang="en-US" altLang="zh-TW" dirty="0"/>
              <a:t>I/O</a:t>
            </a:r>
            <a:r>
              <a:rPr lang="zh-TW" altLang="zh-TW" dirty="0"/>
              <a:t>介面透過網路傳輸。文中以</a:t>
            </a:r>
            <a:r>
              <a:rPr lang="en-US" altLang="zh-TW" dirty="0"/>
              <a:t>Python</a:t>
            </a:r>
            <a:r>
              <a:rPr lang="zh-TW" altLang="zh-TW" dirty="0"/>
              <a:t>實作的</a:t>
            </a:r>
            <a:r>
              <a:rPr lang="en-US" altLang="zh-TW" dirty="0"/>
              <a:t>1A2B</a:t>
            </a:r>
            <a:r>
              <a:rPr lang="zh-TW" altLang="zh-TW" dirty="0"/>
              <a:t>猜數字遊戲為例，展示此類應用方式。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578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 實作範例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69" y="1660399"/>
            <a:ext cx="7757861" cy="28636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016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若上列程式碼儲存為</a:t>
            </a:r>
            <a:r>
              <a:rPr lang="en-US" altLang="zh-TW" dirty="0">
                <a:solidFill>
                  <a:srgbClr val="0070C0"/>
                </a:solidFill>
              </a:rPr>
              <a:t>guess.py</a:t>
            </a:r>
            <a:r>
              <a:rPr lang="zh-TW" altLang="zh-TW" dirty="0"/>
              <a:t>，那麼讀者可以在一般的終端機內透過下列指令進行互動：</a:t>
            </a:r>
          </a:p>
          <a:p>
            <a:endParaRPr lang="zh-TW" altLang="en-US" dirty="0"/>
          </a:p>
        </p:txBody>
      </p:sp>
      <p:pic>
        <p:nvPicPr>
          <p:cNvPr id="5" name="圖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05" y="3055413"/>
            <a:ext cx="8523390" cy="945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738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zh-TW" altLang="en-US" dirty="0">
                <a:solidFill>
                  <a:srgbClr val="0070C0"/>
                </a:solidFill>
              </a:rPr>
              <a:t>「</a:t>
            </a:r>
            <a:r>
              <a:rPr lang="en-US" altLang="zh-TW" dirty="0">
                <a:solidFill>
                  <a:srgbClr val="0070C0"/>
                </a:solidFill>
              </a:rPr>
              <a:t>-u</a:t>
            </a:r>
            <a:r>
              <a:rPr lang="zh-TW" altLang="en-US" dirty="0">
                <a:solidFill>
                  <a:srgbClr val="0070C0"/>
                </a:solidFill>
              </a:rPr>
              <a:t>」</a:t>
            </a:r>
            <a:r>
              <a:rPr lang="zh-TW" altLang="zh-TW" dirty="0"/>
              <a:t>參數可避免標準輸出緩衝導致顯示延遲。若想讓本機互動程式支援網路連線互動，可借助</a:t>
            </a:r>
            <a:r>
              <a:rPr lang="en-US" altLang="zh-TW" dirty="0" err="1">
                <a:solidFill>
                  <a:srgbClr val="0070C0"/>
                </a:solidFill>
              </a:rPr>
              <a:t>socat</a:t>
            </a:r>
            <a:r>
              <a:rPr lang="zh-TW" altLang="zh-TW" dirty="0"/>
              <a:t>工具，將其轉為可供遠端使用者即時連線互動的網路應用。</a:t>
            </a:r>
          </a:p>
          <a:p>
            <a:endParaRPr lang="zh-TW" altLang="en-US" dirty="0"/>
          </a:p>
        </p:txBody>
      </p:sp>
      <p:pic>
        <p:nvPicPr>
          <p:cNvPr id="4" name="圖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60" y="3741543"/>
            <a:ext cx="8229600" cy="853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6421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zh-TW" dirty="0"/>
              <a:t>透過</a:t>
            </a:r>
            <a:r>
              <a:rPr lang="en-US" altLang="zh-TW" dirty="0" err="1"/>
              <a:t>socat</a:t>
            </a:r>
            <a:r>
              <a:rPr lang="zh-TW" altLang="zh-TW" dirty="0"/>
              <a:t>指令可將本機</a:t>
            </a:r>
            <a:r>
              <a:rPr lang="en-US" altLang="zh-TW" dirty="0"/>
              <a:t>Python</a:t>
            </a:r>
            <a:r>
              <a:rPr lang="zh-TW" altLang="zh-TW" dirty="0"/>
              <a:t>遊戲轉為網路互動應用。指令中的</a:t>
            </a:r>
            <a:r>
              <a:rPr lang="en-US" altLang="zh-TW" dirty="0">
                <a:solidFill>
                  <a:srgbClr val="0070C0"/>
                </a:solidFill>
              </a:rPr>
              <a:t>tcp-listen:9999,reuseaddr,fork</a:t>
            </a:r>
            <a:r>
              <a:rPr lang="zh-TW" altLang="zh-TW" dirty="0"/>
              <a:t>設定</a:t>
            </a:r>
            <a:r>
              <a:rPr lang="en-US" altLang="zh-TW" dirty="0"/>
              <a:t> </a:t>
            </a:r>
            <a:r>
              <a:rPr lang="en-US" altLang="zh-TW" dirty="0" err="1"/>
              <a:t>socat</a:t>
            </a:r>
            <a:r>
              <a:rPr lang="en-US" altLang="zh-TW" dirty="0"/>
              <a:t> </a:t>
            </a:r>
            <a:r>
              <a:rPr lang="zh-TW" altLang="zh-TW" dirty="0"/>
              <a:t>監聽</a:t>
            </a:r>
            <a:r>
              <a:rPr lang="en-US" altLang="zh-TW" dirty="0"/>
              <a:t> TCP </a:t>
            </a:r>
            <a:r>
              <a:rPr lang="zh-TW" altLang="zh-TW" dirty="0"/>
              <a:t>連接埠</a:t>
            </a:r>
            <a:r>
              <a:rPr lang="en-US" altLang="zh-TW" dirty="0"/>
              <a:t> 9999</a:t>
            </a:r>
            <a:r>
              <a:rPr lang="zh-TW" altLang="zh-TW" dirty="0"/>
              <a:t>，允許重複綁定與多用戶連線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>
                <a:solidFill>
                  <a:srgbClr val="0070C0"/>
                </a:solidFill>
              </a:rPr>
              <a:t>system:'python3 -u /path/to/guess.py' </a:t>
            </a:r>
            <a:r>
              <a:rPr lang="zh-TW" altLang="zh-TW" dirty="0"/>
              <a:t>則在連線後執行遊戲程式。使用者可透過 </a:t>
            </a:r>
            <a:r>
              <a:rPr lang="en-US" altLang="zh-TW" dirty="0" err="1"/>
              <a:t>nc</a:t>
            </a:r>
            <a:r>
              <a:rPr lang="en-US" altLang="zh-TW" dirty="0"/>
              <a:t> </a:t>
            </a:r>
            <a:r>
              <a:rPr lang="zh-TW" altLang="zh-TW" dirty="0"/>
              <a:t>工具連線執行遊戲，前提是指定的程式路徑正確且網路可通。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2036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0" y="2211710"/>
            <a:ext cx="7920000" cy="10669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1348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kern="100" dirty="0">
                <a:cs typeface="Times New Roman"/>
              </a:rPr>
              <a:t>將本機程式轉為網路服務，實務上常透過如</a:t>
            </a:r>
            <a:r>
              <a:rPr lang="en-US" altLang="zh-TW" kern="100" dirty="0" err="1">
                <a:cs typeface="Times New Roman"/>
              </a:rPr>
              <a:t>inetd</a:t>
            </a:r>
            <a:r>
              <a:rPr lang="zh-TW" altLang="zh-TW" kern="100" dirty="0">
                <a:cs typeface="Times New Roman"/>
              </a:rPr>
              <a:t>或 </a:t>
            </a:r>
            <a:r>
              <a:rPr lang="en-US" altLang="zh-TW" kern="100" dirty="0" err="1">
                <a:cs typeface="Times New Roman"/>
              </a:rPr>
              <a:t>xinetd</a:t>
            </a:r>
            <a:r>
              <a:rPr lang="zh-TW" altLang="zh-TW" kern="100" dirty="0">
                <a:cs typeface="Times New Roman"/>
              </a:rPr>
              <a:t>這類「超級伺服器」來實作，比</a:t>
            </a:r>
            <a:r>
              <a:rPr lang="en-US" altLang="zh-TW" kern="100" dirty="0" err="1">
                <a:cs typeface="Times New Roman"/>
              </a:rPr>
              <a:t>socat</a:t>
            </a:r>
            <a:r>
              <a:rPr lang="zh-TW" altLang="zh-TW" kern="100" dirty="0">
                <a:cs typeface="Times New Roman"/>
              </a:rPr>
              <a:t>更適合長期服務運行。</a:t>
            </a:r>
            <a:endParaRPr lang="en-US" altLang="zh-TW" kern="100" dirty="0">
              <a:cs typeface="Times New Roman"/>
            </a:endParaRPr>
          </a:p>
          <a:p>
            <a:r>
              <a:rPr lang="zh-TW" altLang="zh-TW" kern="100" dirty="0">
                <a:cs typeface="Times New Roman"/>
              </a:rPr>
              <a:t>新型電子佈告欄系統則傾向自行實作通訊介面以提升效能。即便不熟網路程式設計，仍可用這些工具建置簡易服務。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0860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C00000"/>
                </a:solidFill>
              </a:rPr>
              <a:t>蛤？！</a:t>
            </a:r>
            <a:br>
              <a:rPr lang="en-US" altLang="zh-TW" sz="2200" dirty="0">
                <a:solidFill>
                  <a:srgbClr val="C00000"/>
                </a:solidFill>
              </a:rPr>
            </a:br>
            <a:r>
              <a:rPr lang="zh-TW" altLang="zh-TW" dirty="0"/>
              <a:t>這篇文章探討「蛤」字在語音、文化與網路用法上的多重意涵，從日常口語、網路流行語，到跨語言的「</a:t>
            </a:r>
            <a:r>
              <a:rPr lang="en-US" altLang="zh-TW" dirty="0"/>
              <a:t>Huh</a:t>
            </a:r>
            <a:r>
              <a:rPr lang="zh-TW" altLang="zh-TW" dirty="0"/>
              <a:t>」現象，皆展示其多元趣味。文末亦幽默以「蛤」作結，呼應主題、增添餘韻。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2158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7-3 </a:t>
            </a:r>
            <a:r>
              <a:rPr lang="zh-TW" altLang="en-US"/>
              <a:t>全球資訊網運作原理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全球資訊網（</a:t>
            </a:r>
            <a:r>
              <a:rPr lang="en-US" altLang="zh-TW" dirty="0"/>
              <a:t>World Wide Web</a:t>
            </a:r>
            <a:r>
              <a:rPr lang="zh-TW" altLang="en-US" dirty="0"/>
              <a:t>；簡稱</a:t>
            </a:r>
            <a:r>
              <a:rPr lang="en-US" altLang="zh-TW" dirty="0"/>
              <a:t>WWW</a:t>
            </a:r>
            <a:r>
              <a:rPr lang="zh-TW" altLang="en-US" dirty="0"/>
              <a:t>或</a:t>
            </a:r>
            <a:r>
              <a:rPr lang="en-US" altLang="zh-TW" dirty="0"/>
              <a:t>Web</a:t>
            </a:r>
            <a:r>
              <a:rPr lang="zh-TW" altLang="en-US" dirty="0"/>
              <a:t>）的運作原理。</a:t>
            </a:r>
          </a:p>
          <a:p>
            <a:pPr lvl="1"/>
            <a:r>
              <a:rPr lang="zh-TW" altLang="en-US" dirty="0"/>
              <a:t>主從式架構。</a:t>
            </a:r>
          </a:p>
          <a:p>
            <a:pPr lvl="1"/>
            <a:r>
              <a:rPr lang="zh-TW" altLang="en-US" dirty="0"/>
              <a:t>網頁通訊協定</a:t>
            </a:r>
            <a:r>
              <a:rPr lang="en-US" altLang="zh-TW" dirty="0"/>
              <a:t>HTTP</a:t>
            </a:r>
            <a:r>
              <a:rPr lang="zh-TW" altLang="en-US" dirty="0"/>
              <a:t>（</a:t>
            </a:r>
            <a:r>
              <a:rPr lang="en-US" altLang="zh-TW" dirty="0"/>
              <a:t>Hyper Text Transfer Protocol</a:t>
            </a:r>
            <a:r>
              <a:rPr lang="zh-TW" altLang="en-US" dirty="0"/>
              <a:t>）。</a:t>
            </a:r>
            <a:endParaRPr lang="en-US" altLang="zh-TW" dirty="0"/>
          </a:p>
          <a:p>
            <a:pPr lvl="1"/>
            <a:r>
              <a:rPr lang="zh-TW" altLang="en-US" dirty="0"/>
              <a:t>網頁瀏覽器。</a:t>
            </a:r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8791057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網頁的主從式架構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由用戶端發出需求，主機給予回應。</a:t>
            </a:r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103" y="2211710"/>
            <a:ext cx="4004452" cy="2660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671241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HTTP</a:t>
            </a:r>
            <a:endParaRPr lang="en-US" altLang="zh-TW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www</a:t>
            </a:r>
            <a:r>
              <a:rPr lang="zh-TW" altLang="en-US" dirty="0"/>
              <a:t>所使用的基本通訊協定。</a:t>
            </a:r>
          </a:p>
          <a:p>
            <a:r>
              <a:rPr lang="en-US" altLang="zh-TW" dirty="0"/>
              <a:t>URL</a:t>
            </a:r>
            <a:r>
              <a:rPr lang="zh-TW" altLang="en-US" dirty="0"/>
              <a:t>的組成：</a:t>
            </a:r>
          </a:p>
          <a:p>
            <a:endParaRPr lang="zh-TW" altLang="en-US" dirty="0"/>
          </a:p>
          <a:p>
            <a:r>
              <a:rPr lang="zh-TW" altLang="en-US" dirty="0"/>
              <a:t>透過</a:t>
            </a:r>
            <a:r>
              <a:rPr lang="en-US" altLang="zh-TW" dirty="0"/>
              <a:t>Domain Name Server (DNS)</a:t>
            </a:r>
            <a:r>
              <a:rPr lang="zh-TW" altLang="en-US" dirty="0"/>
              <a:t>讓使用者可以文字指定某一網路位址。</a:t>
            </a:r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783" y="2301720"/>
            <a:ext cx="5995009" cy="100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807130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HTTP (</a:t>
            </a:r>
            <a:r>
              <a:rPr lang="zh-TW" altLang="en-US"/>
              <a:t>續</a:t>
            </a:r>
            <a:r>
              <a:rPr lang="en-US" altLang="zh-TW"/>
              <a:t>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常見的主機命名名稱列表。</a:t>
            </a:r>
          </a:p>
          <a:p>
            <a:endParaRPr lang="zh-TW" altLang="en-US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79" y="2189220"/>
            <a:ext cx="6700486" cy="239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783337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網頁瀏覽器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網頁瀏覽器為使用者瀏覽網頁的使用者代理人。</a:t>
            </a:r>
          </a:p>
          <a:p>
            <a:r>
              <a:rPr lang="zh-TW" altLang="en-US" dirty="0"/>
              <a:t>第一個商品化的網頁瀏覽器為網景的</a:t>
            </a:r>
            <a:r>
              <a:rPr lang="en-US" altLang="zh-TW" dirty="0"/>
              <a:t>Navigator</a:t>
            </a:r>
            <a:r>
              <a:rPr lang="zh-TW" altLang="en-US" dirty="0"/>
              <a:t> 。</a:t>
            </a:r>
            <a:endParaRPr lang="en-US" altLang="zh-TW" dirty="0"/>
          </a:p>
          <a:p>
            <a:r>
              <a:rPr lang="zh-TW" altLang="en-US" dirty="0"/>
              <a:t>微軟在作業系統中附上</a:t>
            </a:r>
            <a:r>
              <a:rPr lang="en-US" altLang="zh-TW" dirty="0"/>
              <a:t>Internet Explorer</a:t>
            </a:r>
            <a:r>
              <a:rPr lang="zh-TW" altLang="en-US" dirty="0"/>
              <a:t>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3819100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網頁瀏覽器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2022</a:t>
            </a:r>
            <a:r>
              <a:rPr lang="zh-TW" altLang="en-US" dirty="0"/>
              <a:t>年</a:t>
            </a:r>
            <a:r>
              <a:rPr lang="en-US" altLang="zh-TW" dirty="0"/>
              <a:t>6</a:t>
            </a:r>
            <a:r>
              <a:rPr lang="zh-TW" altLang="en-US" dirty="0"/>
              <a:t>月</a:t>
            </a:r>
            <a:r>
              <a:rPr lang="en-US" altLang="zh-TW" dirty="0"/>
              <a:t>15</a:t>
            </a:r>
            <a:r>
              <a:rPr lang="zh-TW" altLang="en-US" dirty="0"/>
              <a:t>日起停止更新</a:t>
            </a:r>
            <a:r>
              <a:rPr lang="en-US" altLang="zh-TW" dirty="0"/>
              <a:t>Internet Explorer</a:t>
            </a:r>
            <a:r>
              <a:rPr lang="zh-TW" altLang="en-US" dirty="0"/>
              <a:t>瀏覽器，自</a:t>
            </a:r>
            <a:r>
              <a:rPr lang="en-US" altLang="zh-TW" dirty="0"/>
              <a:t>2023</a:t>
            </a:r>
            <a:r>
              <a:rPr lang="zh-TW" altLang="en-US" dirty="0"/>
              <a:t>年</a:t>
            </a:r>
            <a:r>
              <a:rPr lang="en-US" altLang="zh-TW" dirty="0"/>
              <a:t>2</a:t>
            </a:r>
            <a:r>
              <a:rPr lang="zh-TW" altLang="en-US" dirty="0"/>
              <a:t>月</a:t>
            </a:r>
            <a:r>
              <a:rPr lang="en-US" altLang="zh-TW" dirty="0"/>
              <a:t>14</a:t>
            </a:r>
            <a:r>
              <a:rPr lang="zh-TW" altLang="en-US" dirty="0"/>
              <a:t>日起</a:t>
            </a:r>
            <a:r>
              <a:rPr lang="en-US" altLang="zh-TW" dirty="0"/>
              <a:t>IE</a:t>
            </a:r>
            <a:r>
              <a:rPr lang="zh-TW" altLang="en-US" dirty="0"/>
              <a:t>也不能使用。全面轉向遵循</a:t>
            </a:r>
            <a:r>
              <a:rPr lang="en-US" altLang="zh-TW" dirty="0"/>
              <a:t>WWW</a:t>
            </a:r>
            <a:r>
              <a:rPr lang="zh-TW" altLang="en-US" dirty="0"/>
              <a:t>開發協定標準的</a:t>
            </a:r>
            <a:r>
              <a:rPr lang="en-US" altLang="zh-TW" dirty="0"/>
              <a:t>Edge</a:t>
            </a:r>
            <a:r>
              <a:rPr lang="zh-TW" altLang="en-US" dirty="0"/>
              <a:t>瀏覽器。</a:t>
            </a:r>
            <a:endParaRPr lang="en-US" altLang="zh-TW" dirty="0"/>
          </a:p>
          <a:p>
            <a:r>
              <a:rPr lang="zh-TW" altLang="en-US" dirty="0"/>
              <a:t>除了</a:t>
            </a:r>
            <a:r>
              <a:rPr lang="en-US" altLang="zh-TW" dirty="0"/>
              <a:t>Edge</a:t>
            </a:r>
            <a:r>
              <a:rPr lang="zh-TW" altLang="en-US" dirty="0"/>
              <a:t>之外，許多免費的網頁瀏覽器如</a:t>
            </a:r>
            <a:r>
              <a:rPr lang="en-US" altLang="zh-TW" dirty="0" err="1"/>
              <a:t>FireFox</a:t>
            </a:r>
            <a:r>
              <a:rPr lang="zh-TW" altLang="en-US" dirty="0"/>
              <a:t>、</a:t>
            </a:r>
            <a:r>
              <a:rPr lang="en-US" altLang="zh-TW" dirty="0"/>
              <a:t>Chrome</a:t>
            </a:r>
            <a:r>
              <a:rPr lang="zh-TW" altLang="en-US" dirty="0"/>
              <a:t>、</a:t>
            </a:r>
            <a:r>
              <a:rPr lang="en-US" altLang="zh-TW" dirty="0"/>
              <a:t>Safari</a:t>
            </a:r>
            <a:r>
              <a:rPr lang="zh-TW" altLang="en-US" dirty="0"/>
              <a:t>等皆有其使用者群。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44711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Windows</a:t>
            </a:r>
            <a:r>
              <a:rPr lang="zh-TW" altLang="en-US" dirty="0"/>
              <a:t>上的</a:t>
            </a:r>
            <a:r>
              <a:rPr lang="en-US" altLang="zh-TW" dirty="0"/>
              <a:t>Internet Explorer</a:t>
            </a:r>
            <a:r>
              <a:rPr lang="zh-TW" altLang="en-US" dirty="0"/>
              <a:t>瀏覽器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740" y="1371993"/>
            <a:ext cx="4879918" cy="3237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275636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Linux</a:t>
            </a:r>
            <a:r>
              <a:rPr lang="zh-TW" altLang="en-US" dirty="0"/>
              <a:t>上的</a:t>
            </a:r>
            <a:r>
              <a:rPr lang="en-US" altLang="zh-TW" dirty="0"/>
              <a:t>Google Chrome</a:t>
            </a:r>
            <a:r>
              <a:rPr lang="zh-TW" altLang="en-US" dirty="0"/>
              <a:t>瀏覽器</a:t>
            </a:r>
            <a:endParaRPr lang="en-US" altLang="zh-TW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觀看同一個</a:t>
            </a:r>
            <a:r>
              <a:rPr lang="en-US" altLang="zh-TW"/>
              <a:t>http://tw.yahoo.com/</a:t>
            </a:r>
            <a:r>
              <a:rPr lang="zh-TW" altLang="en-US"/>
              <a:t>首頁。</a:t>
            </a:r>
            <a:endParaRPr lang="en-US" altLang="zh-TW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257" y="2256715"/>
            <a:ext cx="4455496" cy="25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851087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Mac OS X</a:t>
            </a:r>
            <a:r>
              <a:rPr lang="zh-TW" altLang="en-US" dirty="0"/>
              <a:t>上的</a:t>
            </a:r>
            <a:r>
              <a:rPr lang="en-US" altLang="zh-TW" dirty="0"/>
              <a:t>Safari</a:t>
            </a:r>
            <a:r>
              <a:rPr lang="zh-TW" altLang="en-US" dirty="0"/>
              <a:t>瀏覽器</a:t>
            </a:r>
            <a:endParaRPr lang="en-US" altLang="zh-TW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觀看</a:t>
            </a:r>
            <a:r>
              <a:rPr lang="en-US" altLang="zh-TW" dirty="0"/>
              <a:t>http://tw.yahoo.com/</a:t>
            </a:r>
            <a:r>
              <a:rPr lang="zh-TW" altLang="en-US" dirty="0"/>
              <a:t>首頁。</a:t>
            </a:r>
            <a:endParaRPr lang="en-US" altLang="zh-TW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406412"/>
            <a:ext cx="3915437" cy="2647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846834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68313" y="411956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zh-TW" dirty="0"/>
              <a:t>Firefox OS</a:t>
            </a:r>
            <a:r>
              <a:rPr lang="zh-TW" altLang="en-US" dirty="0"/>
              <a:t>手機的瀏覽器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491855"/>
            <a:ext cx="4978400" cy="3102769"/>
          </a:xfrm>
        </p:spPr>
        <p:txBody>
          <a:bodyPr>
            <a:normAutofit lnSpcReduction="10000"/>
          </a:bodyPr>
          <a:lstStyle/>
          <a:p>
            <a:pPr algn="l" eaLnBrk="1" hangingPunct="1"/>
            <a:r>
              <a:rPr lang="zh-TW" altLang="en-US" dirty="0"/>
              <a:t>仍然是</a:t>
            </a:r>
            <a:r>
              <a:rPr lang="en-US" altLang="zh-TW" dirty="0"/>
              <a:t>http://</a:t>
            </a:r>
            <a:r>
              <a:rPr lang="en-US" altLang="zh-TW" dirty="0" err="1"/>
              <a:t>tw.yahoo.com</a:t>
            </a:r>
            <a:r>
              <a:rPr lang="en-US" altLang="zh-TW" dirty="0"/>
              <a:t>/</a:t>
            </a:r>
            <a:r>
              <a:rPr lang="zh-TW" altLang="en-US" dirty="0"/>
              <a:t>的首頁。</a:t>
            </a:r>
            <a:endParaRPr lang="en-US" altLang="zh-TW" dirty="0"/>
          </a:p>
          <a:p>
            <a:pPr algn="l" eaLnBrk="1" hangingPunct="1"/>
            <a:r>
              <a:rPr lang="zh-TW" altLang="en-US" dirty="0"/>
              <a:t>只要網站寫得好，在不同的平台上、不同的瀏覽器，都可以得到近似的效果和體驗！</a:t>
            </a:r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374" y="1483218"/>
            <a:ext cx="1975828" cy="294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770352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7-4 WWW</a:t>
            </a:r>
            <a:r>
              <a:rPr lang="zh-TW" altLang="en-US" dirty="0"/>
              <a:t>及相關應用</a:t>
            </a:r>
            <a:endParaRPr lang="en-US" altLang="zh-TW" dirty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網際網路成功深入日常生活的一大原因</a:t>
            </a:r>
            <a:r>
              <a:rPr lang="en-US" altLang="zh-TW" dirty="0"/>
              <a:t> – WWW, World Wide Web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可傳輸圖文並茂的內容。</a:t>
            </a:r>
            <a:endParaRPr lang="en-US" altLang="zh-TW" dirty="0"/>
          </a:p>
          <a:p>
            <a:r>
              <a:rPr lang="zh-TW" altLang="en-US" dirty="0"/>
              <a:t>主要使用</a:t>
            </a:r>
            <a:r>
              <a:rPr lang="en-US" altLang="zh-TW" dirty="0"/>
              <a:t>HTTP</a:t>
            </a:r>
            <a:r>
              <a:rPr lang="zh-TW" altLang="en-US" dirty="0"/>
              <a:t>協定進行資料傳輸。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5828965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7-4 WWW</a:t>
            </a:r>
            <a:r>
              <a:rPr lang="zh-TW" altLang="en-US" dirty="0"/>
              <a:t>及相關應用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採用主從式的架構。</a:t>
            </a:r>
            <a:endParaRPr lang="en-US" altLang="zh-TW" dirty="0"/>
          </a:p>
          <a:p>
            <a:pPr lvl="1"/>
            <a:r>
              <a:rPr lang="en-US" altLang="zh-TW" dirty="0"/>
              <a:t>WWW</a:t>
            </a:r>
            <a:r>
              <a:rPr lang="zh-TW" altLang="en-US" dirty="0"/>
              <a:t>伺服器。</a:t>
            </a:r>
            <a:endParaRPr lang="en-US" altLang="zh-TW" dirty="0"/>
          </a:p>
          <a:p>
            <a:pPr lvl="1"/>
            <a:r>
              <a:rPr lang="en-US" altLang="zh-TW" dirty="0"/>
              <a:t>WWW</a:t>
            </a:r>
            <a:r>
              <a:rPr lang="zh-TW" altLang="en-US" dirty="0"/>
              <a:t>用戶端（瀏覽器）。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8393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搜尋引擎</a:t>
            </a:r>
            <a:endParaRPr lang="zh-TW" altLang="en-US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/>
              <a:t>輸入「關鍵字」，以找出使用者想得的資訊。</a:t>
            </a:r>
            <a:endParaRPr lang="en-US" altLang="zh-TW"/>
          </a:p>
          <a:p>
            <a:r>
              <a:rPr lang="zh-TW" altLang="en-US"/>
              <a:t>利用「</a:t>
            </a:r>
            <a:r>
              <a:rPr lang="en-US" altLang="zh-TW"/>
              <a:t>+</a:t>
            </a:r>
            <a:r>
              <a:rPr lang="zh-TW" altLang="en-US"/>
              <a:t>」號或「</a:t>
            </a:r>
            <a:r>
              <a:rPr lang="en-US" altLang="zh-TW"/>
              <a:t>- </a:t>
            </a:r>
            <a:r>
              <a:rPr lang="zh-TW" altLang="en-US"/>
              <a:t>」號指定或排除關鍵字。</a:t>
            </a:r>
            <a:endParaRPr lang="en-US" altLang="zh-TW"/>
          </a:p>
          <a:p>
            <a:r>
              <a:rPr lang="zh-TW" altLang="en-US"/>
              <a:t>搜尋引擎的營利方式：關鍵字廣告。</a:t>
            </a:r>
            <a:endParaRPr lang="en-US" altLang="zh-TW"/>
          </a:p>
          <a:p>
            <a:r>
              <a:rPr lang="zh-TW" altLang="en-US"/>
              <a:t>每家搜尋引擎技術不同。</a:t>
            </a:r>
          </a:p>
          <a:p>
            <a:r>
              <a:rPr lang="zh-TW" altLang="en-US"/>
              <a:t>可同時使用多家搜尋引擎以避免漏網之魚。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1732895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搜尋引擎</a:t>
            </a:r>
            <a:r>
              <a:rPr lang="en-US" altLang="zh-TW"/>
              <a:t> (</a:t>
            </a:r>
            <a:r>
              <a:rPr lang="zh-TW" altLang="en-US"/>
              <a:t>續</a:t>
            </a:r>
            <a:r>
              <a:rPr lang="en-US" altLang="zh-TW"/>
              <a:t>)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457200" y="1660399"/>
            <a:ext cx="2719645" cy="2934224"/>
          </a:xfrm>
        </p:spPr>
        <p:txBody>
          <a:bodyPr/>
          <a:lstStyle/>
          <a:p>
            <a:pPr algn="l"/>
            <a:r>
              <a:rPr lang="zh-TW" altLang="en-US" dirty="0"/>
              <a:t>不同業者的搜尋引擎有著截然不同的風格。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875" y="1446625"/>
            <a:ext cx="3724476" cy="3518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423521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即時通訊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電子郵件的即時性較低，電話連絡的即時性較高，即時通訊則介於這二者之間。</a:t>
            </a:r>
            <a:endParaRPr lang="en-US" altLang="zh-TW" dirty="0"/>
          </a:p>
          <a:p>
            <a:r>
              <a:rPr lang="zh-TW" altLang="en-US" dirty="0"/>
              <a:t>可能是最早的即時通軟體：</a:t>
            </a:r>
            <a:r>
              <a:rPr lang="en-US" altLang="zh-TW" dirty="0"/>
              <a:t>1996</a:t>
            </a:r>
            <a:r>
              <a:rPr lang="zh-TW" altLang="en-US" dirty="0"/>
              <a:t>年推出的 </a:t>
            </a:r>
            <a:r>
              <a:rPr lang="en-US" altLang="zh-TW" dirty="0"/>
              <a:t>ICQ</a:t>
            </a:r>
            <a:r>
              <a:rPr lang="zh-TW" altLang="en-US" dirty="0"/>
              <a:t> 。</a:t>
            </a:r>
            <a:endParaRPr lang="en-US" altLang="zh-TW" dirty="0"/>
          </a:p>
          <a:p>
            <a:pPr lvl="1"/>
            <a:r>
              <a:rPr lang="zh-TW" altLang="en-US" dirty="0"/>
              <a:t>每個使用者有不同的使用者編號。</a:t>
            </a:r>
            <a:endParaRPr lang="en-US" altLang="zh-TW" dirty="0"/>
          </a:p>
          <a:p>
            <a:pPr lvl="1"/>
            <a:r>
              <a:rPr lang="en-US" altLang="zh-TW" dirty="0"/>
              <a:t>7</a:t>
            </a:r>
            <a:r>
              <a:rPr lang="zh-TW" altLang="en-US" dirty="0"/>
              <a:t>位或是更多位數的數字。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3553238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即時通訊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1997</a:t>
            </a:r>
            <a:r>
              <a:rPr lang="zh-TW" altLang="en-US" dirty="0"/>
              <a:t>年</a:t>
            </a:r>
            <a:r>
              <a:rPr lang="en-US" altLang="zh-TW" dirty="0"/>
              <a:t>AOL (</a:t>
            </a:r>
            <a:r>
              <a:rPr lang="zh-TW" altLang="en-US" dirty="0"/>
              <a:t>美國線上</a:t>
            </a:r>
            <a:r>
              <a:rPr lang="en-US" altLang="zh-TW" dirty="0"/>
              <a:t>)</a:t>
            </a:r>
            <a:r>
              <a:rPr lang="zh-TW" altLang="en-US" dirty="0"/>
              <a:t>推出</a:t>
            </a:r>
            <a:r>
              <a:rPr lang="en-US" altLang="zh-TW" dirty="0"/>
              <a:t>AIM</a:t>
            </a:r>
            <a:r>
              <a:rPr lang="zh-TW" altLang="en-US" dirty="0"/>
              <a:t>；微軟推出</a:t>
            </a:r>
            <a:r>
              <a:rPr lang="en-US" altLang="zh-TW" dirty="0"/>
              <a:t>MSN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允許使用者自己命名的帳號。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03934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即時通訊</a:t>
            </a:r>
            <a:endParaRPr lang="en-US" altLang="zh-TW" dirty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即時通訊使用的網路協定，大多數都是私自開發封閉的應用層協定。</a:t>
            </a:r>
            <a:endParaRPr lang="en-US" altLang="zh-TW" dirty="0"/>
          </a:p>
          <a:p>
            <a:pPr lvl="1"/>
            <a:r>
              <a:rPr lang="en-US" altLang="zh-TW" dirty="0"/>
              <a:t>XMPP (Extensible Messaging and Presence Protocol)</a:t>
            </a:r>
            <a:r>
              <a:rPr lang="zh-TW" altLang="en-US" dirty="0"/>
              <a:t>，也稱為</a:t>
            </a:r>
            <a:r>
              <a:rPr lang="en-US" altLang="zh-TW" dirty="0"/>
              <a:t>Jabber</a:t>
            </a:r>
            <a:r>
              <a:rPr lang="zh-TW" altLang="en-US" dirty="0"/>
              <a:t>，是少數標準化的即時通訊協定。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90377674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行動裝置上的即時通訊軟體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5" y="1533504"/>
            <a:ext cx="1638814" cy="28784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910" y="1520894"/>
            <a:ext cx="1635292" cy="28784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180" y="1539674"/>
            <a:ext cx="1639988" cy="28867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424328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網路遊戲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透過</a:t>
            </a:r>
            <a:r>
              <a:rPr lang="en-US" altLang="zh-TW" dirty="0"/>
              <a:t>TCP/IP</a:t>
            </a:r>
            <a:r>
              <a:rPr lang="zh-TW" altLang="en-US" dirty="0"/>
              <a:t>協定，可以進行與遠端玩家的連線對戰。</a:t>
            </a:r>
            <a:endParaRPr lang="en-US" altLang="zh-TW" dirty="0"/>
          </a:p>
          <a:p>
            <a:pPr lvl="1"/>
            <a:r>
              <a:rPr lang="en-US" altLang="zh-TW" dirty="0" err="1"/>
              <a:t>CounterStrike</a:t>
            </a:r>
            <a:r>
              <a:rPr lang="en-US" altLang="zh-TW" dirty="0"/>
              <a:t> (</a:t>
            </a:r>
            <a:r>
              <a:rPr lang="zh-TW" altLang="en-US" dirty="0"/>
              <a:t>第一次稱射擊</a:t>
            </a:r>
            <a:r>
              <a:rPr lang="en-US" altLang="zh-TW" dirty="0"/>
              <a:t>)</a:t>
            </a:r>
            <a:r>
              <a:rPr lang="zh-TW" altLang="en-US" dirty="0"/>
              <a:t> 。</a:t>
            </a:r>
            <a:endParaRPr lang="en-US" altLang="zh-TW" dirty="0"/>
          </a:p>
          <a:p>
            <a:pPr lvl="1"/>
            <a:r>
              <a:rPr lang="en-US" altLang="zh-TW" dirty="0" err="1"/>
              <a:t>Starcraft</a:t>
            </a:r>
            <a:r>
              <a:rPr lang="zh-TW" altLang="en-US" dirty="0"/>
              <a:t>、</a:t>
            </a:r>
            <a:r>
              <a:rPr lang="en-US" altLang="zh-TW" dirty="0"/>
              <a:t>Warcraft 3</a:t>
            </a:r>
            <a:r>
              <a:rPr lang="zh-TW" altLang="en-US" dirty="0"/>
              <a:t>、</a:t>
            </a:r>
            <a:r>
              <a:rPr lang="en-US" altLang="zh-TW" dirty="0"/>
              <a:t>LOL (</a:t>
            </a:r>
            <a:r>
              <a:rPr lang="zh-TW" altLang="en-US" dirty="0"/>
              <a:t>即時戰略</a:t>
            </a:r>
            <a:r>
              <a:rPr lang="en-US" altLang="zh-TW" dirty="0"/>
              <a:t>)</a:t>
            </a:r>
            <a:r>
              <a:rPr lang="zh-TW" altLang="en-US" dirty="0"/>
              <a:t>等等。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17998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進階的</a:t>
            </a:r>
            <a:r>
              <a:rPr lang="en-US" altLang="zh-TW" dirty="0"/>
              <a:t>WWW</a:t>
            </a:r>
            <a:r>
              <a:rPr lang="zh-TW" altLang="en-US" dirty="0"/>
              <a:t>技術與線上遊戲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靜態的</a:t>
            </a:r>
            <a:r>
              <a:rPr lang="en-US" altLang="zh-TW" dirty="0"/>
              <a:t>HTML</a:t>
            </a:r>
            <a:r>
              <a:rPr lang="zh-TW" altLang="en-US" dirty="0"/>
              <a:t>文字和圖片，無法滿足現在的使用者。</a:t>
            </a:r>
            <a:endParaRPr lang="en-US" altLang="zh-TW" dirty="0"/>
          </a:p>
          <a:p>
            <a:r>
              <a:rPr lang="zh-TW" altLang="en-US" dirty="0"/>
              <a:t>進階的</a:t>
            </a:r>
            <a:r>
              <a:rPr lang="en-US" altLang="zh-TW" dirty="0"/>
              <a:t>WWW</a:t>
            </a:r>
            <a:r>
              <a:rPr lang="zh-TW" altLang="en-US" dirty="0"/>
              <a:t>技術：</a:t>
            </a:r>
            <a:endParaRPr lang="en-US" altLang="zh-TW" dirty="0"/>
          </a:p>
          <a:p>
            <a:pPr lvl="1"/>
            <a:r>
              <a:rPr lang="en-US" altLang="zh-TW" dirty="0"/>
              <a:t>Java</a:t>
            </a:r>
            <a:r>
              <a:rPr lang="zh-TW" altLang="en-US" dirty="0"/>
              <a:t>、</a:t>
            </a:r>
            <a:r>
              <a:rPr lang="en-US" altLang="zh-TW" dirty="0"/>
              <a:t>Flash</a:t>
            </a:r>
            <a:r>
              <a:rPr lang="zh-TW" altLang="en-US" dirty="0"/>
              <a:t>等</a:t>
            </a:r>
            <a:r>
              <a:rPr lang="en-US" altLang="zh-TW" dirty="0"/>
              <a:t> (</a:t>
            </a:r>
            <a:r>
              <a:rPr lang="zh-TW" altLang="en-US" dirty="0"/>
              <a:t>需要額外安裝外掛軟體</a:t>
            </a:r>
            <a:r>
              <a:rPr lang="en-US" altLang="zh-TW" dirty="0"/>
              <a:t>)</a:t>
            </a:r>
            <a:r>
              <a:rPr lang="zh-TW" altLang="en-US" dirty="0"/>
              <a:t> 。</a:t>
            </a:r>
            <a:endParaRPr lang="en-US" altLang="zh-TW" dirty="0"/>
          </a:p>
          <a:p>
            <a:pPr lvl="1"/>
            <a:r>
              <a:rPr lang="en-US" altLang="zh-TW" dirty="0" err="1"/>
              <a:t>Javascript</a:t>
            </a:r>
            <a:r>
              <a:rPr lang="zh-TW" altLang="en-US" dirty="0"/>
              <a:t>、</a:t>
            </a:r>
            <a:r>
              <a:rPr lang="en-US" altLang="zh-TW" dirty="0"/>
              <a:t>AJAX</a:t>
            </a:r>
            <a:r>
              <a:rPr lang="zh-TW" altLang="en-US" dirty="0"/>
              <a:t> 。</a:t>
            </a:r>
            <a:endParaRPr lang="en-US" altLang="zh-TW" dirty="0"/>
          </a:p>
          <a:p>
            <a:pPr lvl="1"/>
            <a:r>
              <a:rPr lang="en-US" altLang="zh-TW" dirty="0"/>
              <a:t>HTML4</a:t>
            </a:r>
            <a:r>
              <a:rPr lang="zh-TW" altLang="en-US" dirty="0"/>
              <a:t>的</a:t>
            </a:r>
            <a:r>
              <a:rPr lang="en-US" altLang="zh-TW" dirty="0"/>
              <a:t>DOM</a:t>
            </a:r>
            <a:r>
              <a:rPr lang="zh-TW" altLang="en-US" dirty="0"/>
              <a:t>模型、</a:t>
            </a:r>
            <a:r>
              <a:rPr lang="en-US" altLang="ja-JP" dirty="0"/>
              <a:t>HTML5</a:t>
            </a:r>
            <a:r>
              <a:rPr lang="zh-TW" altLang="en-US" dirty="0"/>
              <a:t>更多的多媒體支援。</a:t>
            </a:r>
          </a:p>
        </p:txBody>
      </p:sp>
    </p:spTree>
    <p:extLst>
      <p:ext uri="{BB962C8B-B14F-4D97-AF65-F5344CB8AC3E}">
        <p14:creationId xmlns:p14="http://schemas.microsoft.com/office/powerpoint/2010/main" val="4252493374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進階的</a:t>
            </a:r>
            <a:r>
              <a:rPr lang="en-US" altLang="zh-TW" dirty="0"/>
              <a:t>WWW</a:t>
            </a:r>
            <a:r>
              <a:rPr lang="zh-TW" altLang="en-US" dirty="0"/>
              <a:t>技術與線上遊戲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進階的</a:t>
            </a:r>
            <a:r>
              <a:rPr lang="en-US" altLang="zh-TW" dirty="0"/>
              <a:t>WWW</a:t>
            </a:r>
            <a:r>
              <a:rPr lang="zh-TW" altLang="en-US" dirty="0"/>
              <a:t>技術：</a:t>
            </a:r>
            <a:endParaRPr lang="en-US" altLang="zh-TW" dirty="0"/>
          </a:p>
          <a:p>
            <a:pPr lvl="1"/>
            <a:r>
              <a:rPr lang="en-US" altLang="zh-TW" dirty="0" err="1"/>
              <a:t>WebSocket</a:t>
            </a:r>
            <a:r>
              <a:rPr lang="zh-TW" altLang="en-US" dirty="0"/>
              <a:t>支援一般普通的</a:t>
            </a:r>
            <a:r>
              <a:rPr lang="en-US" altLang="zh-TW" dirty="0"/>
              <a:t>TCP</a:t>
            </a:r>
            <a:r>
              <a:rPr lang="zh-TW" altLang="en-US" dirty="0"/>
              <a:t>網路傳輸。</a:t>
            </a:r>
            <a:endParaRPr lang="en-US" altLang="ja-JP" dirty="0"/>
          </a:p>
          <a:p>
            <a:pPr lvl="1"/>
            <a:r>
              <a:rPr lang="en-US" altLang="zh-TW" dirty="0" err="1"/>
              <a:t>WebRTC</a:t>
            </a:r>
            <a:r>
              <a:rPr lang="zh-TW" altLang="en-US" dirty="0"/>
              <a:t>支援</a:t>
            </a:r>
            <a:r>
              <a:rPr lang="en-US" altLang="zh-TW" dirty="0"/>
              <a:t>WWW</a:t>
            </a:r>
            <a:r>
              <a:rPr lang="zh-TW" altLang="en-US" dirty="0"/>
              <a:t>用戶端之間的直接傳輸。</a:t>
            </a:r>
            <a:endParaRPr lang="en-US" altLang="zh-TW" dirty="0"/>
          </a:p>
          <a:p>
            <a:pPr lvl="1"/>
            <a:r>
              <a:rPr lang="en-US" altLang="zh-TW" dirty="0" err="1"/>
              <a:t>WebGL</a:t>
            </a:r>
            <a:r>
              <a:rPr lang="zh-TW" altLang="en-US" dirty="0"/>
              <a:t>提供網頁上的</a:t>
            </a:r>
            <a:r>
              <a:rPr lang="en-US" altLang="zh-TW" dirty="0"/>
              <a:t>3D</a:t>
            </a:r>
            <a:r>
              <a:rPr lang="zh-TW" altLang="en-US" dirty="0"/>
              <a:t>效果。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509367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範例：使用</a:t>
            </a:r>
            <a:r>
              <a:rPr lang="en-US" altLang="zh-TW"/>
              <a:t>HTML5</a:t>
            </a:r>
            <a:r>
              <a:rPr lang="zh-TW" altLang="en-US"/>
              <a:t>的遊戲</a:t>
            </a:r>
            <a:endParaRPr lang="zh-TW" altLang="en-US" dirty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復古版的超級瑪莉歐。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775" y="2256715"/>
            <a:ext cx="4415918" cy="275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5466536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範例：使用</a:t>
            </a:r>
            <a:r>
              <a:rPr lang="en-US" altLang="zh-TW"/>
              <a:t>WebSocket</a:t>
            </a:r>
            <a:r>
              <a:rPr lang="zh-TW" altLang="en-US"/>
              <a:t>的應用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57199" y="1660399"/>
            <a:ext cx="3979785" cy="2934224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Google</a:t>
            </a:r>
            <a:r>
              <a:rPr lang="zh-TW" altLang="en-US" dirty="0"/>
              <a:t>推出的</a:t>
            </a:r>
            <a:r>
              <a:rPr lang="en-US" altLang="zh-TW" dirty="0"/>
              <a:t>Shared Piano</a:t>
            </a:r>
            <a:r>
              <a:rPr lang="zh-TW" altLang="en-US" dirty="0"/>
              <a:t>遊戲。玩家可以透過瀏覽器共享鋼琴，進行有趣的「多手」聯彈。</a:t>
            </a:r>
            <a:endParaRPr lang="en-US" altLang="zh-TW" dirty="0"/>
          </a:p>
          <a:p>
            <a:r>
              <a:rPr lang="en-US" altLang="zh-TW" dirty="0">
                <a:hlinkClick r:id="rId2"/>
              </a:rPr>
              <a:t>https://experiments.withgoogle.com/shared-piano</a:t>
            </a:r>
            <a:r>
              <a:rPr lang="en-US" altLang="zh-TW" dirty="0"/>
              <a:t> 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985" y="1356615"/>
            <a:ext cx="4432958" cy="314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61559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範例：網頁版的第一人稱射擊</a:t>
            </a:r>
          </a:p>
        </p:txBody>
      </p:sp>
      <p:sp>
        <p:nvSpPr>
          <p:cNvPr id="4505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網頁版的第一人稱射擊多人線上遊戲。</a:t>
            </a:r>
            <a:endParaRPr lang="en-US" altLang="zh-TW" dirty="0"/>
          </a:p>
          <a:p>
            <a:r>
              <a:rPr lang="zh-TW" altLang="en-US" dirty="0"/>
              <a:t>用</a:t>
            </a:r>
            <a:r>
              <a:rPr lang="en-US" altLang="zh-TW" dirty="0" err="1"/>
              <a:t>WebGL</a:t>
            </a:r>
            <a:r>
              <a:rPr lang="zh-TW" altLang="en-US" dirty="0"/>
              <a:t>技術也可以在瀏覽器裡實現</a:t>
            </a:r>
            <a:r>
              <a:rPr lang="en-US" altLang="zh-TW" dirty="0"/>
              <a:t>3D</a:t>
            </a:r>
            <a:r>
              <a:rPr lang="zh-TW" altLang="en-US" dirty="0"/>
              <a:t>遊戲</a:t>
            </a:r>
            <a:r>
              <a:rPr lang="en-US" altLang="zh-TW" dirty="0">
                <a:hlinkClick r:id="rId2"/>
              </a:rPr>
              <a:t>https://kripken.github.io/misc-js-benchmarks/banana/</a:t>
            </a:r>
            <a:r>
              <a:rPr lang="zh-TW" altLang="en-US" dirty="0"/>
              <a:t> 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8047436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範例：網頁版的第一人稱射擊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在全螢幕畫面下，幾乎感覺不到這是用瀏覽器做的遊戲。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620" y="2841780"/>
            <a:ext cx="3330370" cy="1782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060" y="2805076"/>
            <a:ext cx="2880320" cy="1831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49092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範例：網頁版的</a:t>
            </a:r>
            <a:r>
              <a:rPr lang="en-US" altLang="zh-TW" dirty="0"/>
              <a:t>3D</a:t>
            </a:r>
            <a:r>
              <a:rPr lang="zh-TW" altLang="en-US" dirty="0"/>
              <a:t>虛擬王國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用</a:t>
            </a:r>
            <a:r>
              <a:rPr lang="en-US" altLang="zh-TW" dirty="0"/>
              <a:t>JavaScript </a:t>
            </a:r>
            <a:r>
              <a:rPr lang="en-US" altLang="zh-TW" dirty="0" err="1"/>
              <a:t>WebGL</a:t>
            </a:r>
            <a:r>
              <a:rPr lang="zh-TW" altLang="en-US" dirty="0"/>
              <a:t>函式庫實現類似</a:t>
            </a:r>
            <a:r>
              <a:rPr lang="en-US" altLang="zh-TW" dirty="0"/>
              <a:t>Minecraft</a:t>
            </a:r>
            <a:r>
              <a:rPr lang="zh-TW" altLang="en-US" dirty="0"/>
              <a:t>的場景展示。</a:t>
            </a:r>
            <a:endParaRPr lang="en-US" altLang="zh-TW" dirty="0"/>
          </a:p>
          <a:p>
            <a:pPr algn="l"/>
            <a:r>
              <a:rPr lang="en-US" altLang="zh-TW" dirty="0"/>
              <a:t>https://threejs.org/</a:t>
            </a:r>
            <a:br>
              <a:rPr lang="en-US" altLang="zh-TW" dirty="0"/>
            </a:br>
            <a:r>
              <a:rPr lang="en-US" altLang="zh-TW" dirty="0"/>
              <a:t>examples/#</a:t>
            </a:r>
            <a:r>
              <a:rPr lang="en-US" altLang="zh-TW" dirty="0" err="1"/>
              <a:t>webgl</a:t>
            </a:r>
            <a:r>
              <a:rPr lang="en-US" altLang="zh-TW" dirty="0"/>
              <a:t>_</a:t>
            </a:r>
            <a:br>
              <a:rPr lang="en-US" altLang="zh-TW" dirty="0"/>
            </a:br>
            <a:r>
              <a:rPr lang="en-US" altLang="zh-TW" dirty="0" err="1"/>
              <a:t>geometry_minecraft</a:t>
            </a:r>
            <a:br>
              <a:rPr lang="en-US" altLang="zh-TW" dirty="0"/>
            </a:br>
            <a:r>
              <a:rPr lang="en-US" altLang="zh-TW" dirty="0"/>
              <a:t>_</a:t>
            </a:r>
            <a:r>
              <a:rPr lang="en-US" altLang="zh-TW" dirty="0" err="1"/>
              <a:t>ao</a:t>
            </a:r>
            <a:r>
              <a:rPr lang="zh-TW" altLang="en-US" dirty="0"/>
              <a:t> 。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414" y="2239795"/>
            <a:ext cx="4365485" cy="233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2740276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範例：網頁版的乒乓球對戰遊戲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WebRTC</a:t>
            </a:r>
            <a:r>
              <a:rPr lang="zh-TW" altLang="en-US" dirty="0"/>
              <a:t>技術，二個玩家可直接交換資料。</a:t>
            </a:r>
          </a:p>
          <a:p>
            <a:r>
              <a:rPr lang="en-US" altLang="zh-TW" dirty="0"/>
              <a:t>https://experiments.withgoogle.com/cube-slam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839" y="2846123"/>
            <a:ext cx="3572696" cy="228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8545574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影音分享</a:t>
            </a:r>
            <a:endParaRPr lang="zh-TW" altLang="en-US" dirty="0"/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消失的錄影帶和</a:t>
            </a:r>
            <a:r>
              <a:rPr lang="en-US" altLang="zh-TW" dirty="0"/>
              <a:t>DVD</a:t>
            </a:r>
            <a:r>
              <a:rPr lang="zh-TW" altLang="en-US" dirty="0"/>
              <a:t>出租店。</a:t>
            </a:r>
            <a:endParaRPr lang="en-US" altLang="zh-TW" dirty="0"/>
          </a:p>
          <a:p>
            <a:r>
              <a:rPr lang="en-US" altLang="zh-TW" dirty="0"/>
              <a:t>2005</a:t>
            </a:r>
            <a:r>
              <a:rPr lang="zh-TW" altLang="en-US" dirty="0"/>
              <a:t>年</a:t>
            </a:r>
            <a:r>
              <a:rPr lang="en-US" altLang="zh-TW" dirty="0"/>
              <a:t>YouTube</a:t>
            </a:r>
            <a:r>
              <a:rPr lang="zh-TW" altLang="en-US" dirty="0"/>
              <a:t>成立：</a:t>
            </a:r>
            <a:r>
              <a:rPr lang="en-US" altLang="ja-JP" dirty="0"/>
              <a:t>2006</a:t>
            </a:r>
            <a:r>
              <a:rPr lang="zh-TW" altLang="en-US" dirty="0"/>
              <a:t>年，</a:t>
            </a:r>
            <a:r>
              <a:rPr lang="en-US" altLang="zh-TW" dirty="0"/>
              <a:t>YouTube</a:t>
            </a:r>
            <a:r>
              <a:rPr lang="zh-TW" altLang="en-US" dirty="0"/>
              <a:t>被</a:t>
            </a:r>
            <a:r>
              <a:rPr lang="en-US" altLang="zh-TW" dirty="0"/>
              <a:t>Google</a:t>
            </a:r>
            <a:r>
              <a:rPr lang="zh-TW" altLang="en-US" dirty="0"/>
              <a:t>收購。</a:t>
            </a:r>
            <a:endParaRPr lang="en-US" altLang="zh-TW" dirty="0"/>
          </a:p>
          <a:p>
            <a:r>
              <a:rPr lang="en-US" altLang="zh-TW" dirty="0"/>
              <a:t>YouTube</a:t>
            </a:r>
            <a:r>
              <a:rPr lang="zh-TW" altLang="en-US" dirty="0"/>
              <a:t>上的內容一開始主要由使用者上傳。</a:t>
            </a:r>
            <a:endParaRPr lang="en-US" altLang="zh-TW" dirty="0"/>
          </a:p>
          <a:p>
            <a:r>
              <a:rPr lang="zh-TW" altLang="en-US" dirty="0"/>
              <a:t>後來也愈來愈多由專業的內容提供業者提供。</a:t>
            </a:r>
          </a:p>
        </p:txBody>
      </p:sp>
    </p:spTree>
    <p:extLst>
      <p:ext uri="{BB962C8B-B14F-4D97-AF65-F5344CB8AC3E}">
        <p14:creationId xmlns:p14="http://schemas.microsoft.com/office/powerpoint/2010/main" val="3231376964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影音分享</a:t>
            </a:r>
            <a:endParaRPr lang="en-US" altLang="zh-TW" dirty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其他隨選視訊服務：</a:t>
            </a:r>
            <a:endParaRPr lang="en-US" altLang="zh-TW"/>
          </a:p>
          <a:p>
            <a:pPr lvl="1"/>
            <a:r>
              <a:rPr lang="zh-TW" altLang="en-US"/>
              <a:t>中華電信的</a:t>
            </a:r>
            <a:r>
              <a:rPr lang="en-US" altLang="zh-TW"/>
              <a:t>MOD</a:t>
            </a:r>
            <a:r>
              <a:rPr lang="zh-TW" altLang="en-US"/>
              <a:t> 。</a:t>
            </a:r>
            <a:endParaRPr lang="en-US" altLang="zh-TW"/>
          </a:p>
          <a:p>
            <a:pPr lvl="1"/>
            <a:r>
              <a:rPr lang="zh-TW" altLang="en-US"/>
              <a:t>美國的</a:t>
            </a:r>
            <a:r>
              <a:rPr lang="en-US" altLang="zh-TW"/>
              <a:t>NETFLIX</a:t>
            </a:r>
            <a:r>
              <a:rPr lang="zh-TW" altLang="en-US"/>
              <a:t>、</a:t>
            </a:r>
            <a:r>
              <a:rPr lang="en-US" altLang="zh-TW"/>
              <a:t>HULU</a:t>
            </a:r>
            <a:r>
              <a:rPr lang="zh-TW" altLang="en-US"/>
              <a:t>網站服務。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348" y="1190673"/>
            <a:ext cx="3431652" cy="16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905" y="3471850"/>
            <a:ext cx="3421800" cy="16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5541755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TW" altLang="zh-TW" dirty="0">
                <a:solidFill>
                  <a:srgbClr val="C00000"/>
                </a:solidFill>
              </a:rPr>
              <a:t>免費試用真開心　付費訂閱要小心</a:t>
            </a:r>
          </a:p>
          <a:p>
            <a:r>
              <a:rPr lang="zh-TW" altLang="zh-TW" dirty="0"/>
              <a:t>免費試用雖方便，但常在試用期後自動轉為付費訂閱，若未取消恐導致重複扣款。使用者應留意訂閱條款與扣款時間，善用訂閱追蹤工具避免資金浪費。從網路到實體皆有訂閱陷阱，謹慎管理訂閱可省荷包、防當冤大頭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35364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社群網路服務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/>
              <a:t>提供使用者線上分享生活大小事的平台。</a:t>
            </a:r>
            <a:endParaRPr lang="en-US" altLang="zh-TW"/>
          </a:p>
          <a:p>
            <a:r>
              <a:rPr lang="zh-TW" altLang="en-US"/>
              <a:t>不同的社群網路有不同的目標族群。</a:t>
            </a:r>
            <a:endParaRPr lang="en-US" altLang="zh-TW"/>
          </a:p>
          <a:p>
            <a:pPr lvl="1"/>
            <a:r>
              <a:rPr lang="en-US" altLang="zh-TW"/>
              <a:t>Facebook –</a:t>
            </a:r>
            <a:r>
              <a:rPr lang="zh-TW" altLang="en-US"/>
              <a:t>同學朋友。</a:t>
            </a:r>
            <a:endParaRPr lang="en-US" altLang="zh-TW"/>
          </a:p>
          <a:p>
            <a:pPr lvl="1"/>
            <a:r>
              <a:rPr lang="en-US" altLang="zh-TW"/>
              <a:t>Instagram –</a:t>
            </a:r>
            <a:r>
              <a:rPr lang="zh-TW" altLang="en-US"/>
              <a:t>圖片分享。</a:t>
            </a:r>
            <a:endParaRPr lang="en-US" altLang="zh-TW"/>
          </a:p>
          <a:p>
            <a:pPr lvl="1"/>
            <a:r>
              <a:rPr lang="en-US" altLang="zh-TW"/>
              <a:t>Twitter – </a:t>
            </a:r>
            <a:r>
              <a:rPr lang="zh-TW" altLang="en-US"/>
              <a:t>以即時消息分享為主。</a:t>
            </a:r>
            <a:endParaRPr lang="en-US" altLang="zh-TW"/>
          </a:p>
          <a:p>
            <a:pPr lvl="1"/>
            <a:r>
              <a:rPr lang="en-US" altLang="zh-TW"/>
              <a:t>Linkedin – </a:t>
            </a:r>
            <a:r>
              <a:rPr lang="zh-TW" altLang="en-US"/>
              <a:t>以工作關係為主。</a:t>
            </a:r>
            <a:endParaRPr lang="en-US" altLang="zh-TW"/>
          </a:p>
          <a:p>
            <a:pPr lvl="1"/>
            <a:r>
              <a:rPr lang="en-US" altLang="zh-TW"/>
              <a:t>Pinterest –</a:t>
            </a:r>
            <a:r>
              <a:rPr lang="zh-TW" altLang="en-US"/>
              <a:t> 整理分享網上資訊。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5044660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468313" y="589375"/>
            <a:ext cx="8229600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zh-TW" altLang="en-US" dirty="0"/>
              <a:t>社群網站範例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85" y="1761660"/>
            <a:ext cx="3766447" cy="198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388" y="2471970"/>
            <a:ext cx="3811160" cy="20035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351176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網路儲存</a:t>
            </a:r>
          </a:p>
        </p:txBody>
      </p:sp>
      <p:sp>
        <p:nvSpPr>
          <p:cNvPr id="5222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使用者不需要自行架設檔案伺服器，只要申請一個免費或是付費的雲端網路儲存帳號，就可以把自己的檔案全部交給</a:t>
            </a:r>
            <a:r>
              <a:rPr lang="en-US" altLang="zh-TW"/>
              <a:t>Internet</a:t>
            </a:r>
            <a:r>
              <a:rPr lang="zh-TW" altLang="en-US"/>
              <a:t>上的雲端儲存服務保存。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97683952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網路儲存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這些雲端儲存服務除了自動備份資料外，也提供自動同步的功能。</a:t>
            </a:r>
            <a:endParaRPr lang="en-US" altLang="zh-TW" dirty="0"/>
          </a:p>
          <a:p>
            <a:r>
              <a:rPr lang="zh-TW" altLang="en-US" dirty="0"/>
              <a:t>同一位使用者的各種裝置，都可以使用同一個服務，看到相同的檔案。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75103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網路儲存</a:t>
            </a:r>
            <a:endParaRPr lang="zh-TW" altLang="en-US" dirty="0"/>
          </a:p>
        </p:txBody>
      </p:sp>
      <p:sp>
        <p:nvSpPr>
          <p:cNvPr id="5325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/>
              <a:t>雲端儲存其他的功能</a:t>
            </a:r>
            <a:endParaRPr lang="en-US" altLang="zh-TW"/>
          </a:p>
          <a:p>
            <a:pPr lvl="1"/>
            <a:r>
              <a:rPr lang="zh-TW" altLang="en-US"/>
              <a:t>版本控管</a:t>
            </a:r>
            <a:endParaRPr lang="en-US" altLang="zh-TW"/>
          </a:p>
          <a:p>
            <a:pPr lvl="1"/>
            <a:r>
              <a:rPr lang="zh-TW" altLang="en-US"/>
              <a:t>線上檢視</a:t>
            </a:r>
            <a:endParaRPr lang="en-US" altLang="zh-TW"/>
          </a:p>
          <a:p>
            <a:pPr lvl="1"/>
            <a:r>
              <a:rPr lang="zh-TW" altLang="en-US"/>
              <a:t>線上編輯功能</a:t>
            </a:r>
            <a:endParaRPr lang="en-US" altLang="zh-TW"/>
          </a:p>
          <a:p>
            <a:r>
              <a:rPr lang="zh-TW" altLang="en-US"/>
              <a:t>所以，使用者可以透過這種方式，與其他使用者同時在網路上一起進行文件的編輯和創作！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022" y="1013249"/>
            <a:ext cx="2649888" cy="25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4068586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20659B-2224-65E9-FB19-ACED05BB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3.0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B3223C-F37F-F9B3-1191-8365F92C1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Web 1.0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使用者擔任「消費者」，只能單面向「讀取」網路內容。</a:t>
            </a:r>
            <a:endParaRPr lang="en-US" altLang="zh-TW" dirty="0"/>
          </a:p>
          <a:p>
            <a:r>
              <a:rPr lang="en-US" altLang="zh-TW" dirty="0">
                <a:solidFill>
                  <a:srgbClr val="C00000"/>
                </a:solidFill>
              </a:rPr>
              <a:t>Web 2.0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使用者擔任「消費者」和「生產者」，除了讀取之外，也可以貢獻內容。</a:t>
            </a:r>
            <a:endParaRPr lang="en-US" altLang="zh-TW" dirty="0"/>
          </a:p>
          <a:p>
            <a:r>
              <a:rPr lang="en-US" altLang="zh-TW" dirty="0">
                <a:solidFill>
                  <a:srgbClr val="C00000"/>
                </a:solidFill>
              </a:rPr>
              <a:t>Web 3.0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使用者不但是「消費者」和「生產者」，也是「擁有者」。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40221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526FC6-43C5-AB0E-10DC-19D285D0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3.0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1948EC-D58B-3B8F-47B9-79E5C1AC2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WWW</a:t>
            </a:r>
            <a:r>
              <a:rPr lang="zh-TW" altLang="en-US" dirty="0"/>
              <a:t>之父</a:t>
            </a:r>
            <a:r>
              <a:rPr lang="en-US" altLang="zh-TW" dirty="0"/>
              <a:t>Tim Berners-Lee</a:t>
            </a:r>
            <a:r>
              <a:rPr lang="zh-TW" altLang="en-US" dirty="0"/>
              <a:t>說「</a:t>
            </a:r>
            <a:r>
              <a:rPr lang="en-US" altLang="zh-TW" dirty="0"/>
              <a:t>Web 3.0</a:t>
            </a:r>
            <a:r>
              <a:rPr lang="zh-TW" altLang="en-US" dirty="0"/>
              <a:t>就是一個</a:t>
            </a:r>
            <a:r>
              <a:rPr lang="zh-TW" altLang="en-US" dirty="0">
                <a:solidFill>
                  <a:srgbClr val="C00000"/>
                </a:solidFill>
              </a:rPr>
              <a:t>語意網</a:t>
            </a:r>
            <a:r>
              <a:rPr lang="zh-TW" altLang="en-US" dirty="0"/>
              <a:t>（</a:t>
            </a:r>
            <a:r>
              <a:rPr lang="en-US" altLang="zh-TW" dirty="0"/>
              <a:t>Semantic Web</a:t>
            </a:r>
            <a:r>
              <a:rPr lang="zh-TW" altLang="en-US" dirty="0"/>
              <a:t>）」（</a:t>
            </a:r>
            <a:r>
              <a:rPr lang="en-US" altLang="zh-TW" dirty="0"/>
              <a:t>2000</a:t>
            </a:r>
            <a:r>
              <a:rPr lang="zh-TW" altLang="en-US" dirty="0"/>
              <a:t>），主張讓機器能理解資料的語意，並建立資料之間的關聯。</a:t>
            </a:r>
            <a:endParaRPr lang="en-US" altLang="zh-TW" dirty="0"/>
          </a:p>
          <a:p>
            <a:pPr lvl="1"/>
            <a:r>
              <a:rPr lang="zh-TW" altLang="en-US" dirty="0"/>
              <a:t>其實，全球資訊網聯盟（</a:t>
            </a:r>
            <a:r>
              <a:rPr lang="en-US" altLang="zh-TW" dirty="0"/>
              <a:t>World Wide Web Consortium</a:t>
            </a:r>
            <a:r>
              <a:rPr lang="zh-TW" altLang="en-US" dirty="0"/>
              <a:t>，</a:t>
            </a:r>
            <a:r>
              <a:rPr lang="en-US" altLang="zh-TW" dirty="0"/>
              <a:t>W3C</a:t>
            </a:r>
            <a:r>
              <a:rPr lang="zh-TW" altLang="en-US" dirty="0"/>
              <a:t>）官方主張的</a:t>
            </a:r>
            <a:r>
              <a:rPr lang="en-US" altLang="zh-TW" dirty="0"/>
              <a:t>Web 3.0</a:t>
            </a:r>
            <a:r>
              <a:rPr lang="zh-TW" altLang="en-US" dirty="0"/>
              <a:t>就是語意網。</a:t>
            </a:r>
          </a:p>
        </p:txBody>
      </p:sp>
    </p:spTree>
    <p:extLst>
      <p:ext uri="{BB962C8B-B14F-4D97-AF65-F5344CB8AC3E}">
        <p14:creationId xmlns:p14="http://schemas.microsoft.com/office/powerpoint/2010/main" val="15462074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17CDFC-3081-49AA-0C6D-103EA1C5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3.0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03906-CA03-9BF3-4FA8-4FC839AAC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虛擬貨幣</a:t>
            </a:r>
            <a:r>
              <a:rPr lang="en-US" altLang="zh-TW" dirty="0"/>
              <a:t>Ethereum</a:t>
            </a:r>
            <a:r>
              <a:rPr lang="zh-TW" altLang="en-US" dirty="0"/>
              <a:t>共同創辦人</a:t>
            </a:r>
            <a:r>
              <a:rPr lang="en-US" altLang="zh-TW" dirty="0"/>
              <a:t>Gavin Wood</a:t>
            </a:r>
            <a:r>
              <a:rPr lang="zh-TW" altLang="en-US" dirty="0"/>
              <a:t>則提出，</a:t>
            </a:r>
            <a:r>
              <a:rPr lang="en-US" altLang="zh-TW" dirty="0"/>
              <a:t>Web 3.0</a:t>
            </a:r>
            <a:r>
              <a:rPr lang="zh-TW" altLang="en-US" dirty="0"/>
              <a:t>是「</a:t>
            </a:r>
            <a:r>
              <a:rPr lang="zh-TW" altLang="en-US" dirty="0">
                <a:solidFill>
                  <a:srgbClr val="C00000"/>
                </a:solidFill>
              </a:rPr>
              <a:t>去中心化</a:t>
            </a:r>
            <a:r>
              <a:rPr lang="zh-TW" altLang="en-US" dirty="0"/>
              <a:t>線上生態系統」（</a:t>
            </a:r>
            <a:r>
              <a:rPr lang="en-US" altLang="zh-TW" dirty="0"/>
              <a:t>2014</a:t>
            </a:r>
            <a:r>
              <a:rPr lang="zh-TW" altLang="en-US" dirty="0"/>
              <a:t>）。</a:t>
            </a:r>
            <a:endParaRPr lang="en-US" altLang="zh-TW" dirty="0"/>
          </a:p>
          <a:p>
            <a:pPr lvl="1"/>
            <a:r>
              <a:rPr lang="zh-TW" altLang="en-US" dirty="0"/>
              <a:t>「去中心化」逐漸成為</a:t>
            </a:r>
            <a:r>
              <a:rPr lang="en-US" altLang="zh-TW" dirty="0"/>
              <a:t>Web 3.0</a:t>
            </a:r>
            <a:r>
              <a:rPr lang="zh-TW" altLang="en-US" dirty="0"/>
              <a:t>發展中的一個重要方向。</a:t>
            </a:r>
          </a:p>
        </p:txBody>
      </p:sp>
    </p:spTree>
    <p:extLst>
      <p:ext uri="{BB962C8B-B14F-4D97-AF65-F5344CB8AC3E}">
        <p14:creationId xmlns:p14="http://schemas.microsoft.com/office/powerpoint/2010/main" val="14113649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153CB-D1BE-2FAE-924E-10F418D7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3.0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95A0CE-35EA-BDB6-2776-136738EEC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Web3</a:t>
            </a:r>
            <a:r>
              <a:rPr lang="zh-TW" altLang="en-US" dirty="0"/>
              <a:t>並非單一技術，而是一種結合區塊鏈、去中心化架構、加密技術與智慧合約的新型網路應用模式，其核心目標在於降低對中心化平台的依賴，並將資料與控制權回歸使用者本身。</a:t>
            </a:r>
          </a:p>
        </p:txBody>
      </p:sp>
    </p:spTree>
    <p:extLst>
      <p:ext uri="{BB962C8B-B14F-4D97-AF65-F5344CB8AC3E}">
        <p14:creationId xmlns:p14="http://schemas.microsoft.com/office/powerpoint/2010/main" val="7033505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CB21B-C506-FA27-A7B1-79B0C44C8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3.0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827FC9-5DE9-F25E-C248-E362AAC9E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區塊鏈</a:t>
            </a:r>
            <a:endParaRPr lang="en-US" altLang="zh-TW" dirty="0"/>
          </a:p>
          <a:p>
            <a:pPr lvl="1"/>
            <a:r>
              <a:rPr lang="zh-TW" altLang="en-US" dirty="0"/>
              <a:t>是一種分散式帳本技術，透過多個節點共同維護資料，確保資料一旦寫入後難以竄改。</a:t>
            </a:r>
            <a:endParaRPr lang="en-US" altLang="zh-TW" dirty="0"/>
          </a:p>
          <a:p>
            <a:pPr lvl="1"/>
            <a:r>
              <a:rPr lang="zh-TW" altLang="en-US" dirty="0"/>
              <a:t>由於不需要依賴單一中央伺服器，區塊鏈能提高系統的透明度與安全性。</a:t>
            </a:r>
            <a:endParaRPr lang="en-US" altLang="zh-TW" dirty="0"/>
          </a:p>
          <a:p>
            <a:pPr lvl="1"/>
            <a:r>
              <a:rPr lang="zh-TW" altLang="en-US" dirty="0"/>
              <a:t>基於區塊鏈的系統，常搭配加密貨幣作為交易媒介，以維持網路運作與激勵節點參與。</a:t>
            </a:r>
          </a:p>
        </p:txBody>
      </p:sp>
    </p:spTree>
    <p:extLst>
      <p:ext uri="{BB962C8B-B14F-4D97-AF65-F5344CB8AC3E}">
        <p14:creationId xmlns:p14="http://schemas.microsoft.com/office/powerpoint/2010/main" val="15813436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B70F5-5E6A-FE17-6AEB-5FDC0FA6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3.0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241FE3-8467-8F4F-801A-8E6F15795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去中心化應用</a:t>
            </a:r>
            <a:r>
              <a:rPr lang="zh-TW" altLang="en-US" dirty="0"/>
              <a:t>（</a:t>
            </a:r>
            <a:r>
              <a:rPr lang="en-US" altLang="zh-TW" dirty="0"/>
              <a:t>Decentralized Application</a:t>
            </a:r>
            <a:r>
              <a:rPr lang="zh-TW" altLang="en-US" dirty="0"/>
              <a:t>；</a:t>
            </a:r>
            <a:r>
              <a:rPr lang="en-US" altLang="zh-TW" dirty="0" err="1"/>
              <a:t>DApp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/>
            <a:r>
              <a:rPr lang="en-US" altLang="zh-TW" dirty="0" err="1"/>
              <a:t>DApp</a:t>
            </a:r>
            <a:r>
              <a:rPr lang="zh-TW" altLang="en-US" dirty="0"/>
              <a:t>是指運行於區塊鏈或去中心化網路上的應用程式，其後端邏輯通常由</a:t>
            </a:r>
            <a:r>
              <a:rPr lang="zh-TW" altLang="en-US" dirty="0">
                <a:solidFill>
                  <a:srgbClr val="C00000"/>
                </a:solidFill>
              </a:rPr>
              <a:t>智慧合約</a:t>
            </a:r>
            <a:r>
              <a:rPr lang="zh-TW" altLang="en-US" dirty="0"/>
              <a:t>（</a:t>
            </a:r>
            <a:r>
              <a:rPr lang="en-US" altLang="zh-TW" dirty="0"/>
              <a:t>Smart Contract</a:t>
            </a:r>
            <a:r>
              <a:rPr lang="zh-TW" altLang="en-US" dirty="0"/>
              <a:t>）所控制。</a:t>
            </a:r>
            <a:endParaRPr lang="en-US" altLang="zh-TW" dirty="0"/>
          </a:p>
          <a:p>
            <a:pPr lvl="1"/>
            <a:r>
              <a:rPr lang="zh-TW" altLang="en-US" dirty="0"/>
              <a:t>智慧合約是一段部署在區塊鏈上的程式碼，當預先設定的條件被滿足時，合約會自動執行，無須人工介入。</a:t>
            </a:r>
            <a:endParaRPr lang="en-US" altLang="zh-TW" dirty="0"/>
          </a:p>
          <a:p>
            <a:pPr lvl="1"/>
            <a:r>
              <a:rPr lang="en-US" altLang="zh-TW" dirty="0" err="1"/>
              <a:t>DApp</a:t>
            </a:r>
            <a:r>
              <a:rPr lang="zh-TW" altLang="en-US" dirty="0"/>
              <a:t>通常不需要使用者建立帳號或密碼，而是透過數位錢包進行身分驗證。</a:t>
            </a:r>
          </a:p>
        </p:txBody>
      </p:sp>
    </p:spTree>
    <p:extLst>
      <p:ext uri="{BB962C8B-B14F-4D97-AF65-F5344CB8AC3E}">
        <p14:creationId xmlns:p14="http://schemas.microsoft.com/office/powerpoint/2010/main" val="39982892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95BF0-91BA-D744-2E84-24A323E2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3.0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366438-A1A0-A67B-6ED7-BC6B4445E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</a:t>
            </a:r>
            <a:r>
              <a:rPr lang="en-US" altLang="zh-TW" dirty="0" err="1"/>
              <a:t>DApp</a:t>
            </a:r>
            <a:r>
              <a:rPr lang="zh-TW" altLang="en-US" dirty="0"/>
              <a:t>的應用領域相當多元，包含</a:t>
            </a:r>
            <a:r>
              <a:rPr lang="zh-TW" altLang="en-US" dirty="0">
                <a:solidFill>
                  <a:srgbClr val="C00000"/>
                </a:solidFill>
              </a:rPr>
              <a:t>去中心化金融</a:t>
            </a:r>
            <a:r>
              <a:rPr lang="zh-TW" altLang="en-US" dirty="0"/>
              <a:t>（</a:t>
            </a:r>
            <a:r>
              <a:rPr lang="en-US" altLang="zh-TW" dirty="0"/>
              <a:t>DeFi</a:t>
            </a:r>
            <a:r>
              <a:rPr lang="zh-TW" altLang="en-US" dirty="0"/>
              <a:t>）、</a:t>
            </a:r>
            <a:r>
              <a:rPr lang="zh-TW" altLang="en-US" dirty="0">
                <a:solidFill>
                  <a:srgbClr val="C00000"/>
                </a:solidFill>
              </a:rPr>
              <a:t>非同質化代幣</a:t>
            </a:r>
            <a:r>
              <a:rPr lang="zh-TW" altLang="en-US" dirty="0"/>
              <a:t>（</a:t>
            </a:r>
            <a:r>
              <a:rPr lang="en-US" altLang="zh-TW" dirty="0"/>
              <a:t>NFT</a:t>
            </a:r>
            <a:r>
              <a:rPr lang="zh-TW" altLang="en-US" dirty="0"/>
              <a:t>）、區塊鏈遊戲與去中心化社群平台等。</a:t>
            </a:r>
          </a:p>
        </p:txBody>
      </p:sp>
    </p:spTree>
    <p:extLst>
      <p:ext uri="{BB962C8B-B14F-4D97-AF65-F5344CB8AC3E}">
        <p14:creationId xmlns:p14="http://schemas.microsoft.com/office/powerpoint/2010/main" val="20317098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58405B-F6AC-FBDC-4265-6A10441C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內容傳遞網路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320D19-984C-B158-13CB-6F253B4E6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為了解決延遲過高、頻寬不足與伺服器負載過重等問題，並提供使用者最佳的網路體驗，</a:t>
            </a:r>
            <a:r>
              <a:rPr lang="zh-TW" altLang="en-US" dirty="0">
                <a:solidFill>
                  <a:srgbClr val="C00000"/>
                </a:solidFill>
              </a:rPr>
              <a:t>內容傳遞網路</a:t>
            </a:r>
            <a:r>
              <a:rPr lang="zh-TW" altLang="en-US" dirty="0"/>
              <a:t>（</a:t>
            </a:r>
            <a:r>
              <a:rPr lang="en-US" altLang="zh-TW" dirty="0"/>
              <a:t>Content Delivery Network</a:t>
            </a:r>
            <a:r>
              <a:rPr lang="zh-TW" altLang="en-US" dirty="0"/>
              <a:t>；</a:t>
            </a:r>
            <a:r>
              <a:rPr lang="en-US" altLang="zh-TW" dirty="0"/>
              <a:t>CDN</a:t>
            </a:r>
            <a:r>
              <a:rPr lang="zh-TW" altLang="en-US" dirty="0"/>
              <a:t>）便應運而生。</a:t>
            </a:r>
          </a:p>
        </p:txBody>
      </p:sp>
    </p:spTree>
    <p:extLst>
      <p:ext uri="{BB962C8B-B14F-4D97-AF65-F5344CB8AC3E}">
        <p14:creationId xmlns:p14="http://schemas.microsoft.com/office/powerpoint/2010/main" val="35961202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F8C05-A9BC-F4F6-9876-8BD85525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內容傳遞網路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A4BA67-5E2A-2A3A-6C65-044BEE3EF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從技術架構來看，</a:t>
            </a:r>
            <a:r>
              <a:rPr lang="en-US" altLang="zh-TW" dirty="0"/>
              <a:t>CDN</a:t>
            </a:r>
            <a:r>
              <a:rPr lang="zh-TW" altLang="en-US" dirty="0"/>
              <a:t>是一種</a:t>
            </a:r>
            <a:r>
              <a:rPr lang="zh-TW" altLang="en-US" dirty="0">
                <a:solidFill>
                  <a:srgbClr val="C00000"/>
                </a:solidFill>
              </a:rPr>
              <a:t>分散式系統</a:t>
            </a:r>
            <a:r>
              <a:rPr lang="zh-TW" altLang="en-US" dirty="0"/>
              <a:t>，其核心理念是將網站或應用程式的內容複製並儲存在全球各地的「</a:t>
            </a:r>
            <a:r>
              <a:rPr lang="zh-TW" altLang="en-US" dirty="0">
                <a:solidFill>
                  <a:srgbClr val="C00000"/>
                </a:solidFill>
              </a:rPr>
              <a:t>邊緣節點</a:t>
            </a:r>
            <a:r>
              <a:rPr lang="zh-TW" altLang="en-US" dirty="0"/>
              <a:t>（</a:t>
            </a:r>
            <a:r>
              <a:rPr lang="en-US" altLang="zh-TW" dirty="0"/>
              <a:t>Edge Servers</a:t>
            </a:r>
            <a:r>
              <a:rPr lang="zh-TW" altLang="en-US" dirty="0"/>
              <a:t>）」。</a:t>
            </a:r>
            <a:endParaRPr lang="en-US" altLang="zh-TW" dirty="0"/>
          </a:p>
          <a:p>
            <a:pPr lvl="1"/>
            <a:r>
              <a:rPr lang="zh-TW" altLang="en-US" dirty="0"/>
              <a:t>這種方式能有效縮短資料傳輸距離，降低網路延遲，同時減輕主伺服器的負擔。</a:t>
            </a:r>
          </a:p>
        </p:txBody>
      </p:sp>
    </p:spTree>
    <p:extLst>
      <p:ext uri="{BB962C8B-B14F-4D97-AF65-F5344CB8AC3E}">
        <p14:creationId xmlns:p14="http://schemas.microsoft.com/office/powerpoint/2010/main" val="2390353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EBA93D-B85A-0CC5-4A27-55E70715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內容傳遞網路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A719DB-30E3-34F8-BCAB-9FDA87707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CDN</a:t>
            </a:r>
            <a:r>
              <a:rPr lang="zh-TW" altLang="en-US" dirty="0"/>
              <a:t>所傳遞的內容包含靜態內容、動態內容、影音串流、軟體更新檔案以及大型下載檔案等。</a:t>
            </a:r>
            <a:endParaRPr lang="en-US" altLang="zh-TW" dirty="0"/>
          </a:p>
          <a:p>
            <a:r>
              <a:rPr lang="zh-TW" altLang="en-US" dirty="0"/>
              <a:t>對於高流量網站而言，透過</a:t>
            </a:r>
            <a:r>
              <a:rPr lang="en-US" altLang="zh-TW" dirty="0"/>
              <a:t>CDN</a:t>
            </a:r>
            <a:r>
              <a:rPr lang="zh-TW" altLang="en-US" dirty="0"/>
              <a:t>不僅能提升使用者瀏覽速度，也能提高系統的穩定性與可用性。</a:t>
            </a:r>
            <a:endParaRPr lang="en-US" altLang="zh-TW" dirty="0"/>
          </a:p>
          <a:p>
            <a:r>
              <a:rPr lang="en-US" altLang="zh-TW" dirty="0"/>
              <a:t>CDN</a:t>
            </a:r>
            <a:r>
              <a:rPr lang="zh-TW" altLang="en-US" dirty="0"/>
              <a:t>服務還整合了負載平衡、</a:t>
            </a:r>
            <a:r>
              <a:rPr lang="en-US" altLang="zh-TW" dirty="0"/>
              <a:t>DDoS</a:t>
            </a:r>
            <a:r>
              <a:rPr lang="zh-TW" altLang="en-US" dirty="0"/>
              <a:t>攻擊防護與</a:t>
            </a:r>
            <a:r>
              <a:rPr lang="en-US" altLang="zh-TW" dirty="0"/>
              <a:t>SSL/TLS</a:t>
            </a:r>
            <a:r>
              <a:rPr lang="zh-TW" altLang="en-US" dirty="0"/>
              <a:t>加密等安全機制，使其成為網站安全架構的一環。</a:t>
            </a:r>
          </a:p>
        </p:txBody>
      </p:sp>
    </p:spTree>
    <p:extLst>
      <p:ext uri="{BB962C8B-B14F-4D97-AF65-F5344CB8AC3E}">
        <p14:creationId xmlns:p14="http://schemas.microsoft.com/office/powerpoint/2010/main" val="11903017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E25020-087F-C95B-2CDD-45910DBE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應用程式介面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281E48-09AC-DF4E-FA14-AFE805644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應用程式界面（</a:t>
            </a:r>
            <a:r>
              <a:rPr lang="en-US" altLang="zh-TW" dirty="0"/>
              <a:t>Application Programming Interface</a:t>
            </a:r>
            <a:r>
              <a:rPr lang="zh-TW" altLang="en-US" dirty="0"/>
              <a:t>，</a:t>
            </a:r>
            <a:r>
              <a:rPr lang="en-US" altLang="zh-TW" dirty="0">
                <a:solidFill>
                  <a:srgbClr val="C00000"/>
                </a:solidFill>
              </a:rPr>
              <a:t>API</a:t>
            </a:r>
            <a:r>
              <a:rPr lang="zh-TW" altLang="en-US" dirty="0"/>
              <a:t>）的主要功能，是定義不同軟體系統之間如何進行溝通與資料交換，使得系統不必了解彼此的內部實作細節，仍能有效合作。</a:t>
            </a:r>
            <a:endParaRPr lang="en-US" altLang="zh-TW" dirty="0"/>
          </a:p>
          <a:p>
            <a:r>
              <a:rPr lang="en-US" altLang="zh-TW" dirty="0"/>
              <a:t>API</a:t>
            </a:r>
            <a:r>
              <a:rPr lang="zh-TW" altLang="en-US" dirty="0"/>
              <a:t>可被視為一組標準化的介面與規範，用以說明某項服務能提供哪些功能、如何呼叫這些功能，以及會回傳何種結果。</a:t>
            </a:r>
          </a:p>
        </p:txBody>
      </p:sp>
    </p:spTree>
    <p:extLst>
      <p:ext uri="{BB962C8B-B14F-4D97-AF65-F5344CB8AC3E}">
        <p14:creationId xmlns:p14="http://schemas.microsoft.com/office/powerpoint/2010/main" val="6302989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592E06-5ADA-0F7D-CA46-1B0D6B0E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應用程式介面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42A6E6-B796-9B86-46B1-C0F958534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當前廣泛採用的</a:t>
            </a:r>
            <a:r>
              <a:rPr lang="zh-TW" altLang="en-US" dirty="0">
                <a:solidFill>
                  <a:srgbClr val="C00000"/>
                </a:solidFill>
              </a:rPr>
              <a:t>微服務架構</a:t>
            </a:r>
            <a:r>
              <a:rPr lang="zh-TW" altLang="en-US" dirty="0"/>
              <a:t>（</a:t>
            </a:r>
            <a:r>
              <a:rPr lang="en-US" altLang="zh-TW" dirty="0"/>
              <a:t>Microservices Architecture</a:t>
            </a:r>
            <a:r>
              <a:rPr lang="zh-TW" altLang="en-US" dirty="0"/>
              <a:t>），便是以</a:t>
            </a:r>
            <a:r>
              <a:rPr lang="en-US" altLang="zh-TW" dirty="0"/>
              <a:t>API</a:t>
            </a:r>
            <a:r>
              <a:rPr lang="zh-TW" altLang="en-US" dirty="0"/>
              <a:t>作為服務之間溝通的主要方式。</a:t>
            </a:r>
            <a:endParaRPr lang="en-US" altLang="zh-TW" dirty="0"/>
          </a:p>
          <a:p>
            <a:pPr lvl="1"/>
            <a:r>
              <a:rPr lang="zh-TW" altLang="en-US" dirty="0"/>
              <a:t>每個服務專注於單一功能，透過</a:t>
            </a:r>
            <a:r>
              <a:rPr lang="en-US" altLang="zh-TW" dirty="0"/>
              <a:t>API</a:t>
            </a:r>
            <a:r>
              <a:rPr lang="zh-TW" altLang="en-US" dirty="0"/>
              <a:t>對外提供能力，使整體系統具備高度彈性與可擴充性。</a:t>
            </a:r>
          </a:p>
        </p:txBody>
      </p:sp>
    </p:spTree>
    <p:extLst>
      <p:ext uri="{BB962C8B-B14F-4D97-AF65-F5344CB8AC3E}">
        <p14:creationId xmlns:p14="http://schemas.microsoft.com/office/powerpoint/2010/main" val="36883267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2B51C-9AAD-E8F5-28A6-5D078698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應用程式介面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2C8388-6C09-F3C3-1EED-47F6662B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API</a:t>
            </a:r>
            <a:r>
              <a:rPr lang="zh-TW" altLang="en-US" dirty="0"/>
              <a:t>經濟（</a:t>
            </a:r>
            <a:r>
              <a:rPr lang="en-US" altLang="zh-TW" dirty="0"/>
              <a:t>API Economy</a:t>
            </a:r>
            <a:r>
              <a:rPr lang="zh-TW" altLang="en-US"/>
              <a:t>）</a:t>
            </a:r>
            <a:endParaRPr lang="en-US" altLang="zh-TW" dirty="0"/>
          </a:p>
          <a:p>
            <a:pPr lvl="1"/>
            <a:r>
              <a:rPr lang="zh-TW" altLang="en-US" dirty="0"/>
              <a:t>指的是企業將自身的核心服務或資料以</a:t>
            </a:r>
            <a:r>
              <a:rPr lang="en-US" altLang="zh-TW" dirty="0"/>
              <a:t>API</a:t>
            </a:r>
            <a:r>
              <a:rPr lang="zh-TW" altLang="en-US" dirty="0"/>
              <a:t>的形式對外開放，讓第三方開發者、合作夥伴或其他企業，能夠在其基礎上建立新服務，進而創造新的商業價值。</a:t>
            </a:r>
          </a:p>
        </p:txBody>
      </p:sp>
    </p:spTree>
    <p:extLst>
      <p:ext uri="{BB962C8B-B14F-4D97-AF65-F5344CB8AC3E}">
        <p14:creationId xmlns:p14="http://schemas.microsoft.com/office/powerpoint/2010/main" val="38976196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7-5 </a:t>
            </a:r>
            <a:r>
              <a:rPr lang="zh-TW" altLang="en-US"/>
              <a:t>網頁製作</a:t>
            </a:r>
            <a:endParaRPr lang="en-US" altLang="zh-TW"/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網頁是由</a:t>
            </a:r>
            <a:r>
              <a:rPr lang="zh-TW" altLang="en-US" dirty="0">
                <a:solidFill>
                  <a:srgbClr val="C00000"/>
                </a:solidFill>
              </a:rPr>
              <a:t>超文本標記語言</a:t>
            </a:r>
            <a:r>
              <a:rPr lang="zh-TW" altLang="en-US" dirty="0"/>
              <a:t>（</a:t>
            </a:r>
            <a:r>
              <a:rPr lang="en-US" altLang="zh-TW" dirty="0"/>
              <a:t>Hyper Text Markup Language</a:t>
            </a:r>
            <a:r>
              <a:rPr lang="zh-TW" altLang="en-US" dirty="0"/>
              <a:t>；</a:t>
            </a:r>
            <a:r>
              <a:rPr lang="en-US" altLang="zh-TW" dirty="0"/>
              <a:t>HTML</a:t>
            </a:r>
            <a:r>
              <a:rPr lang="zh-TW" altLang="en-US" dirty="0"/>
              <a:t>）所撰寫而成。</a:t>
            </a:r>
            <a:endParaRPr lang="en-US" altLang="zh-TW" dirty="0"/>
          </a:p>
          <a:p>
            <a:r>
              <a:rPr lang="en-US" altLang="zh-TW" dirty="0"/>
              <a:t>HTML</a:t>
            </a:r>
            <a:r>
              <a:rPr lang="zh-TW" altLang="en-US" dirty="0"/>
              <a:t>是標記描述語言。</a:t>
            </a:r>
          </a:p>
          <a:p>
            <a:pPr lvl="1"/>
            <a:r>
              <a:rPr lang="zh-TW" altLang="en-US" dirty="0"/>
              <a:t>使用各種標籤來進行排版的動作。</a:t>
            </a:r>
            <a:endParaRPr lang="en-US" altLang="zh-TW" dirty="0"/>
          </a:p>
          <a:p>
            <a:pPr lvl="1"/>
            <a:r>
              <a:rPr lang="zh-TW" altLang="en-US" dirty="0"/>
              <a:t>使得文件之間能夠相互連結。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0365627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</a:t>
            </a:r>
            <a:r>
              <a:rPr lang="zh-TW" altLang="en-US"/>
              <a:t>範例</a:t>
            </a:r>
            <a:r>
              <a:rPr lang="en-US" altLang="zh-TW"/>
              <a:t>1 – </a:t>
            </a:r>
            <a:r>
              <a:rPr lang="zh-TW" altLang="en-US"/>
              <a:t>原始碼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401620"/>
            <a:ext cx="5237783" cy="31078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56841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</a:t>
            </a:r>
            <a:r>
              <a:rPr lang="zh-TW" altLang="en-US"/>
              <a:t>範例</a:t>
            </a:r>
            <a:r>
              <a:rPr lang="en-US" altLang="zh-TW"/>
              <a:t>1 (cont) – </a:t>
            </a:r>
            <a:r>
              <a:rPr lang="zh-TW" altLang="en-US"/>
              <a:t>畫面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776413"/>
            <a:ext cx="7800975" cy="1590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324754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</a:t>
            </a:r>
            <a:r>
              <a:rPr lang="zh-TW" altLang="en-US"/>
              <a:t>範例一 </a:t>
            </a:r>
            <a:r>
              <a:rPr lang="en-US" altLang="zh-TW"/>
              <a:t>– </a:t>
            </a:r>
            <a:r>
              <a:rPr lang="zh-TW" altLang="en-US"/>
              <a:t>使用標籤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21" y="1401620"/>
            <a:ext cx="7992380" cy="294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1238969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</a:t>
            </a:r>
            <a:r>
              <a:rPr lang="zh-TW" altLang="en-US"/>
              <a:t>範例二 </a:t>
            </a:r>
            <a:r>
              <a:rPr lang="en-US" altLang="zh-TW"/>
              <a:t>– </a:t>
            </a:r>
            <a:r>
              <a:rPr lang="zh-TW" altLang="en-US"/>
              <a:t>原始碼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356615"/>
            <a:ext cx="4107560" cy="36342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843069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</a:t>
            </a:r>
            <a:r>
              <a:rPr lang="zh-TW" altLang="en-US" dirty="0"/>
              <a:t>範例二 </a:t>
            </a:r>
            <a:r>
              <a:rPr lang="en-US" altLang="zh-TW" dirty="0"/>
              <a:t>– </a:t>
            </a:r>
            <a:r>
              <a:rPr lang="zh-TW" altLang="en-US" dirty="0"/>
              <a:t>原始碼</a:t>
            </a:r>
            <a:r>
              <a:rPr lang="en-US" altLang="zh-TW" dirty="0"/>
              <a:t>(</a:t>
            </a:r>
            <a:r>
              <a:rPr lang="zh-TW" altLang="en-US" dirty="0"/>
              <a:t>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730" y="1366736"/>
            <a:ext cx="4681913" cy="364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89930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</a:t>
            </a:r>
            <a:r>
              <a:rPr lang="zh-TW" altLang="en-US"/>
              <a:t>範例二 </a:t>
            </a:r>
            <a:r>
              <a:rPr lang="en-US" altLang="zh-TW"/>
              <a:t>– </a:t>
            </a:r>
            <a:r>
              <a:rPr lang="zh-TW" altLang="en-US"/>
              <a:t>畫面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56615"/>
            <a:ext cx="5139823" cy="36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3527337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</a:t>
            </a:r>
            <a:r>
              <a:rPr lang="zh-TW" altLang="en-US"/>
              <a:t>範例二</a:t>
            </a:r>
            <a:r>
              <a:rPr lang="en-US" altLang="zh-TW"/>
              <a:t> – </a:t>
            </a:r>
            <a:r>
              <a:rPr lang="zh-TW" altLang="en-US"/>
              <a:t>使用標籤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538" y="1394218"/>
            <a:ext cx="6578963" cy="3200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8616223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</a:t>
            </a:r>
            <a:r>
              <a:rPr lang="zh-TW" altLang="en-US"/>
              <a:t>範例三 </a:t>
            </a:r>
            <a:r>
              <a:rPr lang="en-US" altLang="zh-TW"/>
              <a:t>–</a:t>
            </a:r>
            <a:r>
              <a:rPr lang="zh-TW" altLang="en-US"/>
              <a:t>部分原始碼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84" y="1401620"/>
            <a:ext cx="4304246" cy="36765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065510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</a:t>
            </a:r>
            <a:r>
              <a:rPr lang="zh-TW" altLang="en-US"/>
              <a:t>範例三 </a:t>
            </a:r>
            <a:r>
              <a:rPr lang="en-US" altLang="zh-TW"/>
              <a:t>– </a:t>
            </a:r>
            <a:r>
              <a:rPr lang="zh-TW" altLang="en-US"/>
              <a:t>畫面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745" y="1388995"/>
            <a:ext cx="4914798" cy="3492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0467083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</a:t>
            </a:r>
            <a:r>
              <a:rPr lang="zh-TW" altLang="en-US"/>
              <a:t>範例三</a:t>
            </a:r>
            <a:r>
              <a:rPr lang="en-US" altLang="zh-TW"/>
              <a:t> – </a:t>
            </a:r>
            <a:r>
              <a:rPr lang="zh-TW" altLang="en-US"/>
              <a:t>標籤</a:t>
            </a:r>
            <a:r>
              <a:rPr lang="en-US" altLang="zh-TW"/>
              <a:t>IMG</a:t>
            </a:r>
            <a:r>
              <a:rPr lang="zh-TW" altLang="en-US"/>
              <a:t>的屬性和錨標籤</a:t>
            </a:r>
            <a:endParaRPr lang="en-US" altLang="zh-TW" dirty="0"/>
          </a:p>
        </p:txBody>
      </p:sp>
      <p:sp>
        <p:nvSpPr>
          <p:cNvPr id="6451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750" y="1533534"/>
            <a:ext cx="5405180" cy="2824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971600" y="4346400"/>
            <a:ext cx="6435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70C0"/>
                </a:solidFill>
              </a:rPr>
              <a:t>&lt;A HREF="http://www.happyschool.edu.tw"&gt; 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快樂高中</a:t>
            </a:r>
            <a:r>
              <a:rPr lang="en-US" altLang="zh-TW" b="1" dirty="0">
                <a:solidFill>
                  <a:srgbClr val="0070C0"/>
                </a:solidFill>
              </a:rPr>
              <a:t>&lt;/A&gt;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759845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線上課程的雲端漫步體驗</a:t>
            </a:r>
            <a:r>
              <a:rPr lang="zh-TW" altLang="en-US" dirty="0"/>
              <a:t>　　</a:t>
            </a:r>
            <a:endParaRPr lang="en-US" altLang="zh-TW" dirty="0"/>
          </a:p>
          <a:p>
            <a:r>
              <a:rPr lang="zh-TW" altLang="en-US" dirty="0"/>
              <a:t>國外某大學的一門線上課程裡，有位修課學生在學期中不幸意外死亡，更令教授難過的是，該生直到期末仍持續繳交作業，甚至連加分題也努力完成。</a:t>
            </a:r>
            <a:endParaRPr lang="en-US" altLang="zh-TW" dirty="0"/>
          </a:p>
          <a:p>
            <a:r>
              <a:rPr lang="zh-TW" altLang="en-US" dirty="0"/>
              <a:t>調查顯示，該生將上課的帳號密碼都給了外包網站的槍手。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258126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為了防弊，線上考試另訂不少規範，有的要求顯示電腦網址的地理位置，有的要求開啟鏡頭並核對身分，有的大班課程開啟鏡頭後還會分組，再由各個助教監考。</a:t>
            </a:r>
            <a:endParaRPr lang="en-US" altLang="zh-TW" dirty="0"/>
          </a:p>
          <a:p>
            <a:r>
              <a:rPr lang="zh-TW" altLang="en-US" dirty="0"/>
              <a:t>面對各式各樣的期末線上評量，不知莘莘學子是否都備有適足穩定的視訊設備、網路流量及應試空間呢？當線上監考軟體標注學生涉及舞弊時，到底該相信監考軟體，或是作答學生呢？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515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2518</TotalTime>
  <Words>3165</Words>
  <Application>Microsoft Office PowerPoint</Application>
  <PresentationFormat>如螢幕大小 (16:9)</PresentationFormat>
  <Paragraphs>286</Paragraphs>
  <Slides>86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86</vt:i4>
      </vt:variant>
    </vt:vector>
  </HeadingPairs>
  <TitlesOfParts>
    <vt:vector size="93" baseType="lpstr">
      <vt:lpstr>微軟正黑體</vt:lpstr>
      <vt:lpstr>Arial</vt:lpstr>
      <vt:lpstr>Calibri</vt:lpstr>
      <vt:lpstr>Consolas</vt:lpstr>
      <vt:lpstr>Times New Roman</vt:lpstr>
      <vt:lpstr>Wingdings 3</vt:lpstr>
      <vt:lpstr>Office 佈景主題</vt:lpstr>
      <vt:lpstr>網路應用</vt:lpstr>
      <vt:lpstr>7-1 電子郵件</vt:lpstr>
      <vt:lpstr>Email位址</vt:lpstr>
      <vt:lpstr>電子郵件元素</vt:lpstr>
      <vt:lpstr>電子郵件元素</vt:lpstr>
      <vt:lpstr>電子郵件元素</vt:lpstr>
      <vt:lpstr>電子郵件元素</vt:lpstr>
      <vt:lpstr>電子郵件的問題</vt:lpstr>
      <vt:lpstr>網頁收信介面</vt:lpstr>
      <vt:lpstr>PowerPoint 簡報</vt:lpstr>
      <vt:lpstr>PowerPoint 簡報</vt:lpstr>
      <vt:lpstr>7-2 電子佈告欄 BBS</vt:lpstr>
      <vt:lpstr>BBS的特色</vt:lpstr>
      <vt:lpstr>BBS的特色</vt:lpstr>
      <vt:lpstr>常見的ANSI控制碼</vt:lpstr>
      <vt:lpstr>常見的ANSI控制碼</vt:lpstr>
      <vt:lpstr>ANSI控制碼的範例</vt:lpstr>
      <vt:lpstr>原理介紹</vt:lpstr>
      <vt:lpstr>Python 實作範例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7-3 全球資訊網運作原理</vt:lpstr>
      <vt:lpstr>網頁的主從式架構</vt:lpstr>
      <vt:lpstr>HTTP</vt:lpstr>
      <vt:lpstr>HTTP (續)</vt:lpstr>
      <vt:lpstr>網頁瀏覽器</vt:lpstr>
      <vt:lpstr>網頁瀏覽器</vt:lpstr>
      <vt:lpstr>Windows上的Internet Explorer瀏覽器</vt:lpstr>
      <vt:lpstr>Linux上的Google Chrome瀏覽器</vt:lpstr>
      <vt:lpstr>Mac OS X上的Safari瀏覽器</vt:lpstr>
      <vt:lpstr>Firefox OS手機的瀏覽器</vt:lpstr>
      <vt:lpstr>7-4 WWW及相關應用</vt:lpstr>
      <vt:lpstr>7-4 WWW及相關應用</vt:lpstr>
      <vt:lpstr>搜尋引擎</vt:lpstr>
      <vt:lpstr>搜尋引擎 (續)</vt:lpstr>
      <vt:lpstr>即時通訊</vt:lpstr>
      <vt:lpstr>即時通訊</vt:lpstr>
      <vt:lpstr>即時通訊</vt:lpstr>
      <vt:lpstr>行動裝置上的即時通訊軟體</vt:lpstr>
      <vt:lpstr>網路遊戲</vt:lpstr>
      <vt:lpstr>進階的WWW技術與線上遊戲</vt:lpstr>
      <vt:lpstr>進階的WWW技術與線上遊戲</vt:lpstr>
      <vt:lpstr>範例：使用HTML5的遊戲</vt:lpstr>
      <vt:lpstr>範例：使用WebSocket的應用</vt:lpstr>
      <vt:lpstr>範例：網頁版的第一人稱射擊</vt:lpstr>
      <vt:lpstr>範例：網頁版的第一人稱射擊</vt:lpstr>
      <vt:lpstr>範例：網頁版的3D虛擬王國</vt:lpstr>
      <vt:lpstr>範例：網頁版的乒乓球對戰遊戲</vt:lpstr>
      <vt:lpstr>影音分享</vt:lpstr>
      <vt:lpstr>影音分享</vt:lpstr>
      <vt:lpstr>PowerPoint 簡報</vt:lpstr>
      <vt:lpstr>社群網路服務</vt:lpstr>
      <vt:lpstr>社群網站範例</vt:lpstr>
      <vt:lpstr>網路儲存</vt:lpstr>
      <vt:lpstr>網路儲存</vt:lpstr>
      <vt:lpstr>網路儲存</vt:lpstr>
      <vt:lpstr>Web 3.0</vt:lpstr>
      <vt:lpstr>Web 3.0</vt:lpstr>
      <vt:lpstr>Web 3.0</vt:lpstr>
      <vt:lpstr>Web 3.0</vt:lpstr>
      <vt:lpstr>Web 3.0</vt:lpstr>
      <vt:lpstr>Web 3.0</vt:lpstr>
      <vt:lpstr>Web 3.0</vt:lpstr>
      <vt:lpstr>內容傳遞網路</vt:lpstr>
      <vt:lpstr>內容傳遞網路</vt:lpstr>
      <vt:lpstr>內容傳遞網路</vt:lpstr>
      <vt:lpstr>應用程式介面</vt:lpstr>
      <vt:lpstr>應用程式介面</vt:lpstr>
      <vt:lpstr>應用程式介面</vt:lpstr>
      <vt:lpstr>7-5 網頁製作</vt:lpstr>
      <vt:lpstr>HTML範例1 – 原始碼</vt:lpstr>
      <vt:lpstr>HTML範例1 (cont) – 畫面</vt:lpstr>
      <vt:lpstr>HTML範例一 – 使用標籤</vt:lpstr>
      <vt:lpstr>HTML範例二 – 原始碼</vt:lpstr>
      <vt:lpstr>HTML範例二 – 原始碼(續)</vt:lpstr>
      <vt:lpstr>HTML範例二 – 畫面</vt:lpstr>
      <vt:lpstr>HTML範例二 – 使用標籤</vt:lpstr>
      <vt:lpstr>HTML範例三 –部分原始碼</vt:lpstr>
      <vt:lpstr>HTML範例三 – 畫面</vt:lpstr>
      <vt:lpstr>HTML範例三 – 標籤IMG的屬性和錨標籤</vt:lpstr>
      <vt:lpstr>PowerPoint 簡報</vt:lpstr>
      <vt:lpstr>PowerPoint 簡報</vt:lpstr>
    </vt:vector>
  </TitlesOfParts>
  <Company>FDZone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ox01ox01</dc:creator>
  <cp:lastModifiedBy>D2</cp:lastModifiedBy>
  <cp:revision>190</cp:revision>
  <dcterms:created xsi:type="dcterms:W3CDTF">2015-04-21T01:58:17Z</dcterms:created>
  <dcterms:modified xsi:type="dcterms:W3CDTF">2026-06-22T09:36:06Z</dcterms:modified>
</cp:coreProperties>
</file>