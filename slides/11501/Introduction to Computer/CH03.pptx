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8"/>
  </p:notesMasterIdLst>
  <p:sldIdLst>
    <p:sldId id="256" r:id="rId2"/>
    <p:sldId id="323" r:id="rId3"/>
    <p:sldId id="260" r:id="rId4"/>
    <p:sldId id="390" r:id="rId5"/>
    <p:sldId id="401" r:id="rId6"/>
    <p:sldId id="411" r:id="rId7"/>
    <p:sldId id="391" r:id="rId8"/>
    <p:sldId id="410" r:id="rId9"/>
    <p:sldId id="324" r:id="rId10"/>
    <p:sldId id="325" r:id="rId11"/>
    <p:sldId id="326" r:id="rId12"/>
    <p:sldId id="425" r:id="rId13"/>
    <p:sldId id="329" r:id="rId14"/>
    <p:sldId id="403" r:id="rId15"/>
    <p:sldId id="330" r:id="rId16"/>
    <p:sldId id="404" r:id="rId17"/>
    <p:sldId id="266" r:id="rId18"/>
    <p:sldId id="331" r:id="rId19"/>
    <p:sldId id="397" r:id="rId20"/>
    <p:sldId id="332" r:id="rId21"/>
    <p:sldId id="398" r:id="rId22"/>
    <p:sldId id="270" r:id="rId23"/>
    <p:sldId id="393" r:id="rId24"/>
    <p:sldId id="399" r:id="rId25"/>
    <p:sldId id="394" r:id="rId26"/>
    <p:sldId id="333" r:id="rId27"/>
    <p:sldId id="334" r:id="rId28"/>
    <p:sldId id="335" r:id="rId29"/>
    <p:sldId id="405" r:id="rId30"/>
    <p:sldId id="426" r:id="rId31"/>
    <p:sldId id="336" r:id="rId32"/>
    <p:sldId id="337" r:id="rId33"/>
    <p:sldId id="340" r:id="rId34"/>
    <p:sldId id="339" r:id="rId35"/>
    <p:sldId id="406" r:id="rId36"/>
    <p:sldId id="342" r:id="rId37"/>
    <p:sldId id="343" r:id="rId38"/>
    <p:sldId id="344" r:id="rId39"/>
    <p:sldId id="345" r:id="rId40"/>
    <p:sldId id="346" r:id="rId41"/>
    <p:sldId id="348" r:id="rId42"/>
    <p:sldId id="407" r:id="rId43"/>
    <p:sldId id="349" r:id="rId44"/>
    <p:sldId id="350" r:id="rId45"/>
    <p:sldId id="392" r:id="rId46"/>
    <p:sldId id="408" r:id="rId47"/>
    <p:sldId id="409" r:id="rId48"/>
    <p:sldId id="352" r:id="rId49"/>
    <p:sldId id="396" r:id="rId50"/>
    <p:sldId id="395" r:id="rId51"/>
    <p:sldId id="353" r:id="rId52"/>
    <p:sldId id="354" r:id="rId53"/>
    <p:sldId id="412" r:id="rId54"/>
    <p:sldId id="289" r:id="rId55"/>
    <p:sldId id="355" r:id="rId56"/>
    <p:sldId id="400" r:id="rId57"/>
    <p:sldId id="356" r:id="rId58"/>
    <p:sldId id="357" r:id="rId59"/>
    <p:sldId id="413" r:id="rId60"/>
    <p:sldId id="359" r:id="rId61"/>
    <p:sldId id="358" r:id="rId62"/>
    <p:sldId id="386" r:id="rId63"/>
    <p:sldId id="360" r:id="rId64"/>
    <p:sldId id="414" r:id="rId65"/>
    <p:sldId id="363" r:id="rId66"/>
    <p:sldId id="373" r:id="rId67"/>
    <p:sldId id="374" r:id="rId68"/>
    <p:sldId id="421" r:id="rId69"/>
    <p:sldId id="375" r:id="rId70"/>
    <p:sldId id="422" r:id="rId71"/>
    <p:sldId id="377" r:id="rId72"/>
    <p:sldId id="423" r:id="rId73"/>
    <p:sldId id="379" r:id="rId74"/>
    <p:sldId id="382" r:id="rId75"/>
    <p:sldId id="384" r:id="rId76"/>
    <p:sldId id="424" r:id="rId77"/>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CC66"/>
    <a:srgbClr val="000000"/>
    <a:srgbClr val="9BBB59"/>
    <a:srgbClr val="F2F2F2"/>
    <a:srgbClr val="99B1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淺色樣式 3 - 輔色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88663" autoAdjust="0"/>
  </p:normalViewPr>
  <p:slideViewPr>
    <p:cSldViewPr snapToObjects="1">
      <p:cViewPr varScale="1">
        <p:scale>
          <a:sx n="126" d="100"/>
          <a:sy n="126" d="100"/>
        </p:scale>
        <p:origin x="1122" y="90"/>
      </p:cViewPr>
      <p:guideLst>
        <p:guide orient="horz" pos="2160"/>
        <p:guide pos="2880"/>
        <p:guide orient="horz" pos="1620"/>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594D58B-10E1-4FF9-B611-F315C53E66A5}"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zh-TW" altLang="en-US"/>
        </a:p>
      </dgm:t>
    </dgm:pt>
    <dgm:pt modelId="{26379BBB-FDEC-438C-8906-C32CF8BC2341}">
      <dgm:prSet custT="1"/>
      <dgm:spPr/>
      <dgm:t>
        <a:bodyPr/>
        <a:lstStyle/>
        <a:p>
          <a:pPr rtl="0"/>
          <a:r>
            <a:rPr lang="zh-TW" altLang="en-US" sz="2800" b="1" dirty="0">
              <a:latin typeface="微軟正黑體" panose="020B0604030504040204" pitchFamily="34" charset="-120"/>
              <a:ea typeface="微軟正黑體" panose="020B0604030504040204" pitchFamily="34" charset="-120"/>
            </a:rPr>
            <a:t>臺北國際電腦展</a:t>
          </a:r>
          <a:endParaRPr lang="zh-TW" sz="2800" dirty="0">
            <a:latin typeface="微軟正黑體" panose="020B0604030504040204" pitchFamily="34" charset="-120"/>
            <a:ea typeface="微軟正黑體" panose="020B0604030504040204" pitchFamily="34" charset="-120"/>
          </a:endParaRPr>
        </a:p>
      </dgm:t>
    </dgm:pt>
    <dgm:pt modelId="{4BA38749-ED18-4F4C-9D1B-932DB1AB7D05}" type="parTrans" cxnId="{3FBCDAF9-1D23-4026-B92D-EFB6B02D7DE3}">
      <dgm:prSet/>
      <dgm:spPr/>
      <dgm:t>
        <a:bodyPr/>
        <a:lstStyle/>
        <a:p>
          <a:endParaRPr lang="zh-TW" altLang="en-US" sz="1800"/>
        </a:p>
      </dgm:t>
    </dgm:pt>
    <dgm:pt modelId="{55CF1D7D-F67F-43D8-A5CC-09127B292932}" type="sibTrans" cxnId="{3FBCDAF9-1D23-4026-B92D-EFB6B02D7DE3}">
      <dgm:prSet/>
      <dgm:spPr/>
      <dgm:t>
        <a:bodyPr/>
        <a:lstStyle/>
        <a:p>
          <a:endParaRPr lang="zh-TW" altLang="en-US" sz="1800"/>
        </a:p>
      </dgm:t>
    </dgm:pt>
    <dgm:pt modelId="{EBF0FE65-07DC-4235-9090-E9A5D327936F}">
      <dgm:prSet custT="1"/>
      <dgm:spPr/>
      <dgm:t>
        <a:bodyPr/>
        <a:lstStyle/>
        <a:p>
          <a:pPr rtl="0"/>
          <a:r>
            <a:rPr lang="zh-TW" altLang="en-US" sz="2800" b="1" dirty="0">
              <a:latin typeface="微軟正黑體" panose="020B0604030504040204" pitchFamily="34" charset="-120"/>
              <a:ea typeface="微軟正黑體" panose="020B0604030504040204" pitchFamily="34" charset="-120"/>
            </a:rPr>
            <a:t>美國拉斯維加斯國際消費電子展</a:t>
          </a:r>
          <a:endParaRPr lang="zh-TW" sz="2800" dirty="0">
            <a:latin typeface="微軟正黑體" panose="020B0604030504040204" pitchFamily="34" charset="-120"/>
            <a:ea typeface="微軟正黑體" panose="020B0604030504040204" pitchFamily="34" charset="-120"/>
          </a:endParaRPr>
        </a:p>
      </dgm:t>
    </dgm:pt>
    <dgm:pt modelId="{1AFF841B-AD90-4171-AA40-7976DFB4AFA4}" type="sibTrans" cxnId="{7DBD7303-264F-49B4-A74B-24C85ECB6D0C}">
      <dgm:prSet/>
      <dgm:spPr/>
      <dgm:t>
        <a:bodyPr/>
        <a:lstStyle/>
        <a:p>
          <a:endParaRPr lang="zh-TW" altLang="en-US" sz="1800"/>
        </a:p>
      </dgm:t>
    </dgm:pt>
    <dgm:pt modelId="{89EF1DF9-6EB6-45B2-A712-32D751DFE0EF}" type="parTrans" cxnId="{7DBD7303-264F-49B4-A74B-24C85ECB6D0C}">
      <dgm:prSet/>
      <dgm:spPr/>
      <dgm:t>
        <a:bodyPr/>
        <a:lstStyle/>
        <a:p>
          <a:endParaRPr lang="zh-TW" altLang="en-US" sz="1800"/>
        </a:p>
      </dgm:t>
    </dgm:pt>
    <dgm:pt modelId="{414E8B4F-74C0-4EAD-B16D-7852208C2C19}" type="pres">
      <dgm:prSet presAssocID="{0594D58B-10E1-4FF9-B611-F315C53E66A5}" presName="linear" presStyleCnt="0">
        <dgm:presLayoutVars>
          <dgm:animLvl val="lvl"/>
          <dgm:resizeHandles val="exact"/>
        </dgm:presLayoutVars>
      </dgm:prSet>
      <dgm:spPr/>
    </dgm:pt>
    <dgm:pt modelId="{FD38FCFC-D4A4-485C-9355-28D6E99F7F2D}" type="pres">
      <dgm:prSet presAssocID="{26379BBB-FDEC-438C-8906-C32CF8BC2341}" presName="parentText" presStyleLbl="node1" presStyleIdx="0" presStyleCnt="2" custLinFactY="2706" custLinFactNeighborX="2719" custLinFactNeighborY="100000">
        <dgm:presLayoutVars>
          <dgm:chMax val="0"/>
          <dgm:bulletEnabled val="1"/>
        </dgm:presLayoutVars>
      </dgm:prSet>
      <dgm:spPr/>
    </dgm:pt>
    <dgm:pt modelId="{DCC52004-D407-4EB7-AFF2-91A1AFB66053}" type="pres">
      <dgm:prSet presAssocID="{55CF1D7D-F67F-43D8-A5CC-09127B292932}" presName="spacer" presStyleCnt="0"/>
      <dgm:spPr/>
    </dgm:pt>
    <dgm:pt modelId="{8BAEE351-AEB4-4571-B3BD-0A6F9F99BF18}" type="pres">
      <dgm:prSet presAssocID="{EBF0FE65-07DC-4235-9090-E9A5D327936F}" presName="parentText" presStyleLbl="node1" presStyleIdx="1" presStyleCnt="2">
        <dgm:presLayoutVars>
          <dgm:chMax val="0"/>
          <dgm:bulletEnabled val="1"/>
        </dgm:presLayoutVars>
      </dgm:prSet>
      <dgm:spPr/>
    </dgm:pt>
  </dgm:ptLst>
  <dgm:cxnLst>
    <dgm:cxn modelId="{7DBD7303-264F-49B4-A74B-24C85ECB6D0C}" srcId="{0594D58B-10E1-4FF9-B611-F315C53E66A5}" destId="{EBF0FE65-07DC-4235-9090-E9A5D327936F}" srcOrd="1" destOrd="0" parTransId="{89EF1DF9-6EB6-45B2-A712-32D751DFE0EF}" sibTransId="{1AFF841B-AD90-4171-AA40-7976DFB4AFA4}"/>
    <dgm:cxn modelId="{7814971A-810E-4023-BD30-13736A522CA4}" type="presOf" srcId="{0594D58B-10E1-4FF9-B611-F315C53E66A5}" destId="{414E8B4F-74C0-4EAD-B16D-7852208C2C19}" srcOrd="0" destOrd="0" presId="urn:microsoft.com/office/officeart/2005/8/layout/vList2"/>
    <dgm:cxn modelId="{EE1EE394-35F0-4E94-85B7-FB48DE9525D7}" type="presOf" srcId="{26379BBB-FDEC-438C-8906-C32CF8BC2341}" destId="{FD38FCFC-D4A4-485C-9355-28D6E99F7F2D}" srcOrd="0" destOrd="0" presId="urn:microsoft.com/office/officeart/2005/8/layout/vList2"/>
    <dgm:cxn modelId="{C94E41BA-5F28-4900-B324-043186E321A3}" type="presOf" srcId="{EBF0FE65-07DC-4235-9090-E9A5D327936F}" destId="{8BAEE351-AEB4-4571-B3BD-0A6F9F99BF18}" srcOrd="0" destOrd="0" presId="urn:microsoft.com/office/officeart/2005/8/layout/vList2"/>
    <dgm:cxn modelId="{3FBCDAF9-1D23-4026-B92D-EFB6B02D7DE3}" srcId="{0594D58B-10E1-4FF9-B611-F315C53E66A5}" destId="{26379BBB-FDEC-438C-8906-C32CF8BC2341}" srcOrd="0" destOrd="0" parTransId="{4BA38749-ED18-4F4C-9D1B-932DB1AB7D05}" sibTransId="{55CF1D7D-F67F-43D8-A5CC-09127B292932}"/>
    <dgm:cxn modelId="{E17936BE-4C40-4850-826D-3A7C65239175}" type="presParOf" srcId="{414E8B4F-74C0-4EAD-B16D-7852208C2C19}" destId="{FD38FCFC-D4A4-485C-9355-28D6E99F7F2D}" srcOrd="0" destOrd="0" presId="urn:microsoft.com/office/officeart/2005/8/layout/vList2"/>
    <dgm:cxn modelId="{6FD78EEB-F86B-4846-A600-5EEC6BB0B458}" type="presParOf" srcId="{414E8B4F-74C0-4EAD-B16D-7852208C2C19}" destId="{DCC52004-D407-4EB7-AFF2-91A1AFB66053}" srcOrd="1" destOrd="0" presId="urn:microsoft.com/office/officeart/2005/8/layout/vList2"/>
    <dgm:cxn modelId="{5F31D3C1-A789-495F-BB23-7258CD4263AD}" type="presParOf" srcId="{414E8B4F-74C0-4EAD-B16D-7852208C2C19}" destId="{8BAEE351-AEB4-4571-B3BD-0A6F9F99BF18}"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3152571-6151-42C3-9724-B860F544CD87}" type="doc">
      <dgm:prSet loTypeId="urn:microsoft.com/office/officeart/2005/8/layout/list1" loCatId="list" qsTypeId="urn:microsoft.com/office/officeart/2005/8/quickstyle/simple1" qsCatId="simple" csTypeId="urn:microsoft.com/office/officeart/2005/8/colors/colorful3" csCatId="colorful" phldr="1"/>
      <dgm:spPr/>
      <dgm:t>
        <a:bodyPr/>
        <a:lstStyle/>
        <a:p>
          <a:endParaRPr lang="zh-TW" altLang="en-US"/>
        </a:p>
      </dgm:t>
    </dgm:pt>
    <dgm:pt modelId="{D47A3A7D-B574-49A8-BA55-64AF3EA019D2}">
      <dgm:prSet custT="1"/>
      <dgm:spPr/>
      <dgm:t>
        <a:bodyPr/>
        <a:lstStyle/>
        <a:p>
          <a:pPr rtl="0"/>
          <a:r>
            <a:rPr lang="zh-TW" altLang="en-US" sz="2000" b="1" dirty="0">
              <a:latin typeface="微軟正黑體" panose="020B0604030504040204" pitchFamily="34" charset="-120"/>
              <a:ea typeface="微軟正黑體" panose="020B0604030504040204" pitchFamily="34" charset="-120"/>
            </a:rPr>
            <a:t>控制匯流排</a:t>
          </a:r>
          <a:endParaRPr lang="zh-TW" altLang="en-US" sz="2000" dirty="0">
            <a:latin typeface="微軟正黑體" panose="020B0604030504040204" pitchFamily="34" charset="-120"/>
            <a:ea typeface="微軟正黑體" panose="020B0604030504040204" pitchFamily="34" charset="-120"/>
          </a:endParaRPr>
        </a:p>
      </dgm:t>
    </dgm:pt>
    <dgm:pt modelId="{BE9082D1-D91B-4D38-AF4D-D556C79D53FB}" type="parTrans" cxnId="{34D98182-5325-4AA0-B3C2-3A57F8AA4805}">
      <dgm:prSet/>
      <dgm:spPr/>
      <dgm:t>
        <a:bodyPr/>
        <a:lstStyle/>
        <a:p>
          <a:endParaRPr lang="zh-TW" altLang="en-US"/>
        </a:p>
      </dgm:t>
    </dgm:pt>
    <dgm:pt modelId="{4DA0D767-1F72-4000-8465-4E789A48A20C}" type="sibTrans" cxnId="{34D98182-5325-4AA0-B3C2-3A57F8AA4805}">
      <dgm:prSet/>
      <dgm:spPr/>
      <dgm:t>
        <a:bodyPr/>
        <a:lstStyle/>
        <a:p>
          <a:endParaRPr lang="zh-TW" altLang="en-US"/>
        </a:p>
      </dgm:t>
    </dgm:pt>
    <dgm:pt modelId="{5FAF57A1-AC2D-41EC-8441-13B31FB9E5DE}">
      <dgm:prSet custT="1"/>
      <dgm:spPr/>
      <dgm:t>
        <a:bodyPr/>
        <a:lstStyle/>
        <a:p>
          <a:pPr rtl="0"/>
          <a:r>
            <a:rPr lang="zh-TW" altLang="en-US" sz="2000" b="1" dirty="0">
              <a:latin typeface="微軟正黑體" panose="020B0604030504040204" pitchFamily="34" charset="-120"/>
              <a:ea typeface="微軟正黑體" panose="020B0604030504040204" pitchFamily="34" charset="-120"/>
            </a:rPr>
            <a:t>讓控制單元可以操控算術邏輯單元的運算。</a:t>
          </a:r>
          <a:endParaRPr lang="zh-TW" altLang="en-US" sz="2000" dirty="0">
            <a:latin typeface="微軟正黑體" panose="020B0604030504040204" pitchFamily="34" charset="-120"/>
            <a:ea typeface="微軟正黑體" panose="020B0604030504040204" pitchFamily="34" charset="-120"/>
          </a:endParaRPr>
        </a:p>
      </dgm:t>
    </dgm:pt>
    <dgm:pt modelId="{DFDBDED8-F7F9-47F1-83AA-00AB5012C25F}" type="parTrans" cxnId="{693C777C-CBD7-4740-B662-7F831FA0C62C}">
      <dgm:prSet/>
      <dgm:spPr/>
      <dgm:t>
        <a:bodyPr/>
        <a:lstStyle/>
        <a:p>
          <a:endParaRPr lang="zh-TW" altLang="en-US"/>
        </a:p>
      </dgm:t>
    </dgm:pt>
    <dgm:pt modelId="{04604E05-53AD-4134-B5F7-BB6EBF5DE237}" type="sibTrans" cxnId="{693C777C-CBD7-4740-B662-7F831FA0C62C}">
      <dgm:prSet/>
      <dgm:spPr/>
      <dgm:t>
        <a:bodyPr/>
        <a:lstStyle/>
        <a:p>
          <a:endParaRPr lang="zh-TW" altLang="en-US"/>
        </a:p>
      </dgm:t>
    </dgm:pt>
    <dgm:pt modelId="{F40FE27B-7C97-468B-99E5-ED93BF489322}">
      <dgm:prSet custT="1"/>
      <dgm:spPr/>
      <dgm:t>
        <a:bodyPr/>
        <a:lstStyle/>
        <a:p>
          <a:pPr rtl="0"/>
          <a:r>
            <a:rPr lang="zh-TW" altLang="en-US" sz="2000" b="1" dirty="0">
              <a:latin typeface="微軟正黑體" panose="020B0604030504040204" pitchFamily="34" charset="-120"/>
              <a:ea typeface="微軟正黑體" panose="020B0604030504040204" pitchFamily="34" charset="-120"/>
            </a:rPr>
            <a:t>位址匯流排</a:t>
          </a:r>
          <a:endParaRPr lang="zh-TW" altLang="en-US" sz="2000" dirty="0">
            <a:latin typeface="微軟正黑體" panose="020B0604030504040204" pitchFamily="34" charset="-120"/>
            <a:ea typeface="微軟正黑體" panose="020B0604030504040204" pitchFamily="34" charset="-120"/>
          </a:endParaRPr>
        </a:p>
      </dgm:t>
    </dgm:pt>
    <dgm:pt modelId="{E5E23244-CC08-48F5-957C-4EF29F0E63F7}" type="parTrans" cxnId="{358AC211-E50C-4025-88F4-2EEC21576CB2}">
      <dgm:prSet/>
      <dgm:spPr/>
      <dgm:t>
        <a:bodyPr/>
        <a:lstStyle/>
        <a:p>
          <a:endParaRPr lang="zh-TW" altLang="en-US"/>
        </a:p>
      </dgm:t>
    </dgm:pt>
    <dgm:pt modelId="{1F56F016-DD95-4EFB-BA5B-92D5DC1B664D}" type="sibTrans" cxnId="{358AC211-E50C-4025-88F4-2EEC21576CB2}">
      <dgm:prSet/>
      <dgm:spPr/>
      <dgm:t>
        <a:bodyPr/>
        <a:lstStyle/>
        <a:p>
          <a:endParaRPr lang="zh-TW" altLang="en-US"/>
        </a:p>
      </dgm:t>
    </dgm:pt>
    <dgm:pt modelId="{0412BB3E-C8C8-403B-BF57-2E26D56D413F}">
      <dgm:prSet custT="1"/>
      <dgm:spPr/>
      <dgm:t>
        <a:bodyPr/>
        <a:lstStyle/>
        <a:p>
          <a:pPr rtl="0"/>
          <a:r>
            <a:rPr lang="zh-TW" altLang="en-US" sz="2000" b="1" dirty="0">
              <a:latin typeface="微軟正黑體" panose="020B0604030504040204" pitchFamily="34" charset="-120"/>
              <a:ea typeface="微軟正黑體" panose="020B0604030504040204" pitchFamily="34" charset="-120"/>
            </a:rPr>
            <a:t>將所要執行的程式位址傳到中央處理器內的程式計數器。</a:t>
          </a:r>
          <a:endParaRPr lang="zh-TW" altLang="en-US" sz="2000" dirty="0">
            <a:latin typeface="微軟正黑體" panose="020B0604030504040204" pitchFamily="34" charset="-120"/>
            <a:ea typeface="微軟正黑體" panose="020B0604030504040204" pitchFamily="34" charset="-120"/>
          </a:endParaRPr>
        </a:p>
      </dgm:t>
    </dgm:pt>
    <dgm:pt modelId="{6762124E-402E-4747-AB78-51FD4B7F67F1}" type="parTrans" cxnId="{254E9047-2D89-4743-A6C5-BB16098B4A17}">
      <dgm:prSet/>
      <dgm:spPr/>
      <dgm:t>
        <a:bodyPr/>
        <a:lstStyle/>
        <a:p>
          <a:endParaRPr lang="zh-TW" altLang="en-US"/>
        </a:p>
      </dgm:t>
    </dgm:pt>
    <dgm:pt modelId="{36895E4C-1215-4719-BDBB-91A1A6C5D80E}" type="sibTrans" cxnId="{254E9047-2D89-4743-A6C5-BB16098B4A17}">
      <dgm:prSet/>
      <dgm:spPr/>
      <dgm:t>
        <a:bodyPr/>
        <a:lstStyle/>
        <a:p>
          <a:endParaRPr lang="zh-TW" altLang="en-US"/>
        </a:p>
      </dgm:t>
    </dgm:pt>
    <dgm:pt modelId="{91BE1724-52EB-4386-BC20-181625486252}">
      <dgm:prSet custT="1"/>
      <dgm:spPr/>
      <dgm:t>
        <a:bodyPr/>
        <a:lstStyle/>
        <a:p>
          <a:pPr rtl="0"/>
          <a:r>
            <a:rPr lang="zh-TW" altLang="en-US" sz="2000" b="1" dirty="0">
              <a:latin typeface="微軟正黑體" panose="020B0604030504040204" pitchFamily="34" charset="-120"/>
              <a:ea typeface="微軟正黑體" panose="020B0604030504040204" pitchFamily="34" charset="-120"/>
            </a:rPr>
            <a:t>資料匯流排</a:t>
          </a:r>
          <a:endParaRPr lang="zh-TW" altLang="en-US" sz="2000" dirty="0">
            <a:latin typeface="微軟正黑體" panose="020B0604030504040204" pitchFamily="34" charset="-120"/>
            <a:ea typeface="微軟正黑體" panose="020B0604030504040204" pitchFamily="34" charset="-120"/>
          </a:endParaRPr>
        </a:p>
      </dgm:t>
    </dgm:pt>
    <dgm:pt modelId="{04207A43-4CD7-4CE1-8560-F5E9D2B4ED55}" type="parTrans" cxnId="{52DD6C58-AD5C-41F9-9074-55628E906EEC}">
      <dgm:prSet/>
      <dgm:spPr/>
      <dgm:t>
        <a:bodyPr/>
        <a:lstStyle/>
        <a:p>
          <a:endParaRPr lang="zh-TW" altLang="en-US"/>
        </a:p>
      </dgm:t>
    </dgm:pt>
    <dgm:pt modelId="{616B8350-A09E-4B83-BD39-A4AE2F461FDF}" type="sibTrans" cxnId="{52DD6C58-AD5C-41F9-9074-55628E906EEC}">
      <dgm:prSet/>
      <dgm:spPr/>
      <dgm:t>
        <a:bodyPr/>
        <a:lstStyle/>
        <a:p>
          <a:endParaRPr lang="zh-TW" altLang="en-US"/>
        </a:p>
      </dgm:t>
    </dgm:pt>
    <dgm:pt modelId="{D9CDD615-F573-4A6B-9A28-179B21C79057}">
      <dgm:prSet custT="1"/>
      <dgm:spPr/>
      <dgm:t>
        <a:bodyPr/>
        <a:lstStyle/>
        <a:p>
          <a:pPr rtl="0"/>
          <a:r>
            <a:rPr lang="zh-TW" altLang="en-US" sz="2000" b="1" dirty="0">
              <a:latin typeface="微軟正黑體" panose="020B0604030504040204" pitchFamily="34" charset="-120"/>
              <a:ea typeface="微軟正黑體" panose="020B0604030504040204" pitchFamily="34" charset="-120"/>
            </a:rPr>
            <a:t>可供各單元間進行資料交換。</a:t>
          </a:r>
          <a:endParaRPr lang="zh-TW" altLang="en-US" sz="2000" dirty="0">
            <a:latin typeface="微軟正黑體" panose="020B0604030504040204" pitchFamily="34" charset="-120"/>
            <a:ea typeface="微軟正黑體" panose="020B0604030504040204" pitchFamily="34" charset="-120"/>
          </a:endParaRPr>
        </a:p>
      </dgm:t>
    </dgm:pt>
    <dgm:pt modelId="{28BC9FBE-4C71-4393-AFF2-8721109F8CCC}" type="parTrans" cxnId="{814DA02B-6E0E-48F9-A90B-D86F13E34152}">
      <dgm:prSet/>
      <dgm:spPr/>
      <dgm:t>
        <a:bodyPr/>
        <a:lstStyle/>
        <a:p>
          <a:endParaRPr lang="zh-TW" altLang="en-US"/>
        </a:p>
      </dgm:t>
    </dgm:pt>
    <dgm:pt modelId="{589E825F-ECD2-4829-9C58-45FFEDF792FF}" type="sibTrans" cxnId="{814DA02B-6E0E-48F9-A90B-D86F13E34152}">
      <dgm:prSet/>
      <dgm:spPr/>
      <dgm:t>
        <a:bodyPr/>
        <a:lstStyle/>
        <a:p>
          <a:endParaRPr lang="zh-TW" altLang="en-US"/>
        </a:p>
      </dgm:t>
    </dgm:pt>
    <dgm:pt modelId="{EE7E92F4-8528-4E5D-A7E3-7560DE4EC808}" type="pres">
      <dgm:prSet presAssocID="{C3152571-6151-42C3-9724-B860F544CD87}" presName="linear" presStyleCnt="0">
        <dgm:presLayoutVars>
          <dgm:dir/>
          <dgm:animLvl val="lvl"/>
          <dgm:resizeHandles val="exact"/>
        </dgm:presLayoutVars>
      </dgm:prSet>
      <dgm:spPr/>
    </dgm:pt>
    <dgm:pt modelId="{35631955-A109-4642-9E10-C6141C15A749}" type="pres">
      <dgm:prSet presAssocID="{D47A3A7D-B574-49A8-BA55-64AF3EA019D2}" presName="parentLin" presStyleCnt="0"/>
      <dgm:spPr/>
    </dgm:pt>
    <dgm:pt modelId="{2A778223-351E-4DF0-BE17-505EBF193F9D}" type="pres">
      <dgm:prSet presAssocID="{D47A3A7D-B574-49A8-BA55-64AF3EA019D2}" presName="parentLeftMargin" presStyleLbl="node1" presStyleIdx="0" presStyleCnt="3"/>
      <dgm:spPr/>
    </dgm:pt>
    <dgm:pt modelId="{38A79309-832D-4F70-8518-7A22FF99F0EF}" type="pres">
      <dgm:prSet presAssocID="{D47A3A7D-B574-49A8-BA55-64AF3EA019D2}" presName="parentText" presStyleLbl="node1" presStyleIdx="0" presStyleCnt="3">
        <dgm:presLayoutVars>
          <dgm:chMax val="0"/>
          <dgm:bulletEnabled val="1"/>
        </dgm:presLayoutVars>
      </dgm:prSet>
      <dgm:spPr/>
    </dgm:pt>
    <dgm:pt modelId="{7376BD22-D205-499E-8F34-0FDC03F9A887}" type="pres">
      <dgm:prSet presAssocID="{D47A3A7D-B574-49A8-BA55-64AF3EA019D2}" presName="negativeSpace" presStyleCnt="0"/>
      <dgm:spPr/>
    </dgm:pt>
    <dgm:pt modelId="{EDEAAF8A-A0BD-47FD-ACCB-516D19E13A29}" type="pres">
      <dgm:prSet presAssocID="{D47A3A7D-B574-49A8-BA55-64AF3EA019D2}" presName="childText" presStyleLbl="conFgAcc1" presStyleIdx="0" presStyleCnt="3">
        <dgm:presLayoutVars>
          <dgm:bulletEnabled val="1"/>
        </dgm:presLayoutVars>
      </dgm:prSet>
      <dgm:spPr/>
    </dgm:pt>
    <dgm:pt modelId="{92BD1AD5-5FFE-4E40-BA18-92916FAB994D}" type="pres">
      <dgm:prSet presAssocID="{4DA0D767-1F72-4000-8465-4E789A48A20C}" presName="spaceBetweenRectangles" presStyleCnt="0"/>
      <dgm:spPr/>
    </dgm:pt>
    <dgm:pt modelId="{B27B7C37-A5C3-4DB2-8CCF-71F3CB73FEAC}" type="pres">
      <dgm:prSet presAssocID="{F40FE27B-7C97-468B-99E5-ED93BF489322}" presName="parentLin" presStyleCnt="0"/>
      <dgm:spPr/>
    </dgm:pt>
    <dgm:pt modelId="{5F26EDA1-68CC-4D3C-A20B-C63D2BFFBA4A}" type="pres">
      <dgm:prSet presAssocID="{F40FE27B-7C97-468B-99E5-ED93BF489322}" presName="parentLeftMargin" presStyleLbl="node1" presStyleIdx="0" presStyleCnt="3"/>
      <dgm:spPr/>
    </dgm:pt>
    <dgm:pt modelId="{8868EBC5-2B8B-4C47-85DC-B145F93A408A}" type="pres">
      <dgm:prSet presAssocID="{F40FE27B-7C97-468B-99E5-ED93BF489322}" presName="parentText" presStyleLbl="node1" presStyleIdx="1" presStyleCnt="3">
        <dgm:presLayoutVars>
          <dgm:chMax val="0"/>
          <dgm:bulletEnabled val="1"/>
        </dgm:presLayoutVars>
      </dgm:prSet>
      <dgm:spPr/>
    </dgm:pt>
    <dgm:pt modelId="{43CAC7D2-8C02-416F-B26C-83C7B1EC3E09}" type="pres">
      <dgm:prSet presAssocID="{F40FE27B-7C97-468B-99E5-ED93BF489322}" presName="negativeSpace" presStyleCnt="0"/>
      <dgm:spPr/>
    </dgm:pt>
    <dgm:pt modelId="{EE3803E8-D332-44EC-A7D3-E6C57A52D17D}" type="pres">
      <dgm:prSet presAssocID="{F40FE27B-7C97-468B-99E5-ED93BF489322}" presName="childText" presStyleLbl="conFgAcc1" presStyleIdx="1" presStyleCnt="3">
        <dgm:presLayoutVars>
          <dgm:bulletEnabled val="1"/>
        </dgm:presLayoutVars>
      </dgm:prSet>
      <dgm:spPr/>
    </dgm:pt>
    <dgm:pt modelId="{AA6CEFF3-1733-47D7-B665-D22AEE5B1209}" type="pres">
      <dgm:prSet presAssocID="{1F56F016-DD95-4EFB-BA5B-92D5DC1B664D}" presName="spaceBetweenRectangles" presStyleCnt="0"/>
      <dgm:spPr/>
    </dgm:pt>
    <dgm:pt modelId="{742DF390-9E2D-4573-996B-CC61BC084BC7}" type="pres">
      <dgm:prSet presAssocID="{91BE1724-52EB-4386-BC20-181625486252}" presName="parentLin" presStyleCnt="0"/>
      <dgm:spPr/>
    </dgm:pt>
    <dgm:pt modelId="{E4D6BDAA-EE17-4900-9EE3-93BB514D81F6}" type="pres">
      <dgm:prSet presAssocID="{91BE1724-52EB-4386-BC20-181625486252}" presName="parentLeftMargin" presStyleLbl="node1" presStyleIdx="1" presStyleCnt="3"/>
      <dgm:spPr/>
    </dgm:pt>
    <dgm:pt modelId="{21D4DF60-081A-4049-9E42-41CEED6645E6}" type="pres">
      <dgm:prSet presAssocID="{91BE1724-52EB-4386-BC20-181625486252}" presName="parentText" presStyleLbl="node1" presStyleIdx="2" presStyleCnt="3">
        <dgm:presLayoutVars>
          <dgm:chMax val="0"/>
          <dgm:bulletEnabled val="1"/>
        </dgm:presLayoutVars>
      </dgm:prSet>
      <dgm:spPr/>
    </dgm:pt>
    <dgm:pt modelId="{C53A1BE3-E8A0-49F7-B4A5-6D96920B223F}" type="pres">
      <dgm:prSet presAssocID="{91BE1724-52EB-4386-BC20-181625486252}" presName="negativeSpace" presStyleCnt="0"/>
      <dgm:spPr/>
    </dgm:pt>
    <dgm:pt modelId="{F4230E44-C88A-4283-AE0A-E016ABD7D727}" type="pres">
      <dgm:prSet presAssocID="{91BE1724-52EB-4386-BC20-181625486252}" presName="childText" presStyleLbl="conFgAcc1" presStyleIdx="2" presStyleCnt="3">
        <dgm:presLayoutVars>
          <dgm:bulletEnabled val="1"/>
        </dgm:presLayoutVars>
      </dgm:prSet>
      <dgm:spPr/>
    </dgm:pt>
  </dgm:ptLst>
  <dgm:cxnLst>
    <dgm:cxn modelId="{F702CE03-33BC-403D-A515-259E8C634D7A}" type="presOf" srcId="{C3152571-6151-42C3-9724-B860F544CD87}" destId="{EE7E92F4-8528-4E5D-A7E3-7560DE4EC808}" srcOrd="0" destOrd="0" presId="urn:microsoft.com/office/officeart/2005/8/layout/list1"/>
    <dgm:cxn modelId="{358AC211-E50C-4025-88F4-2EEC21576CB2}" srcId="{C3152571-6151-42C3-9724-B860F544CD87}" destId="{F40FE27B-7C97-468B-99E5-ED93BF489322}" srcOrd="1" destOrd="0" parTransId="{E5E23244-CC08-48F5-957C-4EF29F0E63F7}" sibTransId="{1F56F016-DD95-4EFB-BA5B-92D5DC1B664D}"/>
    <dgm:cxn modelId="{814DA02B-6E0E-48F9-A90B-D86F13E34152}" srcId="{91BE1724-52EB-4386-BC20-181625486252}" destId="{D9CDD615-F573-4A6B-9A28-179B21C79057}" srcOrd="0" destOrd="0" parTransId="{28BC9FBE-4C71-4393-AFF2-8721109F8CCC}" sibTransId="{589E825F-ECD2-4829-9C58-45FFEDF792FF}"/>
    <dgm:cxn modelId="{E034653B-71C9-4AB0-BA4C-AE1FA7E8BF4D}" type="presOf" srcId="{91BE1724-52EB-4386-BC20-181625486252}" destId="{E4D6BDAA-EE17-4900-9EE3-93BB514D81F6}" srcOrd="0" destOrd="0" presId="urn:microsoft.com/office/officeart/2005/8/layout/list1"/>
    <dgm:cxn modelId="{17E76167-1661-4B72-92E2-BD9D1C3C9324}" type="presOf" srcId="{F40FE27B-7C97-468B-99E5-ED93BF489322}" destId="{8868EBC5-2B8B-4C47-85DC-B145F93A408A}" srcOrd="1" destOrd="0" presId="urn:microsoft.com/office/officeart/2005/8/layout/list1"/>
    <dgm:cxn modelId="{254E9047-2D89-4743-A6C5-BB16098B4A17}" srcId="{F40FE27B-7C97-468B-99E5-ED93BF489322}" destId="{0412BB3E-C8C8-403B-BF57-2E26D56D413F}" srcOrd="0" destOrd="0" parTransId="{6762124E-402E-4747-AB78-51FD4B7F67F1}" sibTransId="{36895E4C-1215-4719-BDBB-91A1A6C5D80E}"/>
    <dgm:cxn modelId="{DADD664A-84E9-4A85-B4B0-EC52D35489F0}" type="presOf" srcId="{F40FE27B-7C97-468B-99E5-ED93BF489322}" destId="{5F26EDA1-68CC-4D3C-A20B-C63D2BFFBA4A}" srcOrd="0" destOrd="0" presId="urn:microsoft.com/office/officeart/2005/8/layout/list1"/>
    <dgm:cxn modelId="{620B814A-AB14-4995-B687-C02DE050185D}" type="presOf" srcId="{5FAF57A1-AC2D-41EC-8441-13B31FB9E5DE}" destId="{EDEAAF8A-A0BD-47FD-ACCB-516D19E13A29}" srcOrd="0" destOrd="0" presId="urn:microsoft.com/office/officeart/2005/8/layout/list1"/>
    <dgm:cxn modelId="{D9F2F36D-DBCD-4F5C-8263-806E77FFB5B7}" type="presOf" srcId="{D47A3A7D-B574-49A8-BA55-64AF3EA019D2}" destId="{38A79309-832D-4F70-8518-7A22FF99F0EF}" srcOrd="1" destOrd="0" presId="urn:microsoft.com/office/officeart/2005/8/layout/list1"/>
    <dgm:cxn modelId="{52DD6C58-AD5C-41F9-9074-55628E906EEC}" srcId="{C3152571-6151-42C3-9724-B860F544CD87}" destId="{91BE1724-52EB-4386-BC20-181625486252}" srcOrd="2" destOrd="0" parTransId="{04207A43-4CD7-4CE1-8560-F5E9D2B4ED55}" sibTransId="{616B8350-A09E-4B83-BD39-A4AE2F461FDF}"/>
    <dgm:cxn modelId="{693C777C-CBD7-4740-B662-7F831FA0C62C}" srcId="{D47A3A7D-B574-49A8-BA55-64AF3EA019D2}" destId="{5FAF57A1-AC2D-41EC-8441-13B31FB9E5DE}" srcOrd="0" destOrd="0" parTransId="{DFDBDED8-F7F9-47F1-83AA-00AB5012C25F}" sibTransId="{04604E05-53AD-4134-B5F7-BB6EBF5DE237}"/>
    <dgm:cxn modelId="{34D98182-5325-4AA0-B3C2-3A57F8AA4805}" srcId="{C3152571-6151-42C3-9724-B860F544CD87}" destId="{D47A3A7D-B574-49A8-BA55-64AF3EA019D2}" srcOrd="0" destOrd="0" parTransId="{BE9082D1-D91B-4D38-AF4D-D556C79D53FB}" sibTransId="{4DA0D767-1F72-4000-8465-4E789A48A20C}"/>
    <dgm:cxn modelId="{A7892F91-8346-40FE-812A-627BE8335C33}" type="presOf" srcId="{91BE1724-52EB-4386-BC20-181625486252}" destId="{21D4DF60-081A-4049-9E42-41CEED6645E6}" srcOrd="1" destOrd="0" presId="urn:microsoft.com/office/officeart/2005/8/layout/list1"/>
    <dgm:cxn modelId="{C06F4DC7-1583-47D9-8325-40EC33D48B05}" type="presOf" srcId="{D9CDD615-F573-4A6B-9A28-179B21C79057}" destId="{F4230E44-C88A-4283-AE0A-E016ABD7D727}" srcOrd="0" destOrd="0" presId="urn:microsoft.com/office/officeart/2005/8/layout/list1"/>
    <dgm:cxn modelId="{D86582F1-C1C0-4D84-A84B-4D14DBF5F78E}" type="presOf" srcId="{D47A3A7D-B574-49A8-BA55-64AF3EA019D2}" destId="{2A778223-351E-4DF0-BE17-505EBF193F9D}" srcOrd="0" destOrd="0" presId="urn:microsoft.com/office/officeart/2005/8/layout/list1"/>
    <dgm:cxn modelId="{DC8983FB-B5E0-4B18-9A46-5E9F25964BBD}" type="presOf" srcId="{0412BB3E-C8C8-403B-BF57-2E26D56D413F}" destId="{EE3803E8-D332-44EC-A7D3-E6C57A52D17D}" srcOrd="0" destOrd="0" presId="urn:microsoft.com/office/officeart/2005/8/layout/list1"/>
    <dgm:cxn modelId="{867C227D-2C4F-43D7-A0A6-826ECD886352}" type="presParOf" srcId="{EE7E92F4-8528-4E5D-A7E3-7560DE4EC808}" destId="{35631955-A109-4642-9E10-C6141C15A749}" srcOrd="0" destOrd="0" presId="urn:microsoft.com/office/officeart/2005/8/layout/list1"/>
    <dgm:cxn modelId="{BC554F43-6023-44D3-B29F-EBF6B8DF2C0E}" type="presParOf" srcId="{35631955-A109-4642-9E10-C6141C15A749}" destId="{2A778223-351E-4DF0-BE17-505EBF193F9D}" srcOrd="0" destOrd="0" presId="urn:microsoft.com/office/officeart/2005/8/layout/list1"/>
    <dgm:cxn modelId="{420E872E-BD11-4E4F-850C-C227267F8FB2}" type="presParOf" srcId="{35631955-A109-4642-9E10-C6141C15A749}" destId="{38A79309-832D-4F70-8518-7A22FF99F0EF}" srcOrd="1" destOrd="0" presId="urn:microsoft.com/office/officeart/2005/8/layout/list1"/>
    <dgm:cxn modelId="{C1F6A4E5-49A7-430D-8646-2DA8D8F558D3}" type="presParOf" srcId="{EE7E92F4-8528-4E5D-A7E3-7560DE4EC808}" destId="{7376BD22-D205-499E-8F34-0FDC03F9A887}" srcOrd="1" destOrd="0" presId="urn:microsoft.com/office/officeart/2005/8/layout/list1"/>
    <dgm:cxn modelId="{11053742-DE0D-49EA-921B-4063B9F69096}" type="presParOf" srcId="{EE7E92F4-8528-4E5D-A7E3-7560DE4EC808}" destId="{EDEAAF8A-A0BD-47FD-ACCB-516D19E13A29}" srcOrd="2" destOrd="0" presId="urn:microsoft.com/office/officeart/2005/8/layout/list1"/>
    <dgm:cxn modelId="{E22D267D-768D-42EA-ADED-9B091E2D15A4}" type="presParOf" srcId="{EE7E92F4-8528-4E5D-A7E3-7560DE4EC808}" destId="{92BD1AD5-5FFE-4E40-BA18-92916FAB994D}" srcOrd="3" destOrd="0" presId="urn:microsoft.com/office/officeart/2005/8/layout/list1"/>
    <dgm:cxn modelId="{CF77F0D7-1D6D-4379-9714-DE17BA5EABD1}" type="presParOf" srcId="{EE7E92F4-8528-4E5D-A7E3-7560DE4EC808}" destId="{B27B7C37-A5C3-4DB2-8CCF-71F3CB73FEAC}" srcOrd="4" destOrd="0" presId="urn:microsoft.com/office/officeart/2005/8/layout/list1"/>
    <dgm:cxn modelId="{048750FB-4D5E-4494-9FD3-E5562F826FD7}" type="presParOf" srcId="{B27B7C37-A5C3-4DB2-8CCF-71F3CB73FEAC}" destId="{5F26EDA1-68CC-4D3C-A20B-C63D2BFFBA4A}" srcOrd="0" destOrd="0" presId="urn:microsoft.com/office/officeart/2005/8/layout/list1"/>
    <dgm:cxn modelId="{57453423-FA8C-4594-9A3E-98B8B495E7B5}" type="presParOf" srcId="{B27B7C37-A5C3-4DB2-8CCF-71F3CB73FEAC}" destId="{8868EBC5-2B8B-4C47-85DC-B145F93A408A}" srcOrd="1" destOrd="0" presId="urn:microsoft.com/office/officeart/2005/8/layout/list1"/>
    <dgm:cxn modelId="{CCACA058-7AE3-4DC0-8FF9-E53CB87DC8FB}" type="presParOf" srcId="{EE7E92F4-8528-4E5D-A7E3-7560DE4EC808}" destId="{43CAC7D2-8C02-416F-B26C-83C7B1EC3E09}" srcOrd="5" destOrd="0" presId="urn:microsoft.com/office/officeart/2005/8/layout/list1"/>
    <dgm:cxn modelId="{EA371552-E48C-41D5-8FBD-0AB67B9C3371}" type="presParOf" srcId="{EE7E92F4-8528-4E5D-A7E3-7560DE4EC808}" destId="{EE3803E8-D332-44EC-A7D3-E6C57A52D17D}" srcOrd="6" destOrd="0" presId="urn:microsoft.com/office/officeart/2005/8/layout/list1"/>
    <dgm:cxn modelId="{34789780-C935-4ADA-BA97-5FA7FD14E479}" type="presParOf" srcId="{EE7E92F4-8528-4E5D-A7E3-7560DE4EC808}" destId="{AA6CEFF3-1733-47D7-B665-D22AEE5B1209}" srcOrd="7" destOrd="0" presId="urn:microsoft.com/office/officeart/2005/8/layout/list1"/>
    <dgm:cxn modelId="{2642C6E1-C1E6-4255-9044-481902F7513C}" type="presParOf" srcId="{EE7E92F4-8528-4E5D-A7E3-7560DE4EC808}" destId="{742DF390-9E2D-4573-996B-CC61BC084BC7}" srcOrd="8" destOrd="0" presId="urn:microsoft.com/office/officeart/2005/8/layout/list1"/>
    <dgm:cxn modelId="{2B568256-4A52-4CB5-B5B2-73BEB962FBB5}" type="presParOf" srcId="{742DF390-9E2D-4573-996B-CC61BC084BC7}" destId="{E4D6BDAA-EE17-4900-9EE3-93BB514D81F6}" srcOrd="0" destOrd="0" presId="urn:microsoft.com/office/officeart/2005/8/layout/list1"/>
    <dgm:cxn modelId="{A724D627-5046-4BFF-803E-F3F416547DFF}" type="presParOf" srcId="{742DF390-9E2D-4573-996B-CC61BC084BC7}" destId="{21D4DF60-081A-4049-9E42-41CEED6645E6}" srcOrd="1" destOrd="0" presId="urn:microsoft.com/office/officeart/2005/8/layout/list1"/>
    <dgm:cxn modelId="{2B55D7C5-9953-4D59-917B-F852549A5F66}" type="presParOf" srcId="{EE7E92F4-8528-4E5D-A7E3-7560DE4EC808}" destId="{C53A1BE3-E8A0-49F7-B4A5-6D96920B223F}" srcOrd="9" destOrd="0" presId="urn:microsoft.com/office/officeart/2005/8/layout/list1"/>
    <dgm:cxn modelId="{CD08A45D-1121-4102-AE15-7F26F1946EA5}" type="presParOf" srcId="{EE7E92F4-8528-4E5D-A7E3-7560DE4EC808}" destId="{F4230E44-C88A-4283-AE0A-E016ABD7D727}"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234A662-D1FC-48D8-A30B-6A4095654D63}" type="doc">
      <dgm:prSet loTypeId="urn:microsoft.com/office/officeart/2005/8/layout/hList1" loCatId="list" qsTypeId="urn:microsoft.com/office/officeart/2005/8/quickstyle/simple5" qsCatId="simple" csTypeId="urn:microsoft.com/office/officeart/2005/8/colors/colorful3" csCatId="colorful" phldr="1"/>
      <dgm:spPr/>
      <dgm:t>
        <a:bodyPr/>
        <a:lstStyle/>
        <a:p>
          <a:endParaRPr lang="zh-TW" altLang="en-US"/>
        </a:p>
      </dgm:t>
    </dgm:pt>
    <dgm:pt modelId="{078A40F8-EAAA-40B3-8391-2CDB54BAAD5F}">
      <dgm:prSet/>
      <dgm:spPr/>
      <dgm:t>
        <a:bodyPr/>
        <a:lstStyle/>
        <a:p>
          <a:pPr rtl="0"/>
          <a:r>
            <a:rPr lang="zh-TW" b="1" dirty="0">
              <a:latin typeface="微軟正黑體" panose="020B0604030504040204" pitchFamily="34" charset="-120"/>
              <a:ea typeface="微軟正黑體" panose="020B0604030504040204" pitchFamily="34" charset="-120"/>
            </a:rPr>
            <a:t>暫存器 </a:t>
          </a:r>
          <a:r>
            <a:rPr lang="en-US" b="1" dirty="0">
              <a:latin typeface="微軟正黑體" panose="020B0604030504040204" pitchFamily="34" charset="-120"/>
              <a:ea typeface="微軟正黑體" panose="020B0604030504040204" pitchFamily="34" charset="-120"/>
            </a:rPr>
            <a:t>(register)</a:t>
          </a:r>
          <a:endParaRPr lang="zh-TW" dirty="0">
            <a:latin typeface="微軟正黑體" panose="020B0604030504040204" pitchFamily="34" charset="-120"/>
            <a:ea typeface="微軟正黑體" panose="020B0604030504040204" pitchFamily="34" charset="-120"/>
          </a:endParaRPr>
        </a:p>
      </dgm:t>
    </dgm:pt>
    <dgm:pt modelId="{4C86D712-2BD0-4271-9241-64786A1D2AAF}" type="parTrans" cxnId="{652D290C-FE97-498D-A356-7AD1B3C5DB69}">
      <dgm:prSet/>
      <dgm:spPr/>
      <dgm:t>
        <a:bodyPr/>
        <a:lstStyle/>
        <a:p>
          <a:endParaRPr lang="zh-TW" altLang="en-US"/>
        </a:p>
      </dgm:t>
    </dgm:pt>
    <dgm:pt modelId="{D1426F2E-766D-4712-A5E0-E0473030516D}" type="sibTrans" cxnId="{652D290C-FE97-498D-A356-7AD1B3C5DB69}">
      <dgm:prSet/>
      <dgm:spPr/>
      <dgm:t>
        <a:bodyPr/>
        <a:lstStyle/>
        <a:p>
          <a:endParaRPr lang="zh-TW" altLang="en-US"/>
        </a:p>
      </dgm:t>
    </dgm:pt>
    <dgm:pt modelId="{D7D93D51-344F-48A1-A2C8-7B1FE19DC481}">
      <dgm:prSet/>
      <dgm:spPr/>
      <dgm:t>
        <a:bodyPr/>
        <a:lstStyle/>
        <a:p>
          <a:pPr rtl="0"/>
          <a:r>
            <a:rPr lang="zh-TW" b="1" dirty="0">
              <a:latin typeface="微軟正黑體" panose="020B0604030504040204" pitchFamily="34" charset="-120"/>
              <a:ea typeface="微軟正黑體" panose="020B0604030504040204" pitchFamily="34" charset="-120"/>
            </a:rPr>
            <a:t>速度最快但單位價格最高。</a:t>
          </a:r>
          <a:endParaRPr lang="zh-TW" dirty="0">
            <a:latin typeface="微軟正黑體" panose="020B0604030504040204" pitchFamily="34" charset="-120"/>
            <a:ea typeface="微軟正黑體" panose="020B0604030504040204" pitchFamily="34" charset="-120"/>
          </a:endParaRPr>
        </a:p>
      </dgm:t>
    </dgm:pt>
    <dgm:pt modelId="{182C53D2-113F-496B-8D14-A27CB3B7AF8C}" type="parTrans" cxnId="{F3302557-B49B-4E8F-AD04-916459695A88}">
      <dgm:prSet/>
      <dgm:spPr/>
      <dgm:t>
        <a:bodyPr/>
        <a:lstStyle/>
        <a:p>
          <a:endParaRPr lang="zh-TW" altLang="en-US"/>
        </a:p>
      </dgm:t>
    </dgm:pt>
    <dgm:pt modelId="{89399D71-714C-4455-9A0F-C0D49AC8850C}" type="sibTrans" cxnId="{F3302557-B49B-4E8F-AD04-916459695A88}">
      <dgm:prSet/>
      <dgm:spPr/>
      <dgm:t>
        <a:bodyPr/>
        <a:lstStyle/>
        <a:p>
          <a:endParaRPr lang="zh-TW" altLang="en-US"/>
        </a:p>
      </dgm:t>
    </dgm:pt>
    <dgm:pt modelId="{7D7D1EC4-E3B8-4571-BAFE-2736D64D0606}">
      <dgm:prSet/>
      <dgm:spPr/>
      <dgm:t>
        <a:bodyPr/>
        <a:lstStyle/>
        <a:p>
          <a:pPr rtl="0"/>
          <a:r>
            <a:rPr lang="zh-TW" b="1" dirty="0">
              <a:latin typeface="微軟正黑體" panose="020B0604030504040204" pitchFamily="34" charset="-120"/>
              <a:ea typeface="微軟正黑體" panose="020B0604030504040204" pitchFamily="34" charset="-120"/>
            </a:rPr>
            <a:t>快取記憶體 </a:t>
          </a:r>
          <a:r>
            <a:rPr lang="en-US" b="1" dirty="0">
              <a:latin typeface="微軟正黑體" panose="020B0604030504040204" pitchFamily="34" charset="-120"/>
              <a:ea typeface="微軟正黑體" panose="020B0604030504040204" pitchFamily="34" charset="-120"/>
            </a:rPr>
            <a:t>(cache)</a:t>
          </a:r>
          <a:endParaRPr lang="zh-TW" dirty="0">
            <a:latin typeface="微軟正黑體" panose="020B0604030504040204" pitchFamily="34" charset="-120"/>
            <a:ea typeface="微軟正黑體" panose="020B0604030504040204" pitchFamily="34" charset="-120"/>
          </a:endParaRPr>
        </a:p>
      </dgm:t>
    </dgm:pt>
    <dgm:pt modelId="{45434718-FC0D-4F66-81E6-AB9173ADB6D2}" type="parTrans" cxnId="{BE3CC230-AAF4-462D-AB4E-6C1994D99D29}">
      <dgm:prSet/>
      <dgm:spPr/>
      <dgm:t>
        <a:bodyPr/>
        <a:lstStyle/>
        <a:p>
          <a:endParaRPr lang="zh-TW" altLang="en-US"/>
        </a:p>
      </dgm:t>
    </dgm:pt>
    <dgm:pt modelId="{AFD3A942-0758-4C62-87B3-5FED045EE304}" type="sibTrans" cxnId="{BE3CC230-AAF4-462D-AB4E-6C1994D99D29}">
      <dgm:prSet/>
      <dgm:spPr/>
      <dgm:t>
        <a:bodyPr/>
        <a:lstStyle/>
        <a:p>
          <a:endParaRPr lang="zh-TW" altLang="en-US"/>
        </a:p>
      </dgm:t>
    </dgm:pt>
    <dgm:pt modelId="{34D7CFCA-A84B-4410-B115-FCFF99D9B652}">
      <dgm:prSet/>
      <dgm:spPr/>
      <dgm:t>
        <a:bodyPr/>
        <a:lstStyle/>
        <a:p>
          <a:pPr rtl="0"/>
          <a:r>
            <a:rPr lang="zh-TW" b="1" dirty="0">
              <a:latin typeface="微軟正黑體" panose="020B0604030504040204" pitchFamily="34" charset="-120"/>
              <a:ea typeface="微軟正黑體" panose="020B0604030504040204" pitchFamily="34" charset="-120"/>
            </a:rPr>
            <a:t>位於</a:t>
          </a:r>
          <a:r>
            <a:rPr lang="en-US" b="1" dirty="0">
              <a:latin typeface="微軟正黑體" panose="020B0604030504040204" pitchFamily="34" charset="-120"/>
              <a:ea typeface="微軟正黑體" panose="020B0604030504040204" pitchFamily="34" charset="-120"/>
            </a:rPr>
            <a:t>CPU</a:t>
          </a:r>
          <a:r>
            <a:rPr lang="zh-TW" b="1" dirty="0">
              <a:latin typeface="微軟正黑體" panose="020B0604030504040204" pitchFamily="34" charset="-120"/>
              <a:ea typeface="微軟正黑體" panose="020B0604030504040204" pitchFamily="34" charset="-120"/>
            </a:rPr>
            <a:t>內，介於</a:t>
          </a:r>
          <a:r>
            <a:rPr lang="en-US" b="1" dirty="0">
              <a:latin typeface="微軟正黑體" panose="020B0604030504040204" pitchFamily="34" charset="-120"/>
              <a:ea typeface="微軟正黑體" panose="020B0604030504040204" pitchFamily="34" charset="-120"/>
            </a:rPr>
            <a:t>CPU</a:t>
          </a:r>
          <a:r>
            <a:rPr lang="zh-TW" b="1" dirty="0">
              <a:latin typeface="微軟正黑體" panose="020B0604030504040204" pitchFamily="34" charset="-120"/>
              <a:ea typeface="微軟正黑體" panose="020B0604030504040204" pitchFamily="34" charset="-120"/>
            </a:rPr>
            <a:t>和記憶體間。</a:t>
          </a:r>
          <a:endParaRPr lang="zh-TW" dirty="0">
            <a:latin typeface="微軟正黑體" panose="020B0604030504040204" pitchFamily="34" charset="-120"/>
            <a:ea typeface="微軟正黑體" panose="020B0604030504040204" pitchFamily="34" charset="-120"/>
          </a:endParaRPr>
        </a:p>
      </dgm:t>
    </dgm:pt>
    <dgm:pt modelId="{414F23B0-46BA-4617-9757-548BB922DB80}" type="parTrans" cxnId="{041F9CB4-6774-48AD-927D-27B464D070AC}">
      <dgm:prSet/>
      <dgm:spPr/>
      <dgm:t>
        <a:bodyPr/>
        <a:lstStyle/>
        <a:p>
          <a:endParaRPr lang="zh-TW" altLang="en-US"/>
        </a:p>
      </dgm:t>
    </dgm:pt>
    <dgm:pt modelId="{90363D5E-A28D-47EA-AA1F-67F6AD37B912}" type="sibTrans" cxnId="{041F9CB4-6774-48AD-927D-27B464D070AC}">
      <dgm:prSet/>
      <dgm:spPr/>
      <dgm:t>
        <a:bodyPr/>
        <a:lstStyle/>
        <a:p>
          <a:endParaRPr lang="zh-TW" altLang="en-US"/>
        </a:p>
      </dgm:t>
    </dgm:pt>
    <dgm:pt modelId="{7543853E-12AD-4432-A731-4E4F4A01CCFD}">
      <dgm:prSet/>
      <dgm:spPr/>
      <dgm:t>
        <a:bodyPr/>
        <a:lstStyle/>
        <a:p>
          <a:pPr rtl="0"/>
          <a:r>
            <a:rPr lang="zh-TW" altLang="zh-TW" b="1" dirty="0">
              <a:latin typeface="微軟正黑體" panose="020B0604030504040204" pitchFamily="34" charset="-120"/>
              <a:ea typeface="微軟正黑體" panose="020B0604030504040204" pitchFamily="34" charset="-120"/>
            </a:rPr>
            <a:t>速度</a:t>
          </a:r>
          <a:r>
            <a:rPr lang="zh-TW" b="1" dirty="0">
              <a:latin typeface="微軟正黑體" panose="020B0604030504040204" pitchFamily="34" charset="-120"/>
              <a:ea typeface="微軟正黑體" panose="020B0604030504040204" pitchFamily="34" charset="-120"/>
            </a:rPr>
            <a:t>比暫存器慢，單位價格較便宜，容量也比暫存器多。</a:t>
          </a:r>
          <a:endParaRPr lang="zh-TW" dirty="0">
            <a:latin typeface="微軟正黑體" panose="020B0604030504040204" pitchFamily="34" charset="-120"/>
            <a:ea typeface="微軟正黑體" panose="020B0604030504040204" pitchFamily="34" charset="-120"/>
          </a:endParaRPr>
        </a:p>
      </dgm:t>
    </dgm:pt>
    <dgm:pt modelId="{790383F7-A8CC-46F9-92B4-979C4F7963CB}" type="parTrans" cxnId="{5F8D2CE2-E1D7-40FD-9162-A19046CDF5D0}">
      <dgm:prSet/>
      <dgm:spPr/>
      <dgm:t>
        <a:bodyPr/>
        <a:lstStyle/>
        <a:p>
          <a:endParaRPr lang="zh-TW" altLang="en-US"/>
        </a:p>
      </dgm:t>
    </dgm:pt>
    <dgm:pt modelId="{BAEA65F9-540F-4F2F-9561-CCD9CA075B47}" type="sibTrans" cxnId="{5F8D2CE2-E1D7-40FD-9162-A19046CDF5D0}">
      <dgm:prSet/>
      <dgm:spPr/>
      <dgm:t>
        <a:bodyPr/>
        <a:lstStyle/>
        <a:p>
          <a:endParaRPr lang="zh-TW" altLang="en-US"/>
        </a:p>
      </dgm:t>
    </dgm:pt>
    <dgm:pt modelId="{ECE331EC-B5EF-4E92-88A2-DA835AA87723}">
      <dgm:prSet/>
      <dgm:spPr/>
      <dgm:t>
        <a:bodyPr/>
        <a:lstStyle/>
        <a:p>
          <a:pPr rtl="0"/>
          <a:r>
            <a:rPr lang="zh-TW" b="1" dirty="0">
              <a:latin typeface="微軟正黑體" panose="020B0604030504040204" pitchFamily="34" charset="-120"/>
              <a:ea typeface="微軟正黑體" panose="020B0604030504040204" pitchFamily="34" charset="-120"/>
            </a:rPr>
            <a:t>速度比主記憶體快，單位價格較貴，容量也比主記憶體少。</a:t>
          </a:r>
          <a:endParaRPr lang="zh-TW" dirty="0">
            <a:latin typeface="微軟正黑體" panose="020B0604030504040204" pitchFamily="34" charset="-120"/>
            <a:ea typeface="微軟正黑體" panose="020B0604030504040204" pitchFamily="34" charset="-120"/>
          </a:endParaRPr>
        </a:p>
      </dgm:t>
    </dgm:pt>
    <dgm:pt modelId="{4490ED71-6282-4222-B85F-FF3B693E059A}" type="parTrans" cxnId="{434BC3CC-0642-4892-8848-180DAC941F42}">
      <dgm:prSet/>
      <dgm:spPr/>
      <dgm:t>
        <a:bodyPr/>
        <a:lstStyle/>
        <a:p>
          <a:endParaRPr lang="zh-TW" altLang="en-US"/>
        </a:p>
      </dgm:t>
    </dgm:pt>
    <dgm:pt modelId="{621621B5-0386-43FF-A807-95C55C66B00F}" type="sibTrans" cxnId="{434BC3CC-0642-4892-8848-180DAC941F42}">
      <dgm:prSet/>
      <dgm:spPr/>
      <dgm:t>
        <a:bodyPr/>
        <a:lstStyle/>
        <a:p>
          <a:endParaRPr lang="zh-TW" altLang="en-US"/>
        </a:p>
      </dgm:t>
    </dgm:pt>
    <dgm:pt modelId="{E56D87D8-CA5C-488C-8DB0-690DA4790F30}" type="pres">
      <dgm:prSet presAssocID="{A234A662-D1FC-48D8-A30B-6A4095654D63}" presName="Name0" presStyleCnt="0">
        <dgm:presLayoutVars>
          <dgm:dir/>
          <dgm:animLvl val="lvl"/>
          <dgm:resizeHandles val="exact"/>
        </dgm:presLayoutVars>
      </dgm:prSet>
      <dgm:spPr/>
    </dgm:pt>
    <dgm:pt modelId="{9B679F2E-A43D-4ABC-B943-322FCFBBD0AD}" type="pres">
      <dgm:prSet presAssocID="{078A40F8-EAAA-40B3-8391-2CDB54BAAD5F}" presName="composite" presStyleCnt="0"/>
      <dgm:spPr/>
    </dgm:pt>
    <dgm:pt modelId="{A6CCE33D-DAE8-4639-9831-C54A72F918EB}" type="pres">
      <dgm:prSet presAssocID="{078A40F8-EAAA-40B3-8391-2CDB54BAAD5F}" presName="parTx" presStyleLbl="alignNode1" presStyleIdx="0" presStyleCnt="2">
        <dgm:presLayoutVars>
          <dgm:chMax val="0"/>
          <dgm:chPref val="0"/>
          <dgm:bulletEnabled val="1"/>
        </dgm:presLayoutVars>
      </dgm:prSet>
      <dgm:spPr/>
    </dgm:pt>
    <dgm:pt modelId="{CFD86127-33AA-4579-B7A2-F818391966BA}" type="pres">
      <dgm:prSet presAssocID="{078A40F8-EAAA-40B3-8391-2CDB54BAAD5F}" presName="desTx" presStyleLbl="alignAccFollowNode1" presStyleIdx="0" presStyleCnt="2">
        <dgm:presLayoutVars>
          <dgm:bulletEnabled val="1"/>
        </dgm:presLayoutVars>
      </dgm:prSet>
      <dgm:spPr/>
    </dgm:pt>
    <dgm:pt modelId="{E57385A4-3500-4348-8635-6C8BF0FA774E}" type="pres">
      <dgm:prSet presAssocID="{D1426F2E-766D-4712-A5E0-E0473030516D}" presName="space" presStyleCnt="0"/>
      <dgm:spPr/>
    </dgm:pt>
    <dgm:pt modelId="{CBD69D3C-3761-4E46-875E-5C5B7A525780}" type="pres">
      <dgm:prSet presAssocID="{7D7D1EC4-E3B8-4571-BAFE-2736D64D0606}" presName="composite" presStyleCnt="0"/>
      <dgm:spPr/>
    </dgm:pt>
    <dgm:pt modelId="{67EE5BE9-9806-4776-86BB-DE6C589C5F2F}" type="pres">
      <dgm:prSet presAssocID="{7D7D1EC4-E3B8-4571-BAFE-2736D64D0606}" presName="parTx" presStyleLbl="alignNode1" presStyleIdx="1" presStyleCnt="2">
        <dgm:presLayoutVars>
          <dgm:chMax val="0"/>
          <dgm:chPref val="0"/>
          <dgm:bulletEnabled val="1"/>
        </dgm:presLayoutVars>
      </dgm:prSet>
      <dgm:spPr/>
    </dgm:pt>
    <dgm:pt modelId="{49947A0B-82B5-46B8-B046-8133C878CE87}" type="pres">
      <dgm:prSet presAssocID="{7D7D1EC4-E3B8-4571-BAFE-2736D64D0606}" presName="desTx" presStyleLbl="alignAccFollowNode1" presStyleIdx="1" presStyleCnt="2">
        <dgm:presLayoutVars>
          <dgm:bulletEnabled val="1"/>
        </dgm:presLayoutVars>
      </dgm:prSet>
      <dgm:spPr/>
    </dgm:pt>
  </dgm:ptLst>
  <dgm:cxnLst>
    <dgm:cxn modelId="{652D290C-FE97-498D-A356-7AD1B3C5DB69}" srcId="{A234A662-D1FC-48D8-A30B-6A4095654D63}" destId="{078A40F8-EAAA-40B3-8391-2CDB54BAAD5F}" srcOrd="0" destOrd="0" parTransId="{4C86D712-2BD0-4271-9241-64786A1D2AAF}" sibTransId="{D1426F2E-766D-4712-A5E0-E0473030516D}"/>
    <dgm:cxn modelId="{B8E40025-9B6F-4FD9-B89F-B02D09A8EC07}" type="presOf" srcId="{7543853E-12AD-4432-A731-4E4F4A01CCFD}" destId="{49947A0B-82B5-46B8-B046-8133C878CE87}" srcOrd="0" destOrd="1" presId="urn:microsoft.com/office/officeart/2005/8/layout/hList1"/>
    <dgm:cxn modelId="{CB416425-618B-4D1E-9B69-B7E8046DDBCE}" type="presOf" srcId="{7D7D1EC4-E3B8-4571-BAFE-2736D64D0606}" destId="{67EE5BE9-9806-4776-86BB-DE6C589C5F2F}" srcOrd="0" destOrd="0" presId="urn:microsoft.com/office/officeart/2005/8/layout/hList1"/>
    <dgm:cxn modelId="{BE3CC230-AAF4-462D-AB4E-6C1994D99D29}" srcId="{A234A662-D1FC-48D8-A30B-6A4095654D63}" destId="{7D7D1EC4-E3B8-4571-BAFE-2736D64D0606}" srcOrd="1" destOrd="0" parTransId="{45434718-FC0D-4F66-81E6-AB9173ADB6D2}" sibTransId="{AFD3A942-0758-4C62-87B3-5FED045EE304}"/>
    <dgm:cxn modelId="{9E1D5E74-C51F-4ADF-B238-C2DC96405126}" type="presOf" srcId="{34D7CFCA-A84B-4410-B115-FCFF99D9B652}" destId="{49947A0B-82B5-46B8-B046-8133C878CE87}" srcOrd="0" destOrd="0" presId="urn:microsoft.com/office/officeart/2005/8/layout/hList1"/>
    <dgm:cxn modelId="{F3302557-B49B-4E8F-AD04-916459695A88}" srcId="{078A40F8-EAAA-40B3-8391-2CDB54BAAD5F}" destId="{D7D93D51-344F-48A1-A2C8-7B1FE19DC481}" srcOrd="0" destOrd="0" parTransId="{182C53D2-113F-496B-8D14-A27CB3B7AF8C}" sibTransId="{89399D71-714C-4455-9A0F-C0D49AC8850C}"/>
    <dgm:cxn modelId="{E4DA677C-7A87-40D0-8BC9-F1112925A9C6}" type="presOf" srcId="{A234A662-D1FC-48D8-A30B-6A4095654D63}" destId="{E56D87D8-CA5C-488C-8DB0-690DA4790F30}" srcOrd="0" destOrd="0" presId="urn:microsoft.com/office/officeart/2005/8/layout/hList1"/>
    <dgm:cxn modelId="{478402A5-E701-4AC4-B927-BADCC3E0C4A4}" type="presOf" srcId="{D7D93D51-344F-48A1-A2C8-7B1FE19DC481}" destId="{CFD86127-33AA-4579-B7A2-F818391966BA}" srcOrd="0" destOrd="0" presId="urn:microsoft.com/office/officeart/2005/8/layout/hList1"/>
    <dgm:cxn modelId="{BF7A75A7-61EC-4F74-BBEE-BFB32D5FF063}" type="presOf" srcId="{078A40F8-EAAA-40B3-8391-2CDB54BAAD5F}" destId="{A6CCE33D-DAE8-4639-9831-C54A72F918EB}" srcOrd="0" destOrd="0" presId="urn:microsoft.com/office/officeart/2005/8/layout/hList1"/>
    <dgm:cxn modelId="{041F9CB4-6774-48AD-927D-27B464D070AC}" srcId="{7D7D1EC4-E3B8-4571-BAFE-2736D64D0606}" destId="{34D7CFCA-A84B-4410-B115-FCFF99D9B652}" srcOrd="0" destOrd="0" parTransId="{414F23B0-46BA-4617-9757-548BB922DB80}" sibTransId="{90363D5E-A28D-47EA-AA1F-67F6AD37B912}"/>
    <dgm:cxn modelId="{434BC3CC-0642-4892-8848-180DAC941F42}" srcId="{7D7D1EC4-E3B8-4571-BAFE-2736D64D0606}" destId="{ECE331EC-B5EF-4E92-88A2-DA835AA87723}" srcOrd="2" destOrd="0" parTransId="{4490ED71-6282-4222-B85F-FF3B693E059A}" sibTransId="{621621B5-0386-43FF-A807-95C55C66B00F}"/>
    <dgm:cxn modelId="{5F8D2CE2-E1D7-40FD-9162-A19046CDF5D0}" srcId="{7D7D1EC4-E3B8-4571-BAFE-2736D64D0606}" destId="{7543853E-12AD-4432-A731-4E4F4A01CCFD}" srcOrd="1" destOrd="0" parTransId="{790383F7-A8CC-46F9-92B4-979C4F7963CB}" sibTransId="{BAEA65F9-540F-4F2F-9561-CCD9CA075B47}"/>
    <dgm:cxn modelId="{85FC5DEA-E302-4C96-9265-4D9BDF943838}" type="presOf" srcId="{ECE331EC-B5EF-4E92-88A2-DA835AA87723}" destId="{49947A0B-82B5-46B8-B046-8133C878CE87}" srcOrd="0" destOrd="2" presId="urn:microsoft.com/office/officeart/2005/8/layout/hList1"/>
    <dgm:cxn modelId="{3874C423-1E08-4BA3-B462-1EBE06CF94DE}" type="presParOf" srcId="{E56D87D8-CA5C-488C-8DB0-690DA4790F30}" destId="{9B679F2E-A43D-4ABC-B943-322FCFBBD0AD}" srcOrd="0" destOrd="0" presId="urn:microsoft.com/office/officeart/2005/8/layout/hList1"/>
    <dgm:cxn modelId="{19B7C5B0-FCBA-4D06-9387-6F4FC5CFE301}" type="presParOf" srcId="{9B679F2E-A43D-4ABC-B943-322FCFBBD0AD}" destId="{A6CCE33D-DAE8-4639-9831-C54A72F918EB}" srcOrd="0" destOrd="0" presId="urn:microsoft.com/office/officeart/2005/8/layout/hList1"/>
    <dgm:cxn modelId="{552D3BBE-714C-432A-8F2D-28D672DCCF60}" type="presParOf" srcId="{9B679F2E-A43D-4ABC-B943-322FCFBBD0AD}" destId="{CFD86127-33AA-4579-B7A2-F818391966BA}" srcOrd="1" destOrd="0" presId="urn:microsoft.com/office/officeart/2005/8/layout/hList1"/>
    <dgm:cxn modelId="{340BAB29-677F-4664-ABB9-E07F790C8ABF}" type="presParOf" srcId="{E56D87D8-CA5C-488C-8DB0-690DA4790F30}" destId="{E57385A4-3500-4348-8635-6C8BF0FA774E}" srcOrd="1" destOrd="0" presId="urn:microsoft.com/office/officeart/2005/8/layout/hList1"/>
    <dgm:cxn modelId="{B09959BB-51C4-45ED-B522-5063B0BD0D0A}" type="presParOf" srcId="{E56D87D8-CA5C-488C-8DB0-690DA4790F30}" destId="{CBD69D3C-3761-4E46-875E-5C5B7A525780}" srcOrd="2" destOrd="0" presId="urn:microsoft.com/office/officeart/2005/8/layout/hList1"/>
    <dgm:cxn modelId="{54CBC84F-2674-4731-857A-565589B900A8}" type="presParOf" srcId="{CBD69D3C-3761-4E46-875E-5C5B7A525780}" destId="{67EE5BE9-9806-4776-86BB-DE6C589C5F2F}" srcOrd="0" destOrd="0" presId="urn:microsoft.com/office/officeart/2005/8/layout/hList1"/>
    <dgm:cxn modelId="{5A03CC0E-34D7-455A-BFBE-B6A26C149498}" type="presParOf" srcId="{CBD69D3C-3761-4E46-875E-5C5B7A525780}" destId="{49947A0B-82B5-46B8-B046-8133C878CE87}"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9B648FB-D31F-4814-8FB0-DA2AF6552D3B}" type="doc">
      <dgm:prSet loTypeId="urn:microsoft.com/office/officeart/2005/8/layout/lProcess2" loCatId="list" qsTypeId="urn:microsoft.com/office/officeart/2005/8/quickstyle/simple1" qsCatId="simple" csTypeId="urn:microsoft.com/office/officeart/2005/8/colors/colorful2" csCatId="colorful" phldr="1"/>
      <dgm:spPr/>
      <dgm:t>
        <a:bodyPr/>
        <a:lstStyle/>
        <a:p>
          <a:endParaRPr lang="zh-TW" altLang="en-US"/>
        </a:p>
      </dgm:t>
    </dgm:pt>
    <dgm:pt modelId="{E6941DE3-39B9-47B6-9CC0-DF6B8C8E4AE4}">
      <dgm:prSet/>
      <dgm:spPr/>
      <dgm:t>
        <a:bodyPr/>
        <a:lstStyle/>
        <a:p>
          <a:pPr rtl="0"/>
          <a:r>
            <a:rPr lang="zh-TW" b="1" dirty="0">
              <a:latin typeface="微軟正黑體" panose="020B0604030504040204" pitchFamily="34" charset="-120"/>
              <a:ea typeface="微軟正黑體" panose="020B0604030504040204" pitchFamily="34" charset="-120"/>
            </a:rPr>
            <a:t>記憶體類別</a:t>
          </a:r>
          <a:endParaRPr lang="zh-TW" dirty="0">
            <a:latin typeface="微軟正黑體" panose="020B0604030504040204" pitchFamily="34" charset="-120"/>
            <a:ea typeface="微軟正黑體" panose="020B0604030504040204" pitchFamily="34" charset="-120"/>
          </a:endParaRPr>
        </a:p>
      </dgm:t>
    </dgm:pt>
    <dgm:pt modelId="{19A67A5E-53BB-42AE-9B78-C428A675776C}" type="parTrans" cxnId="{CB0134B0-5EAD-4909-9692-5B60D70DEC67}">
      <dgm:prSet/>
      <dgm:spPr/>
      <dgm:t>
        <a:bodyPr/>
        <a:lstStyle/>
        <a:p>
          <a:endParaRPr lang="zh-TW" altLang="en-US"/>
        </a:p>
      </dgm:t>
    </dgm:pt>
    <dgm:pt modelId="{AFEE9FA8-54EA-4F58-A64E-EA89F78F3350}" type="sibTrans" cxnId="{CB0134B0-5EAD-4909-9692-5B60D70DEC67}">
      <dgm:prSet/>
      <dgm:spPr/>
      <dgm:t>
        <a:bodyPr/>
        <a:lstStyle/>
        <a:p>
          <a:endParaRPr lang="zh-TW" altLang="en-US"/>
        </a:p>
      </dgm:t>
    </dgm:pt>
    <dgm:pt modelId="{14088CC8-7131-4F59-9E81-F5F5DA15F590}">
      <dgm:prSet/>
      <dgm:spPr/>
      <dgm:t>
        <a:bodyPr/>
        <a:lstStyle/>
        <a:p>
          <a:pPr rtl="0"/>
          <a:r>
            <a:rPr lang="en-US" b="1" dirty="0">
              <a:latin typeface="微軟正黑體" panose="020B0604030504040204" pitchFamily="34" charset="-120"/>
              <a:ea typeface="微軟正黑體" panose="020B0604030504040204" pitchFamily="34" charset="-120"/>
            </a:rPr>
            <a:t>RAM</a:t>
          </a:r>
          <a:br>
            <a:rPr lang="en-US" b="1" dirty="0">
              <a:latin typeface="微軟正黑體" panose="020B0604030504040204" pitchFamily="34" charset="-120"/>
              <a:ea typeface="微軟正黑體" panose="020B0604030504040204" pitchFamily="34" charset="-120"/>
            </a:rPr>
          </a:br>
          <a:r>
            <a:rPr lang="en-US" b="1" dirty="0">
              <a:latin typeface="微軟正黑體" panose="020B0604030504040204" pitchFamily="34" charset="-120"/>
              <a:ea typeface="微軟正黑體" panose="020B0604030504040204" pitchFamily="34" charset="-120"/>
            </a:rPr>
            <a:t>(</a:t>
          </a:r>
          <a:r>
            <a:rPr lang="zh-TW" b="1" dirty="0">
              <a:latin typeface="微軟正黑體" panose="020B0604030504040204" pitchFamily="34" charset="-120"/>
              <a:ea typeface="微軟正黑體" panose="020B0604030504040204" pitchFamily="34" charset="-120"/>
            </a:rPr>
            <a:t>隨機存取記憶體</a:t>
          </a:r>
          <a:r>
            <a:rPr lang="en-US" b="1" dirty="0">
              <a:latin typeface="微軟正黑體" panose="020B0604030504040204" pitchFamily="34" charset="-120"/>
              <a:ea typeface="微軟正黑體" panose="020B0604030504040204" pitchFamily="34" charset="-120"/>
            </a:rPr>
            <a:t>)</a:t>
          </a:r>
          <a:endParaRPr lang="zh-TW" dirty="0">
            <a:latin typeface="微軟正黑體" panose="020B0604030504040204" pitchFamily="34" charset="-120"/>
            <a:ea typeface="微軟正黑體" panose="020B0604030504040204" pitchFamily="34" charset="-120"/>
          </a:endParaRPr>
        </a:p>
      </dgm:t>
    </dgm:pt>
    <dgm:pt modelId="{8AE6B439-0EAC-4DF5-9E95-11A7C1E7966D}" type="parTrans" cxnId="{D638DC00-06CA-4DB9-BBE6-07716B8E86A5}">
      <dgm:prSet/>
      <dgm:spPr/>
      <dgm:t>
        <a:bodyPr/>
        <a:lstStyle/>
        <a:p>
          <a:endParaRPr lang="zh-TW" altLang="en-US"/>
        </a:p>
      </dgm:t>
    </dgm:pt>
    <dgm:pt modelId="{DF232340-D95C-4AF3-99AE-3AC06F21C0BE}" type="sibTrans" cxnId="{D638DC00-06CA-4DB9-BBE6-07716B8E86A5}">
      <dgm:prSet/>
      <dgm:spPr/>
      <dgm:t>
        <a:bodyPr/>
        <a:lstStyle/>
        <a:p>
          <a:endParaRPr lang="zh-TW" altLang="en-US"/>
        </a:p>
      </dgm:t>
    </dgm:pt>
    <dgm:pt modelId="{3A7785EC-035B-489A-BF92-F4F34FF4DAE9}">
      <dgm:prSet/>
      <dgm:spPr/>
      <dgm:t>
        <a:bodyPr/>
        <a:lstStyle/>
        <a:p>
          <a:pPr rtl="0"/>
          <a:r>
            <a:rPr lang="en-US" b="1" dirty="0">
              <a:latin typeface="微軟正黑體" panose="020B0604030504040204" pitchFamily="34" charset="-120"/>
              <a:ea typeface="微軟正黑體" panose="020B0604030504040204" pitchFamily="34" charset="-120"/>
            </a:rPr>
            <a:t>ROM</a:t>
          </a:r>
          <a:br>
            <a:rPr lang="en-US" b="1" dirty="0">
              <a:latin typeface="微軟正黑體" panose="020B0604030504040204" pitchFamily="34" charset="-120"/>
              <a:ea typeface="微軟正黑體" panose="020B0604030504040204" pitchFamily="34" charset="-120"/>
            </a:rPr>
          </a:br>
          <a:r>
            <a:rPr lang="en-US" b="1" dirty="0">
              <a:latin typeface="微軟正黑體" panose="020B0604030504040204" pitchFamily="34" charset="-120"/>
              <a:ea typeface="微軟正黑體" panose="020B0604030504040204" pitchFamily="34" charset="-120"/>
            </a:rPr>
            <a:t>(</a:t>
          </a:r>
          <a:r>
            <a:rPr lang="zh-TW" b="1" dirty="0">
              <a:latin typeface="微軟正黑體" panose="020B0604030504040204" pitchFamily="34" charset="-120"/>
              <a:ea typeface="微軟正黑體" panose="020B0604030504040204" pitchFamily="34" charset="-120"/>
            </a:rPr>
            <a:t>唯讀記憶體</a:t>
          </a:r>
          <a:r>
            <a:rPr lang="en-US" b="1" dirty="0">
              <a:latin typeface="微軟正黑體" panose="020B0604030504040204" pitchFamily="34" charset="-120"/>
              <a:ea typeface="微軟正黑體" panose="020B0604030504040204" pitchFamily="34" charset="-120"/>
            </a:rPr>
            <a:t>)</a:t>
          </a:r>
          <a:endParaRPr lang="zh-TW" dirty="0">
            <a:latin typeface="微軟正黑體" panose="020B0604030504040204" pitchFamily="34" charset="-120"/>
            <a:ea typeface="微軟正黑體" panose="020B0604030504040204" pitchFamily="34" charset="-120"/>
          </a:endParaRPr>
        </a:p>
      </dgm:t>
    </dgm:pt>
    <dgm:pt modelId="{70D04EE8-17FD-4F4A-A43F-3800942A602A}" type="parTrans" cxnId="{EA1E749C-4441-412D-ACB7-439397509182}">
      <dgm:prSet/>
      <dgm:spPr/>
      <dgm:t>
        <a:bodyPr/>
        <a:lstStyle/>
        <a:p>
          <a:endParaRPr lang="zh-TW" altLang="en-US"/>
        </a:p>
      </dgm:t>
    </dgm:pt>
    <dgm:pt modelId="{0CE52B2A-5FF7-4895-962F-F7CF0A773E1E}" type="sibTrans" cxnId="{EA1E749C-4441-412D-ACB7-439397509182}">
      <dgm:prSet/>
      <dgm:spPr/>
      <dgm:t>
        <a:bodyPr/>
        <a:lstStyle/>
        <a:p>
          <a:endParaRPr lang="zh-TW" altLang="en-US"/>
        </a:p>
      </dgm:t>
    </dgm:pt>
    <dgm:pt modelId="{169B4480-8907-4905-AC52-0BB6BE4BACFE}" type="pres">
      <dgm:prSet presAssocID="{09B648FB-D31F-4814-8FB0-DA2AF6552D3B}" presName="theList" presStyleCnt="0">
        <dgm:presLayoutVars>
          <dgm:dir/>
          <dgm:animLvl val="lvl"/>
          <dgm:resizeHandles val="exact"/>
        </dgm:presLayoutVars>
      </dgm:prSet>
      <dgm:spPr/>
    </dgm:pt>
    <dgm:pt modelId="{239EBDDF-7F6D-4846-A4D9-159170AC654C}" type="pres">
      <dgm:prSet presAssocID="{E6941DE3-39B9-47B6-9CC0-DF6B8C8E4AE4}" presName="compNode" presStyleCnt="0"/>
      <dgm:spPr/>
    </dgm:pt>
    <dgm:pt modelId="{020C396C-F921-404A-B206-6DD61C35EAAB}" type="pres">
      <dgm:prSet presAssocID="{E6941DE3-39B9-47B6-9CC0-DF6B8C8E4AE4}" presName="aNode" presStyleLbl="bgShp" presStyleIdx="0" presStyleCnt="1" custLinFactNeighborX="-6965"/>
      <dgm:spPr/>
    </dgm:pt>
    <dgm:pt modelId="{2E3BB4AE-19FE-415D-8E5D-4EC1064DADB6}" type="pres">
      <dgm:prSet presAssocID="{E6941DE3-39B9-47B6-9CC0-DF6B8C8E4AE4}" presName="textNode" presStyleLbl="bgShp" presStyleIdx="0" presStyleCnt="1"/>
      <dgm:spPr/>
    </dgm:pt>
    <dgm:pt modelId="{E326FBA1-0750-426B-8738-9BB13262A9DA}" type="pres">
      <dgm:prSet presAssocID="{E6941DE3-39B9-47B6-9CC0-DF6B8C8E4AE4}" presName="compChildNode" presStyleCnt="0"/>
      <dgm:spPr/>
    </dgm:pt>
    <dgm:pt modelId="{0D1F25F4-0137-4324-ADAA-58135D88C03C}" type="pres">
      <dgm:prSet presAssocID="{E6941DE3-39B9-47B6-9CC0-DF6B8C8E4AE4}" presName="theInnerList" presStyleCnt="0"/>
      <dgm:spPr/>
    </dgm:pt>
    <dgm:pt modelId="{A31E1885-FE13-4B93-9502-E4FB96BEF4D4}" type="pres">
      <dgm:prSet presAssocID="{14088CC8-7131-4F59-9E81-F5F5DA15F590}" presName="childNode" presStyleLbl="node1" presStyleIdx="0" presStyleCnt="2">
        <dgm:presLayoutVars>
          <dgm:bulletEnabled val="1"/>
        </dgm:presLayoutVars>
      </dgm:prSet>
      <dgm:spPr/>
    </dgm:pt>
    <dgm:pt modelId="{FB00CF89-7511-419A-9F7C-9FDF33FD6205}" type="pres">
      <dgm:prSet presAssocID="{14088CC8-7131-4F59-9E81-F5F5DA15F590}" presName="aSpace2" presStyleCnt="0"/>
      <dgm:spPr/>
    </dgm:pt>
    <dgm:pt modelId="{1FA54694-3969-4EA4-82CA-5125DC46A38A}" type="pres">
      <dgm:prSet presAssocID="{3A7785EC-035B-489A-BF92-F4F34FF4DAE9}" presName="childNode" presStyleLbl="node1" presStyleIdx="1" presStyleCnt="2">
        <dgm:presLayoutVars>
          <dgm:bulletEnabled val="1"/>
        </dgm:presLayoutVars>
      </dgm:prSet>
      <dgm:spPr/>
    </dgm:pt>
  </dgm:ptLst>
  <dgm:cxnLst>
    <dgm:cxn modelId="{D638DC00-06CA-4DB9-BBE6-07716B8E86A5}" srcId="{E6941DE3-39B9-47B6-9CC0-DF6B8C8E4AE4}" destId="{14088CC8-7131-4F59-9E81-F5F5DA15F590}" srcOrd="0" destOrd="0" parTransId="{8AE6B439-0EAC-4DF5-9E95-11A7C1E7966D}" sibTransId="{DF232340-D95C-4AF3-99AE-3AC06F21C0BE}"/>
    <dgm:cxn modelId="{01FB0726-A8CD-45DD-972F-DA4328F0CDFA}" type="presOf" srcId="{E6941DE3-39B9-47B6-9CC0-DF6B8C8E4AE4}" destId="{020C396C-F921-404A-B206-6DD61C35EAAB}" srcOrd="0" destOrd="0" presId="urn:microsoft.com/office/officeart/2005/8/layout/lProcess2"/>
    <dgm:cxn modelId="{C738534F-A204-43E3-B413-315D0403ED86}" type="presOf" srcId="{3A7785EC-035B-489A-BF92-F4F34FF4DAE9}" destId="{1FA54694-3969-4EA4-82CA-5125DC46A38A}" srcOrd="0" destOrd="0" presId="urn:microsoft.com/office/officeart/2005/8/layout/lProcess2"/>
    <dgm:cxn modelId="{CD3DCE7A-ADC2-443D-B03E-39C3F424A4D4}" type="presOf" srcId="{E6941DE3-39B9-47B6-9CC0-DF6B8C8E4AE4}" destId="{2E3BB4AE-19FE-415D-8E5D-4EC1064DADB6}" srcOrd="1" destOrd="0" presId="urn:microsoft.com/office/officeart/2005/8/layout/lProcess2"/>
    <dgm:cxn modelId="{EA1E749C-4441-412D-ACB7-439397509182}" srcId="{E6941DE3-39B9-47B6-9CC0-DF6B8C8E4AE4}" destId="{3A7785EC-035B-489A-BF92-F4F34FF4DAE9}" srcOrd="1" destOrd="0" parTransId="{70D04EE8-17FD-4F4A-A43F-3800942A602A}" sibTransId="{0CE52B2A-5FF7-4895-962F-F7CF0A773E1E}"/>
    <dgm:cxn modelId="{CB0134B0-5EAD-4909-9692-5B60D70DEC67}" srcId="{09B648FB-D31F-4814-8FB0-DA2AF6552D3B}" destId="{E6941DE3-39B9-47B6-9CC0-DF6B8C8E4AE4}" srcOrd="0" destOrd="0" parTransId="{19A67A5E-53BB-42AE-9B78-C428A675776C}" sibTransId="{AFEE9FA8-54EA-4F58-A64E-EA89F78F3350}"/>
    <dgm:cxn modelId="{DA3E55B7-5B6F-4F06-935C-D9F75DCCAEB0}" type="presOf" srcId="{09B648FB-D31F-4814-8FB0-DA2AF6552D3B}" destId="{169B4480-8907-4905-AC52-0BB6BE4BACFE}" srcOrd="0" destOrd="0" presId="urn:microsoft.com/office/officeart/2005/8/layout/lProcess2"/>
    <dgm:cxn modelId="{6B67CCC5-B2C3-4047-84B6-86FBE379D2A7}" type="presOf" srcId="{14088CC8-7131-4F59-9E81-F5F5DA15F590}" destId="{A31E1885-FE13-4B93-9502-E4FB96BEF4D4}" srcOrd="0" destOrd="0" presId="urn:microsoft.com/office/officeart/2005/8/layout/lProcess2"/>
    <dgm:cxn modelId="{C5ADB818-F29F-468B-90CD-80EBB9EC34C0}" type="presParOf" srcId="{169B4480-8907-4905-AC52-0BB6BE4BACFE}" destId="{239EBDDF-7F6D-4846-A4D9-159170AC654C}" srcOrd="0" destOrd="0" presId="urn:microsoft.com/office/officeart/2005/8/layout/lProcess2"/>
    <dgm:cxn modelId="{34D1CE17-A76D-44A3-BDE3-ACD758356A55}" type="presParOf" srcId="{239EBDDF-7F6D-4846-A4D9-159170AC654C}" destId="{020C396C-F921-404A-B206-6DD61C35EAAB}" srcOrd="0" destOrd="0" presId="urn:microsoft.com/office/officeart/2005/8/layout/lProcess2"/>
    <dgm:cxn modelId="{AED64DA8-584E-4735-B380-9171B8720C62}" type="presParOf" srcId="{239EBDDF-7F6D-4846-A4D9-159170AC654C}" destId="{2E3BB4AE-19FE-415D-8E5D-4EC1064DADB6}" srcOrd="1" destOrd="0" presId="urn:microsoft.com/office/officeart/2005/8/layout/lProcess2"/>
    <dgm:cxn modelId="{D730D1C1-CB2D-4D3F-8FE6-A5B15B89E6C5}" type="presParOf" srcId="{239EBDDF-7F6D-4846-A4D9-159170AC654C}" destId="{E326FBA1-0750-426B-8738-9BB13262A9DA}" srcOrd="2" destOrd="0" presId="urn:microsoft.com/office/officeart/2005/8/layout/lProcess2"/>
    <dgm:cxn modelId="{2B03B5CC-8788-445E-B477-E231F4F6E157}" type="presParOf" srcId="{E326FBA1-0750-426B-8738-9BB13262A9DA}" destId="{0D1F25F4-0137-4324-ADAA-58135D88C03C}" srcOrd="0" destOrd="0" presId="urn:microsoft.com/office/officeart/2005/8/layout/lProcess2"/>
    <dgm:cxn modelId="{E8909716-9871-49A7-82AA-D644031797C5}" type="presParOf" srcId="{0D1F25F4-0137-4324-ADAA-58135D88C03C}" destId="{A31E1885-FE13-4B93-9502-E4FB96BEF4D4}" srcOrd="0" destOrd="0" presId="urn:microsoft.com/office/officeart/2005/8/layout/lProcess2"/>
    <dgm:cxn modelId="{9BDEFDDA-4101-41EC-B79C-01F1E9F44358}" type="presParOf" srcId="{0D1F25F4-0137-4324-ADAA-58135D88C03C}" destId="{FB00CF89-7511-419A-9F7C-9FDF33FD6205}" srcOrd="1" destOrd="0" presId="urn:microsoft.com/office/officeart/2005/8/layout/lProcess2"/>
    <dgm:cxn modelId="{8F8EE326-EBD7-481E-AE6F-8F0C43836592}" type="presParOf" srcId="{0D1F25F4-0137-4324-ADAA-58135D88C03C}" destId="{1FA54694-3969-4EA4-82CA-5125DC46A38A}"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38FCFC-D4A4-485C-9355-28D6E99F7F2D}">
      <dsp:nvSpPr>
        <dsp:cNvPr id="0" name=""/>
        <dsp:cNvSpPr/>
      </dsp:nvSpPr>
      <dsp:spPr>
        <a:xfrm>
          <a:off x="0" y="73092"/>
          <a:ext cx="7175140" cy="86814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zh-TW" altLang="en-US" sz="2800" b="1" kern="1200" dirty="0">
              <a:latin typeface="微軟正黑體" panose="020B0604030504040204" pitchFamily="34" charset="-120"/>
              <a:ea typeface="微軟正黑體" panose="020B0604030504040204" pitchFamily="34" charset="-120"/>
            </a:rPr>
            <a:t>臺北國際電腦展</a:t>
          </a:r>
          <a:endParaRPr lang="zh-TW" altLang="en-US" sz="2800" kern="1200" dirty="0">
            <a:latin typeface="微軟正黑體" panose="020B0604030504040204" pitchFamily="34" charset="-120"/>
            <a:ea typeface="微軟正黑體" panose="020B0604030504040204" pitchFamily="34" charset="-120"/>
          </a:endParaRPr>
        </a:p>
      </dsp:txBody>
      <dsp:txXfrm>
        <a:off x="42379" y="115471"/>
        <a:ext cx="7090382" cy="783382"/>
      </dsp:txXfrm>
    </dsp:sp>
    <dsp:sp modelId="{8BAEE351-AEB4-4571-B3BD-0A6F9F99BF18}">
      <dsp:nvSpPr>
        <dsp:cNvPr id="0" name=""/>
        <dsp:cNvSpPr/>
      </dsp:nvSpPr>
      <dsp:spPr>
        <a:xfrm>
          <a:off x="0" y="917740"/>
          <a:ext cx="7175140" cy="868140"/>
        </a:xfrm>
        <a:prstGeom prst="roundRect">
          <a:avLst/>
        </a:prstGeom>
        <a:solidFill>
          <a:schemeClr val="accent2">
            <a:hueOff val="-1446200"/>
            <a:satOff val="-9924"/>
            <a:lumOff val="5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rtl="0">
            <a:lnSpc>
              <a:spcPct val="90000"/>
            </a:lnSpc>
            <a:spcBef>
              <a:spcPct val="0"/>
            </a:spcBef>
            <a:spcAft>
              <a:spcPct val="35000"/>
            </a:spcAft>
            <a:buNone/>
          </a:pPr>
          <a:r>
            <a:rPr lang="zh-TW" altLang="en-US" sz="2800" b="1" kern="1200" dirty="0">
              <a:latin typeface="微軟正黑體" panose="020B0604030504040204" pitchFamily="34" charset="-120"/>
              <a:ea typeface="微軟正黑體" panose="020B0604030504040204" pitchFamily="34" charset="-120"/>
            </a:rPr>
            <a:t>美國拉斯維加斯國際消費電子展</a:t>
          </a:r>
          <a:endParaRPr lang="zh-TW" altLang="en-US" sz="2800" kern="1200" dirty="0">
            <a:latin typeface="微軟正黑體" panose="020B0604030504040204" pitchFamily="34" charset="-120"/>
            <a:ea typeface="微軟正黑體" panose="020B0604030504040204" pitchFamily="34" charset="-120"/>
          </a:endParaRPr>
        </a:p>
      </dsp:txBody>
      <dsp:txXfrm>
        <a:off x="42379" y="960119"/>
        <a:ext cx="7090382" cy="7833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EAAF8A-A0BD-47FD-ACCB-516D19E13A29}">
      <dsp:nvSpPr>
        <dsp:cNvPr id="0" name=""/>
        <dsp:cNvSpPr/>
      </dsp:nvSpPr>
      <dsp:spPr>
        <a:xfrm>
          <a:off x="0" y="181686"/>
          <a:ext cx="8229600" cy="771750"/>
        </a:xfrm>
        <a:prstGeom prst="rect">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08280" rIns="638708" bIns="142240" numCol="1" spcCol="1270" anchor="t" anchorCtr="0">
          <a:noAutofit/>
        </a:bodyPr>
        <a:lstStyle/>
        <a:p>
          <a:pPr marL="228600" lvl="1" indent="-228600" algn="l" defTabSz="889000" rtl="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讓控制單元可以操控算術邏輯單元的運算。</a:t>
          </a:r>
          <a:endParaRPr lang="zh-TW" altLang="en-US" sz="2000" kern="1200" dirty="0">
            <a:latin typeface="微軟正黑體" panose="020B0604030504040204" pitchFamily="34" charset="-120"/>
            <a:ea typeface="微軟正黑體" panose="020B0604030504040204" pitchFamily="34" charset="-120"/>
          </a:endParaRPr>
        </a:p>
      </dsp:txBody>
      <dsp:txXfrm>
        <a:off x="0" y="181686"/>
        <a:ext cx="8229600" cy="771750"/>
      </dsp:txXfrm>
    </dsp:sp>
    <dsp:sp modelId="{38A79309-832D-4F70-8518-7A22FF99F0EF}">
      <dsp:nvSpPr>
        <dsp:cNvPr id="0" name=""/>
        <dsp:cNvSpPr/>
      </dsp:nvSpPr>
      <dsp:spPr>
        <a:xfrm>
          <a:off x="411480" y="34086"/>
          <a:ext cx="5760720" cy="29520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889000" rtl="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控制匯流排</a:t>
          </a:r>
          <a:endParaRPr lang="zh-TW" altLang="en-US" sz="2000" kern="1200" dirty="0">
            <a:latin typeface="微軟正黑體" panose="020B0604030504040204" pitchFamily="34" charset="-120"/>
            <a:ea typeface="微軟正黑體" panose="020B0604030504040204" pitchFamily="34" charset="-120"/>
          </a:endParaRPr>
        </a:p>
      </dsp:txBody>
      <dsp:txXfrm>
        <a:off x="425890" y="48496"/>
        <a:ext cx="5731900" cy="266380"/>
      </dsp:txXfrm>
    </dsp:sp>
    <dsp:sp modelId="{EE3803E8-D332-44EC-A7D3-E6C57A52D17D}">
      <dsp:nvSpPr>
        <dsp:cNvPr id="0" name=""/>
        <dsp:cNvSpPr/>
      </dsp:nvSpPr>
      <dsp:spPr>
        <a:xfrm>
          <a:off x="0" y="1155036"/>
          <a:ext cx="8229600" cy="771750"/>
        </a:xfrm>
        <a:prstGeom prst="rect">
          <a:avLst/>
        </a:prstGeom>
        <a:solidFill>
          <a:schemeClr val="lt1">
            <a:alpha val="90000"/>
            <a:hueOff val="0"/>
            <a:satOff val="0"/>
            <a:lumOff val="0"/>
            <a:alphaOff val="0"/>
          </a:schemeClr>
        </a:solidFill>
        <a:ln w="25400" cap="flat" cmpd="sng" algn="ctr">
          <a:solidFill>
            <a:schemeClr val="accent3">
              <a:hueOff val="730060"/>
              <a:satOff val="-13582"/>
              <a:lumOff val="-411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08280" rIns="638708" bIns="142240" numCol="1" spcCol="1270" anchor="t" anchorCtr="0">
          <a:noAutofit/>
        </a:bodyPr>
        <a:lstStyle/>
        <a:p>
          <a:pPr marL="228600" lvl="1" indent="-228600" algn="l" defTabSz="889000" rtl="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將所要執行的程式位址傳到中央處理器內的程式計數器。</a:t>
          </a:r>
          <a:endParaRPr lang="zh-TW" altLang="en-US" sz="2000" kern="1200" dirty="0">
            <a:latin typeface="微軟正黑體" panose="020B0604030504040204" pitchFamily="34" charset="-120"/>
            <a:ea typeface="微軟正黑體" panose="020B0604030504040204" pitchFamily="34" charset="-120"/>
          </a:endParaRPr>
        </a:p>
      </dsp:txBody>
      <dsp:txXfrm>
        <a:off x="0" y="1155036"/>
        <a:ext cx="8229600" cy="771750"/>
      </dsp:txXfrm>
    </dsp:sp>
    <dsp:sp modelId="{8868EBC5-2B8B-4C47-85DC-B145F93A408A}">
      <dsp:nvSpPr>
        <dsp:cNvPr id="0" name=""/>
        <dsp:cNvSpPr/>
      </dsp:nvSpPr>
      <dsp:spPr>
        <a:xfrm>
          <a:off x="411480" y="1007437"/>
          <a:ext cx="5760720" cy="295200"/>
        </a:xfrm>
        <a:prstGeom prst="roundRect">
          <a:avLst/>
        </a:prstGeom>
        <a:solidFill>
          <a:schemeClr val="accent3">
            <a:hueOff val="730060"/>
            <a:satOff val="-13582"/>
            <a:lumOff val="-41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889000" rtl="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位址匯流排</a:t>
          </a:r>
          <a:endParaRPr lang="zh-TW" altLang="en-US" sz="2000" kern="1200" dirty="0">
            <a:latin typeface="微軟正黑體" panose="020B0604030504040204" pitchFamily="34" charset="-120"/>
            <a:ea typeface="微軟正黑體" panose="020B0604030504040204" pitchFamily="34" charset="-120"/>
          </a:endParaRPr>
        </a:p>
      </dsp:txBody>
      <dsp:txXfrm>
        <a:off x="425890" y="1021847"/>
        <a:ext cx="5731900" cy="266380"/>
      </dsp:txXfrm>
    </dsp:sp>
    <dsp:sp modelId="{F4230E44-C88A-4283-AE0A-E016ABD7D727}">
      <dsp:nvSpPr>
        <dsp:cNvPr id="0" name=""/>
        <dsp:cNvSpPr/>
      </dsp:nvSpPr>
      <dsp:spPr>
        <a:xfrm>
          <a:off x="0" y="2128387"/>
          <a:ext cx="8229600" cy="771750"/>
        </a:xfrm>
        <a:prstGeom prst="rect">
          <a:avLst/>
        </a:prstGeom>
        <a:solidFill>
          <a:schemeClr val="lt1">
            <a:alpha val="90000"/>
            <a:hueOff val="0"/>
            <a:satOff val="0"/>
            <a:lumOff val="0"/>
            <a:alphaOff val="0"/>
          </a:schemeClr>
        </a:solidFill>
        <a:ln w="25400" cap="flat" cmpd="sng" algn="ctr">
          <a:solidFill>
            <a:schemeClr val="accent3">
              <a:hueOff val="1460120"/>
              <a:satOff val="-27164"/>
              <a:lumOff val="-823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8708" tIns="208280" rIns="638708" bIns="142240" numCol="1" spcCol="1270" anchor="t" anchorCtr="0">
          <a:noAutofit/>
        </a:bodyPr>
        <a:lstStyle/>
        <a:p>
          <a:pPr marL="228600" lvl="1" indent="-228600" algn="l" defTabSz="889000" rtl="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可供各單元間進行資料交換。</a:t>
          </a:r>
          <a:endParaRPr lang="zh-TW" altLang="en-US" sz="2000" kern="1200" dirty="0">
            <a:latin typeface="微軟正黑體" panose="020B0604030504040204" pitchFamily="34" charset="-120"/>
            <a:ea typeface="微軟正黑體" panose="020B0604030504040204" pitchFamily="34" charset="-120"/>
          </a:endParaRPr>
        </a:p>
      </dsp:txBody>
      <dsp:txXfrm>
        <a:off x="0" y="2128387"/>
        <a:ext cx="8229600" cy="771750"/>
      </dsp:txXfrm>
    </dsp:sp>
    <dsp:sp modelId="{21D4DF60-081A-4049-9E42-41CEED6645E6}">
      <dsp:nvSpPr>
        <dsp:cNvPr id="0" name=""/>
        <dsp:cNvSpPr/>
      </dsp:nvSpPr>
      <dsp:spPr>
        <a:xfrm>
          <a:off x="411480" y="1980787"/>
          <a:ext cx="5760720" cy="295200"/>
        </a:xfrm>
        <a:prstGeom prst="roundRect">
          <a:avLst/>
        </a:prstGeom>
        <a:solidFill>
          <a:schemeClr val="accent3">
            <a:hueOff val="1460120"/>
            <a:satOff val="-27164"/>
            <a:lumOff val="-823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7742" tIns="0" rIns="217742" bIns="0" numCol="1" spcCol="1270" anchor="ctr" anchorCtr="0">
          <a:noAutofit/>
        </a:bodyPr>
        <a:lstStyle/>
        <a:p>
          <a:pPr marL="0" lvl="0" indent="0" algn="l" defTabSz="889000" rtl="0">
            <a:lnSpc>
              <a:spcPct val="90000"/>
            </a:lnSpc>
            <a:spcBef>
              <a:spcPct val="0"/>
            </a:spcBef>
            <a:spcAft>
              <a:spcPct val="35000"/>
            </a:spcAft>
            <a:buNone/>
          </a:pPr>
          <a:r>
            <a:rPr lang="zh-TW" altLang="en-US" sz="2000" b="1" kern="1200" dirty="0">
              <a:latin typeface="微軟正黑體" panose="020B0604030504040204" pitchFamily="34" charset="-120"/>
              <a:ea typeface="微軟正黑體" panose="020B0604030504040204" pitchFamily="34" charset="-120"/>
            </a:rPr>
            <a:t>資料匯流排</a:t>
          </a:r>
          <a:endParaRPr lang="zh-TW" altLang="en-US" sz="2000" kern="1200" dirty="0">
            <a:latin typeface="微軟正黑體" panose="020B0604030504040204" pitchFamily="34" charset="-120"/>
            <a:ea typeface="微軟正黑體" panose="020B0604030504040204" pitchFamily="34" charset="-120"/>
          </a:endParaRPr>
        </a:p>
      </dsp:txBody>
      <dsp:txXfrm>
        <a:off x="425890" y="1995197"/>
        <a:ext cx="5731900" cy="26638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CCE33D-DAE8-4639-9831-C54A72F918EB}">
      <dsp:nvSpPr>
        <dsp:cNvPr id="0" name=""/>
        <dsp:cNvSpPr/>
      </dsp:nvSpPr>
      <dsp:spPr>
        <a:xfrm>
          <a:off x="40" y="67159"/>
          <a:ext cx="3845569" cy="518400"/>
        </a:xfrm>
        <a:prstGeom prst="rect">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w="9525" cap="flat" cmpd="sng" algn="ctr">
          <a:solidFill>
            <a:schemeClr val="accent3">
              <a:hueOff val="0"/>
              <a:satOff val="0"/>
              <a:lumOff val="0"/>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0">
            <a:lnSpc>
              <a:spcPct val="90000"/>
            </a:lnSpc>
            <a:spcBef>
              <a:spcPct val="0"/>
            </a:spcBef>
            <a:spcAft>
              <a:spcPct val="35000"/>
            </a:spcAft>
            <a:buNone/>
          </a:pPr>
          <a:r>
            <a:rPr lang="zh-TW" sz="1800" b="1" kern="1200" dirty="0">
              <a:latin typeface="微軟正黑體" panose="020B0604030504040204" pitchFamily="34" charset="-120"/>
              <a:ea typeface="微軟正黑體" panose="020B0604030504040204" pitchFamily="34" charset="-120"/>
            </a:rPr>
            <a:t>暫存器 </a:t>
          </a:r>
          <a:r>
            <a:rPr lang="en-US" sz="1800" b="1" kern="1200" dirty="0">
              <a:latin typeface="微軟正黑體" panose="020B0604030504040204" pitchFamily="34" charset="-120"/>
              <a:ea typeface="微軟正黑體" panose="020B0604030504040204" pitchFamily="34" charset="-120"/>
            </a:rPr>
            <a:t>(register)</a:t>
          </a:r>
          <a:endParaRPr lang="zh-TW" sz="1800" kern="1200" dirty="0">
            <a:latin typeface="微軟正黑體" panose="020B0604030504040204" pitchFamily="34" charset="-120"/>
            <a:ea typeface="微軟正黑體" panose="020B0604030504040204" pitchFamily="34" charset="-120"/>
          </a:endParaRPr>
        </a:p>
      </dsp:txBody>
      <dsp:txXfrm>
        <a:off x="40" y="67159"/>
        <a:ext cx="3845569" cy="518400"/>
      </dsp:txXfrm>
    </dsp:sp>
    <dsp:sp modelId="{CFD86127-33AA-4579-B7A2-F818391966BA}">
      <dsp:nvSpPr>
        <dsp:cNvPr id="0" name=""/>
        <dsp:cNvSpPr/>
      </dsp:nvSpPr>
      <dsp:spPr>
        <a:xfrm>
          <a:off x="40" y="585559"/>
          <a:ext cx="3845569" cy="2519910"/>
        </a:xfrm>
        <a:prstGeom prst="rect">
          <a:avLst/>
        </a:prstGeom>
        <a:solidFill>
          <a:schemeClr val="accent3">
            <a:tint val="40000"/>
            <a:alpha val="90000"/>
            <a:hueOff val="0"/>
            <a:satOff val="0"/>
            <a:lumOff val="0"/>
            <a:alphaOff val="0"/>
          </a:schemeClr>
        </a:solidFill>
        <a:ln w="9525" cap="flat" cmpd="sng" algn="ctr">
          <a:solidFill>
            <a:schemeClr val="accent3">
              <a:tint val="40000"/>
              <a:alpha val="90000"/>
              <a:hueOff val="0"/>
              <a:satOff val="0"/>
              <a:lumOff val="0"/>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速度最快但單位價格最高。</a:t>
          </a:r>
          <a:endParaRPr lang="zh-TW" altLang="en-US" sz="1800" kern="1200" dirty="0">
            <a:latin typeface="微軟正黑體" panose="020B0604030504040204" pitchFamily="34" charset="-120"/>
            <a:ea typeface="微軟正黑體" panose="020B0604030504040204" pitchFamily="34" charset="-120"/>
          </a:endParaRPr>
        </a:p>
      </dsp:txBody>
      <dsp:txXfrm>
        <a:off x="40" y="585559"/>
        <a:ext cx="3845569" cy="2519910"/>
      </dsp:txXfrm>
    </dsp:sp>
    <dsp:sp modelId="{67EE5BE9-9806-4776-86BB-DE6C589C5F2F}">
      <dsp:nvSpPr>
        <dsp:cNvPr id="0" name=""/>
        <dsp:cNvSpPr/>
      </dsp:nvSpPr>
      <dsp:spPr>
        <a:xfrm>
          <a:off x="4383989" y="67159"/>
          <a:ext cx="3845569" cy="518400"/>
        </a:xfrm>
        <a:prstGeom prst="rect">
          <a:avLst/>
        </a:prstGeom>
        <a:gradFill rotWithShape="0">
          <a:gsLst>
            <a:gs pos="0">
              <a:schemeClr val="accent3">
                <a:hueOff val="1460120"/>
                <a:satOff val="-27164"/>
                <a:lumOff val="-8235"/>
                <a:alphaOff val="0"/>
                <a:shade val="51000"/>
                <a:satMod val="130000"/>
              </a:schemeClr>
            </a:gs>
            <a:gs pos="80000">
              <a:schemeClr val="accent3">
                <a:hueOff val="1460120"/>
                <a:satOff val="-27164"/>
                <a:lumOff val="-8235"/>
                <a:alphaOff val="0"/>
                <a:shade val="93000"/>
                <a:satMod val="130000"/>
              </a:schemeClr>
            </a:gs>
            <a:gs pos="100000">
              <a:schemeClr val="accent3">
                <a:hueOff val="1460120"/>
                <a:satOff val="-27164"/>
                <a:lumOff val="-8235"/>
                <a:alphaOff val="0"/>
                <a:shade val="94000"/>
                <a:satMod val="135000"/>
              </a:schemeClr>
            </a:gs>
          </a:gsLst>
          <a:lin ang="16200000" scaled="0"/>
        </a:gradFill>
        <a:ln w="9525" cap="flat" cmpd="sng" algn="ctr">
          <a:solidFill>
            <a:schemeClr val="accent3">
              <a:hueOff val="1460120"/>
              <a:satOff val="-27164"/>
              <a:lumOff val="-8235"/>
              <a:alphaOff val="0"/>
            </a:schemeClr>
          </a:solidFill>
          <a:prstDash val="solid"/>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1">
          <a:scrgbClr r="0" g="0" b="0"/>
        </a:lnRef>
        <a:fillRef idx="3">
          <a:scrgbClr r="0" g="0" b="0"/>
        </a:fillRef>
        <a:effectRef idx="3">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rtl="0">
            <a:lnSpc>
              <a:spcPct val="90000"/>
            </a:lnSpc>
            <a:spcBef>
              <a:spcPct val="0"/>
            </a:spcBef>
            <a:spcAft>
              <a:spcPct val="35000"/>
            </a:spcAft>
            <a:buNone/>
          </a:pPr>
          <a:r>
            <a:rPr lang="zh-TW" sz="1800" b="1" kern="1200" dirty="0">
              <a:latin typeface="微軟正黑體" panose="020B0604030504040204" pitchFamily="34" charset="-120"/>
              <a:ea typeface="微軟正黑體" panose="020B0604030504040204" pitchFamily="34" charset="-120"/>
            </a:rPr>
            <a:t>快取記憶體 </a:t>
          </a:r>
          <a:r>
            <a:rPr lang="en-US" sz="1800" b="1" kern="1200" dirty="0">
              <a:latin typeface="微軟正黑體" panose="020B0604030504040204" pitchFamily="34" charset="-120"/>
              <a:ea typeface="微軟正黑體" panose="020B0604030504040204" pitchFamily="34" charset="-120"/>
            </a:rPr>
            <a:t>(cache)</a:t>
          </a:r>
          <a:endParaRPr lang="zh-TW" sz="1800" kern="1200" dirty="0">
            <a:latin typeface="微軟正黑體" panose="020B0604030504040204" pitchFamily="34" charset="-120"/>
            <a:ea typeface="微軟正黑體" panose="020B0604030504040204" pitchFamily="34" charset="-120"/>
          </a:endParaRPr>
        </a:p>
      </dsp:txBody>
      <dsp:txXfrm>
        <a:off x="4383989" y="67159"/>
        <a:ext cx="3845569" cy="518400"/>
      </dsp:txXfrm>
    </dsp:sp>
    <dsp:sp modelId="{49947A0B-82B5-46B8-B046-8133C878CE87}">
      <dsp:nvSpPr>
        <dsp:cNvPr id="0" name=""/>
        <dsp:cNvSpPr/>
      </dsp:nvSpPr>
      <dsp:spPr>
        <a:xfrm>
          <a:off x="4383989" y="585559"/>
          <a:ext cx="3845569" cy="2519910"/>
        </a:xfrm>
        <a:prstGeom prst="rect">
          <a:avLst/>
        </a:prstGeom>
        <a:solidFill>
          <a:schemeClr val="accent3">
            <a:tint val="40000"/>
            <a:alpha val="90000"/>
            <a:hueOff val="1675425"/>
            <a:satOff val="-21944"/>
            <a:lumOff val="-2284"/>
            <a:alphaOff val="0"/>
          </a:schemeClr>
        </a:solidFill>
        <a:ln w="9525" cap="flat" cmpd="sng" algn="ctr">
          <a:solidFill>
            <a:schemeClr val="accent3">
              <a:tint val="40000"/>
              <a:alpha val="90000"/>
              <a:hueOff val="1675425"/>
              <a:satOff val="-21944"/>
              <a:lumOff val="-2284"/>
              <a:alphaOff val="0"/>
            </a:schemeClr>
          </a:solidFill>
          <a:prstDash val="solid"/>
        </a:ln>
        <a:effectLst>
          <a:outerShdw blurRad="40000" dist="23000" dir="5400000" rotWithShape="0">
            <a:srgbClr val="000000">
              <a:alpha val="35000"/>
            </a:srgbClr>
          </a:outerShdw>
        </a:effectLst>
      </dsp:spPr>
      <dsp:style>
        <a:lnRef idx="1">
          <a:scrgbClr r="0" g="0" b="0"/>
        </a:lnRef>
        <a:fillRef idx="1">
          <a:scrgbClr r="0" g="0" b="0"/>
        </a:fillRef>
        <a:effectRef idx="2">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rtl="0">
            <a:lnSpc>
              <a:spcPct val="90000"/>
            </a:lnSpc>
            <a:spcBef>
              <a:spcPct val="0"/>
            </a:spcBef>
            <a:spcAft>
              <a:spcPct val="15000"/>
            </a:spcAft>
            <a:buChar char="•"/>
          </a:pPr>
          <a:r>
            <a:rPr lang="zh-TW" sz="1800" b="1" kern="1200" dirty="0">
              <a:latin typeface="微軟正黑體" panose="020B0604030504040204" pitchFamily="34" charset="-120"/>
              <a:ea typeface="微軟正黑體" panose="020B0604030504040204" pitchFamily="34" charset="-120"/>
            </a:rPr>
            <a:t>位於</a:t>
          </a:r>
          <a:r>
            <a:rPr lang="en-US" sz="1800" b="1" kern="1200" dirty="0">
              <a:latin typeface="微軟正黑體" panose="020B0604030504040204" pitchFamily="34" charset="-120"/>
              <a:ea typeface="微軟正黑體" panose="020B0604030504040204" pitchFamily="34" charset="-120"/>
            </a:rPr>
            <a:t>CPU</a:t>
          </a:r>
          <a:r>
            <a:rPr lang="zh-TW" sz="1800" b="1" kern="1200" dirty="0">
              <a:latin typeface="微軟正黑體" panose="020B0604030504040204" pitchFamily="34" charset="-120"/>
              <a:ea typeface="微軟正黑體" panose="020B0604030504040204" pitchFamily="34" charset="-120"/>
            </a:rPr>
            <a:t>內，介於</a:t>
          </a:r>
          <a:r>
            <a:rPr lang="en-US" sz="1800" b="1" kern="1200" dirty="0">
              <a:latin typeface="微軟正黑體" panose="020B0604030504040204" pitchFamily="34" charset="-120"/>
              <a:ea typeface="微軟正黑體" panose="020B0604030504040204" pitchFamily="34" charset="-120"/>
            </a:rPr>
            <a:t>CPU</a:t>
          </a:r>
          <a:r>
            <a:rPr lang="zh-TW" sz="1800" b="1" kern="1200" dirty="0">
              <a:latin typeface="微軟正黑體" panose="020B0604030504040204" pitchFamily="34" charset="-120"/>
              <a:ea typeface="微軟正黑體" panose="020B0604030504040204" pitchFamily="34" charset="-120"/>
            </a:rPr>
            <a:t>和記憶體間。</a:t>
          </a:r>
          <a:endParaRPr lang="zh-TW" sz="1800" kern="1200" dirty="0">
            <a:latin typeface="微軟正黑體" panose="020B0604030504040204" pitchFamily="34" charset="-120"/>
            <a:ea typeface="微軟正黑體" panose="020B0604030504040204" pitchFamily="34" charset="-120"/>
          </a:endParaRPr>
        </a:p>
        <a:p>
          <a:pPr marL="171450" lvl="1" indent="-171450" algn="l"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速度比暫存器慢，單位價格較便宜，容量也比暫存器多。</a:t>
          </a:r>
          <a:endParaRPr lang="zh-TW" altLang="en-US" sz="1800" kern="1200" dirty="0">
            <a:latin typeface="微軟正黑體" panose="020B0604030504040204" pitchFamily="34" charset="-120"/>
            <a:ea typeface="微軟正黑體" panose="020B0604030504040204" pitchFamily="34" charset="-120"/>
          </a:endParaRPr>
        </a:p>
        <a:p>
          <a:pPr marL="171450" lvl="1" indent="-171450" algn="l" defTabSz="800100" rtl="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速度比主記憶體快，單位價格較貴，容量也比主記憶體少。</a:t>
          </a:r>
          <a:endParaRPr lang="zh-TW" altLang="en-US" sz="1800" kern="1200" dirty="0">
            <a:latin typeface="微軟正黑體" panose="020B0604030504040204" pitchFamily="34" charset="-120"/>
            <a:ea typeface="微軟正黑體" panose="020B0604030504040204" pitchFamily="34" charset="-120"/>
          </a:endParaRPr>
        </a:p>
      </dsp:txBody>
      <dsp:txXfrm>
        <a:off x="4383989" y="585559"/>
        <a:ext cx="3845569" cy="25199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0C396C-F921-404A-B206-6DD61C35EAAB}">
      <dsp:nvSpPr>
        <dsp:cNvPr id="0" name=""/>
        <dsp:cNvSpPr/>
      </dsp:nvSpPr>
      <dsp:spPr>
        <a:xfrm>
          <a:off x="0" y="0"/>
          <a:ext cx="4523038" cy="2934224"/>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rtl="0">
            <a:lnSpc>
              <a:spcPct val="90000"/>
            </a:lnSpc>
            <a:spcBef>
              <a:spcPct val="0"/>
            </a:spcBef>
            <a:spcAft>
              <a:spcPct val="35000"/>
            </a:spcAft>
            <a:buNone/>
          </a:pPr>
          <a:r>
            <a:rPr lang="zh-TW" altLang="en-US" sz="3100" b="1" kern="1200" dirty="0">
              <a:latin typeface="微軟正黑體" panose="020B0604030504040204" pitchFamily="34" charset="-120"/>
              <a:ea typeface="微軟正黑體" panose="020B0604030504040204" pitchFamily="34" charset="-120"/>
            </a:rPr>
            <a:t>記憶體類別</a:t>
          </a:r>
          <a:endParaRPr lang="zh-TW" altLang="en-US" sz="3100" kern="1200" dirty="0">
            <a:latin typeface="微軟正黑體" panose="020B0604030504040204" pitchFamily="34" charset="-120"/>
            <a:ea typeface="微軟正黑體" panose="020B0604030504040204" pitchFamily="34" charset="-120"/>
          </a:endParaRPr>
        </a:p>
      </dsp:txBody>
      <dsp:txXfrm>
        <a:off x="0" y="0"/>
        <a:ext cx="4523038" cy="880267"/>
      </dsp:txXfrm>
    </dsp:sp>
    <dsp:sp modelId="{A31E1885-FE13-4B93-9502-E4FB96BEF4D4}">
      <dsp:nvSpPr>
        <dsp:cNvPr id="0" name=""/>
        <dsp:cNvSpPr/>
      </dsp:nvSpPr>
      <dsp:spPr>
        <a:xfrm>
          <a:off x="452303" y="881126"/>
          <a:ext cx="3618430" cy="884708"/>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rtl="0">
            <a:lnSpc>
              <a:spcPct val="90000"/>
            </a:lnSpc>
            <a:spcBef>
              <a:spcPct val="0"/>
            </a:spcBef>
            <a:spcAft>
              <a:spcPct val="35000"/>
            </a:spcAft>
            <a:buNone/>
          </a:pPr>
          <a:r>
            <a:rPr lang="en-US" sz="1800" b="1" kern="1200" dirty="0">
              <a:latin typeface="微軟正黑體" panose="020B0604030504040204" pitchFamily="34" charset="-120"/>
              <a:ea typeface="微軟正黑體" panose="020B0604030504040204" pitchFamily="34" charset="-120"/>
            </a:rPr>
            <a:t>RAM</a:t>
          </a:r>
          <a:br>
            <a:rPr lang="en-US" sz="1800" b="1" kern="1200" dirty="0">
              <a:latin typeface="微軟正黑體" panose="020B0604030504040204" pitchFamily="34" charset="-120"/>
              <a:ea typeface="微軟正黑體" panose="020B0604030504040204" pitchFamily="34" charset="-120"/>
            </a:rPr>
          </a:br>
          <a:r>
            <a:rPr lang="en-US" sz="1800" b="1" kern="1200" dirty="0">
              <a:latin typeface="微軟正黑體" panose="020B0604030504040204" pitchFamily="34" charset="-120"/>
              <a:ea typeface="微軟正黑體" panose="020B0604030504040204" pitchFamily="34" charset="-120"/>
            </a:rPr>
            <a:t>(</a:t>
          </a:r>
          <a:r>
            <a:rPr lang="zh-TW" sz="1800" b="1" kern="1200" dirty="0">
              <a:latin typeface="微軟正黑體" panose="020B0604030504040204" pitchFamily="34" charset="-120"/>
              <a:ea typeface="微軟正黑體" panose="020B0604030504040204" pitchFamily="34" charset="-120"/>
            </a:rPr>
            <a:t>隨機存取記憶體</a:t>
          </a:r>
          <a:r>
            <a:rPr lang="en-US" sz="1800" b="1" kern="1200" dirty="0">
              <a:latin typeface="微軟正黑體" panose="020B0604030504040204" pitchFamily="34" charset="-120"/>
              <a:ea typeface="微軟正黑體" panose="020B0604030504040204" pitchFamily="34" charset="-120"/>
            </a:rPr>
            <a:t>)</a:t>
          </a:r>
          <a:endParaRPr lang="zh-TW" sz="1800" kern="1200" dirty="0">
            <a:latin typeface="微軟正黑體" panose="020B0604030504040204" pitchFamily="34" charset="-120"/>
            <a:ea typeface="微軟正黑體" panose="020B0604030504040204" pitchFamily="34" charset="-120"/>
          </a:endParaRPr>
        </a:p>
      </dsp:txBody>
      <dsp:txXfrm>
        <a:off x="478215" y="907038"/>
        <a:ext cx="3566606" cy="832884"/>
      </dsp:txXfrm>
    </dsp:sp>
    <dsp:sp modelId="{1FA54694-3969-4EA4-82CA-5125DC46A38A}">
      <dsp:nvSpPr>
        <dsp:cNvPr id="0" name=""/>
        <dsp:cNvSpPr/>
      </dsp:nvSpPr>
      <dsp:spPr>
        <a:xfrm>
          <a:off x="452303" y="1901944"/>
          <a:ext cx="3618430" cy="884708"/>
        </a:xfrm>
        <a:prstGeom prst="roundRect">
          <a:avLst>
            <a:gd name="adj" fmla="val 10000"/>
          </a:avLst>
        </a:prstGeom>
        <a:solidFill>
          <a:schemeClr val="accent2">
            <a:hueOff val="-1446200"/>
            <a:satOff val="-9924"/>
            <a:lumOff val="5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34290" rIns="45720" bIns="34290" numCol="1" spcCol="1270" anchor="ctr" anchorCtr="0">
          <a:noAutofit/>
        </a:bodyPr>
        <a:lstStyle/>
        <a:p>
          <a:pPr marL="0" lvl="0" indent="0" algn="ctr" defTabSz="800100" rtl="0">
            <a:lnSpc>
              <a:spcPct val="90000"/>
            </a:lnSpc>
            <a:spcBef>
              <a:spcPct val="0"/>
            </a:spcBef>
            <a:spcAft>
              <a:spcPct val="35000"/>
            </a:spcAft>
            <a:buNone/>
          </a:pPr>
          <a:r>
            <a:rPr lang="en-US" sz="1800" b="1" kern="1200" dirty="0">
              <a:latin typeface="微軟正黑體" panose="020B0604030504040204" pitchFamily="34" charset="-120"/>
              <a:ea typeface="微軟正黑體" panose="020B0604030504040204" pitchFamily="34" charset="-120"/>
            </a:rPr>
            <a:t>ROM</a:t>
          </a:r>
          <a:br>
            <a:rPr lang="en-US" sz="1800" b="1" kern="1200" dirty="0">
              <a:latin typeface="微軟正黑體" panose="020B0604030504040204" pitchFamily="34" charset="-120"/>
              <a:ea typeface="微軟正黑體" panose="020B0604030504040204" pitchFamily="34" charset="-120"/>
            </a:rPr>
          </a:br>
          <a:r>
            <a:rPr lang="en-US" sz="1800" b="1" kern="1200" dirty="0">
              <a:latin typeface="微軟正黑體" panose="020B0604030504040204" pitchFamily="34" charset="-120"/>
              <a:ea typeface="微軟正黑體" panose="020B0604030504040204" pitchFamily="34" charset="-120"/>
            </a:rPr>
            <a:t>(</a:t>
          </a:r>
          <a:r>
            <a:rPr lang="zh-TW" sz="1800" b="1" kern="1200" dirty="0">
              <a:latin typeface="微軟正黑體" panose="020B0604030504040204" pitchFamily="34" charset="-120"/>
              <a:ea typeface="微軟正黑體" panose="020B0604030504040204" pitchFamily="34" charset="-120"/>
            </a:rPr>
            <a:t>唯讀記憶體</a:t>
          </a:r>
          <a:r>
            <a:rPr lang="en-US" sz="1800" b="1" kern="1200" dirty="0">
              <a:latin typeface="微軟正黑體" panose="020B0604030504040204" pitchFamily="34" charset="-120"/>
              <a:ea typeface="微軟正黑體" panose="020B0604030504040204" pitchFamily="34" charset="-120"/>
            </a:rPr>
            <a:t>)</a:t>
          </a:r>
          <a:endParaRPr lang="zh-TW" sz="1800" kern="1200" dirty="0">
            <a:latin typeface="微軟正黑體" panose="020B0604030504040204" pitchFamily="34" charset="-120"/>
            <a:ea typeface="微軟正黑體" panose="020B0604030504040204" pitchFamily="34" charset="-120"/>
          </a:endParaRPr>
        </a:p>
      </dsp:txBody>
      <dsp:txXfrm>
        <a:off x="478215" y="1927856"/>
        <a:ext cx="3566606" cy="83288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5EB12AB-0481-4543-9448-EE76391C4D02}" type="datetimeFigureOut">
              <a:rPr lang="zh-TW" altLang="en-US" smtClean="0"/>
              <a:t>2026/8/13</a:t>
            </a:fld>
            <a:endParaRPr lang="zh-TW" altLang="en-US"/>
          </a:p>
        </p:txBody>
      </p:sp>
      <p:sp>
        <p:nvSpPr>
          <p:cNvPr id="4" name="投影片圖像版面配置區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4E245B1-C9B5-4CB2-8096-E56E4F101A5F}" type="slidenum">
              <a:rPr lang="zh-TW" altLang="en-US" smtClean="0"/>
              <a:t>‹#›</a:t>
            </a:fld>
            <a:endParaRPr lang="zh-TW" altLang="en-US"/>
          </a:p>
        </p:txBody>
      </p:sp>
    </p:spTree>
    <p:extLst>
      <p:ext uri="{BB962C8B-B14F-4D97-AF65-F5344CB8AC3E}">
        <p14:creationId xmlns:p14="http://schemas.microsoft.com/office/powerpoint/2010/main" val="355780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E245B1-C9B5-4CB2-8096-E56E4F101A5F}" type="slidenum">
              <a:rPr lang="zh-TW" altLang="en-US" smtClean="0"/>
              <a:t>39</a:t>
            </a:fld>
            <a:endParaRPr lang="zh-TW" altLang="en-US"/>
          </a:p>
        </p:txBody>
      </p:sp>
    </p:spTree>
    <p:extLst>
      <p:ext uri="{BB962C8B-B14F-4D97-AF65-F5344CB8AC3E}">
        <p14:creationId xmlns:p14="http://schemas.microsoft.com/office/powerpoint/2010/main" val="1826280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E245B1-C9B5-4CB2-8096-E56E4F101A5F}" type="slidenum">
              <a:rPr lang="zh-TW" altLang="en-US" smtClean="0"/>
              <a:t>40</a:t>
            </a:fld>
            <a:endParaRPr lang="zh-TW" altLang="en-US"/>
          </a:p>
        </p:txBody>
      </p:sp>
    </p:spTree>
    <p:extLst>
      <p:ext uri="{BB962C8B-B14F-4D97-AF65-F5344CB8AC3E}">
        <p14:creationId xmlns:p14="http://schemas.microsoft.com/office/powerpoint/2010/main" val="2977755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381000" y="685800"/>
            <a:ext cx="6096000" cy="34290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94E245B1-C9B5-4CB2-8096-E56E4F101A5F}" type="slidenum">
              <a:rPr lang="zh-TW" altLang="en-US" smtClean="0"/>
              <a:t>41</a:t>
            </a:fld>
            <a:endParaRPr lang="zh-TW" altLang="en-US"/>
          </a:p>
        </p:txBody>
      </p:sp>
    </p:spTree>
    <p:extLst>
      <p:ext uri="{BB962C8B-B14F-4D97-AF65-F5344CB8AC3E}">
        <p14:creationId xmlns:p14="http://schemas.microsoft.com/office/powerpoint/2010/main" val="697223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gif"/><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標題投影片">
    <p:spTree>
      <p:nvGrpSpPr>
        <p:cNvPr id="1" name=""/>
        <p:cNvGrpSpPr/>
        <p:nvPr/>
      </p:nvGrpSpPr>
      <p:grpSpPr>
        <a:xfrm>
          <a:off x="0" y="0"/>
          <a:ext cx="0" cy="0"/>
          <a:chOff x="0" y="0"/>
          <a:chExt cx="0" cy="0"/>
        </a:xfrm>
      </p:grpSpPr>
      <p:sp>
        <p:nvSpPr>
          <p:cNvPr id="7" name="矩形 6"/>
          <p:cNvSpPr/>
          <p:nvPr userDrawn="1"/>
        </p:nvSpPr>
        <p:spPr>
          <a:xfrm>
            <a:off x="-26078" y="377109"/>
            <a:ext cx="9170078" cy="4764079"/>
          </a:xfrm>
          <a:prstGeom prst="rect">
            <a:avLst/>
          </a:prstGeom>
          <a:solidFill>
            <a:schemeClr val="accent6">
              <a:lumMod val="75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sp>
        <p:nvSpPr>
          <p:cNvPr id="278" name="圓角矩形圖說文字 277"/>
          <p:cNvSpPr/>
          <p:nvPr userDrawn="1"/>
        </p:nvSpPr>
        <p:spPr>
          <a:xfrm>
            <a:off x="272957" y="715294"/>
            <a:ext cx="2737212" cy="742533"/>
          </a:xfrm>
          <a:prstGeom prst="wedgeRoundRectCallout">
            <a:avLst>
              <a:gd name="adj1" fmla="val 34844"/>
              <a:gd name="adj2" fmla="val 81478"/>
              <a:gd name="adj3" fmla="val 16667"/>
            </a:avLst>
          </a:prstGeom>
          <a:solidFill>
            <a:srgbClr val="F2F2F2">
              <a:alpha val="20000"/>
            </a:srgbClr>
          </a:solidFill>
          <a:ln w="28575">
            <a:solidFill>
              <a:srgbClr val="000000">
                <a:alpha val="20000"/>
              </a:srgb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標題 1"/>
          <p:cNvSpPr>
            <a:spLocks noGrp="1"/>
          </p:cNvSpPr>
          <p:nvPr>
            <p:ph type="ctrTitle" hasCustomPrompt="1"/>
          </p:nvPr>
        </p:nvSpPr>
        <p:spPr>
          <a:xfrm>
            <a:off x="3157954" y="782801"/>
            <a:ext cx="5476465" cy="725061"/>
          </a:xfrm>
        </p:spPr>
        <p:txBody>
          <a:bodyPr>
            <a:noAutofit/>
          </a:bodyPr>
          <a:lstStyle>
            <a:lvl1pPr algn="l">
              <a:defRPr sz="4800" b="1">
                <a:solidFill>
                  <a:schemeClr val="bg1"/>
                </a:solidFill>
                <a:latin typeface="微軟正黑體" pitchFamily="34" charset="-120"/>
                <a:ea typeface="微軟正黑體" pitchFamily="34" charset="-120"/>
              </a:defRPr>
            </a:lvl1pPr>
          </a:lstStyle>
          <a:p>
            <a:r>
              <a:rPr lang="zh-TW" altLang="en-US" dirty="0"/>
              <a:t>計算機簡介</a:t>
            </a:r>
          </a:p>
        </p:txBody>
      </p:sp>
      <p:sp>
        <p:nvSpPr>
          <p:cNvPr id="3" name="副標題 2"/>
          <p:cNvSpPr>
            <a:spLocks noGrp="1"/>
          </p:cNvSpPr>
          <p:nvPr>
            <p:ph type="subTitle" idx="1"/>
          </p:nvPr>
        </p:nvSpPr>
        <p:spPr>
          <a:xfrm>
            <a:off x="4622800" y="1795463"/>
            <a:ext cx="4194429" cy="2801541"/>
          </a:xfrm>
        </p:spPr>
        <p:txBody>
          <a:bodyPr/>
          <a:lstStyle>
            <a:lvl1pPr marL="0" indent="0" algn="l">
              <a:buNone/>
              <a:defRPr b="0">
                <a:solidFill>
                  <a:schemeClr val="tx1"/>
                </a:solidFill>
                <a:latin typeface="微軟正黑體" pitchFamily="34" charset="-120"/>
                <a:ea typeface="微軟正黑體" pitchFamily="34" charset="-12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a:t>按一下以編輯母片副標題樣式</a:t>
            </a:r>
          </a:p>
        </p:txBody>
      </p:sp>
      <p:sp>
        <p:nvSpPr>
          <p:cNvPr id="29" name="矩形 28"/>
          <p:cNvSpPr/>
          <p:nvPr userDrawn="1"/>
        </p:nvSpPr>
        <p:spPr>
          <a:xfrm>
            <a:off x="11650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矩形 48"/>
          <p:cNvSpPr/>
          <p:nvPr userDrawn="1"/>
        </p:nvSpPr>
        <p:spPr>
          <a:xfrm>
            <a:off x="3896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49"/>
          <p:cNvSpPr/>
          <p:nvPr userDrawn="1"/>
        </p:nvSpPr>
        <p:spPr>
          <a:xfrm>
            <a:off x="258071"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矩形 50"/>
          <p:cNvSpPr/>
          <p:nvPr userDrawn="1"/>
        </p:nvSpPr>
        <p:spPr>
          <a:xfrm>
            <a:off x="5420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2" name="矩形 51"/>
          <p:cNvSpPr/>
          <p:nvPr userDrawn="1"/>
        </p:nvSpPr>
        <p:spPr>
          <a:xfrm>
            <a:off x="694494"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矩形 52"/>
          <p:cNvSpPr/>
          <p:nvPr userDrawn="1"/>
        </p:nvSpPr>
        <p:spPr>
          <a:xfrm>
            <a:off x="89969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4" name="矩形 53"/>
          <p:cNvSpPr/>
          <p:nvPr userDrawn="1"/>
        </p:nvSpPr>
        <p:spPr>
          <a:xfrm>
            <a:off x="11728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5" name="矩形 54"/>
          <p:cNvSpPr/>
          <p:nvPr userDrawn="1"/>
        </p:nvSpPr>
        <p:spPr>
          <a:xfrm>
            <a:off x="1041262"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矩形 55"/>
          <p:cNvSpPr/>
          <p:nvPr userDrawn="1"/>
        </p:nvSpPr>
        <p:spPr>
          <a:xfrm>
            <a:off x="13252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7" name="矩形 56"/>
          <p:cNvSpPr/>
          <p:nvPr userDrawn="1"/>
        </p:nvSpPr>
        <p:spPr>
          <a:xfrm>
            <a:off x="147768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矩形 57"/>
          <p:cNvSpPr/>
          <p:nvPr userDrawn="1"/>
        </p:nvSpPr>
        <p:spPr>
          <a:xfrm>
            <a:off x="169875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9" name="矩形 58"/>
          <p:cNvSpPr/>
          <p:nvPr userDrawn="1"/>
        </p:nvSpPr>
        <p:spPr>
          <a:xfrm>
            <a:off x="19719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0" name="矩形 59"/>
          <p:cNvSpPr/>
          <p:nvPr userDrawn="1"/>
        </p:nvSpPr>
        <p:spPr>
          <a:xfrm>
            <a:off x="18403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1" name="矩形 60"/>
          <p:cNvSpPr/>
          <p:nvPr userDrawn="1"/>
        </p:nvSpPr>
        <p:spPr>
          <a:xfrm>
            <a:off x="21243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矩形 61"/>
          <p:cNvSpPr/>
          <p:nvPr userDrawn="1"/>
        </p:nvSpPr>
        <p:spPr>
          <a:xfrm>
            <a:off x="227674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3" name="矩形 62"/>
          <p:cNvSpPr/>
          <p:nvPr userDrawn="1"/>
        </p:nvSpPr>
        <p:spPr>
          <a:xfrm>
            <a:off x="2512459"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4" name="矩形 63"/>
          <p:cNvSpPr/>
          <p:nvPr userDrawn="1"/>
        </p:nvSpPr>
        <p:spPr>
          <a:xfrm>
            <a:off x="27856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5" name="矩形 64"/>
          <p:cNvSpPr/>
          <p:nvPr userDrawn="1"/>
        </p:nvSpPr>
        <p:spPr>
          <a:xfrm>
            <a:off x="2654024"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6" name="矩形 65"/>
          <p:cNvSpPr/>
          <p:nvPr userDrawn="1"/>
        </p:nvSpPr>
        <p:spPr>
          <a:xfrm>
            <a:off x="29380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7" name="矩形 66"/>
          <p:cNvSpPr/>
          <p:nvPr userDrawn="1"/>
        </p:nvSpPr>
        <p:spPr>
          <a:xfrm>
            <a:off x="309044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8" name="矩形 67"/>
          <p:cNvSpPr/>
          <p:nvPr userDrawn="1"/>
        </p:nvSpPr>
        <p:spPr>
          <a:xfrm>
            <a:off x="3318938"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矩形 68"/>
          <p:cNvSpPr/>
          <p:nvPr userDrawn="1"/>
        </p:nvSpPr>
        <p:spPr>
          <a:xfrm>
            <a:off x="35921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0" name="矩形 69"/>
          <p:cNvSpPr/>
          <p:nvPr userDrawn="1"/>
        </p:nvSpPr>
        <p:spPr>
          <a:xfrm>
            <a:off x="346050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1" name="矩形 70"/>
          <p:cNvSpPr/>
          <p:nvPr userDrawn="1"/>
        </p:nvSpPr>
        <p:spPr>
          <a:xfrm>
            <a:off x="37445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2" name="矩形 71"/>
          <p:cNvSpPr/>
          <p:nvPr userDrawn="1"/>
        </p:nvSpPr>
        <p:spPr>
          <a:xfrm>
            <a:off x="389692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3" name="矩形 72"/>
          <p:cNvSpPr/>
          <p:nvPr userDrawn="1"/>
        </p:nvSpPr>
        <p:spPr>
          <a:xfrm>
            <a:off x="4129028"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4" name="矩形 73"/>
          <p:cNvSpPr/>
          <p:nvPr userDrawn="1"/>
        </p:nvSpPr>
        <p:spPr>
          <a:xfrm>
            <a:off x="44022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5" name="矩形 74"/>
          <p:cNvSpPr/>
          <p:nvPr userDrawn="1"/>
        </p:nvSpPr>
        <p:spPr>
          <a:xfrm>
            <a:off x="427059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6" name="矩形 75"/>
          <p:cNvSpPr/>
          <p:nvPr userDrawn="1"/>
        </p:nvSpPr>
        <p:spPr>
          <a:xfrm>
            <a:off x="45546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7" name="矩形 76"/>
          <p:cNvSpPr/>
          <p:nvPr userDrawn="1"/>
        </p:nvSpPr>
        <p:spPr>
          <a:xfrm>
            <a:off x="470701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8" name="矩形 77"/>
          <p:cNvSpPr/>
          <p:nvPr userDrawn="1"/>
        </p:nvSpPr>
        <p:spPr>
          <a:xfrm>
            <a:off x="4939117"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9" name="矩形 78"/>
          <p:cNvSpPr/>
          <p:nvPr userDrawn="1"/>
        </p:nvSpPr>
        <p:spPr>
          <a:xfrm>
            <a:off x="521230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0" name="矩形 79"/>
          <p:cNvSpPr/>
          <p:nvPr userDrawn="1"/>
        </p:nvSpPr>
        <p:spPr>
          <a:xfrm>
            <a:off x="508068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1" name="矩形 80"/>
          <p:cNvSpPr/>
          <p:nvPr userDrawn="1"/>
        </p:nvSpPr>
        <p:spPr>
          <a:xfrm>
            <a:off x="536470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2" name="矩形 81"/>
          <p:cNvSpPr/>
          <p:nvPr userDrawn="1"/>
        </p:nvSpPr>
        <p:spPr>
          <a:xfrm>
            <a:off x="5517106"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3" name="矩形 82"/>
          <p:cNvSpPr/>
          <p:nvPr userDrawn="1"/>
        </p:nvSpPr>
        <p:spPr>
          <a:xfrm>
            <a:off x="5749208"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4" name="矩形 83"/>
          <p:cNvSpPr/>
          <p:nvPr userDrawn="1"/>
        </p:nvSpPr>
        <p:spPr>
          <a:xfrm>
            <a:off x="60223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5" name="矩形 84"/>
          <p:cNvSpPr/>
          <p:nvPr userDrawn="1"/>
        </p:nvSpPr>
        <p:spPr>
          <a:xfrm>
            <a:off x="5890773"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6" name="矩形 85"/>
          <p:cNvSpPr/>
          <p:nvPr userDrawn="1"/>
        </p:nvSpPr>
        <p:spPr>
          <a:xfrm>
            <a:off x="61747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7" name="矩形 86"/>
          <p:cNvSpPr/>
          <p:nvPr userDrawn="1"/>
        </p:nvSpPr>
        <p:spPr>
          <a:xfrm>
            <a:off x="632719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8" name="矩形 87"/>
          <p:cNvSpPr/>
          <p:nvPr userDrawn="1"/>
        </p:nvSpPr>
        <p:spPr>
          <a:xfrm>
            <a:off x="6563897"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9" name="矩形 88"/>
          <p:cNvSpPr/>
          <p:nvPr userDrawn="1"/>
        </p:nvSpPr>
        <p:spPr>
          <a:xfrm>
            <a:off x="68370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0" name="矩形 89"/>
          <p:cNvSpPr/>
          <p:nvPr userDrawn="1"/>
        </p:nvSpPr>
        <p:spPr>
          <a:xfrm>
            <a:off x="6705462"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1" name="矩形 90"/>
          <p:cNvSpPr/>
          <p:nvPr userDrawn="1"/>
        </p:nvSpPr>
        <p:spPr>
          <a:xfrm>
            <a:off x="69894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2" name="矩形 91"/>
          <p:cNvSpPr/>
          <p:nvPr userDrawn="1"/>
        </p:nvSpPr>
        <p:spPr>
          <a:xfrm>
            <a:off x="7141885"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3" name="矩形 92"/>
          <p:cNvSpPr/>
          <p:nvPr userDrawn="1"/>
        </p:nvSpPr>
        <p:spPr>
          <a:xfrm>
            <a:off x="7369388"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4" name="矩形 93"/>
          <p:cNvSpPr/>
          <p:nvPr userDrawn="1"/>
        </p:nvSpPr>
        <p:spPr>
          <a:xfrm>
            <a:off x="76425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5" name="矩形 94"/>
          <p:cNvSpPr/>
          <p:nvPr userDrawn="1"/>
        </p:nvSpPr>
        <p:spPr>
          <a:xfrm>
            <a:off x="7510952"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6" name="矩形 95"/>
          <p:cNvSpPr/>
          <p:nvPr userDrawn="1"/>
        </p:nvSpPr>
        <p:spPr>
          <a:xfrm>
            <a:off x="77949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7" name="矩形 96"/>
          <p:cNvSpPr/>
          <p:nvPr userDrawn="1"/>
        </p:nvSpPr>
        <p:spPr>
          <a:xfrm>
            <a:off x="7947376" y="-789"/>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8" name="矩形 97"/>
          <p:cNvSpPr/>
          <p:nvPr userDrawn="1"/>
        </p:nvSpPr>
        <p:spPr>
          <a:xfrm>
            <a:off x="8171735"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9" name="矩形 98"/>
          <p:cNvSpPr/>
          <p:nvPr userDrawn="1"/>
        </p:nvSpPr>
        <p:spPr>
          <a:xfrm>
            <a:off x="84449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0" name="矩形 99"/>
          <p:cNvSpPr/>
          <p:nvPr userDrawn="1"/>
        </p:nvSpPr>
        <p:spPr>
          <a:xfrm>
            <a:off x="8313300"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1" name="矩形 100"/>
          <p:cNvSpPr/>
          <p:nvPr userDrawn="1"/>
        </p:nvSpPr>
        <p:spPr>
          <a:xfrm>
            <a:off x="85973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矩形 101"/>
          <p:cNvSpPr/>
          <p:nvPr userDrawn="1"/>
        </p:nvSpPr>
        <p:spPr>
          <a:xfrm>
            <a:off x="8749723"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矩形 102"/>
          <p:cNvSpPr/>
          <p:nvPr userDrawn="1"/>
        </p:nvSpPr>
        <p:spPr>
          <a:xfrm>
            <a:off x="8969630" y="0"/>
            <a:ext cx="67507" cy="472553"/>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5" name="圖片版面配置區 274"/>
          <p:cNvSpPr>
            <a:spLocks noGrp="1"/>
          </p:cNvSpPr>
          <p:nvPr>
            <p:ph type="pic" sz="quarter" idx="13"/>
          </p:nvPr>
        </p:nvSpPr>
        <p:spPr>
          <a:xfrm>
            <a:off x="0" y="1795463"/>
            <a:ext cx="4622800" cy="2801541"/>
          </a:xfrm>
        </p:spPr>
        <p:txBody>
          <a:bodyPr/>
          <a:lstStyle/>
          <a:p>
            <a:endParaRPr lang="zh-TW" altLang="en-US" dirty="0"/>
          </a:p>
        </p:txBody>
      </p:sp>
      <p:sp>
        <p:nvSpPr>
          <p:cNvPr id="276" name="文字方塊 275"/>
          <p:cNvSpPr txBox="1"/>
          <p:nvPr userDrawn="1"/>
        </p:nvSpPr>
        <p:spPr>
          <a:xfrm>
            <a:off x="264913" y="591530"/>
            <a:ext cx="2768260" cy="923330"/>
          </a:xfrm>
          <a:prstGeom prst="rect">
            <a:avLst/>
          </a:prstGeom>
          <a:noFill/>
        </p:spPr>
        <p:txBody>
          <a:bodyPr wrap="square" rtlCol="0">
            <a:spAutoFit/>
          </a:bodyPr>
          <a:lstStyle/>
          <a:p>
            <a:r>
              <a:rPr lang="en-US" altLang="zh-TW" sz="3600" b="1" dirty="0">
                <a:solidFill>
                  <a:schemeClr val="bg1"/>
                </a:solidFill>
              </a:rPr>
              <a:t>CHAPTER</a:t>
            </a:r>
            <a:r>
              <a:rPr lang="zh-TW" altLang="en-US" sz="3600" b="1" dirty="0">
                <a:solidFill>
                  <a:schemeClr val="bg1"/>
                </a:solidFill>
              </a:rPr>
              <a:t> </a:t>
            </a:r>
            <a:r>
              <a:rPr lang="en-US" altLang="zh-TW" sz="5400" b="1" dirty="0">
                <a:solidFill>
                  <a:schemeClr val="accent6">
                    <a:lumMod val="50000"/>
                  </a:schemeClr>
                </a:solidFill>
              </a:rPr>
              <a:t>03</a:t>
            </a:r>
            <a:endParaRPr lang="zh-TW" altLang="en-US" sz="5400" b="1" dirty="0">
              <a:solidFill>
                <a:schemeClr val="accent6">
                  <a:lumMod val="50000"/>
                </a:schemeClr>
              </a:solidFill>
            </a:endParaRPr>
          </a:p>
        </p:txBody>
      </p:sp>
    </p:spTree>
    <p:extLst>
      <p:ext uri="{BB962C8B-B14F-4D97-AF65-F5344CB8AC3E}">
        <p14:creationId xmlns:p14="http://schemas.microsoft.com/office/powerpoint/2010/main" val="1508819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728700"/>
            <a:ext cx="8229600" cy="763154"/>
          </a:xfrm>
        </p:spPr>
        <p:txBody>
          <a:bodyPr>
            <a:normAutofit/>
          </a:bodyPr>
          <a:lstStyle>
            <a:lvl1pPr>
              <a:defRPr sz="3200" b="1">
                <a:solidFill>
                  <a:srgbClr val="C00000"/>
                </a:solidFill>
                <a:latin typeface="微軟正黑體" pitchFamily="34" charset="-120"/>
                <a:ea typeface="微軟正黑體" pitchFamily="34" charset="-120"/>
              </a:defRPr>
            </a:lvl1pPr>
          </a:lstStyle>
          <a:p>
            <a:r>
              <a:rPr lang="zh-TW" altLang="en-US" dirty="0"/>
              <a:t>按一下以編輯母片標題樣式</a:t>
            </a:r>
          </a:p>
        </p:txBody>
      </p:sp>
      <p:sp>
        <p:nvSpPr>
          <p:cNvPr id="3" name="內容版面配置區 2"/>
          <p:cNvSpPr>
            <a:spLocks noGrp="1"/>
          </p:cNvSpPr>
          <p:nvPr>
            <p:ph idx="1"/>
          </p:nvPr>
        </p:nvSpPr>
        <p:spPr>
          <a:xfrm>
            <a:off x="457200" y="1660399"/>
            <a:ext cx="8229600" cy="2934224"/>
          </a:xfrm>
        </p:spPr>
        <p:txBody>
          <a:bodyPr/>
          <a:lstStyle>
            <a:lvl1pPr marL="457200" indent="-457200">
              <a:lnSpc>
                <a:spcPct val="120000"/>
              </a:lnSpc>
              <a:spcBef>
                <a:spcPts val="800"/>
              </a:spcBef>
              <a:buFontTx/>
              <a:buBlip>
                <a:blip r:embed="rId2"/>
              </a:buBlip>
              <a:defRPr sz="2800" b="1">
                <a:latin typeface="微軟正黑體" pitchFamily="34" charset="-120"/>
                <a:ea typeface="微軟正黑體" pitchFamily="34" charset="-120"/>
              </a:defRPr>
            </a:lvl1pPr>
            <a:lvl2pPr marL="914400" indent="-457200">
              <a:lnSpc>
                <a:spcPct val="120000"/>
              </a:lnSpc>
              <a:spcBef>
                <a:spcPts val="800"/>
              </a:spcBef>
              <a:buClr>
                <a:schemeClr val="tx2"/>
              </a:buClr>
              <a:buFont typeface="Wingdings 3" panose="05040102010807070707" pitchFamily="18" charset="2"/>
              <a:buChar char=""/>
              <a:defRPr sz="2400" b="1">
                <a:latin typeface="微軟正黑體" pitchFamily="34" charset="-120"/>
                <a:ea typeface="微軟正黑體" pitchFamily="34" charset="-120"/>
              </a:defRPr>
            </a:lvl2pPr>
            <a:lvl3pPr marL="1257300" indent="-342900">
              <a:lnSpc>
                <a:spcPct val="120000"/>
              </a:lnSpc>
              <a:spcBef>
                <a:spcPts val="800"/>
              </a:spcBef>
              <a:buClr>
                <a:schemeClr val="accent1"/>
              </a:buClr>
              <a:buFont typeface="微軟正黑體" panose="020B0604030504040204" pitchFamily="34" charset="-120"/>
              <a:buChar char="■"/>
              <a:defRPr sz="2000" b="1">
                <a:latin typeface="微軟正黑體" pitchFamily="34" charset="-120"/>
                <a:ea typeface="微軟正黑體" pitchFamily="34" charset="-120"/>
              </a:defRPr>
            </a:lvl3pPr>
            <a:lvl4pPr marL="1371600" indent="0">
              <a:lnSpc>
                <a:spcPct val="120000"/>
              </a:lnSpc>
              <a:spcBef>
                <a:spcPts val="800"/>
              </a:spcBef>
              <a:buNone/>
              <a:defRPr b="1">
                <a:latin typeface="微軟正黑體" pitchFamily="34" charset="-120"/>
                <a:ea typeface="微軟正黑體" pitchFamily="34" charset="-120"/>
              </a:defRPr>
            </a:lvl4pPr>
            <a:lvl5pPr marL="1828800" indent="0">
              <a:lnSpc>
                <a:spcPct val="120000"/>
              </a:lnSpc>
              <a:spcBef>
                <a:spcPts val="800"/>
              </a:spcBef>
              <a:buNone/>
              <a:defRPr b="1">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4" name="群組 3"/>
          <p:cNvGrpSpPr/>
          <p:nvPr userDrawn="1"/>
        </p:nvGrpSpPr>
        <p:grpSpPr>
          <a:xfrm>
            <a:off x="0" y="-2155"/>
            <a:ext cx="9198259" cy="624173"/>
            <a:chOff x="0" y="-2155"/>
            <a:chExt cx="9198259" cy="624173"/>
          </a:xfrm>
        </p:grpSpPr>
        <p:grpSp>
          <p:nvGrpSpPr>
            <p:cNvPr id="21" name="群組 20"/>
            <p:cNvGrpSpPr/>
            <p:nvPr userDrawn="1"/>
          </p:nvGrpSpPr>
          <p:grpSpPr>
            <a:xfrm>
              <a:off x="0" y="-2155"/>
              <a:ext cx="9144000" cy="547200"/>
              <a:chOff x="0" y="0"/>
              <a:chExt cx="9144000" cy="547200"/>
            </a:xfrm>
          </p:grpSpPr>
          <p:sp>
            <p:nvSpPr>
              <p:cNvPr id="22" name="矩形 21"/>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3" name="Picture 4" descr="D:\製作中\02再版書\0558909\章首頁\computer.png"/>
              <p:cNvPicPr>
                <a:picLocks noChangeAspect="1" noChangeArrowheads="1"/>
              </p:cNvPicPr>
              <p:nvPr userDrawn="1"/>
            </p:nvPicPr>
            <p:blipFill>
              <a:blip r:embed="rId3"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4" name="矩形 23"/>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5" name="矩形 24"/>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25"/>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矩形 26"/>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8" name="文字方塊 27"/>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03   </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1691305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標題及物件">
    <p:spTree>
      <p:nvGrpSpPr>
        <p:cNvPr id="1" name=""/>
        <p:cNvGrpSpPr/>
        <p:nvPr/>
      </p:nvGrpSpPr>
      <p:grpSpPr>
        <a:xfrm>
          <a:off x="0" y="0"/>
          <a:ext cx="0" cy="0"/>
          <a:chOff x="0" y="0"/>
          <a:chExt cx="0" cy="0"/>
        </a:xfrm>
      </p:grpSpPr>
      <p:sp>
        <p:nvSpPr>
          <p:cNvPr id="13" name="內容版面配置區 2"/>
          <p:cNvSpPr>
            <a:spLocks noGrp="1"/>
          </p:cNvSpPr>
          <p:nvPr>
            <p:ph idx="1"/>
          </p:nvPr>
        </p:nvSpPr>
        <p:spPr>
          <a:xfrm>
            <a:off x="457200" y="884063"/>
            <a:ext cx="8229600" cy="3710560"/>
          </a:xfrm>
        </p:spPr>
        <p:txBody>
          <a:bodyPr/>
          <a:lstStyle>
            <a:lvl1pPr marL="0" indent="0">
              <a:buNone/>
              <a:defRPr lang="zh-TW" altLang="en-US" sz="2800" b="1" kern="1200" dirty="0" smtClean="0">
                <a:solidFill>
                  <a:schemeClr val="tx1"/>
                </a:solidFill>
                <a:latin typeface="微軟正黑體" pitchFamily="34" charset="-120"/>
                <a:ea typeface="微軟正黑體" pitchFamily="34" charset="-120"/>
                <a:cs typeface="+mn-cs"/>
              </a:defRPr>
            </a:lvl1pPr>
            <a:lvl2pPr marL="914400" indent="-457200">
              <a:buClr>
                <a:schemeClr val="tx2"/>
              </a:buClr>
              <a:buFont typeface="Wingdings 3" panose="05040102010807070707" pitchFamily="18" charset="2"/>
              <a:buChar char=""/>
              <a:defRPr sz="2600" b="1">
                <a:latin typeface="微軟正黑體" pitchFamily="34" charset="-120"/>
                <a:ea typeface="微軟正黑體" pitchFamily="34" charset="-120"/>
              </a:defRPr>
            </a:lvl2pPr>
            <a:lvl3pPr marL="1257300" indent="-342900">
              <a:buClr>
                <a:schemeClr val="accent1"/>
              </a:buClr>
              <a:buFont typeface="微軟正黑體" panose="020B0604030504040204" pitchFamily="34" charset="-120"/>
              <a:buChar char="■"/>
              <a:defRPr b="1">
                <a:latin typeface="微軟正黑體" pitchFamily="34" charset="-120"/>
                <a:ea typeface="微軟正黑體" pitchFamily="34" charset="-120"/>
              </a:defRPr>
            </a:lvl3pPr>
            <a:lvl4pPr marL="1371600" indent="0">
              <a:buNone/>
              <a:defRPr b="1">
                <a:latin typeface="微軟正黑體" pitchFamily="34" charset="-120"/>
                <a:ea typeface="微軟正黑體" pitchFamily="34" charset="-120"/>
              </a:defRPr>
            </a:lvl4pPr>
            <a:lvl5pPr marL="1828800" indent="0">
              <a:buNone/>
              <a:defRPr b="1">
                <a:latin typeface="微軟正黑體" pitchFamily="34" charset="-120"/>
                <a:ea typeface="微軟正黑體" pitchFamily="34" charset="-120"/>
              </a:defRPr>
            </a:lvl5pPr>
          </a:lstStyle>
          <a:p>
            <a:pPr marL="457200" lvl="0" indent="-457200" algn="l" defTabSz="914400" rtl="0" eaLnBrk="1" latinLnBrk="0" hangingPunct="1">
              <a:spcBef>
                <a:spcPct val="20000"/>
              </a:spcBef>
              <a:buFontTx/>
              <a:buBlip>
                <a:blip r:embed="rId2"/>
              </a:buBlip>
            </a:pPr>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grpSp>
        <p:nvGrpSpPr>
          <p:cNvPr id="23" name="群組 22"/>
          <p:cNvGrpSpPr/>
          <p:nvPr userDrawn="1"/>
        </p:nvGrpSpPr>
        <p:grpSpPr>
          <a:xfrm>
            <a:off x="0" y="-2155"/>
            <a:ext cx="9144000" cy="547200"/>
            <a:chOff x="0" y="0"/>
            <a:chExt cx="9144000" cy="547200"/>
          </a:xfrm>
        </p:grpSpPr>
        <p:sp>
          <p:nvSpPr>
            <p:cNvPr id="24" name="矩形 23"/>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25" name="Picture 4" descr="D:\製作中\02再版書\0558909\章首頁\computer.png"/>
            <p:cNvPicPr>
              <a:picLocks noChangeAspect="1" noChangeArrowheads="1"/>
            </p:cNvPicPr>
            <p:nvPr userDrawn="1"/>
          </p:nvPicPr>
          <p:blipFill>
            <a:blip r:embed="rId3" cstate="screen">
              <a:extLst>
                <a:ext uri="{BEBA8EAE-BF5A-486C-A8C5-ECC9F3942E4B}">
                  <a14:imgProps xmlns:a14="http://schemas.microsoft.com/office/drawing/2010/main">
                    <a14:imgLayer r:embed="rId4">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6" name="矩形 25"/>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7" name="矩形 26"/>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9" name="矩形 28"/>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0" name="文字方塊 29"/>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03</a:t>
            </a:r>
            <a:endParaRPr lang="zh-TW" altLang="en-US" sz="2200" dirty="0">
              <a:solidFill>
                <a:schemeClr val="accent6">
                  <a:lumMod val="40000"/>
                  <a:lumOff val="60000"/>
                </a:schemeClr>
              </a:solidFill>
            </a:endParaRPr>
          </a:p>
        </p:txBody>
      </p:sp>
    </p:spTree>
    <p:extLst>
      <p:ext uri="{BB962C8B-B14F-4D97-AF65-F5344CB8AC3E}">
        <p14:creationId xmlns:p14="http://schemas.microsoft.com/office/powerpoint/2010/main" val="1415758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1" name="Picture 15"/>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343616" y="722472"/>
            <a:ext cx="2456765" cy="634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3"/>
          <p:cNvPicPr>
            <a:picLocks noChangeAspect="1" noChangeArrowheads="1"/>
          </p:cNvPicPr>
          <p:nvPr userDrawn="1"/>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487232">
            <a:off x="7757944" y="802232"/>
            <a:ext cx="1038226" cy="8001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5" name="群組 4"/>
          <p:cNvGrpSpPr/>
          <p:nvPr userDrawn="1"/>
        </p:nvGrpSpPr>
        <p:grpSpPr>
          <a:xfrm>
            <a:off x="683018" y="771550"/>
            <a:ext cx="1781968" cy="414607"/>
            <a:chOff x="683018" y="1178750"/>
            <a:chExt cx="1781968" cy="414607"/>
          </a:xfrm>
        </p:grpSpPr>
        <p:sp>
          <p:nvSpPr>
            <p:cNvPr id="24" name="橢圓 23"/>
            <p:cNvSpPr/>
            <p:nvPr userDrawn="1"/>
          </p:nvSpPr>
          <p:spPr>
            <a:xfrm>
              <a:off x="683018"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橢圓 24"/>
            <p:cNvSpPr/>
            <p:nvPr userDrawn="1"/>
          </p:nvSpPr>
          <p:spPr>
            <a:xfrm>
              <a:off x="115162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橢圓 25"/>
            <p:cNvSpPr/>
            <p:nvPr userDrawn="1"/>
          </p:nvSpPr>
          <p:spPr>
            <a:xfrm>
              <a:off x="1601670" y="1178750"/>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橢圓 26"/>
            <p:cNvSpPr/>
            <p:nvPr userDrawn="1"/>
          </p:nvSpPr>
          <p:spPr>
            <a:xfrm>
              <a:off x="2051720" y="1180091"/>
              <a:ext cx="413266" cy="4132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3" name="文字方塊 22"/>
          <p:cNvSpPr txBox="1"/>
          <p:nvPr userDrawn="1"/>
        </p:nvSpPr>
        <p:spPr>
          <a:xfrm>
            <a:off x="701570" y="789784"/>
            <a:ext cx="2221692" cy="369332"/>
          </a:xfrm>
          <a:prstGeom prst="rect">
            <a:avLst/>
          </a:prstGeom>
          <a:noFill/>
        </p:spPr>
        <p:txBody>
          <a:bodyPr wrap="square" rtlCol="0">
            <a:spAutoFit/>
          </a:bodyPr>
          <a:lstStyle/>
          <a:p>
            <a:r>
              <a:rPr lang="en-US" altLang="zh-TW" b="1" dirty="0">
                <a:solidFill>
                  <a:srgbClr val="C00000"/>
                </a:solidFill>
                <a:latin typeface="微軟正黑體" pitchFamily="34" charset="-120"/>
                <a:ea typeface="微軟正黑體" pitchFamily="34" charset="-120"/>
              </a:rPr>
              <a:t>IT</a:t>
            </a:r>
            <a:r>
              <a:rPr lang="zh-TW" altLang="en-US" b="1" dirty="0">
                <a:solidFill>
                  <a:srgbClr val="C00000"/>
                </a:solidFill>
                <a:latin typeface="微軟正黑體" pitchFamily="34" charset="-120"/>
                <a:ea typeface="微軟正黑體" pitchFamily="34" charset="-120"/>
              </a:rPr>
              <a:t>　專    家    </a:t>
            </a:r>
            <a:endParaRPr lang="en-US" altLang="zh-TW" b="1" dirty="0">
              <a:solidFill>
                <a:srgbClr val="C00000"/>
              </a:solidFill>
              <a:latin typeface="微軟正黑體" pitchFamily="34" charset="-120"/>
              <a:ea typeface="微軟正黑體" pitchFamily="34" charset="-120"/>
            </a:endParaRPr>
          </a:p>
        </p:txBody>
      </p:sp>
      <p:grpSp>
        <p:nvGrpSpPr>
          <p:cNvPr id="29" name="群組 28"/>
          <p:cNvGrpSpPr/>
          <p:nvPr userDrawn="1"/>
        </p:nvGrpSpPr>
        <p:grpSpPr>
          <a:xfrm>
            <a:off x="0" y="-2155"/>
            <a:ext cx="9144000" cy="547200"/>
            <a:chOff x="0" y="0"/>
            <a:chExt cx="9144000" cy="547200"/>
          </a:xfrm>
        </p:grpSpPr>
        <p:sp>
          <p:nvSpPr>
            <p:cNvPr id="31" name="矩形 30"/>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32"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33" name="矩形 32"/>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34" name="矩形 33"/>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4"/>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矩形 35"/>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7" name="文字方塊 36"/>
          <p:cNvSpPr txBox="1"/>
          <p:nvPr userDrawn="1"/>
        </p:nvSpPr>
        <p:spPr>
          <a:xfrm>
            <a:off x="8073134" y="6465"/>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03</a:t>
            </a:r>
            <a:endParaRPr lang="zh-TW" altLang="en-US" sz="2200" dirty="0">
              <a:solidFill>
                <a:schemeClr val="accent6">
                  <a:lumMod val="40000"/>
                  <a:lumOff val="60000"/>
                </a:schemeClr>
              </a:solidFill>
            </a:endParaRPr>
          </a:p>
        </p:txBody>
      </p:sp>
    </p:spTree>
    <p:extLst>
      <p:ext uri="{BB962C8B-B14F-4D97-AF65-F5344CB8AC3E}">
        <p14:creationId xmlns:p14="http://schemas.microsoft.com/office/powerpoint/2010/main" val="17449559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標題及物件">
    <p:spTree>
      <p:nvGrpSpPr>
        <p:cNvPr id="1" name=""/>
        <p:cNvGrpSpPr/>
        <p:nvPr/>
      </p:nvGrpSpPr>
      <p:grpSpPr>
        <a:xfrm>
          <a:off x="0" y="0"/>
          <a:ext cx="0" cy="0"/>
          <a:chOff x="0" y="0"/>
          <a:chExt cx="0" cy="0"/>
        </a:xfrm>
      </p:grpSpPr>
      <p:sp>
        <p:nvSpPr>
          <p:cNvPr id="2" name="矩形 1"/>
          <p:cNvSpPr/>
          <p:nvPr userDrawn="1"/>
        </p:nvSpPr>
        <p:spPr>
          <a:xfrm>
            <a:off x="3250" y="628578"/>
            <a:ext cx="9144000" cy="3915435"/>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圓角矩形 5"/>
          <p:cNvSpPr/>
          <p:nvPr userDrawn="1"/>
        </p:nvSpPr>
        <p:spPr>
          <a:xfrm>
            <a:off x="269866" y="1255354"/>
            <a:ext cx="8604269" cy="3105345"/>
          </a:xfrm>
          <a:prstGeom prst="round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內容版面配置區 2"/>
          <p:cNvSpPr>
            <a:spLocks noGrp="1"/>
          </p:cNvSpPr>
          <p:nvPr>
            <p:ph idx="1"/>
          </p:nvPr>
        </p:nvSpPr>
        <p:spPr>
          <a:xfrm>
            <a:off x="406096" y="1692374"/>
            <a:ext cx="8229600" cy="2668325"/>
          </a:xfrm>
        </p:spPr>
        <p:txBody>
          <a:bodyPr/>
          <a:lstStyle>
            <a:lvl1pPr marL="0" indent="0">
              <a:lnSpc>
                <a:spcPct val="120000"/>
              </a:lnSpc>
              <a:spcBef>
                <a:spcPts val="800"/>
              </a:spcBef>
              <a:buNone/>
              <a:defRPr sz="2400">
                <a:latin typeface="微軟正黑體" pitchFamily="34" charset="-120"/>
                <a:ea typeface="微軟正黑體" pitchFamily="34" charset="-120"/>
              </a:defRPr>
            </a:lvl1pPr>
            <a:lvl2pPr marL="457200" indent="0">
              <a:lnSpc>
                <a:spcPct val="120000"/>
              </a:lnSpc>
              <a:spcBef>
                <a:spcPts val="800"/>
              </a:spcBef>
              <a:buNone/>
              <a:defRPr sz="2400">
                <a:latin typeface="微軟正黑體" pitchFamily="34" charset="-120"/>
                <a:ea typeface="微軟正黑體" pitchFamily="34" charset="-120"/>
              </a:defRPr>
            </a:lvl2pPr>
            <a:lvl3pPr marL="914400" indent="0">
              <a:lnSpc>
                <a:spcPct val="120000"/>
              </a:lnSpc>
              <a:spcBef>
                <a:spcPts val="800"/>
              </a:spcBef>
              <a:buNone/>
              <a:defRPr>
                <a:latin typeface="微軟正黑體" pitchFamily="34" charset="-120"/>
                <a:ea typeface="微軟正黑體" pitchFamily="34" charset="-120"/>
              </a:defRPr>
            </a:lvl3pPr>
            <a:lvl4pPr marL="1371600" indent="0">
              <a:lnSpc>
                <a:spcPct val="120000"/>
              </a:lnSpc>
              <a:spcBef>
                <a:spcPts val="800"/>
              </a:spcBef>
              <a:buNone/>
              <a:defRPr>
                <a:latin typeface="微軟正黑體" pitchFamily="34" charset="-120"/>
                <a:ea typeface="微軟正黑體" pitchFamily="34" charset="-120"/>
              </a:defRPr>
            </a:lvl4pPr>
            <a:lvl5pPr marL="1828800" indent="0">
              <a:lnSpc>
                <a:spcPct val="120000"/>
              </a:lnSpc>
              <a:spcBef>
                <a:spcPts val="800"/>
              </a:spcBef>
              <a:buNone/>
              <a:defRPr>
                <a:latin typeface="微軟正黑體" pitchFamily="34" charset="-120"/>
                <a:ea typeface="微軟正黑體" pitchFamily="34" charset="-120"/>
              </a:defRPr>
            </a:lvl5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pic>
        <p:nvPicPr>
          <p:cNvPr id="24" name="Picture 14"/>
          <p:cNvPicPr>
            <a:picLocks noChangeAspect="1" noChangeArrowheads="1"/>
          </p:cNvPicPr>
          <p:nvPr userDrawn="1"/>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8096036" y="851302"/>
            <a:ext cx="616424" cy="765559"/>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descr="D:\製作中\02再版書\0558909\資訊小耳朵 圖.png"/>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364973" y="636535"/>
            <a:ext cx="3836948" cy="1080120"/>
          </a:xfrm>
          <a:prstGeom prst="rect">
            <a:avLst/>
          </a:prstGeom>
          <a:noFill/>
          <a:extLst>
            <a:ext uri="{909E8E84-426E-40DD-AFC4-6F175D3DCCD1}">
              <a14:hiddenFill xmlns:a14="http://schemas.microsoft.com/office/drawing/2010/main">
                <a:solidFill>
                  <a:srgbClr val="FFFFFF"/>
                </a:solidFill>
              </a14:hiddenFill>
            </a:ext>
          </a:extLst>
        </p:spPr>
      </p:pic>
      <p:sp>
        <p:nvSpPr>
          <p:cNvPr id="26" name="文字方塊 25"/>
          <p:cNvSpPr txBox="1"/>
          <p:nvPr userDrawn="1"/>
        </p:nvSpPr>
        <p:spPr>
          <a:xfrm>
            <a:off x="607663" y="1254990"/>
            <a:ext cx="2794207" cy="461665"/>
          </a:xfrm>
          <a:prstGeom prst="rect">
            <a:avLst/>
          </a:prstGeom>
          <a:noFill/>
        </p:spPr>
        <p:txBody>
          <a:bodyPr wrap="square" rtlCol="0">
            <a:spAutoFit/>
          </a:bodyPr>
          <a:lstStyle/>
          <a:p>
            <a:r>
              <a:rPr lang="zh-TW" altLang="en-US" sz="2400" b="1" dirty="0">
                <a:solidFill>
                  <a:srgbClr val="C00000"/>
                </a:solidFill>
                <a:latin typeface="微軟正黑體" pitchFamily="34" charset="-120"/>
                <a:ea typeface="微軟正黑體" pitchFamily="34" charset="-120"/>
              </a:rPr>
              <a:t>資    訊    專    欄</a:t>
            </a:r>
            <a:endParaRPr lang="en-US" altLang="zh-TW" sz="2400" b="1" dirty="0">
              <a:solidFill>
                <a:srgbClr val="C00000"/>
              </a:solidFill>
              <a:latin typeface="微軟正黑體" pitchFamily="34" charset="-120"/>
              <a:ea typeface="微軟正黑體" pitchFamily="34" charset="-120"/>
            </a:endParaRPr>
          </a:p>
        </p:txBody>
      </p:sp>
      <p:grpSp>
        <p:nvGrpSpPr>
          <p:cNvPr id="3" name="群組 2"/>
          <p:cNvGrpSpPr/>
          <p:nvPr userDrawn="1"/>
        </p:nvGrpSpPr>
        <p:grpSpPr>
          <a:xfrm>
            <a:off x="0" y="-38540"/>
            <a:ext cx="9198259" cy="615553"/>
            <a:chOff x="0" y="-38540"/>
            <a:chExt cx="9198259" cy="615553"/>
          </a:xfrm>
        </p:grpSpPr>
        <p:grpSp>
          <p:nvGrpSpPr>
            <p:cNvPr id="16" name="群組 15"/>
            <p:cNvGrpSpPr/>
            <p:nvPr userDrawn="1"/>
          </p:nvGrpSpPr>
          <p:grpSpPr>
            <a:xfrm>
              <a:off x="0" y="-2155"/>
              <a:ext cx="9144000" cy="547200"/>
              <a:chOff x="0" y="0"/>
              <a:chExt cx="9144000" cy="547200"/>
            </a:xfrm>
          </p:grpSpPr>
          <p:sp>
            <p:nvSpPr>
              <p:cNvPr id="17" name="矩形 16"/>
              <p:cNvSpPr/>
              <p:nvPr userDrawn="1"/>
            </p:nvSpPr>
            <p:spPr>
              <a:xfrm>
                <a:off x="0" y="0"/>
                <a:ext cx="9144000" cy="547200"/>
              </a:xfrm>
              <a:prstGeom prst="rect">
                <a:avLst/>
              </a:prstGeom>
              <a:solidFill>
                <a:schemeClr val="accent6">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p>
            </p:txBody>
          </p:sp>
          <p:pic>
            <p:nvPicPr>
              <p:cNvPr id="18" name="Picture 4" descr="D:\製作中\02再版書\0558909\章首頁\computer.png"/>
              <p:cNvPicPr>
                <a:picLocks noChangeAspect="1" noChangeArrowheads="1"/>
              </p:cNvPicPr>
              <p:nvPr userDrawn="1"/>
            </p:nvPicPr>
            <p:blipFill>
              <a:blip r:embed="rId4" cstate="screen">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a:ext>
                </a:extLst>
              </a:blip>
              <a:srcRect/>
              <a:stretch>
                <a:fillRect/>
              </a:stretch>
            </p:blipFill>
            <p:spPr bwMode="auto">
              <a:xfrm>
                <a:off x="512885" y="73854"/>
                <a:ext cx="323700" cy="42120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20" name="矩形 19"/>
              <p:cNvSpPr/>
              <p:nvPr userDrawn="1"/>
            </p:nvSpPr>
            <p:spPr>
              <a:xfrm>
                <a:off x="906573" y="88934"/>
                <a:ext cx="3665427" cy="369332"/>
              </a:xfrm>
              <a:prstGeom prst="rect">
                <a:avLst/>
              </a:prstGeom>
            </p:spPr>
            <p:txBody>
              <a:bodyPr wrap="none">
                <a:spAutoFit/>
              </a:bodyPr>
              <a:lstStyle/>
              <a:p>
                <a:r>
                  <a:rPr lang="en-US" altLang="zh-TW" sz="1800" b="0" i="0" u="none" strike="noStrike" kern="1200" baseline="0" dirty="0">
                    <a:solidFill>
                      <a:schemeClr val="accent6">
                        <a:lumMod val="40000"/>
                        <a:lumOff val="60000"/>
                      </a:schemeClr>
                    </a:solidFill>
                    <a:latin typeface="+mn-lt"/>
                    <a:ea typeface="+mn-ea"/>
                    <a:cs typeface="+mn-cs"/>
                  </a:rPr>
                  <a:t>An Introduction to Computer Science</a:t>
                </a:r>
                <a:endParaRPr lang="zh-TW" altLang="en-US" dirty="0">
                  <a:solidFill>
                    <a:schemeClr val="accent6">
                      <a:lumMod val="40000"/>
                      <a:lumOff val="60000"/>
                    </a:schemeClr>
                  </a:solidFill>
                </a:endParaRPr>
              </a:p>
            </p:txBody>
          </p:sp>
          <p:sp>
            <p:nvSpPr>
              <p:cNvPr id="21" name="矩形 20"/>
              <p:cNvSpPr/>
              <p:nvPr userDrawn="1"/>
            </p:nvSpPr>
            <p:spPr>
              <a:xfrm>
                <a:off x="8127395" y="0"/>
                <a:ext cx="1016605" cy="5472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矩形 21"/>
              <p:cNvSpPr/>
              <p:nvPr userDrawn="1"/>
            </p:nvSpPr>
            <p:spPr>
              <a:xfrm>
                <a:off x="7812360" y="2786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矩形 22"/>
              <p:cNvSpPr/>
              <p:nvPr userDrawn="1"/>
            </p:nvSpPr>
            <p:spPr>
              <a:xfrm>
                <a:off x="7709934" y="379450"/>
                <a:ext cx="100800" cy="1008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27" name="文字方塊 26"/>
            <p:cNvSpPr txBox="1"/>
            <p:nvPr userDrawn="1"/>
          </p:nvSpPr>
          <p:spPr>
            <a:xfrm>
              <a:off x="8073134" y="-38540"/>
              <a:ext cx="1125125" cy="615553"/>
            </a:xfrm>
            <a:prstGeom prst="rect">
              <a:avLst/>
            </a:prstGeom>
            <a:noFill/>
          </p:spPr>
          <p:txBody>
            <a:bodyPr wrap="square" rtlCol="0">
              <a:spAutoFit/>
            </a:bodyPr>
            <a:lstStyle/>
            <a:p>
              <a:pPr algn="ctr"/>
              <a:r>
                <a:rPr lang="en-US" altLang="zh-TW" sz="1200" dirty="0">
                  <a:solidFill>
                    <a:schemeClr val="accent6">
                      <a:lumMod val="40000"/>
                      <a:lumOff val="60000"/>
                    </a:schemeClr>
                  </a:solidFill>
                </a:rPr>
                <a:t>Chapter</a:t>
              </a:r>
            </a:p>
            <a:p>
              <a:pPr algn="ctr"/>
              <a:r>
                <a:rPr lang="en-US" altLang="zh-TW" sz="2200" dirty="0">
                  <a:solidFill>
                    <a:schemeClr val="accent6">
                      <a:lumMod val="40000"/>
                      <a:lumOff val="60000"/>
                    </a:schemeClr>
                  </a:solidFill>
                </a:rPr>
                <a:t>03</a:t>
              </a:r>
              <a:endParaRPr lang="zh-TW" altLang="en-US" sz="2200" dirty="0">
                <a:solidFill>
                  <a:schemeClr val="accent6">
                    <a:lumMod val="40000"/>
                    <a:lumOff val="60000"/>
                  </a:schemeClr>
                </a:solidFill>
              </a:endParaRPr>
            </a:p>
          </p:txBody>
        </p:sp>
      </p:grpSp>
    </p:spTree>
    <p:extLst>
      <p:ext uri="{BB962C8B-B14F-4D97-AF65-F5344CB8AC3E}">
        <p14:creationId xmlns:p14="http://schemas.microsoft.com/office/powerpoint/2010/main" val="1541923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6"/>
            <a:ext cx="7772400" cy="1021556"/>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Tree>
    <p:extLst>
      <p:ext uri="{BB962C8B-B14F-4D97-AF65-F5344CB8AC3E}">
        <p14:creationId xmlns:p14="http://schemas.microsoft.com/office/powerpoint/2010/main" val="2718750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14432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27905871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Tree>
    <p:extLst>
      <p:ext uri="{BB962C8B-B14F-4D97-AF65-F5344CB8AC3E}">
        <p14:creationId xmlns:p14="http://schemas.microsoft.com/office/powerpoint/2010/main" val="12524244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91000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1" y="204787"/>
            <a:ext cx="3008313" cy="871538"/>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t>‹#›</a:t>
            </a:fld>
            <a:endParaRPr lang="zh-TW" altLang="en-US"/>
          </a:p>
        </p:txBody>
      </p:sp>
    </p:spTree>
    <p:extLst>
      <p:ext uri="{BB962C8B-B14F-4D97-AF65-F5344CB8AC3E}">
        <p14:creationId xmlns:p14="http://schemas.microsoft.com/office/powerpoint/2010/main" val="32489997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6" name="頁尾版面配置區 5"/>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7" name="投影片編號版面配置區 6"/>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t>‹#›</a:t>
            </a:fld>
            <a:endParaRPr lang="zh-TW" altLang="en-US"/>
          </a:p>
        </p:txBody>
      </p:sp>
    </p:spTree>
    <p:extLst>
      <p:ext uri="{BB962C8B-B14F-4D97-AF65-F5344CB8AC3E}">
        <p14:creationId xmlns:p14="http://schemas.microsoft.com/office/powerpoint/2010/main" val="12122089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a:xfrm>
            <a:off x="457200" y="4767263"/>
            <a:ext cx="2133600" cy="273844"/>
          </a:xfrm>
          <a:prstGeom prst="rect">
            <a:avLst/>
          </a:prstGeom>
        </p:spPr>
        <p:txBody>
          <a:bodyPr/>
          <a:lstStyle/>
          <a:p>
            <a:endParaRPr lang="zh-TW" altLang="en-US"/>
          </a:p>
        </p:txBody>
      </p:sp>
      <p:sp>
        <p:nvSpPr>
          <p:cNvPr id="5" name="頁尾版面配置區 4"/>
          <p:cNvSpPr>
            <a:spLocks noGrp="1"/>
          </p:cNvSpPr>
          <p:nvPr>
            <p:ph type="ftr" sz="quarter" idx="11"/>
          </p:nvPr>
        </p:nvSpPr>
        <p:spPr>
          <a:xfrm>
            <a:off x="3124200" y="4767263"/>
            <a:ext cx="2895600" cy="273844"/>
          </a:xfrm>
          <a:prstGeom prst="rect">
            <a:avLst/>
          </a:prstGeom>
        </p:spPr>
        <p:txBody>
          <a:bodyPr/>
          <a:lstStyle/>
          <a:p>
            <a:endParaRPr lang="zh-TW" altLang="en-US"/>
          </a:p>
        </p:txBody>
      </p:sp>
      <p:sp>
        <p:nvSpPr>
          <p:cNvPr id="6" name="投影片編號版面配置區 5"/>
          <p:cNvSpPr>
            <a:spLocks noGrp="1"/>
          </p:cNvSpPr>
          <p:nvPr>
            <p:ph type="sldNum" sz="quarter" idx="12"/>
          </p:nvPr>
        </p:nvSpPr>
        <p:spPr>
          <a:xfrm>
            <a:off x="6553200" y="4767263"/>
            <a:ext cx="2133600" cy="273844"/>
          </a:xfrm>
          <a:prstGeom prst="rect">
            <a:avLst/>
          </a:prstGeom>
        </p:spPr>
        <p:txBody>
          <a:bodyPr/>
          <a:lstStyle/>
          <a:p>
            <a:fld id="{2DAD8F38-8795-4DFA-8634-4D84CBE67FB3}" type="slidenum">
              <a:rPr lang="zh-TW" altLang="en-US" smtClean="0"/>
              <a:t>‹#›</a:t>
            </a:fld>
            <a:endParaRPr lang="zh-TW" altLang="en-US"/>
          </a:p>
        </p:txBody>
      </p:sp>
    </p:spTree>
    <p:extLst>
      <p:ext uri="{BB962C8B-B14F-4D97-AF65-F5344CB8AC3E}">
        <p14:creationId xmlns:p14="http://schemas.microsoft.com/office/powerpoint/2010/main" val="14663518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05979"/>
            <a:ext cx="2057400" cy="4388644"/>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05979"/>
            <a:ext cx="6019800" cy="4388644"/>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7528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 name="群組 3"/>
          <p:cNvGrpSpPr/>
          <p:nvPr userDrawn="1"/>
        </p:nvGrpSpPr>
        <p:grpSpPr>
          <a:xfrm>
            <a:off x="161510" y="4616267"/>
            <a:ext cx="8691420" cy="450050"/>
            <a:chOff x="161510" y="4616267"/>
            <a:chExt cx="8691420" cy="450050"/>
          </a:xfrm>
        </p:grpSpPr>
        <p:sp>
          <p:nvSpPr>
            <p:cNvPr id="18" name="橢圓 17"/>
            <p:cNvSpPr/>
            <p:nvPr userDrawn="1"/>
          </p:nvSpPr>
          <p:spPr>
            <a:xfrm>
              <a:off x="161510" y="4616267"/>
              <a:ext cx="450050" cy="450050"/>
            </a:xfrm>
            <a:prstGeom prst="ellipse">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橢圓 18"/>
            <p:cNvSpPr/>
            <p:nvPr userDrawn="1"/>
          </p:nvSpPr>
          <p:spPr>
            <a:xfrm>
              <a:off x="296525" y="4616267"/>
              <a:ext cx="450050" cy="450050"/>
            </a:xfrm>
            <a:prstGeom prst="ellipse">
              <a:avLst/>
            </a:prstGeom>
            <a:solidFill>
              <a:schemeClr val="accent6">
                <a:lumMod val="60000"/>
                <a:lumOff val="40000"/>
                <a:alpha val="50196"/>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0" name="Picture 2" descr="D:\桌面\logo.png"/>
            <p:cNvPicPr>
              <a:picLocks noChangeAspect="1" noChangeArrowheads="1"/>
            </p:cNvPicPr>
            <p:nvPr userDrawn="1"/>
          </p:nvPicPr>
          <p:blipFill>
            <a:blip r:embed="rId16" cstate="screen">
              <a:extLst>
                <a:ext uri="{28A0092B-C50C-407E-A947-70E740481C1C}">
                  <a14:useLocalDpi xmlns:a14="http://schemas.microsoft.com/office/drawing/2010/main"/>
                </a:ext>
              </a:extLst>
            </a:blip>
            <a:srcRect/>
            <a:stretch>
              <a:fillRect/>
            </a:stretch>
          </p:blipFill>
          <p:spPr bwMode="auto">
            <a:xfrm>
              <a:off x="926595" y="4777015"/>
              <a:ext cx="610257" cy="180000"/>
            </a:xfrm>
            <a:prstGeom prst="rect">
              <a:avLst/>
            </a:prstGeom>
            <a:noFill/>
            <a:extLst>
              <a:ext uri="{909E8E84-426E-40DD-AFC4-6F175D3DCCD1}">
                <a14:hiddenFill xmlns:a14="http://schemas.microsoft.com/office/drawing/2010/main">
                  <a:solidFill>
                    <a:srgbClr val="FFFFFF"/>
                  </a:solidFill>
                </a14:hiddenFill>
              </a:ext>
            </a:extLst>
          </p:spPr>
        </p:pic>
        <p:sp>
          <p:nvSpPr>
            <p:cNvPr id="21" name="動作按鈕: 上一項 20">
              <a:hlinkClick r:id="" action="ppaction://hlinkshowjump?jump=previousslide" highlightClick="1"/>
            </p:cNvPr>
            <p:cNvSpPr/>
            <p:nvPr userDrawn="1"/>
          </p:nvSpPr>
          <p:spPr>
            <a:xfrm>
              <a:off x="7452320" y="4693068"/>
              <a:ext cx="360000" cy="360000"/>
            </a:xfrm>
            <a:prstGeom prst="actionButtonBackPrevious">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動作按鈕: 首頁 21">
              <a:hlinkClick r:id="" action="ppaction://hlinkshowjump?jump=firstslide" highlightClick="1"/>
            </p:cNvPr>
            <p:cNvSpPr/>
            <p:nvPr userDrawn="1"/>
          </p:nvSpPr>
          <p:spPr>
            <a:xfrm>
              <a:off x="7992380" y="4693068"/>
              <a:ext cx="360000" cy="360000"/>
            </a:xfrm>
            <a:prstGeom prst="actionButtonHome">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動作按鈕: 下一項 22">
              <a:hlinkClick r:id="" action="ppaction://hlinkshowjump?jump=nextslide" highlightClick="1"/>
            </p:cNvPr>
            <p:cNvSpPr/>
            <p:nvPr userDrawn="1"/>
          </p:nvSpPr>
          <p:spPr>
            <a:xfrm>
              <a:off x="8492930" y="4692179"/>
              <a:ext cx="360000" cy="360000"/>
            </a:xfrm>
            <a:prstGeom prst="actionButtonForwardNext">
              <a:avLst/>
            </a:prstGeom>
            <a:solidFill>
              <a:schemeClr val="accent6">
                <a:lumMod val="60000"/>
                <a:lumOff val="40000"/>
              </a:schemeClr>
            </a:solidFill>
            <a:ln>
              <a:noFill/>
            </a:ln>
            <a:effectLst>
              <a:reflection blurRad="6350" stA="50000" endA="300" endPos="90000" dir="5400000" sy="-100000" algn="bl" rotWithShape="0"/>
            </a:effectLst>
            <a:scene3d>
              <a:camera prst="obliqueBottomRight"/>
              <a:lightRig rig="threePt" dir="t"/>
            </a:scene3d>
            <a:sp3d>
              <a:bevelT w="25400" h="25400"/>
              <a:bevelB w="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
        <p:nvSpPr>
          <p:cNvPr id="3" name="文字版面配置區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2" name="標題版面配置區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TW" altLang="en-US" dirty="0"/>
              <a:t>按一下以編輯母片標題樣式</a:t>
            </a:r>
          </a:p>
        </p:txBody>
      </p:sp>
      <p:sp>
        <p:nvSpPr>
          <p:cNvPr id="26" name="文字方塊 25"/>
          <p:cNvSpPr txBox="1"/>
          <p:nvPr userDrawn="1"/>
        </p:nvSpPr>
        <p:spPr>
          <a:xfrm>
            <a:off x="251521" y="4694752"/>
            <a:ext cx="585065" cy="369332"/>
          </a:xfrm>
          <a:prstGeom prst="rect">
            <a:avLst/>
          </a:prstGeom>
          <a:noFill/>
        </p:spPr>
        <p:txBody>
          <a:bodyPr wrap="square" rtlCol="0">
            <a:spAutoFit/>
          </a:bodyPr>
          <a:lstStyle/>
          <a:p>
            <a:fld id="{8B089E88-AE65-4CA2-BA11-4B6DC14C3389}" type="slidenum">
              <a:rPr lang="zh-TW" altLang="en-US" smtClean="0">
                <a:solidFill>
                  <a:schemeClr val="bg1"/>
                </a:solidFill>
              </a:rPr>
              <a:t>‹#›</a:t>
            </a:fld>
            <a:endParaRPr lang="zh-TW" altLang="en-US" dirty="0">
              <a:solidFill>
                <a:schemeClr val="bg1"/>
              </a:solidFill>
            </a:endParaRPr>
          </a:p>
        </p:txBody>
      </p:sp>
    </p:spTree>
    <p:extLst>
      <p:ext uri="{BB962C8B-B14F-4D97-AF65-F5344CB8AC3E}">
        <p14:creationId xmlns:p14="http://schemas.microsoft.com/office/powerpoint/2010/main" val="1289035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3" r:id="rId4"/>
    <p:sldLayoutId id="2147483662"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ctr" defTabSz="914400" rtl="0" eaLnBrk="1" latinLnBrk="0" hangingPunct="1">
        <a:spcBef>
          <a:spcPct val="0"/>
        </a:spcBef>
        <a:buNone/>
        <a:defRPr sz="4400" b="1" kern="1200">
          <a:solidFill>
            <a:schemeClr val="tx1"/>
          </a:solidFill>
          <a:latin typeface="微軟正黑體" pitchFamily="34" charset="-120"/>
          <a:ea typeface="微軟正黑體" pitchFamily="34" charset="-120"/>
          <a:cs typeface="+mj-cs"/>
        </a:defRPr>
      </a:lvl1pPr>
    </p:titleStyle>
    <p:body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sz="2800" b="1" kern="1200">
          <a:solidFill>
            <a:schemeClr val="tx1"/>
          </a:solidFill>
          <a:latin typeface="微軟正黑體" pitchFamily="34" charset="-120"/>
          <a:ea typeface="微軟正黑體" pitchFamily="34" charset="-120"/>
          <a:cs typeface="+mn-cs"/>
        </a:defRPr>
      </a:lvl1pPr>
      <a:lvl2pPr marL="742950" indent="-285750" algn="l" defTabSz="914400" rtl="0" eaLnBrk="1" latinLnBrk="0" hangingPunct="1">
        <a:spcBef>
          <a:spcPct val="20000"/>
        </a:spcBef>
        <a:buClr>
          <a:schemeClr val="tx2"/>
        </a:buClr>
        <a:buFont typeface="Wingdings 3" panose="05040102010807070707" pitchFamily="18" charset="2"/>
        <a:buChar char=""/>
        <a:defRPr sz="2600" b="1" kern="1200">
          <a:solidFill>
            <a:schemeClr val="tx1"/>
          </a:solidFill>
          <a:latin typeface="微軟正黑體" pitchFamily="34" charset="-120"/>
          <a:ea typeface="微軟正黑體" pitchFamily="34" charset="-120"/>
          <a:cs typeface="+mn-cs"/>
        </a:defRPr>
      </a:lvl2pPr>
      <a:lvl3pPr marL="1257300" indent="-342900" algn="l" defTabSz="914400" rtl="0" eaLnBrk="1" latinLnBrk="0" hangingPunct="1">
        <a:spcBef>
          <a:spcPct val="20000"/>
        </a:spcBef>
        <a:buClr>
          <a:schemeClr val="accent1"/>
        </a:buClr>
        <a:buFont typeface="微軟正黑體" panose="020B0604030504040204" pitchFamily="34" charset="-120"/>
        <a:buChar char="■"/>
        <a:defRPr sz="2400" b="1" kern="1200">
          <a:solidFill>
            <a:schemeClr val="tx1"/>
          </a:solidFill>
          <a:latin typeface="微軟正黑體" pitchFamily="34" charset="-120"/>
          <a:ea typeface="微軟正黑體" pitchFamily="34" charset="-120"/>
          <a:cs typeface="+mn-cs"/>
        </a:defRPr>
      </a:lvl3pPr>
      <a:lvl4pPr marL="1600200" indent="-228600" algn="l" defTabSz="914400" rtl="0" eaLnBrk="1" latinLnBrk="0" hangingPunct="1">
        <a:spcBef>
          <a:spcPct val="20000"/>
        </a:spcBef>
        <a:buFont typeface="Arial" pitchFamily="34" charset="0"/>
        <a:buChar char="–"/>
        <a:defRPr sz="2000" b="1" kern="1200">
          <a:solidFill>
            <a:schemeClr val="tx1"/>
          </a:solidFill>
          <a:latin typeface="微軟正黑體" pitchFamily="34" charset="-120"/>
          <a:ea typeface="微軟正黑體" pitchFamily="34" charset="-120"/>
          <a:cs typeface="+mn-cs"/>
        </a:defRPr>
      </a:lvl4pPr>
      <a:lvl5pPr marL="2057400" indent="-228600" algn="l" defTabSz="914400" rtl="0" eaLnBrk="1" latinLnBrk="0" hangingPunct="1">
        <a:spcBef>
          <a:spcPct val="20000"/>
        </a:spcBef>
        <a:buFont typeface="Arial" pitchFamily="34" charset="0"/>
        <a:buChar char="»"/>
        <a:defRPr sz="2000" b="1" kern="1200">
          <a:solidFill>
            <a:schemeClr val="tx1"/>
          </a:solidFill>
          <a:latin typeface="微軟正黑體" pitchFamily="34" charset="-120"/>
          <a:ea typeface="微軟正黑體" pitchFamily="34" charset="-12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slide" Target="slide13.xml"/><Relationship Id="rId7" Type="http://schemas.openxmlformats.org/officeDocument/2006/relationships/slide" Target="slide66.xml"/><Relationship Id="rId2"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slide" Target="slide55.xml"/><Relationship Id="rId5" Type="http://schemas.openxmlformats.org/officeDocument/2006/relationships/slide" Target="slide48.xml"/><Relationship Id="rId4" Type="http://schemas.openxmlformats.org/officeDocument/2006/relationships/slide" Target="slide3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jpeg"/><Relationship Id="rId2" Type="http://schemas.openxmlformats.org/officeDocument/2006/relationships/image" Target="../media/image10.png"/><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diagramLayout" Target="../diagrams/layout1.xml"/><Relationship Id="rId7" Type="http://schemas.openxmlformats.org/officeDocument/2006/relationships/image" Target="../media/image16.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7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4" Type="http://schemas.openxmlformats.org/officeDocument/2006/relationships/image" Target="../media/image38.emf"/></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9" name="直線接點 28"/>
          <p:cNvCxnSpPr/>
          <p:nvPr/>
        </p:nvCxnSpPr>
        <p:spPr>
          <a:xfrm>
            <a:off x="3157953" y="1507862"/>
            <a:ext cx="5779532" cy="0"/>
          </a:xfrm>
          <a:prstGeom prst="line">
            <a:avLst/>
          </a:prstGeom>
          <a:ln w="76200">
            <a:solidFill>
              <a:schemeClr val="bg2">
                <a:lumMod val="25000"/>
              </a:schemeClr>
            </a:solidFill>
            <a:prstDash val="solid"/>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050" name="Picture 2" descr="D:\製作中\02再版書\0558909\章首頁\note.png"/>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093204" y="1487350"/>
            <a:ext cx="3790950" cy="3334940"/>
          </a:xfrm>
          <a:prstGeom prst="rect">
            <a:avLst/>
          </a:prstGeom>
          <a:noFill/>
          <a:extLst>
            <a:ext uri="{909E8E84-426E-40DD-AFC4-6F175D3DCCD1}">
              <a14:hiddenFill xmlns:a14="http://schemas.microsoft.com/office/drawing/2010/main">
                <a:solidFill>
                  <a:srgbClr val="FFFFFF"/>
                </a:solidFill>
              </a14:hiddenFill>
            </a:ext>
          </a:extLst>
        </p:spPr>
      </p:pic>
      <p:sp>
        <p:nvSpPr>
          <p:cNvPr id="7" name="標題 6"/>
          <p:cNvSpPr>
            <a:spLocks noGrp="1"/>
          </p:cNvSpPr>
          <p:nvPr>
            <p:ph type="ctrTitle"/>
          </p:nvPr>
        </p:nvSpPr>
        <p:spPr>
          <a:xfrm>
            <a:off x="3157954" y="782801"/>
            <a:ext cx="5476465" cy="704549"/>
          </a:xfrm>
        </p:spPr>
        <p:txBody>
          <a:bodyPr/>
          <a:lstStyle/>
          <a:p>
            <a:r>
              <a:rPr lang="zh-TW" altLang="en-US" dirty="0"/>
              <a:t>計算機組織</a:t>
            </a:r>
          </a:p>
        </p:txBody>
      </p:sp>
      <p:sp>
        <p:nvSpPr>
          <p:cNvPr id="3" name="矩形 2"/>
          <p:cNvSpPr/>
          <p:nvPr/>
        </p:nvSpPr>
        <p:spPr>
          <a:xfrm>
            <a:off x="5374295" y="1792831"/>
            <a:ext cx="3158146" cy="2862322"/>
          </a:xfrm>
          <a:prstGeom prst="rect">
            <a:avLst/>
          </a:prstGeom>
        </p:spPr>
        <p:txBody>
          <a:bodyPr wrap="square">
            <a:spAutoFit/>
          </a:bodyPr>
          <a:lstStyle/>
          <a:p>
            <a:pPr>
              <a:lnSpc>
                <a:spcPct val="200000"/>
              </a:lnSpc>
            </a:pPr>
            <a:r>
              <a:rPr lang="en-US" altLang="zh-TW" b="1" dirty="0">
                <a:solidFill>
                  <a:schemeClr val="tx1">
                    <a:lumMod val="75000"/>
                    <a:lumOff val="25000"/>
                  </a:schemeClr>
                </a:solidFill>
                <a:latin typeface="微軟正黑體" pitchFamily="34" charset="-120"/>
                <a:ea typeface="微軟正黑體" pitchFamily="34" charset="-120"/>
                <a:hlinkClick r:id="rId3" action="ppaction://hlinksldjump"/>
              </a:rPr>
              <a:t>3-1 </a:t>
            </a:r>
            <a:r>
              <a:rPr lang="zh-TW" altLang="en-US" b="1" dirty="0">
                <a:solidFill>
                  <a:schemeClr val="tx1">
                    <a:lumMod val="75000"/>
                    <a:lumOff val="25000"/>
                  </a:schemeClr>
                </a:solidFill>
                <a:latin typeface="微軟正黑體" pitchFamily="34" charset="-120"/>
                <a:ea typeface="微軟正黑體" pitchFamily="34" charset="-120"/>
                <a:hlinkClick r:id="rId3" action="ppaction://hlinksldjump"/>
              </a:rPr>
              <a:t>中央處理器</a:t>
            </a:r>
            <a:endParaRPr lang="en-US" altLang="zh-TW" b="1" dirty="0">
              <a:solidFill>
                <a:schemeClr val="tx1">
                  <a:lumMod val="75000"/>
                  <a:lumOff val="25000"/>
                </a:schemeClr>
              </a:solidFill>
              <a:latin typeface="微軟正黑體" pitchFamily="34" charset="-120"/>
              <a:ea typeface="微軟正黑體" pitchFamily="34" charset="-120"/>
            </a:endParaRPr>
          </a:p>
          <a:p>
            <a:pPr>
              <a:lnSpc>
                <a:spcPct val="200000"/>
              </a:lnSpc>
            </a:pPr>
            <a:r>
              <a:rPr lang="en-US" altLang="zh-TW" b="1" dirty="0">
                <a:solidFill>
                  <a:schemeClr val="tx1">
                    <a:lumMod val="75000"/>
                    <a:lumOff val="25000"/>
                  </a:schemeClr>
                </a:solidFill>
                <a:latin typeface="微軟正黑體" pitchFamily="34" charset="-120"/>
                <a:ea typeface="微軟正黑體" pitchFamily="34" charset="-120"/>
                <a:hlinkClick r:id="rId4" action="ppaction://hlinksldjump"/>
              </a:rPr>
              <a:t>3-2 </a:t>
            </a:r>
            <a:r>
              <a:rPr lang="zh-TW" altLang="en-US" b="1" dirty="0">
                <a:solidFill>
                  <a:schemeClr val="tx1">
                    <a:lumMod val="75000"/>
                    <a:lumOff val="25000"/>
                  </a:schemeClr>
                </a:solidFill>
                <a:latin typeface="微軟正黑體" pitchFamily="34" charset="-120"/>
                <a:ea typeface="微軟正黑體" pitchFamily="34" charset="-120"/>
                <a:hlinkClick r:id="rId4" action="ppaction://hlinksldjump"/>
              </a:rPr>
              <a:t>主記憶體</a:t>
            </a:r>
            <a:endParaRPr lang="en-US" altLang="zh-TW" b="1" dirty="0">
              <a:solidFill>
                <a:schemeClr val="tx1">
                  <a:lumMod val="75000"/>
                  <a:lumOff val="25000"/>
                </a:schemeClr>
              </a:solidFill>
              <a:latin typeface="微軟正黑體" pitchFamily="34" charset="-120"/>
              <a:ea typeface="微軟正黑體" pitchFamily="34" charset="-120"/>
            </a:endParaRPr>
          </a:p>
          <a:p>
            <a:pPr>
              <a:lnSpc>
                <a:spcPct val="200000"/>
              </a:lnSpc>
            </a:pPr>
            <a:r>
              <a:rPr lang="en-US" altLang="zh-TW" b="1" dirty="0">
                <a:solidFill>
                  <a:schemeClr val="tx1">
                    <a:lumMod val="75000"/>
                    <a:lumOff val="25000"/>
                  </a:schemeClr>
                </a:solidFill>
                <a:latin typeface="微軟正黑體" pitchFamily="34" charset="-120"/>
                <a:ea typeface="微軟正黑體" pitchFamily="34" charset="-120"/>
                <a:hlinkClick r:id="rId5" action="ppaction://hlinksldjump"/>
              </a:rPr>
              <a:t>3-3 </a:t>
            </a:r>
            <a:r>
              <a:rPr lang="zh-TW" altLang="en-US" b="1" dirty="0">
                <a:solidFill>
                  <a:schemeClr val="tx1">
                    <a:lumMod val="75000"/>
                    <a:lumOff val="25000"/>
                  </a:schemeClr>
                </a:solidFill>
                <a:latin typeface="微軟正黑體" pitchFamily="34" charset="-120"/>
                <a:ea typeface="微軟正黑體" pitchFamily="34" charset="-120"/>
                <a:hlinkClick r:id="rId5" action="ppaction://hlinksldjump"/>
              </a:rPr>
              <a:t>執行程式</a:t>
            </a:r>
            <a:endParaRPr lang="en-US" altLang="zh-TW" b="1" dirty="0">
              <a:solidFill>
                <a:schemeClr val="tx1">
                  <a:lumMod val="75000"/>
                  <a:lumOff val="25000"/>
                </a:schemeClr>
              </a:solidFill>
              <a:latin typeface="微軟正黑體" pitchFamily="34" charset="-120"/>
              <a:ea typeface="微軟正黑體" pitchFamily="34" charset="-120"/>
            </a:endParaRPr>
          </a:p>
          <a:p>
            <a:pPr>
              <a:lnSpc>
                <a:spcPct val="200000"/>
              </a:lnSpc>
            </a:pPr>
            <a:r>
              <a:rPr lang="en-US" altLang="zh-TW" b="1" dirty="0">
                <a:solidFill>
                  <a:schemeClr val="tx1">
                    <a:lumMod val="75000"/>
                    <a:lumOff val="25000"/>
                  </a:schemeClr>
                </a:solidFill>
                <a:latin typeface="微軟正黑體" pitchFamily="34" charset="-120"/>
                <a:ea typeface="微軟正黑體" pitchFamily="34" charset="-120"/>
                <a:hlinkClick r:id="rId6" action="ppaction://hlinksldjump"/>
              </a:rPr>
              <a:t>3-4 </a:t>
            </a:r>
            <a:r>
              <a:rPr lang="zh-TW" altLang="en-US" b="1" dirty="0">
                <a:solidFill>
                  <a:schemeClr val="tx1">
                    <a:lumMod val="75000"/>
                    <a:lumOff val="25000"/>
                  </a:schemeClr>
                </a:solidFill>
                <a:latin typeface="微軟正黑體" pitchFamily="34" charset="-120"/>
                <a:ea typeface="微軟正黑體" pitchFamily="34" charset="-120"/>
                <a:hlinkClick r:id="rId6" action="ppaction://hlinksldjump"/>
              </a:rPr>
              <a:t>匯流排及介面</a:t>
            </a:r>
            <a:endParaRPr lang="en-US" altLang="zh-TW" b="1" dirty="0">
              <a:solidFill>
                <a:schemeClr val="tx1">
                  <a:lumMod val="75000"/>
                  <a:lumOff val="25000"/>
                </a:schemeClr>
              </a:solidFill>
              <a:latin typeface="微軟正黑體" pitchFamily="34" charset="-120"/>
              <a:ea typeface="微軟正黑體" pitchFamily="34" charset="-120"/>
            </a:endParaRPr>
          </a:p>
          <a:p>
            <a:pPr>
              <a:lnSpc>
                <a:spcPct val="200000"/>
              </a:lnSpc>
            </a:pPr>
            <a:r>
              <a:rPr lang="en-US" altLang="zh-TW" b="1" dirty="0">
                <a:solidFill>
                  <a:schemeClr val="tx1">
                    <a:lumMod val="75000"/>
                    <a:lumOff val="25000"/>
                  </a:schemeClr>
                </a:solidFill>
                <a:latin typeface="微軟正黑體" pitchFamily="34" charset="-120"/>
                <a:ea typeface="微軟正黑體" pitchFamily="34" charset="-120"/>
                <a:hlinkClick r:id="rId7" action="ppaction://hlinksldjump"/>
              </a:rPr>
              <a:t>3-5</a:t>
            </a:r>
            <a:r>
              <a:rPr lang="zh-TW" altLang="en-US" b="1" dirty="0">
                <a:solidFill>
                  <a:schemeClr val="tx1">
                    <a:lumMod val="75000"/>
                    <a:lumOff val="25000"/>
                  </a:schemeClr>
                </a:solidFill>
                <a:latin typeface="微軟正黑體" pitchFamily="34" charset="-120"/>
                <a:ea typeface="微軟正黑體" pitchFamily="34" charset="-120"/>
                <a:hlinkClick r:id="rId7" action="ppaction://hlinksldjump"/>
              </a:rPr>
              <a:t> </a:t>
            </a:r>
            <a:r>
              <a:rPr lang="zh-TW" altLang="en-US" b="1">
                <a:solidFill>
                  <a:schemeClr val="tx1">
                    <a:lumMod val="75000"/>
                    <a:lumOff val="25000"/>
                  </a:schemeClr>
                </a:solidFill>
                <a:latin typeface="微軟正黑體" pitchFamily="34" charset="-120"/>
                <a:ea typeface="微軟正黑體" pitchFamily="34" charset="-120"/>
                <a:hlinkClick r:id="rId7" action="ppaction://hlinksldjump"/>
              </a:rPr>
              <a:t>儲存裝置</a:t>
            </a:r>
            <a:endParaRPr lang="zh-TW" altLang="en-US" b="1" dirty="0">
              <a:solidFill>
                <a:schemeClr val="tx1">
                  <a:lumMod val="75000"/>
                  <a:lumOff val="25000"/>
                </a:schemeClr>
              </a:solidFill>
              <a:latin typeface="微軟正黑體" pitchFamily="34" charset="-120"/>
              <a:ea typeface="微軟正黑體" pitchFamily="34" charset="-120"/>
            </a:endParaRPr>
          </a:p>
        </p:txBody>
      </p:sp>
      <p:pic>
        <p:nvPicPr>
          <p:cNvPr id="10" name="Picture 4"/>
          <p:cNvPicPr>
            <a:picLocks noChangeAspect="1" noChangeArrowheads="1"/>
          </p:cNvPicPr>
          <p:nvPr/>
        </p:nvPicPr>
        <p:blipFill>
          <a:blip r:embed="rId8" cstate="screen">
            <a:extLst>
              <a:ext uri="{28A0092B-C50C-407E-A947-70E740481C1C}">
                <a14:useLocalDpi xmlns:a14="http://schemas.microsoft.com/office/drawing/2010/main"/>
              </a:ext>
            </a:extLst>
          </a:blip>
          <a:stretch>
            <a:fillRect/>
          </a:stretch>
        </p:blipFill>
        <p:spPr bwMode="auto">
          <a:xfrm>
            <a:off x="1030074" y="1930554"/>
            <a:ext cx="2813363" cy="2344470"/>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2" name="Picture 4"/>
          <p:cNvPicPr>
            <a:picLocks noChangeAspect="1" noChangeArrowheads="1"/>
          </p:cNvPicPr>
          <p:nvPr/>
        </p:nvPicPr>
        <p:blipFill>
          <a:blip r:embed="rId8" cstate="screen">
            <a:extLst>
              <a:ext uri="{28A0092B-C50C-407E-A947-70E740481C1C}">
                <a14:useLocalDpi xmlns:a14="http://schemas.microsoft.com/office/drawing/2010/main"/>
              </a:ext>
            </a:extLst>
          </a:blip>
          <a:stretch>
            <a:fillRect/>
          </a:stretch>
        </p:blipFill>
        <p:spPr bwMode="auto">
          <a:xfrm rot="21401888">
            <a:off x="1038058" y="2128471"/>
            <a:ext cx="2813363" cy="2344470"/>
          </a:xfrm>
          <a:prstGeom prst="rect">
            <a:avLst/>
          </a:prstGeom>
          <a:noFill/>
          <a:ln w="57150">
            <a:solidFill>
              <a:schemeClr val="bg1"/>
            </a:solidFill>
          </a:ln>
          <a:effectLst>
            <a:outerShdw blurRad="50800" dist="38100" dir="2700000" algn="tl" rotWithShape="0">
              <a:prstClr val="black">
                <a:alpha val="40000"/>
              </a:prstClr>
            </a:outerShdw>
          </a:effectLst>
        </p:spPr>
      </p:pic>
      <p:pic>
        <p:nvPicPr>
          <p:cNvPr id="13" name="Picture 4"/>
          <p:cNvPicPr>
            <a:picLocks noChangeAspect="1" noChangeArrowheads="1"/>
          </p:cNvPicPr>
          <p:nvPr/>
        </p:nvPicPr>
        <p:blipFill>
          <a:blip r:embed="rId8" cstate="screen">
            <a:extLst>
              <a:ext uri="{28A0092B-C50C-407E-A947-70E740481C1C}">
                <a14:useLocalDpi xmlns:a14="http://schemas.microsoft.com/office/drawing/2010/main"/>
              </a:ext>
            </a:extLst>
          </a:blip>
          <a:stretch>
            <a:fillRect/>
          </a:stretch>
        </p:blipFill>
        <p:spPr bwMode="auto">
          <a:xfrm rot="21077218">
            <a:off x="1177948" y="2352288"/>
            <a:ext cx="2813363" cy="2344470"/>
          </a:xfrm>
          <a:prstGeom prst="rect">
            <a:avLst/>
          </a:prstGeom>
          <a:noFill/>
          <a:ln w="57150">
            <a:solidFill>
              <a:schemeClr val="bg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43748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a:t>摩爾定律</a:t>
            </a:r>
            <a:r>
              <a:rPr lang="en-US" altLang="zh-TW"/>
              <a:t>(Moore's Law)</a:t>
            </a:r>
            <a:endParaRPr lang="zh-TW" altLang="en-US" dirty="0"/>
          </a:p>
        </p:txBody>
      </p:sp>
      <p:sp>
        <p:nvSpPr>
          <p:cNvPr id="5" name="內容版面配置區 4"/>
          <p:cNvSpPr>
            <a:spLocks noGrp="1"/>
          </p:cNvSpPr>
          <p:nvPr>
            <p:ph idx="1"/>
          </p:nvPr>
        </p:nvSpPr>
        <p:spPr/>
        <p:txBody>
          <a:bodyPr>
            <a:normAutofit fontScale="92500"/>
          </a:bodyPr>
          <a:lstStyle/>
          <a:p>
            <a:r>
              <a:rPr lang="zh-TW" altLang="en-US" dirty="0"/>
              <a:t>「每隔兩年，數位處理器的功能就會倍增，但價格維持不變，或是以減半的價格獲得同樣的功能。」</a:t>
            </a:r>
          </a:p>
          <a:p>
            <a:r>
              <a:rPr lang="zh-TW" altLang="en-US" dirty="0"/>
              <a:t>摩爾定律這些年來大致守恆，這種以指數成長的浪潮，也解釋了為什麼數位革命的步調會愈來愈快。</a:t>
            </a:r>
          </a:p>
        </p:txBody>
      </p:sp>
    </p:spTree>
    <p:extLst>
      <p:ext uri="{BB962C8B-B14F-4D97-AF65-F5344CB8AC3E}">
        <p14:creationId xmlns:p14="http://schemas.microsoft.com/office/powerpoint/2010/main" val="27149877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4025469" y="828124"/>
            <a:ext cx="4680519" cy="830997"/>
          </a:xfrm>
          <a:prstGeom prst="rect">
            <a:avLst/>
          </a:prstGeom>
          <a:solidFill>
            <a:schemeClr val="accent4">
              <a:lumMod val="20000"/>
              <a:lumOff val="80000"/>
            </a:schemeClr>
          </a:solidFill>
          <a:ln w="19050">
            <a:solidFill>
              <a:schemeClr val="tx1"/>
            </a:solidFill>
          </a:ln>
        </p:spPr>
        <p:txBody>
          <a:bodyPr wrap="square">
            <a:spAutoFit/>
          </a:bodyPr>
          <a:lstStyle/>
          <a:p>
            <a:r>
              <a:rPr lang="zh-TW" altLang="en-US" sz="2400" b="1" dirty="0">
                <a:latin typeface="微軟正黑體" pitchFamily="34" charset="-120"/>
                <a:ea typeface="微軟正黑體" pitchFamily="34" charset="-120"/>
              </a:rPr>
              <a:t>電腦基礎元件由真空管、電晶體、積體電路到超大型積體電路</a:t>
            </a:r>
          </a:p>
        </p:txBody>
      </p:sp>
      <p:pic>
        <p:nvPicPr>
          <p:cNvPr id="9" name="Picture 2"/>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rot="21232036">
            <a:off x="584085" y="748743"/>
            <a:ext cx="1156055" cy="2808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3"/>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321606" y="828124"/>
            <a:ext cx="1066929" cy="1959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4"/>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988216" y="1841362"/>
            <a:ext cx="806453" cy="1892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5"/>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690014" y="1630663"/>
            <a:ext cx="3024139" cy="2265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6"/>
          <p:cNvPicPr>
            <a:picLocks noChangeAspect="1" noChangeArrowheads="1"/>
          </p:cNvPicPr>
          <p:nvPr/>
        </p:nvPicPr>
        <p:blipFill>
          <a:blip r:embed="rId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691680" y="3028336"/>
            <a:ext cx="2155062" cy="173519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 name="Picture 7"/>
          <p:cNvPicPr>
            <a:picLocks noChangeAspect="1" noChangeArrowheads="1"/>
          </p:cNvPicPr>
          <p:nvPr/>
        </p:nvPicPr>
        <p:blipFill>
          <a:blip r:embed="rId7"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391443" y="3346334"/>
            <a:ext cx="2003056" cy="1421943"/>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23475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dirty="0">
                <a:solidFill>
                  <a:srgbClr val="C00000"/>
                </a:solidFill>
              </a:rPr>
              <a:t>夢想無界的晶片傳奇</a:t>
            </a:r>
            <a:endParaRPr lang="en-US" altLang="zh-TW" dirty="0">
              <a:solidFill>
                <a:srgbClr val="C00000"/>
              </a:solidFill>
            </a:endParaRPr>
          </a:p>
          <a:p>
            <a:r>
              <a:rPr lang="zh-TW" altLang="en-US" dirty="0"/>
              <a:t>晶片是積體電路成品的別稱，依功能可區分為處理器晶片、記憶體晶片、系統晶片、特定用途晶片等，應用非常廣泛，幾乎涵蓋了任何需要運算、存取、通訊、感測、顯影等功用的電子裝置。</a:t>
            </a:r>
            <a:endParaRPr lang="en-US" altLang="zh-TW" dirty="0"/>
          </a:p>
        </p:txBody>
      </p:sp>
    </p:spTree>
    <p:extLst>
      <p:ext uri="{BB962C8B-B14F-4D97-AF65-F5344CB8AC3E}">
        <p14:creationId xmlns:p14="http://schemas.microsoft.com/office/powerpoint/2010/main" val="2053058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dirty="0"/>
              <a:t>從</a:t>
            </a:r>
            <a:r>
              <a:rPr lang="en-US" altLang="zh-TW" dirty="0"/>
              <a:t>70</a:t>
            </a:r>
            <a:r>
              <a:rPr lang="zh-TW" altLang="en-US" dirty="0"/>
              <a:t>年代起，一顆晶片所能容納的電晶體個數每兩年倍增，這就是著名的摩爾定律。</a:t>
            </a:r>
            <a:endParaRPr lang="en-US" altLang="zh-TW" dirty="0"/>
          </a:p>
          <a:p>
            <a:r>
              <a:rPr lang="zh-TW" altLang="en-US" dirty="0"/>
              <a:t>經濟面考量的摩爾第二定律指出，晶片設備成本大約每四年倍增。</a:t>
            </a:r>
            <a:endParaRPr lang="en-US" altLang="zh-TW" dirty="0"/>
          </a:p>
        </p:txBody>
      </p:sp>
    </p:spTree>
    <p:extLst>
      <p:ext uri="{BB962C8B-B14F-4D97-AF65-F5344CB8AC3E}">
        <p14:creationId xmlns:p14="http://schemas.microsoft.com/office/powerpoint/2010/main" val="445824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晶片是人類智慧的結晶，未來從奈米製程進階到次奈米或皮米等級時，恐將受制於原子大小的物理極限及市場規模的投資瓶頸。摩爾定律早晚走入歷史，但人類夢想的傳奇將永無止境。</a:t>
            </a:r>
          </a:p>
          <a:p>
            <a:endParaRPr lang="zh-TW" altLang="en-US" dirty="0"/>
          </a:p>
          <a:p>
            <a:endParaRPr lang="zh-TW" altLang="en-US" dirty="0"/>
          </a:p>
        </p:txBody>
      </p:sp>
    </p:spTree>
    <p:extLst>
      <p:ext uri="{BB962C8B-B14F-4D97-AF65-F5344CB8AC3E}">
        <p14:creationId xmlns:p14="http://schemas.microsoft.com/office/powerpoint/2010/main" val="2921859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r>
              <a:rPr lang="zh-TW" altLang="en-US" dirty="0">
                <a:solidFill>
                  <a:srgbClr val="C00000"/>
                </a:solidFill>
              </a:rPr>
              <a:t>摩爾傳奇 千古流傳</a:t>
            </a:r>
            <a:endParaRPr lang="en-US" altLang="zh-TW" dirty="0">
              <a:solidFill>
                <a:srgbClr val="C00000"/>
              </a:solidFill>
            </a:endParaRPr>
          </a:p>
          <a:p>
            <a:r>
              <a:rPr lang="zh-TW" altLang="en-US" dirty="0"/>
              <a:t>高登．摩爾是一位卓越的發明家和企業家，他與勞勃．諾伊斯共同創辦了英特爾（</a:t>
            </a:r>
            <a:r>
              <a:rPr lang="en-US" altLang="zh-TW" dirty="0"/>
              <a:t>Intel</a:t>
            </a:r>
            <a:r>
              <a:rPr lang="zh-TW" altLang="en-US" dirty="0"/>
              <a:t>），連同草創期間的第三號員工安德魯．葛洛夫，三位巨頭被尊稱為「英特爾三位一體」。</a:t>
            </a:r>
            <a:endParaRPr lang="en-US" altLang="zh-TW" dirty="0"/>
          </a:p>
        </p:txBody>
      </p:sp>
    </p:spTree>
    <p:extLst>
      <p:ext uri="{BB962C8B-B14F-4D97-AF65-F5344CB8AC3E}">
        <p14:creationId xmlns:p14="http://schemas.microsoft.com/office/powerpoint/2010/main" val="2057549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英特爾開發了史上第一顆在市面上販售的動態隨機存取記憶體和微處理器，帶動了晶片設計和資通科技的革命風潮，造福了你我的數位生活體驗。</a:t>
            </a:r>
          </a:p>
          <a:p>
            <a:endParaRPr lang="zh-TW" altLang="en-US" dirty="0"/>
          </a:p>
        </p:txBody>
      </p:sp>
    </p:spTree>
    <p:extLst>
      <p:ext uri="{BB962C8B-B14F-4D97-AF65-F5344CB8AC3E}">
        <p14:creationId xmlns:p14="http://schemas.microsoft.com/office/powerpoint/2010/main" val="994671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zh-TW" altLang="en-US" dirty="0"/>
              <a:t>全球二大電腦展</a:t>
            </a:r>
          </a:p>
        </p:txBody>
      </p:sp>
      <p:graphicFrame>
        <p:nvGraphicFramePr>
          <p:cNvPr id="2" name="內容版面配置區 1"/>
          <p:cNvGraphicFramePr>
            <a:graphicFrameLocks noGrp="1"/>
          </p:cNvGraphicFramePr>
          <p:nvPr>
            <p:ph idx="1"/>
            <p:extLst>
              <p:ext uri="{D42A27DB-BD31-4B8C-83A1-F6EECF244321}">
                <p14:modId xmlns:p14="http://schemas.microsoft.com/office/powerpoint/2010/main" val="1063051739"/>
              </p:ext>
            </p:extLst>
          </p:nvPr>
        </p:nvGraphicFramePr>
        <p:xfrm>
          <a:off x="907250" y="1483907"/>
          <a:ext cx="7175140" cy="17951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圖片 6"/>
          <p:cNvPicPr>
            <a:picLocks noChangeAspect="1"/>
          </p:cNvPicPr>
          <p:nvPr/>
        </p:nvPicPr>
        <p:blipFill rotWithShape="1">
          <a:blip r:embed="rId7" cstate="screen">
            <a:extLst>
              <a:ext uri="{28A0092B-C50C-407E-A947-70E740481C1C}">
                <a14:useLocalDpi xmlns:a14="http://schemas.microsoft.com/office/drawing/2010/main"/>
              </a:ext>
            </a:extLst>
          </a:blip>
          <a:srcRect t="14766" b="9561"/>
          <a:stretch/>
        </p:blipFill>
        <p:spPr>
          <a:xfrm>
            <a:off x="2128912" y="3343300"/>
            <a:ext cx="2438400" cy="1845205"/>
          </a:xfrm>
          <a:prstGeom prst="rect">
            <a:avLst/>
          </a:prstGeom>
        </p:spPr>
      </p:pic>
      <p:pic>
        <p:nvPicPr>
          <p:cNvPr id="8" name="圖片 7"/>
          <p:cNvPicPr>
            <a:picLocks noChangeAspect="1"/>
          </p:cNvPicPr>
          <p:nvPr/>
        </p:nvPicPr>
        <p:blipFill rotWithShape="1">
          <a:blip r:embed="rId8" cstate="screen">
            <a:extLst>
              <a:ext uri="{28A0092B-C50C-407E-A947-70E740481C1C}">
                <a14:useLocalDpi xmlns:a14="http://schemas.microsoft.com/office/drawing/2010/main"/>
              </a:ext>
            </a:extLst>
          </a:blip>
          <a:srcRect t="10907" b="18957"/>
          <a:stretch/>
        </p:blipFill>
        <p:spPr>
          <a:xfrm>
            <a:off x="4572000" y="3433310"/>
            <a:ext cx="2438400" cy="1710190"/>
          </a:xfrm>
          <a:prstGeom prst="rect">
            <a:avLst/>
          </a:prstGeom>
        </p:spPr>
      </p:pic>
    </p:spTree>
    <p:extLst>
      <p:ext uri="{BB962C8B-B14F-4D97-AF65-F5344CB8AC3E}">
        <p14:creationId xmlns:p14="http://schemas.microsoft.com/office/powerpoint/2010/main" val="30451057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桌上型電腦</a:t>
            </a:r>
            <a:endParaRPr lang="zh-TW" altLang="en-US" dirty="0"/>
          </a:p>
        </p:txBody>
      </p:sp>
      <p:sp>
        <p:nvSpPr>
          <p:cNvPr id="5" name="內容版面配置區 4"/>
          <p:cNvSpPr>
            <a:spLocks noGrp="1"/>
          </p:cNvSpPr>
          <p:nvPr>
            <p:ph idx="1"/>
          </p:nvPr>
        </p:nvSpPr>
        <p:spPr/>
        <p:txBody>
          <a:bodyPr/>
          <a:lstStyle/>
          <a:p>
            <a:r>
              <a:rPr lang="zh-TW" altLang="en-US" dirty="0"/>
              <a:t>有些電腦公司整合軟體和硬體的使用介面，串聯</a:t>
            </a:r>
            <a:r>
              <a:rPr lang="en-US" altLang="zh-TW" dirty="0"/>
              <a:t>VoIP</a:t>
            </a:r>
            <a:r>
              <a:rPr lang="zh-TW" altLang="en-US" dirty="0"/>
              <a:t>和</a:t>
            </a:r>
            <a:r>
              <a:rPr lang="en-US" altLang="zh-TW" dirty="0"/>
              <a:t>Wi-Fi</a:t>
            </a:r>
            <a:r>
              <a:rPr lang="zh-TW" altLang="en-US" dirty="0"/>
              <a:t>等傳輸方式，呈現全新運算裝置。</a:t>
            </a:r>
            <a:endParaRPr lang="en-US" altLang="zh-TW" dirty="0"/>
          </a:p>
          <a:p>
            <a:r>
              <a:rPr lang="zh-TW" altLang="en-US" dirty="0"/>
              <a:t>在鍵盤上設計出可放手機或平板電腦的基座，再加上三方通話裝置及獨特的六吋螢幕保護程式，完整提供消費者最簡易便利的操作方式。</a:t>
            </a:r>
          </a:p>
        </p:txBody>
      </p:sp>
    </p:spTree>
    <p:extLst>
      <p:ext uri="{BB962C8B-B14F-4D97-AF65-F5344CB8AC3E}">
        <p14:creationId xmlns:p14="http://schemas.microsoft.com/office/powerpoint/2010/main" val="30466418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第三波革命</a:t>
            </a:r>
          </a:p>
        </p:txBody>
      </p:sp>
      <p:sp>
        <p:nvSpPr>
          <p:cNvPr id="5" name="內容版面配置區 4"/>
          <p:cNvSpPr>
            <a:spLocks noGrp="1"/>
          </p:cNvSpPr>
          <p:nvPr>
            <p:ph idx="1"/>
          </p:nvPr>
        </p:nvSpPr>
        <p:spPr/>
        <p:txBody>
          <a:bodyPr/>
          <a:lstStyle/>
          <a:p>
            <a:r>
              <a:rPr lang="zh-TW" altLang="en-US"/>
              <a:t>第三波革命</a:t>
            </a:r>
            <a:r>
              <a:rPr lang="en-US" altLang="zh-TW"/>
              <a:t>(</a:t>
            </a:r>
            <a:r>
              <a:rPr lang="zh-TW" altLang="en-US"/>
              <a:t>資訊革命；第一波是農業革命，第二波是工業革命</a:t>
            </a:r>
            <a:r>
              <a:rPr lang="en-US" altLang="zh-TW"/>
              <a:t>)</a:t>
            </a:r>
            <a:r>
              <a:rPr lang="zh-TW" altLang="en-US"/>
              <a:t>已展開全面性的應用，作為現代人，資訊素養已愈來愈重要。</a:t>
            </a:r>
          </a:p>
          <a:p>
            <a:r>
              <a:rPr lang="zh-TW" altLang="en-US"/>
              <a:t>邁向數位世界「資訊就是力量」的新時代，善用資訊工具是擷取新知的不二法門。</a:t>
            </a:r>
          </a:p>
          <a:p>
            <a:endParaRPr lang="zh-TW" altLang="en-US" dirty="0"/>
          </a:p>
        </p:txBody>
      </p:sp>
    </p:spTree>
    <p:extLst>
      <p:ext uri="{BB962C8B-B14F-4D97-AF65-F5344CB8AC3E}">
        <p14:creationId xmlns:p14="http://schemas.microsoft.com/office/powerpoint/2010/main" val="3128642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337920-D5A8-B02D-4411-2B21296D77E9}"/>
              </a:ext>
            </a:extLst>
          </p:cNvPr>
          <p:cNvSpPr>
            <a:spLocks noGrp="1"/>
          </p:cNvSpPr>
          <p:nvPr>
            <p:ph type="title"/>
          </p:nvPr>
        </p:nvSpPr>
        <p:spPr/>
        <p:txBody>
          <a:bodyPr/>
          <a:lstStyle/>
          <a:p>
            <a:r>
              <a:rPr lang="zh-TW" altLang="en-US" dirty="0"/>
              <a:t>計算機組織未來發展</a:t>
            </a:r>
          </a:p>
        </p:txBody>
      </p:sp>
      <p:sp>
        <p:nvSpPr>
          <p:cNvPr id="3" name="內容版面配置區 2">
            <a:extLst>
              <a:ext uri="{FF2B5EF4-FFF2-40B4-BE49-F238E27FC236}">
                <a16:creationId xmlns:a16="http://schemas.microsoft.com/office/drawing/2014/main" id="{967AF76D-9D9E-7677-FD22-9CB3B9B3E9A9}"/>
              </a:ext>
            </a:extLst>
          </p:cNvPr>
          <p:cNvSpPr>
            <a:spLocks noGrp="1"/>
          </p:cNvSpPr>
          <p:nvPr>
            <p:ph idx="1"/>
          </p:nvPr>
        </p:nvSpPr>
        <p:spPr/>
        <p:txBody>
          <a:bodyPr>
            <a:normAutofit lnSpcReduction="10000"/>
          </a:bodyPr>
          <a:lstStyle/>
          <a:p>
            <a:r>
              <a:rPr lang="zh-TW" altLang="en-US" dirty="0"/>
              <a:t>計算機組織的定義已日漸趨向模糊，</a:t>
            </a:r>
            <a:endParaRPr lang="en-US" altLang="zh-TW" dirty="0"/>
          </a:p>
          <a:p>
            <a:pPr lvl="1"/>
            <a:r>
              <a:rPr lang="zh-TW" altLang="en-US" dirty="0"/>
              <a:t>高畫質數位電視已取代類比電視，讓電腦與家電的整合更上一層樓。</a:t>
            </a:r>
            <a:endParaRPr lang="en-US" altLang="zh-TW" dirty="0"/>
          </a:p>
          <a:p>
            <a:pPr lvl="1"/>
            <a:r>
              <a:rPr lang="zh-TW" altLang="en-US" dirty="0"/>
              <a:t>智慧型手機、智慧家電、穿戴裝置及人形機器人等科技產品，將可提升全民的生活品質，厚植產業發展潛力。</a:t>
            </a:r>
          </a:p>
        </p:txBody>
      </p:sp>
    </p:spTree>
    <p:extLst>
      <p:ext uri="{BB962C8B-B14F-4D97-AF65-F5344CB8AC3E}">
        <p14:creationId xmlns:p14="http://schemas.microsoft.com/office/powerpoint/2010/main" val="2914144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3-1 </a:t>
            </a:r>
            <a:r>
              <a:rPr lang="zh-TW" altLang="en-US" dirty="0"/>
              <a:t>中央處理器</a:t>
            </a:r>
          </a:p>
        </p:txBody>
      </p:sp>
      <p:sp>
        <p:nvSpPr>
          <p:cNvPr id="5" name="內容版面配置區 4"/>
          <p:cNvSpPr>
            <a:spLocks noGrp="1"/>
          </p:cNvSpPr>
          <p:nvPr>
            <p:ph idx="1"/>
          </p:nvPr>
        </p:nvSpPr>
        <p:spPr/>
        <p:txBody>
          <a:bodyPr>
            <a:normAutofit/>
          </a:bodyPr>
          <a:lstStyle/>
          <a:p>
            <a:r>
              <a:rPr lang="zh-TW" altLang="en-US" dirty="0">
                <a:solidFill>
                  <a:srgbClr val="C00000"/>
                </a:solidFill>
              </a:rPr>
              <a:t>中央處理器</a:t>
            </a:r>
            <a:r>
              <a:rPr lang="en-US" altLang="zh-TW" dirty="0"/>
              <a:t>(Central Processing Unit</a:t>
            </a:r>
            <a:r>
              <a:rPr lang="zh-TW" altLang="en-US" dirty="0"/>
              <a:t>；</a:t>
            </a:r>
            <a:r>
              <a:rPr lang="en-US" altLang="zh-TW" dirty="0"/>
              <a:t>CPU)</a:t>
            </a:r>
            <a:r>
              <a:rPr lang="zh-TW" altLang="en-US" dirty="0"/>
              <a:t>是計算機的大腦，是一個電路極為複雜的晶片，用來執行儲存在記憶體的程式指令，控制數位資料的處理及運算。</a:t>
            </a:r>
          </a:p>
        </p:txBody>
      </p:sp>
      <p:pic>
        <p:nvPicPr>
          <p:cNvPr id="7" name="圖片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7195" y="3407434"/>
            <a:ext cx="861278" cy="861278"/>
          </a:xfrm>
          <a:prstGeom prst="rect">
            <a:avLst/>
          </a:prstGeom>
        </p:spPr>
      </p:pic>
    </p:spTree>
    <p:extLst>
      <p:ext uri="{BB962C8B-B14F-4D97-AF65-F5344CB8AC3E}">
        <p14:creationId xmlns:p14="http://schemas.microsoft.com/office/powerpoint/2010/main" val="18179934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3-1 </a:t>
            </a:r>
            <a:r>
              <a:rPr lang="zh-TW" altLang="en-US" dirty="0"/>
              <a:t>中央處理器</a:t>
            </a:r>
          </a:p>
        </p:txBody>
      </p:sp>
      <p:sp>
        <p:nvSpPr>
          <p:cNvPr id="3" name="內容版面配置區 2"/>
          <p:cNvSpPr>
            <a:spLocks noGrp="1"/>
          </p:cNvSpPr>
          <p:nvPr>
            <p:ph idx="1"/>
          </p:nvPr>
        </p:nvSpPr>
        <p:spPr/>
        <p:txBody>
          <a:bodyPr/>
          <a:lstStyle/>
          <a:p>
            <a:r>
              <a:rPr lang="en-US" altLang="zh-TW" dirty="0"/>
              <a:t>CPU</a:t>
            </a:r>
            <a:r>
              <a:rPr lang="zh-TW" altLang="en-US" dirty="0"/>
              <a:t>主要有兩部分：</a:t>
            </a:r>
            <a:endParaRPr lang="en-US" altLang="zh-TW" dirty="0"/>
          </a:p>
          <a:p>
            <a:pPr lvl="1"/>
            <a:r>
              <a:rPr lang="zh-TW" altLang="en-US" dirty="0"/>
              <a:t>控制單元</a:t>
            </a:r>
            <a:r>
              <a:rPr lang="en-US" altLang="zh-TW" dirty="0"/>
              <a:t>(Control Unit</a:t>
            </a:r>
            <a:r>
              <a:rPr lang="zh-TW" altLang="en-US" dirty="0"/>
              <a:t>；</a:t>
            </a:r>
            <a:r>
              <a:rPr lang="en-US" altLang="zh-TW" dirty="0"/>
              <a:t>CU)</a:t>
            </a:r>
          </a:p>
          <a:p>
            <a:pPr lvl="1"/>
            <a:r>
              <a:rPr lang="zh-TW" altLang="en-US" dirty="0"/>
              <a:t>算術邏輯單元</a:t>
            </a:r>
            <a:r>
              <a:rPr lang="en-US" altLang="zh-TW" dirty="0"/>
              <a:t>(Arithmetic Logic Unit</a:t>
            </a:r>
            <a:r>
              <a:rPr lang="zh-TW" altLang="en-US" dirty="0"/>
              <a:t>；</a:t>
            </a:r>
            <a:r>
              <a:rPr lang="en-US" altLang="zh-TW" dirty="0"/>
              <a:t>ALU)</a:t>
            </a:r>
            <a:endParaRPr lang="zh-TW" altLang="en-US" dirty="0"/>
          </a:p>
          <a:p>
            <a:endParaRPr lang="zh-TW" altLang="en-US" dirty="0"/>
          </a:p>
          <a:p>
            <a:endParaRPr lang="zh-TW" altLang="en-US" dirty="0"/>
          </a:p>
        </p:txBody>
      </p:sp>
    </p:spTree>
    <p:extLst>
      <p:ext uri="{BB962C8B-B14F-4D97-AF65-F5344CB8AC3E}">
        <p14:creationId xmlns:p14="http://schemas.microsoft.com/office/powerpoint/2010/main" val="1304249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t>暫存器</a:t>
            </a:r>
          </a:p>
        </p:txBody>
      </p:sp>
      <p:sp>
        <p:nvSpPr>
          <p:cNvPr id="5" name="內容版面配置區 4"/>
          <p:cNvSpPr>
            <a:spLocks noGrp="1"/>
          </p:cNvSpPr>
          <p:nvPr>
            <p:ph idx="1"/>
          </p:nvPr>
        </p:nvSpPr>
        <p:spPr/>
        <p:txBody>
          <a:bodyPr>
            <a:normAutofit/>
          </a:bodyPr>
          <a:lstStyle/>
          <a:p>
            <a:r>
              <a:rPr lang="zh-TW" altLang="en-US" dirty="0"/>
              <a:t>中央處理器有一個極小的儲存裝置，稱為</a:t>
            </a:r>
            <a:r>
              <a:rPr lang="zh-TW" altLang="en-US" dirty="0">
                <a:solidFill>
                  <a:srgbClr val="C00000"/>
                </a:solidFill>
              </a:rPr>
              <a:t>暫存器</a:t>
            </a:r>
            <a:r>
              <a:rPr lang="en-US" altLang="zh-TW" dirty="0"/>
              <a:t>(register)</a:t>
            </a:r>
            <a:r>
              <a:rPr lang="zh-TW" altLang="en-US" dirty="0"/>
              <a:t>，可以暫時存放指令或資料。</a:t>
            </a:r>
            <a:endParaRPr lang="en-US" altLang="zh-TW" dirty="0"/>
          </a:p>
        </p:txBody>
      </p:sp>
    </p:spTree>
    <p:extLst>
      <p:ext uri="{BB962C8B-B14F-4D97-AF65-F5344CB8AC3E}">
        <p14:creationId xmlns:p14="http://schemas.microsoft.com/office/powerpoint/2010/main" val="4124814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暫存器</a:t>
            </a:r>
          </a:p>
        </p:txBody>
      </p:sp>
      <p:sp>
        <p:nvSpPr>
          <p:cNvPr id="3" name="內容版面配置區 2"/>
          <p:cNvSpPr>
            <a:spLocks noGrp="1"/>
          </p:cNvSpPr>
          <p:nvPr>
            <p:ph idx="1"/>
          </p:nvPr>
        </p:nvSpPr>
        <p:spPr/>
        <p:txBody>
          <a:bodyPr/>
          <a:lstStyle/>
          <a:p>
            <a:r>
              <a:rPr lang="zh-TW" altLang="en-US" dirty="0"/>
              <a:t>暫存器的存取速度比主記憶體快，可大大增高</a:t>
            </a:r>
            <a:r>
              <a:rPr lang="en-US" altLang="zh-TW" dirty="0"/>
              <a:t>CPU</a:t>
            </a:r>
            <a:r>
              <a:rPr lang="zh-TW" altLang="en-US" dirty="0"/>
              <a:t>的效能。</a:t>
            </a:r>
          </a:p>
          <a:p>
            <a:pPr lvl="1"/>
            <a:r>
              <a:rPr lang="zh-TW" altLang="en-US" dirty="0">
                <a:solidFill>
                  <a:srgbClr val="C00000"/>
                </a:solidFill>
              </a:rPr>
              <a:t>指令暫存器</a:t>
            </a:r>
            <a:r>
              <a:rPr lang="en-US" altLang="zh-TW" dirty="0"/>
              <a:t>(Instruction Register)</a:t>
            </a:r>
            <a:r>
              <a:rPr lang="zh-TW" altLang="en-US" dirty="0"/>
              <a:t>：儲存所執行指令。</a:t>
            </a:r>
            <a:endParaRPr lang="en-US" altLang="zh-TW" dirty="0"/>
          </a:p>
          <a:p>
            <a:pPr lvl="1"/>
            <a:r>
              <a:rPr lang="zh-TW" altLang="en-US" dirty="0">
                <a:solidFill>
                  <a:srgbClr val="C00000"/>
                </a:solidFill>
              </a:rPr>
              <a:t>程式計數器</a:t>
            </a:r>
            <a:r>
              <a:rPr lang="en-US" altLang="zh-TW" dirty="0"/>
              <a:t>(Program Counter)</a:t>
            </a:r>
            <a:r>
              <a:rPr lang="zh-TW" altLang="en-US" dirty="0"/>
              <a:t>：記錄目前程式正在執行的指令位址。</a:t>
            </a:r>
          </a:p>
          <a:p>
            <a:endParaRPr lang="zh-TW" altLang="en-US" dirty="0"/>
          </a:p>
        </p:txBody>
      </p:sp>
    </p:spTree>
    <p:extLst>
      <p:ext uri="{BB962C8B-B14F-4D97-AF65-F5344CB8AC3E}">
        <p14:creationId xmlns:p14="http://schemas.microsoft.com/office/powerpoint/2010/main" val="7568185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1580" y="626448"/>
            <a:ext cx="3647152" cy="369332"/>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none">
            <a:spAutoFit/>
          </a:bodyPr>
          <a:lstStyle/>
          <a:p>
            <a:r>
              <a:rPr lang="zh-TW" altLang="en-US" dirty="0">
                <a:latin typeface="微軟正黑體" pitchFamily="34" charset="-120"/>
                <a:ea typeface="微軟正黑體" pitchFamily="34" charset="-120"/>
              </a:rPr>
              <a:t>中央處理器和記憶體的連結架構圖</a:t>
            </a:r>
          </a:p>
        </p:txBody>
      </p:sp>
      <p:pic>
        <p:nvPicPr>
          <p:cNvPr id="1027" name="Picture 3" descr="G:\01_書籍資料\04_大專\06306\0630608\00增訂表\全華-圖3-4(更新).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96725" y="1266605"/>
            <a:ext cx="4151313" cy="3548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282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控制單元</a:t>
            </a:r>
          </a:p>
        </p:txBody>
      </p:sp>
      <p:sp>
        <p:nvSpPr>
          <p:cNvPr id="4" name="內容版面配置區 3"/>
          <p:cNvSpPr>
            <a:spLocks noGrp="1"/>
          </p:cNvSpPr>
          <p:nvPr>
            <p:ph idx="1"/>
          </p:nvPr>
        </p:nvSpPr>
        <p:spPr/>
        <p:txBody>
          <a:bodyPr/>
          <a:lstStyle/>
          <a:p>
            <a:r>
              <a:rPr lang="zh-TW" altLang="en-US" dirty="0"/>
              <a:t>負責控制電腦執行程式的流程。</a:t>
            </a:r>
            <a:endParaRPr lang="en-US" altLang="zh-TW" dirty="0"/>
          </a:p>
          <a:p>
            <a:r>
              <a:rPr lang="zh-TW" altLang="en-US" dirty="0"/>
              <a:t>負責指揮各個系統單元執行所需進行的任務。</a:t>
            </a:r>
            <a:endParaRPr lang="en-US" altLang="zh-TW" dirty="0"/>
          </a:p>
          <a:p>
            <a:r>
              <a:rPr lang="zh-TW" altLang="en-US" dirty="0"/>
              <a:t>必須協調各個系統單元間的運作。</a:t>
            </a:r>
          </a:p>
          <a:p>
            <a:endParaRPr lang="zh-TW" altLang="en-US" dirty="0"/>
          </a:p>
        </p:txBody>
      </p:sp>
    </p:spTree>
    <p:extLst>
      <p:ext uri="{BB962C8B-B14F-4D97-AF65-F5344CB8AC3E}">
        <p14:creationId xmlns:p14="http://schemas.microsoft.com/office/powerpoint/2010/main" val="40514350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控制單元</a:t>
            </a:r>
          </a:p>
        </p:txBody>
      </p:sp>
      <p:sp>
        <p:nvSpPr>
          <p:cNvPr id="3" name="內容版面配置區 2"/>
          <p:cNvSpPr>
            <a:spLocks noGrp="1"/>
          </p:cNvSpPr>
          <p:nvPr>
            <p:ph idx="1"/>
          </p:nvPr>
        </p:nvSpPr>
        <p:spPr/>
        <p:txBody>
          <a:bodyPr/>
          <a:lstStyle/>
          <a:p>
            <a:r>
              <a:rPr lang="zh-TW" altLang="en-US" dirty="0"/>
              <a:t>例如：它會從記憶體將所需執行的程式指令搬到暫存器並對指令解碼，然後交給算術邏輯單元運算，再將運算結果放回暫存器或記憶體。</a:t>
            </a:r>
          </a:p>
          <a:p>
            <a:endParaRPr lang="zh-TW" altLang="en-US" dirty="0"/>
          </a:p>
        </p:txBody>
      </p:sp>
    </p:spTree>
    <p:extLst>
      <p:ext uri="{BB962C8B-B14F-4D97-AF65-F5344CB8AC3E}">
        <p14:creationId xmlns:p14="http://schemas.microsoft.com/office/powerpoint/2010/main" val="40328877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算術邏輯單元</a:t>
            </a:r>
          </a:p>
        </p:txBody>
      </p:sp>
      <p:sp>
        <p:nvSpPr>
          <p:cNvPr id="4" name="內容版面配置區 3"/>
          <p:cNvSpPr>
            <a:spLocks noGrp="1"/>
          </p:cNvSpPr>
          <p:nvPr>
            <p:ph idx="1"/>
          </p:nvPr>
        </p:nvSpPr>
        <p:spPr/>
        <p:txBody>
          <a:bodyPr>
            <a:normAutofit/>
          </a:bodyPr>
          <a:lstStyle/>
          <a:p>
            <a:r>
              <a:rPr lang="zh-TW" altLang="en-US" dirty="0"/>
              <a:t>是算術單元及邏輯單元的合稱，負責加法、減法、乘法及除法等數學運算。</a:t>
            </a:r>
          </a:p>
        </p:txBody>
      </p:sp>
    </p:spTree>
    <p:extLst>
      <p:ext uri="{BB962C8B-B14F-4D97-AF65-F5344CB8AC3E}">
        <p14:creationId xmlns:p14="http://schemas.microsoft.com/office/powerpoint/2010/main" val="3871520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算術邏輯單元</a:t>
            </a:r>
            <a:endParaRPr lang="zh-TW" altLang="en-US" dirty="0"/>
          </a:p>
        </p:txBody>
      </p:sp>
      <p:sp>
        <p:nvSpPr>
          <p:cNvPr id="3" name="內容版面配置區 2"/>
          <p:cNvSpPr>
            <a:spLocks noGrp="1"/>
          </p:cNvSpPr>
          <p:nvPr>
            <p:ph idx="1"/>
          </p:nvPr>
        </p:nvSpPr>
        <p:spPr/>
        <p:txBody>
          <a:bodyPr>
            <a:normAutofit lnSpcReduction="10000"/>
          </a:bodyPr>
          <a:lstStyle/>
          <a:p>
            <a:r>
              <a:rPr lang="zh-TW" altLang="en-US" dirty="0"/>
              <a:t>負責</a:t>
            </a:r>
            <a:r>
              <a:rPr lang="en-US" altLang="zh-TW" dirty="0">
                <a:solidFill>
                  <a:srgbClr val="C00000"/>
                </a:solidFill>
              </a:rPr>
              <a:t>AND</a:t>
            </a:r>
            <a:r>
              <a:rPr lang="zh-TW" altLang="en-US" dirty="0">
                <a:solidFill>
                  <a:srgbClr val="C00000"/>
                </a:solidFill>
              </a:rPr>
              <a:t>、</a:t>
            </a:r>
            <a:r>
              <a:rPr lang="en-US" altLang="zh-TW" dirty="0">
                <a:solidFill>
                  <a:srgbClr val="C00000"/>
                </a:solidFill>
              </a:rPr>
              <a:t>OR</a:t>
            </a:r>
            <a:r>
              <a:rPr lang="zh-TW" altLang="en-US" dirty="0">
                <a:solidFill>
                  <a:srgbClr val="C00000"/>
                </a:solidFill>
              </a:rPr>
              <a:t>、</a:t>
            </a:r>
            <a:r>
              <a:rPr lang="en-US" altLang="zh-TW" dirty="0">
                <a:solidFill>
                  <a:srgbClr val="C00000"/>
                </a:solidFill>
              </a:rPr>
              <a:t>XOR</a:t>
            </a:r>
            <a:r>
              <a:rPr lang="en-US" altLang="zh-TW" dirty="0"/>
              <a:t> (</a:t>
            </a:r>
            <a:r>
              <a:rPr lang="en-US" altLang="zh-TW" dirty="0" err="1"/>
              <a:t>eXclusive</a:t>
            </a:r>
            <a:r>
              <a:rPr lang="en-US" altLang="zh-TW" dirty="0"/>
              <a:t> OR</a:t>
            </a:r>
            <a:r>
              <a:rPr lang="zh-TW" altLang="en-US" dirty="0"/>
              <a:t>；兩者相同為</a:t>
            </a:r>
            <a:r>
              <a:rPr lang="en-US" altLang="zh-TW" dirty="0"/>
              <a:t>0</a:t>
            </a:r>
            <a:r>
              <a:rPr lang="zh-TW" altLang="en-US" dirty="0"/>
              <a:t>、反之為</a:t>
            </a:r>
            <a:r>
              <a:rPr lang="en-US" altLang="zh-TW" dirty="0"/>
              <a:t>1)</a:t>
            </a:r>
            <a:r>
              <a:rPr lang="zh-TW" altLang="en-US" dirty="0"/>
              <a:t>及</a:t>
            </a:r>
            <a:r>
              <a:rPr lang="en-US" altLang="zh-TW" dirty="0">
                <a:solidFill>
                  <a:srgbClr val="C00000"/>
                </a:solidFill>
              </a:rPr>
              <a:t>NOT</a:t>
            </a:r>
            <a:r>
              <a:rPr lang="zh-TW" altLang="en-US" dirty="0"/>
              <a:t>等邏輯運算。</a:t>
            </a:r>
          </a:p>
          <a:p>
            <a:pPr lvl="1"/>
            <a:r>
              <a:rPr lang="zh-TW" altLang="en-US" dirty="0"/>
              <a:t>邏輯運算用來做位元的操作，並用來判斷決定程式流程的某些條件是否成立。</a:t>
            </a:r>
            <a:endParaRPr lang="en-US" altLang="zh-TW" dirty="0"/>
          </a:p>
          <a:p>
            <a:pPr lvl="1"/>
            <a:r>
              <a:rPr lang="zh-TW" altLang="en-US" dirty="0"/>
              <a:t>通常是「大於條件」、「等於條件」及「小於條件」等，例如：判斷兩個數的大小等。</a:t>
            </a:r>
          </a:p>
          <a:p>
            <a:endParaRPr lang="zh-TW" altLang="en-US" dirty="0"/>
          </a:p>
          <a:p>
            <a:endParaRPr lang="zh-TW" altLang="en-US" dirty="0"/>
          </a:p>
        </p:txBody>
      </p:sp>
    </p:spTree>
    <p:extLst>
      <p:ext uri="{BB962C8B-B14F-4D97-AF65-F5344CB8AC3E}">
        <p14:creationId xmlns:p14="http://schemas.microsoft.com/office/powerpoint/2010/main" val="17857025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39431" y="647786"/>
            <a:ext cx="3857594" cy="369332"/>
          </a:xfrm>
          <a:prstGeom prst="rect">
            <a:avLst/>
          </a:prstGeom>
        </p:spPr>
        <p:style>
          <a:lnRef idx="0">
            <a:schemeClr val="accent2"/>
          </a:lnRef>
          <a:fillRef idx="3">
            <a:schemeClr val="accent2"/>
          </a:fillRef>
          <a:effectRef idx="3">
            <a:schemeClr val="accent2"/>
          </a:effectRef>
          <a:fontRef idx="minor">
            <a:schemeClr val="lt1"/>
          </a:fontRef>
        </p:style>
        <p:txBody>
          <a:bodyPr wrap="none">
            <a:spAutoFit/>
          </a:bodyPr>
          <a:lstStyle/>
          <a:p>
            <a:r>
              <a:rPr lang="en-US" altLang="zh-TW" dirty="0">
                <a:solidFill>
                  <a:schemeClr val="tx1"/>
                </a:solidFill>
                <a:latin typeface="微軟正黑體" pitchFamily="34" charset="-120"/>
                <a:ea typeface="微軟正黑體" pitchFamily="34" charset="-120"/>
              </a:rPr>
              <a:t>AND</a:t>
            </a:r>
            <a:r>
              <a:rPr lang="zh-TW" altLang="en-US" dirty="0">
                <a:solidFill>
                  <a:schemeClr val="tx1"/>
                </a:solidFill>
                <a:latin typeface="微軟正黑體" pitchFamily="34" charset="-120"/>
                <a:ea typeface="微軟正黑體" pitchFamily="34" charset="-120"/>
              </a:rPr>
              <a:t>、</a:t>
            </a:r>
            <a:r>
              <a:rPr lang="en-US" altLang="zh-TW" dirty="0">
                <a:solidFill>
                  <a:schemeClr val="tx1"/>
                </a:solidFill>
                <a:latin typeface="微軟正黑體" pitchFamily="34" charset="-120"/>
                <a:ea typeface="微軟正黑體" pitchFamily="34" charset="-120"/>
              </a:rPr>
              <a:t>OR</a:t>
            </a:r>
            <a:r>
              <a:rPr lang="zh-TW" altLang="en-US" dirty="0">
                <a:solidFill>
                  <a:schemeClr val="tx1"/>
                </a:solidFill>
                <a:latin typeface="微軟正黑體" pitchFamily="34" charset="-120"/>
                <a:ea typeface="微軟正黑體" pitchFamily="34" charset="-120"/>
              </a:rPr>
              <a:t>、</a:t>
            </a:r>
            <a:r>
              <a:rPr lang="en-US" altLang="zh-TW" dirty="0" err="1">
                <a:solidFill>
                  <a:schemeClr val="tx1"/>
                </a:solidFill>
                <a:latin typeface="微軟正黑體" pitchFamily="34" charset="-120"/>
                <a:ea typeface="微軟正黑體" pitchFamily="34" charset="-120"/>
              </a:rPr>
              <a:t>XOR</a:t>
            </a:r>
            <a:r>
              <a:rPr lang="zh-TW" altLang="en-US" dirty="0">
                <a:solidFill>
                  <a:schemeClr val="tx1"/>
                </a:solidFill>
                <a:latin typeface="微軟正黑體" pitchFamily="34" charset="-120"/>
                <a:ea typeface="微軟正黑體" pitchFamily="34" charset="-120"/>
              </a:rPr>
              <a:t>及</a:t>
            </a:r>
            <a:r>
              <a:rPr lang="en-US" altLang="zh-TW" dirty="0">
                <a:solidFill>
                  <a:schemeClr val="tx1"/>
                </a:solidFill>
                <a:latin typeface="微軟正黑體" pitchFamily="34" charset="-120"/>
                <a:ea typeface="微軟正黑體" pitchFamily="34" charset="-120"/>
              </a:rPr>
              <a:t>NOT</a:t>
            </a:r>
            <a:r>
              <a:rPr lang="zh-TW" altLang="en-US" dirty="0">
                <a:solidFill>
                  <a:schemeClr val="tx1"/>
                </a:solidFill>
                <a:latin typeface="微軟正黑體" pitchFamily="34" charset="-120"/>
                <a:ea typeface="微軟正黑體" pitchFamily="34" charset="-120"/>
              </a:rPr>
              <a:t>等邏輯運算</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1790" y="1177910"/>
            <a:ext cx="3945229" cy="37166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235652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XOR</a:t>
            </a:r>
            <a:r>
              <a:rPr lang="zh-TW" altLang="en-US" dirty="0"/>
              <a:t>做資料遮罩的基礎</a:t>
            </a:r>
          </a:p>
        </p:txBody>
      </p:sp>
      <p:sp>
        <p:nvSpPr>
          <p:cNvPr id="2" name="內容版面配置區 1"/>
          <p:cNvSpPr>
            <a:spLocks noGrp="1"/>
          </p:cNvSpPr>
          <p:nvPr>
            <p:ph idx="1"/>
          </p:nvPr>
        </p:nvSpPr>
        <p:spPr/>
        <p:txBody>
          <a:bodyPr>
            <a:normAutofit/>
          </a:bodyPr>
          <a:lstStyle/>
          <a:p>
            <a:r>
              <a:rPr lang="zh-TW" altLang="en-US" dirty="0"/>
              <a:t>若</a:t>
            </a:r>
            <a:r>
              <a:rPr lang="en-US" altLang="zh-TW" dirty="0"/>
              <a:t>DATA</a:t>
            </a:r>
            <a:r>
              <a:rPr lang="zh-TW" altLang="en-US" dirty="0"/>
              <a:t>為</a:t>
            </a:r>
            <a:r>
              <a:rPr lang="en-US" altLang="zh-TW" dirty="0"/>
              <a:t>11010110</a:t>
            </a:r>
            <a:r>
              <a:rPr lang="zh-TW" altLang="en-US" dirty="0"/>
              <a:t>，</a:t>
            </a:r>
            <a:r>
              <a:rPr lang="en-US" altLang="zh-TW" dirty="0"/>
              <a:t>MASK</a:t>
            </a:r>
            <a:r>
              <a:rPr lang="zh-TW" altLang="en-US" dirty="0"/>
              <a:t>為</a:t>
            </a:r>
            <a:r>
              <a:rPr lang="en-US" altLang="zh-TW" dirty="0"/>
              <a:t>00101100</a:t>
            </a:r>
            <a:r>
              <a:rPr lang="zh-TW" altLang="en-US" dirty="0"/>
              <a:t>。</a:t>
            </a:r>
            <a:endParaRPr lang="en-US" altLang="zh-TW" dirty="0"/>
          </a:p>
          <a:p>
            <a:r>
              <a:rPr lang="en-US" altLang="zh-TW" dirty="0"/>
              <a:t>DATA</a:t>
            </a:r>
            <a:r>
              <a:rPr lang="zh-TW" altLang="en-US" dirty="0"/>
              <a:t>與</a:t>
            </a:r>
            <a:r>
              <a:rPr lang="en-US" altLang="zh-TW" dirty="0"/>
              <a:t>MASK</a:t>
            </a:r>
            <a:r>
              <a:rPr lang="zh-TW" altLang="en-US" dirty="0"/>
              <a:t>以</a:t>
            </a:r>
            <a:r>
              <a:rPr lang="en-US" altLang="zh-TW" dirty="0"/>
              <a:t>XOR</a:t>
            </a:r>
            <a:r>
              <a:rPr lang="zh-TW" altLang="en-US" dirty="0"/>
              <a:t>運算後的結果為</a:t>
            </a:r>
            <a:r>
              <a:rPr lang="en-US" altLang="zh-TW" dirty="0"/>
              <a:t>11111010</a:t>
            </a:r>
            <a:r>
              <a:rPr lang="zh-TW" altLang="en-US" dirty="0"/>
              <a:t>。</a:t>
            </a:r>
            <a:endParaRPr lang="en-US" altLang="zh-TW" dirty="0"/>
          </a:p>
          <a:p>
            <a:r>
              <a:rPr lang="zh-TW" altLang="en-US" dirty="0"/>
              <a:t>將該結果與</a:t>
            </a:r>
            <a:r>
              <a:rPr lang="en-US" altLang="zh-TW" dirty="0"/>
              <a:t>MASK</a:t>
            </a:r>
            <a:r>
              <a:rPr lang="zh-TW" altLang="en-US" dirty="0"/>
              <a:t>以</a:t>
            </a:r>
            <a:r>
              <a:rPr lang="en-US" altLang="zh-TW" dirty="0"/>
              <a:t>XOR</a:t>
            </a:r>
            <a:r>
              <a:rPr lang="zh-TW" altLang="en-US" dirty="0"/>
              <a:t>運算一次，得到的結果為</a:t>
            </a:r>
            <a:r>
              <a:rPr lang="en-US" altLang="zh-TW" dirty="0"/>
              <a:t>11010110</a:t>
            </a:r>
            <a:r>
              <a:rPr lang="zh-TW" altLang="en-US" dirty="0"/>
              <a:t>，這就回復到原來</a:t>
            </a:r>
            <a:r>
              <a:rPr lang="en-US" altLang="zh-TW" dirty="0"/>
              <a:t>DATA</a:t>
            </a:r>
            <a:r>
              <a:rPr lang="zh-TW" altLang="en-US" dirty="0"/>
              <a:t>的內容。</a:t>
            </a:r>
            <a:endParaRPr lang="en-US" altLang="zh-TW" dirty="0"/>
          </a:p>
        </p:txBody>
      </p:sp>
    </p:spTree>
    <p:extLst>
      <p:ext uri="{BB962C8B-B14F-4D97-AF65-F5344CB8AC3E}">
        <p14:creationId xmlns:p14="http://schemas.microsoft.com/office/powerpoint/2010/main" val="15166752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XOR</a:t>
            </a:r>
            <a:r>
              <a:rPr lang="zh-TW" altLang="en-US" dirty="0"/>
              <a:t>做資料遮罩的基礎</a:t>
            </a:r>
          </a:p>
        </p:txBody>
      </p:sp>
      <p:sp>
        <p:nvSpPr>
          <p:cNvPr id="3" name="內容版面配置區 2"/>
          <p:cNvSpPr>
            <a:spLocks noGrp="1"/>
          </p:cNvSpPr>
          <p:nvPr>
            <p:ph idx="1"/>
          </p:nvPr>
        </p:nvSpPr>
        <p:spPr/>
        <p:txBody>
          <a:bodyPr/>
          <a:lstStyle/>
          <a:p>
            <a:r>
              <a:rPr lang="zh-TW" altLang="en-US" dirty="0"/>
              <a:t>一種常見應用是把</a:t>
            </a:r>
            <a:r>
              <a:rPr lang="en-US" altLang="zh-TW" dirty="0"/>
              <a:t>MASK</a:t>
            </a:r>
            <a:r>
              <a:rPr lang="zh-TW" altLang="en-US" dirty="0"/>
              <a:t>當成加密用的密碼，當</a:t>
            </a:r>
            <a:r>
              <a:rPr lang="en-US" altLang="zh-TW" dirty="0"/>
              <a:t>DATA</a:t>
            </a:r>
            <a:r>
              <a:rPr lang="zh-TW" altLang="en-US" dirty="0"/>
              <a:t>以</a:t>
            </a:r>
            <a:r>
              <a:rPr lang="en-US" altLang="zh-TW" dirty="0"/>
              <a:t>MASK</a:t>
            </a:r>
            <a:r>
              <a:rPr lang="zh-TW" altLang="en-US" dirty="0"/>
              <a:t>蓋住時，只有知道</a:t>
            </a:r>
            <a:r>
              <a:rPr lang="en-US" altLang="zh-TW" dirty="0"/>
              <a:t>MASK</a:t>
            </a:r>
            <a:r>
              <a:rPr lang="zh-TW" altLang="en-US" dirty="0"/>
              <a:t>的人才能將</a:t>
            </a:r>
            <a:r>
              <a:rPr lang="en-US" altLang="zh-TW" dirty="0"/>
              <a:t>DATA</a:t>
            </a:r>
            <a:r>
              <a:rPr lang="zh-TW" altLang="en-US" dirty="0"/>
              <a:t>回復。</a:t>
            </a:r>
            <a:endParaRPr lang="en-US" altLang="zh-TW" dirty="0"/>
          </a:p>
          <a:p>
            <a:endParaRPr lang="zh-TW" altLang="en-US" dirty="0"/>
          </a:p>
        </p:txBody>
      </p:sp>
    </p:spTree>
    <p:extLst>
      <p:ext uri="{BB962C8B-B14F-4D97-AF65-F5344CB8AC3E}">
        <p14:creationId xmlns:p14="http://schemas.microsoft.com/office/powerpoint/2010/main" val="20608424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QR Code</a:t>
            </a:r>
            <a:endParaRPr lang="zh-TW" altLang="en-US" dirty="0"/>
          </a:p>
        </p:txBody>
      </p:sp>
      <p:sp>
        <p:nvSpPr>
          <p:cNvPr id="3" name="內容版面配置區 2"/>
          <p:cNvSpPr>
            <a:spLocks noGrp="1"/>
          </p:cNvSpPr>
          <p:nvPr>
            <p:ph idx="1"/>
          </p:nvPr>
        </p:nvSpPr>
        <p:spPr/>
        <p:txBody>
          <a:bodyPr>
            <a:normAutofit fontScale="92500" lnSpcReduction="10000"/>
          </a:bodyPr>
          <a:lstStyle/>
          <a:p>
            <a:r>
              <a:rPr lang="en-US" altLang="zh-TW" dirty="0"/>
              <a:t>QR Code</a:t>
            </a:r>
            <a:r>
              <a:rPr lang="zh-TW" altLang="en-US" dirty="0"/>
              <a:t>產生器製作</a:t>
            </a:r>
            <a:r>
              <a:rPr lang="en-US" altLang="zh-TW" dirty="0"/>
              <a:t>QR Code</a:t>
            </a:r>
            <a:r>
              <a:rPr lang="zh-TW" altLang="en-US" dirty="0"/>
              <a:t>時，會評估套用哪一款</a:t>
            </a:r>
            <a:r>
              <a:rPr lang="en-US" altLang="zh-TW" dirty="0"/>
              <a:t>MASK</a:t>
            </a:r>
            <a:r>
              <a:rPr lang="zh-TW" altLang="en-US" dirty="0"/>
              <a:t>讓它看起來最「黑白相間」，避免出現一大片全黑或全白的區塊，解讀時再套用同一款</a:t>
            </a:r>
            <a:r>
              <a:rPr lang="en-US" altLang="zh-TW" dirty="0"/>
              <a:t>MASK</a:t>
            </a:r>
            <a:r>
              <a:rPr lang="zh-TW" altLang="en-US" dirty="0"/>
              <a:t>讀回原始內容。</a:t>
            </a:r>
            <a:endParaRPr lang="en-US" altLang="zh-TW" dirty="0"/>
          </a:p>
          <a:p>
            <a:r>
              <a:rPr lang="en-US" altLang="zh-TW" dirty="0"/>
              <a:t>QR Code</a:t>
            </a:r>
            <a:r>
              <a:rPr lang="zh-TW" altLang="en-US" dirty="0"/>
              <a:t>，無論內藏資料為何，它都不會白白一大片，也不會黑黑一大片。</a:t>
            </a:r>
          </a:p>
          <a:p>
            <a:endParaRPr lang="zh-TW" altLang="en-US" dirty="0"/>
          </a:p>
        </p:txBody>
      </p:sp>
    </p:spTree>
    <p:extLst>
      <p:ext uri="{BB962C8B-B14F-4D97-AF65-F5344CB8AC3E}">
        <p14:creationId xmlns:p14="http://schemas.microsoft.com/office/powerpoint/2010/main" val="2500503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匯流排</a:t>
            </a:r>
          </a:p>
        </p:txBody>
      </p:sp>
      <p:sp>
        <p:nvSpPr>
          <p:cNvPr id="4" name="內容版面配置區 3"/>
          <p:cNvSpPr>
            <a:spLocks noGrp="1"/>
          </p:cNvSpPr>
          <p:nvPr>
            <p:ph idx="1"/>
          </p:nvPr>
        </p:nvSpPr>
        <p:spPr/>
        <p:txBody>
          <a:bodyPr>
            <a:normAutofit fontScale="92500" lnSpcReduction="10000"/>
          </a:bodyPr>
          <a:lstStyle/>
          <a:p>
            <a:r>
              <a:rPr lang="zh-TW" altLang="en-US" dirty="0"/>
              <a:t>在中央處理器和記憶體的連結架構裡，有一些用來傳輸電子訊號的傳輸工具，稱為</a:t>
            </a:r>
            <a:r>
              <a:rPr lang="zh-TW" altLang="en-US" dirty="0">
                <a:solidFill>
                  <a:srgbClr val="C00000"/>
                </a:solidFill>
              </a:rPr>
              <a:t>匯流排</a:t>
            </a:r>
            <a:r>
              <a:rPr lang="en-US" altLang="zh-TW" dirty="0"/>
              <a:t>(bus)</a:t>
            </a:r>
            <a:r>
              <a:rPr lang="zh-TW" altLang="en-US" dirty="0"/>
              <a:t>。</a:t>
            </a:r>
            <a:endParaRPr lang="en-US" altLang="zh-TW" dirty="0"/>
          </a:p>
          <a:p>
            <a:r>
              <a:rPr lang="zh-TW" altLang="en-US" dirty="0"/>
              <a:t>分為：</a:t>
            </a:r>
            <a:endParaRPr lang="en-US" altLang="zh-TW" dirty="0"/>
          </a:p>
          <a:p>
            <a:pPr lvl="1"/>
            <a:r>
              <a:rPr lang="zh-TW" altLang="en-US" dirty="0"/>
              <a:t>控制匯流排</a:t>
            </a:r>
            <a:r>
              <a:rPr lang="en-US" altLang="zh-TW" dirty="0"/>
              <a:t>(control bus)</a:t>
            </a:r>
          </a:p>
          <a:p>
            <a:pPr lvl="1"/>
            <a:r>
              <a:rPr lang="zh-TW" altLang="en-US" dirty="0"/>
              <a:t>位址匯流排</a:t>
            </a:r>
            <a:r>
              <a:rPr lang="en-US" altLang="zh-TW" dirty="0"/>
              <a:t>(address bus)</a:t>
            </a:r>
          </a:p>
          <a:p>
            <a:pPr lvl="1"/>
            <a:r>
              <a:rPr lang="zh-TW" altLang="en-US" dirty="0"/>
              <a:t>資料匯流排</a:t>
            </a:r>
            <a:r>
              <a:rPr lang="en-US" altLang="zh-TW" dirty="0"/>
              <a:t>(data bus)</a:t>
            </a:r>
            <a:endParaRPr lang="zh-TW" altLang="en-US" dirty="0"/>
          </a:p>
          <a:p>
            <a:endParaRPr lang="zh-TW" altLang="en-US" dirty="0"/>
          </a:p>
        </p:txBody>
      </p:sp>
    </p:spTree>
    <p:extLst>
      <p:ext uri="{BB962C8B-B14F-4D97-AF65-F5344CB8AC3E}">
        <p14:creationId xmlns:p14="http://schemas.microsoft.com/office/powerpoint/2010/main" val="18789116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匯流排</a:t>
            </a:r>
          </a:p>
        </p:txBody>
      </p:sp>
      <p:graphicFrame>
        <p:nvGraphicFramePr>
          <p:cNvPr id="2" name="內容版面配置區 1"/>
          <p:cNvGraphicFramePr>
            <a:graphicFrameLocks noGrp="1"/>
          </p:cNvGraphicFramePr>
          <p:nvPr>
            <p:ph idx="1"/>
            <p:extLst>
              <p:ext uri="{D42A27DB-BD31-4B8C-83A1-F6EECF244321}">
                <p14:modId xmlns:p14="http://schemas.microsoft.com/office/powerpoint/2010/main" val="3988008533"/>
              </p:ext>
            </p:extLst>
          </p:nvPr>
        </p:nvGraphicFramePr>
        <p:xfrm>
          <a:off x="457200" y="1424122"/>
          <a:ext cx="8229600" cy="2934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736220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3-1 </a:t>
            </a:r>
            <a:r>
              <a:rPr lang="zh-TW" altLang="en-US" dirty="0"/>
              <a:t>中央處理器</a:t>
            </a:r>
          </a:p>
        </p:txBody>
      </p:sp>
      <p:sp>
        <p:nvSpPr>
          <p:cNvPr id="5" name="內容版面配置區 4"/>
          <p:cNvSpPr>
            <a:spLocks noGrp="1"/>
          </p:cNvSpPr>
          <p:nvPr>
            <p:ph idx="1"/>
          </p:nvPr>
        </p:nvSpPr>
        <p:spPr/>
        <p:txBody>
          <a:bodyPr>
            <a:normAutofit/>
          </a:bodyPr>
          <a:lstStyle/>
          <a:p>
            <a:r>
              <a:rPr lang="zh-TW" altLang="en-US" dirty="0"/>
              <a:t>在微處理器的發展史上，最主要是</a:t>
            </a:r>
            <a:r>
              <a:rPr lang="en-US" altLang="zh-TW" dirty="0"/>
              <a:t>Intel</a:t>
            </a:r>
            <a:r>
              <a:rPr lang="zh-TW" altLang="en-US" dirty="0"/>
              <a:t>和</a:t>
            </a:r>
            <a:r>
              <a:rPr lang="en-US" altLang="zh-TW" dirty="0"/>
              <a:t>AMD</a:t>
            </a:r>
            <a:r>
              <a:rPr lang="zh-TW" altLang="en-US" dirty="0"/>
              <a:t>的兩雄對決，當然還有其他競爭者，如：美超微</a:t>
            </a:r>
            <a:r>
              <a:rPr lang="en-US" altLang="zh-TW" dirty="0"/>
              <a:t>(Supermicro)</a:t>
            </a:r>
            <a:r>
              <a:rPr lang="zh-TW" altLang="en-US" dirty="0"/>
              <a:t>等。</a:t>
            </a:r>
          </a:p>
          <a:p>
            <a:endParaRPr lang="zh-TW" altLang="en-US" dirty="0"/>
          </a:p>
        </p:txBody>
      </p:sp>
      <p:pic>
        <p:nvPicPr>
          <p:cNvPr id="7" name="圖片 6"/>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427095" y="3426845"/>
            <a:ext cx="1530170" cy="1530170"/>
          </a:xfrm>
          <a:prstGeom prst="rect">
            <a:avLst/>
          </a:prstGeom>
        </p:spPr>
      </p:pic>
      <p:pic>
        <p:nvPicPr>
          <p:cNvPr id="8" name="Picture 2" descr="http://wpengine.com/wp-content/uploads/2015/04/amd-logo.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2996825" y="3921900"/>
            <a:ext cx="2062757" cy="794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74716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3-1 </a:t>
            </a:r>
            <a:r>
              <a:rPr lang="zh-TW" altLang="en-US" dirty="0"/>
              <a:t>中央處理器</a:t>
            </a:r>
          </a:p>
        </p:txBody>
      </p:sp>
      <p:sp>
        <p:nvSpPr>
          <p:cNvPr id="3" name="內容版面配置區 2"/>
          <p:cNvSpPr>
            <a:spLocks noGrp="1"/>
          </p:cNvSpPr>
          <p:nvPr>
            <p:ph idx="1"/>
          </p:nvPr>
        </p:nvSpPr>
        <p:spPr/>
        <p:txBody>
          <a:bodyPr>
            <a:normAutofit fontScale="92500" lnSpcReduction="10000"/>
          </a:bodyPr>
          <a:lstStyle/>
          <a:p>
            <a:r>
              <a:rPr lang="zh-TW" altLang="en-US" dirty="0"/>
              <a:t>為了極大化運算效率，在現代電腦架構中，還會安裝</a:t>
            </a:r>
            <a:r>
              <a:rPr lang="en-US" altLang="zh-TW" dirty="0"/>
              <a:t>GPU</a:t>
            </a:r>
            <a:r>
              <a:rPr lang="zh-TW" altLang="en-US" dirty="0"/>
              <a:t>（</a:t>
            </a:r>
            <a:r>
              <a:rPr lang="en-US" altLang="zh-TW" dirty="0"/>
              <a:t>Graphics Processing Unit</a:t>
            </a:r>
            <a:r>
              <a:rPr lang="zh-TW" altLang="en-US" dirty="0"/>
              <a:t>；圖形處理單元）來和 </a:t>
            </a:r>
            <a:r>
              <a:rPr lang="en-US" altLang="zh-TW" dirty="0"/>
              <a:t>CPU</a:t>
            </a:r>
            <a:r>
              <a:rPr lang="zh-TW" altLang="en-US" dirty="0"/>
              <a:t>互補協作。</a:t>
            </a:r>
            <a:endParaRPr lang="en-US" altLang="zh-TW" dirty="0"/>
          </a:p>
          <a:p>
            <a:r>
              <a:rPr lang="en-US" altLang="zh-TW" dirty="0"/>
              <a:t>GPU</a:t>
            </a:r>
            <a:r>
              <a:rPr lang="zh-TW" altLang="en-US" dirty="0"/>
              <a:t>在影音處理、加密貨幣挖礦及</a:t>
            </a:r>
            <a:r>
              <a:rPr lang="en-US" altLang="zh-TW" dirty="0"/>
              <a:t>AI</a:t>
            </a:r>
            <a:r>
              <a:rPr lang="zh-TW" altLang="en-US" dirty="0"/>
              <a:t>模型訓練上有相當優異的效能，是</a:t>
            </a:r>
            <a:r>
              <a:rPr lang="en-US" altLang="zh-TW" dirty="0"/>
              <a:t>AI</a:t>
            </a:r>
            <a:r>
              <a:rPr lang="zh-TW" altLang="en-US" dirty="0"/>
              <a:t>運算與深度學習的核心組件。。</a:t>
            </a:r>
          </a:p>
        </p:txBody>
      </p:sp>
    </p:spTree>
    <p:extLst>
      <p:ext uri="{BB962C8B-B14F-4D97-AF65-F5344CB8AC3E}">
        <p14:creationId xmlns:p14="http://schemas.microsoft.com/office/powerpoint/2010/main" val="899718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E7482A-3693-B46E-2BF2-F023D6D4393B}"/>
              </a:ext>
            </a:extLst>
          </p:cNvPr>
          <p:cNvSpPr>
            <a:spLocks noGrp="1"/>
          </p:cNvSpPr>
          <p:nvPr>
            <p:ph type="title"/>
          </p:nvPr>
        </p:nvSpPr>
        <p:spPr/>
        <p:txBody>
          <a:bodyPr/>
          <a:lstStyle/>
          <a:p>
            <a:r>
              <a:rPr lang="en-US" altLang="zh-TW" dirty="0"/>
              <a:t>3-1 </a:t>
            </a:r>
            <a:r>
              <a:rPr lang="zh-TW" altLang="en-US" dirty="0"/>
              <a:t>中央處理器</a:t>
            </a:r>
          </a:p>
        </p:txBody>
      </p:sp>
      <p:sp>
        <p:nvSpPr>
          <p:cNvPr id="3" name="內容版面配置區 2">
            <a:extLst>
              <a:ext uri="{FF2B5EF4-FFF2-40B4-BE49-F238E27FC236}">
                <a16:creationId xmlns:a16="http://schemas.microsoft.com/office/drawing/2014/main" id="{9E29A3E1-0979-AA51-817E-76CF3FD38726}"/>
              </a:ext>
            </a:extLst>
          </p:cNvPr>
          <p:cNvSpPr>
            <a:spLocks noGrp="1"/>
          </p:cNvSpPr>
          <p:nvPr>
            <p:ph idx="1"/>
          </p:nvPr>
        </p:nvSpPr>
        <p:spPr/>
        <p:txBody>
          <a:bodyPr>
            <a:normAutofit fontScale="92500"/>
          </a:bodyPr>
          <a:lstStyle/>
          <a:p>
            <a:r>
              <a:rPr lang="en-US" altLang="zh-TW" dirty="0"/>
              <a:t>NVIDIA</a:t>
            </a:r>
            <a:r>
              <a:rPr lang="zh-TW" altLang="en-US" dirty="0"/>
              <a:t>（輝達）在全球市占率最高，在電競顯示卡與</a:t>
            </a:r>
            <a:r>
              <a:rPr lang="en-US" altLang="zh-TW" dirty="0"/>
              <a:t>AI</a:t>
            </a:r>
            <a:r>
              <a:rPr lang="zh-TW" altLang="en-US" dirty="0"/>
              <a:t>資料中心加速器領域擁有相當的領導地位。</a:t>
            </a:r>
            <a:endParaRPr lang="en-US" altLang="zh-TW" dirty="0"/>
          </a:p>
          <a:p>
            <a:r>
              <a:rPr lang="zh-TW" altLang="en-US" dirty="0"/>
              <a:t>截至</a:t>
            </a:r>
            <a:r>
              <a:rPr lang="en-US" altLang="zh-TW" dirty="0"/>
              <a:t>2026</a:t>
            </a:r>
            <a:r>
              <a:rPr lang="zh-TW" altLang="en-US" dirty="0"/>
              <a:t>年，台積電（</a:t>
            </a:r>
            <a:r>
              <a:rPr lang="en-US" altLang="zh-TW" dirty="0"/>
              <a:t>TSMC</a:t>
            </a:r>
            <a:r>
              <a:rPr lang="zh-TW" altLang="en-US" dirty="0"/>
              <a:t>）在全球半導體製造領域占有顯著的市場份額，是高階運算晶片的主要供應來源。</a:t>
            </a:r>
          </a:p>
        </p:txBody>
      </p:sp>
    </p:spTree>
    <p:extLst>
      <p:ext uri="{BB962C8B-B14F-4D97-AF65-F5344CB8AC3E}">
        <p14:creationId xmlns:p14="http://schemas.microsoft.com/office/powerpoint/2010/main" val="2421545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3-2 </a:t>
            </a:r>
            <a:r>
              <a:rPr lang="zh-TW" altLang="en-US" dirty="0"/>
              <a:t>主記憶體</a:t>
            </a:r>
          </a:p>
        </p:txBody>
      </p:sp>
      <p:sp>
        <p:nvSpPr>
          <p:cNvPr id="4" name="內容版面配置區 3"/>
          <p:cNvSpPr>
            <a:spLocks noGrp="1"/>
          </p:cNvSpPr>
          <p:nvPr>
            <p:ph idx="1"/>
          </p:nvPr>
        </p:nvSpPr>
        <p:spPr/>
        <p:txBody>
          <a:bodyPr/>
          <a:lstStyle/>
          <a:p>
            <a:r>
              <a:rPr lang="zh-TW" altLang="en-US" dirty="0"/>
              <a:t>記憶體依速度、單位價格及屬性等分成多種類型。</a:t>
            </a:r>
            <a:endParaRPr lang="en-US" altLang="zh-TW" dirty="0"/>
          </a:p>
          <a:p>
            <a:endParaRPr lang="zh-TW" altLang="en-US"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231740" y="2211710"/>
            <a:ext cx="4728370" cy="27799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80385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3-2 </a:t>
            </a:r>
            <a:r>
              <a:rPr lang="zh-TW" altLang="en-US" dirty="0"/>
              <a:t>主記憶體</a:t>
            </a:r>
          </a:p>
        </p:txBody>
      </p:sp>
      <p:sp>
        <p:nvSpPr>
          <p:cNvPr id="4" name="內容版面配置區 3"/>
          <p:cNvSpPr>
            <a:spLocks noGrp="1"/>
          </p:cNvSpPr>
          <p:nvPr>
            <p:ph idx="1"/>
          </p:nvPr>
        </p:nvSpPr>
        <p:spPr>
          <a:xfrm>
            <a:off x="457201" y="1660399"/>
            <a:ext cx="4609855" cy="2934224"/>
          </a:xfrm>
        </p:spPr>
        <p:txBody>
          <a:bodyPr>
            <a:normAutofit fontScale="85000" lnSpcReduction="10000"/>
          </a:bodyPr>
          <a:lstStyle/>
          <a:p>
            <a:r>
              <a:rPr lang="zh-TW" altLang="en-US" dirty="0"/>
              <a:t>記憶體是用來儲存數位資料以及運算後的結果。</a:t>
            </a:r>
            <a:endParaRPr lang="en-US" altLang="zh-TW" dirty="0"/>
          </a:p>
          <a:p>
            <a:r>
              <a:rPr lang="zh-TW" altLang="en-US" dirty="0"/>
              <a:t>在馮紐曼模式裡，記憶體同時儲存程式及資料，當操作不同程序時，只要載入相對應的程式即可，不必另外改變硬體。</a:t>
            </a:r>
          </a:p>
          <a:p>
            <a:endParaRPr lang="zh-TW" altLang="en-US" dirty="0"/>
          </a:p>
        </p:txBody>
      </p:sp>
      <p:pic>
        <p:nvPicPr>
          <p:cNvPr id="5" name="圖片 4"/>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562110" y="1761660"/>
            <a:ext cx="2609050" cy="2609050"/>
          </a:xfrm>
          <a:prstGeom prst="rect">
            <a:avLst/>
          </a:prstGeom>
        </p:spPr>
      </p:pic>
    </p:spTree>
    <p:extLst>
      <p:ext uri="{BB962C8B-B14F-4D97-AF65-F5344CB8AC3E}">
        <p14:creationId xmlns:p14="http://schemas.microsoft.com/office/powerpoint/2010/main" val="3688234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3-2 </a:t>
            </a:r>
            <a:r>
              <a:rPr lang="zh-TW" altLang="en-US" dirty="0"/>
              <a:t>主記憶體</a:t>
            </a: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939623989"/>
              </p:ext>
            </p:extLst>
          </p:nvPr>
        </p:nvGraphicFramePr>
        <p:xfrm>
          <a:off x="457200" y="1424123"/>
          <a:ext cx="8229600" cy="31726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54469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3-2 </a:t>
            </a:r>
            <a:r>
              <a:rPr lang="zh-TW" altLang="en-US" dirty="0"/>
              <a:t>主記憶體</a:t>
            </a:r>
          </a:p>
        </p:txBody>
      </p:sp>
      <p:sp>
        <p:nvSpPr>
          <p:cNvPr id="4" name="內容版面配置區 3"/>
          <p:cNvSpPr>
            <a:spLocks noGrp="1"/>
          </p:cNvSpPr>
          <p:nvPr>
            <p:ph idx="1"/>
          </p:nvPr>
        </p:nvSpPr>
        <p:spPr/>
        <p:txBody>
          <a:bodyPr>
            <a:normAutofit/>
          </a:bodyPr>
          <a:lstStyle/>
          <a:p>
            <a:r>
              <a:rPr lang="en-US" altLang="zh-TW" sz="2600" dirty="0"/>
              <a:t>CPU</a:t>
            </a:r>
            <a:r>
              <a:rPr lang="zh-TW" altLang="en-US" sz="2600" dirty="0"/>
              <a:t>執行時，若每次都從主記憶體擷取資料，因主記憶體傳送資料到</a:t>
            </a:r>
            <a:r>
              <a:rPr lang="en-US" altLang="zh-TW" sz="2600" dirty="0"/>
              <a:t>CPU</a:t>
            </a:r>
            <a:r>
              <a:rPr lang="zh-TW" altLang="en-US" sz="2600" dirty="0"/>
              <a:t>的速度較慢，效率會較差，因此使用</a:t>
            </a:r>
            <a:r>
              <a:rPr lang="zh-TW" altLang="en-US" sz="2600" dirty="0">
                <a:solidFill>
                  <a:srgbClr val="C00000"/>
                </a:solidFill>
              </a:rPr>
              <a:t>快取記憶體</a:t>
            </a:r>
            <a:r>
              <a:rPr lang="en-US" altLang="zh-TW" sz="2600" dirty="0"/>
              <a:t>(cache)</a:t>
            </a:r>
            <a:r>
              <a:rPr lang="zh-TW" altLang="en-US" sz="2600" dirty="0"/>
              <a:t>可提高</a:t>
            </a:r>
            <a:r>
              <a:rPr lang="en-US" altLang="zh-TW" sz="2600" dirty="0"/>
              <a:t>CPU</a:t>
            </a:r>
            <a:r>
              <a:rPr lang="zh-TW" altLang="en-US" sz="2600" dirty="0"/>
              <a:t>與記憶體間之頻寬。</a:t>
            </a:r>
          </a:p>
        </p:txBody>
      </p:sp>
    </p:spTree>
    <p:extLst>
      <p:ext uri="{BB962C8B-B14F-4D97-AF65-F5344CB8AC3E}">
        <p14:creationId xmlns:p14="http://schemas.microsoft.com/office/powerpoint/2010/main" val="253236602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3-2 </a:t>
            </a:r>
            <a:r>
              <a:rPr lang="zh-TW" altLang="en-US" dirty="0"/>
              <a:t>主記憶體</a:t>
            </a:r>
          </a:p>
        </p:txBody>
      </p:sp>
      <p:sp>
        <p:nvSpPr>
          <p:cNvPr id="3" name="內容版面配置區 2"/>
          <p:cNvSpPr>
            <a:spLocks noGrp="1"/>
          </p:cNvSpPr>
          <p:nvPr>
            <p:ph idx="1"/>
          </p:nvPr>
        </p:nvSpPr>
        <p:spPr/>
        <p:txBody>
          <a:bodyPr/>
          <a:lstStyle/>
          <a:p>
            <a:pPr lvl="0"/>
            <a:r>
              <a:rPr lang="zh-TW" altLang="zh-TW"/>
              <a:t>馮紐曼瓶頸</a:t>
            </a:r>
            <a:r>
              <a:rPr lang="en-US" altLang="zh-TW"/>
              <a:t> (von Neumann Bottleneck)</a:t>
            </a:r>
            <a:r>
              <a:rPr lang="zh-TW" altLang="zh-TW"/>
              <a:t> </a:t>
            </a:r>
          </a:p>
          <a:p>
            <a:pPr lvl="1"/>
            <a:r>
              <a:rPr lang="zh-TW" altLang="zh-TW"/>
              <a:t>不論</a:t>
            </a:r>
            <a:r>
              <a:rPr lang="en-US" altLang="zh-TW"/>
              <a:t>CPU</a:t>
            </a:r>
            <a:r>
              <a:rPr lang="zh-TW" altLang="zh-TW"/>
              <a:t>與記憶體的速度有多快，整個系統的速度終將受限於匯流排</a:t>
            </a:r>
            <a:r>
              <a:rPr lang="en-US" altLang="zh-TW"/>
              <a:t>(bus)</a:t>
            </a:r>
            <a:r>
              <a:rPr lang="zh-TW" altLang="zh-TW"/>
              <a:t>的速度。</a:t>
            </a:r>
          </a:p>
          <a:p>
            <a:endParaRPr lang="zh-TW" altLang="en-US" dirty="0"/>
          </a:p>
        </p:txBody>
      </p:sp>
    </p:spTree>
    <p:extLst>
      <p:ext uri="{BB962C8B-B14F-4D97-AF65-F5344CB8AC3E}">
        <p14:creationId xmlns:p14="http://schemas.microsoft.com/office/powerpoint/2010/main" val="715581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3-2 </a:t>
            </a:r>
            <a:r>
              <a:rPr lang="zh-TW" altLang="en-US" dirty="0"/>
              <a:t>主記憶體</a:t>
            </a:r>
          </a:p>
        </p:txBody>
      </p:sp>
      <p:sp>
        <p:nvSpPr>
          <p:cNvPr id="4" name="內容版面配置區 3"/>
          <p:cNvSpPr>
            <a:spLocks noGrp="1"/>
          </p:cNvSpPr>
          <p:nvPr>
            <p:ph idx="1"/>
          </p:nvPr>
        </p:nvSpPr>
        <p:spPr>
          <a:xfrm>
            <a:off x="457200" y="1660399"/>
            <a:ext cx="3699582" cy="2934224"/>
          </a:xfrm>
        </p:spPr>
        <p:txBody>
          <a:bodyPr>
            <a:normAutofit/>
          </a:bodyPr>
          <a:lstStyle/>
          <a:p>
            <a:r>
              <a:rPr lang="zh-TW" altLang="en-US" dirty="0"/>
              <a:t>主記憶體的每個位置都有個位址，才能去存取它的內容。</a:t>
            </a:r>
          </a:p>
        </p:txBody>
      </p:sp>
      <p:sp>
        <p:nvSpPr>
          <p:cNvPr id="6" name="矩形 5"/>
          <p:cNvSpPr/>
          <p:nvPr/>
        </p:nvSpPr>
        <p:spPr>
          <a:xfrm>
            <a:off x="997614" y="3725619"/>
            <a:ext cx="3150350" cy="646331"/>
          </a:xfrm>
          <a:prstGeom prst="rect">
            <a:avLst/>
          </a:prstGeom>
          <a:ln/>
        </p:spPr>
        <p:style>
          <a:lnRef idx="1">
            <a:schemeClr val="accent2"/>
          </a:lnRef>
          <a:fillRef idx="3">
            <a:schemeClr val="accent2"/>
          </a:fillRef>
          <a:effectRef idx="2">
            <a:schemeClr val="accent2"/>
          </a:effectRef>
          <a:fontRef idx="minor">
            <a:schemeClr val="lt1"/>
          </a:fontRef>
        </p:style>
        <p:txBody>
          <a:bodyPr wrap="square">
            <a:spAutoFit/>
          </a:bodyPr>
          <a:lstStyle/>
          <a:p>
            <a:r>
              <a:rPr lang="zh-TW" altLang="en-US" b="1" dirty="0">
                <a:latin typeface="微軟正黑體" pitchFamily="34" charset="-120"/>
                <a:ea typeface="微軟正黑體" pitchFamily="34" charset="-120"/>
              </a:rPr>
              <a:t>以</a:t>
            </a:r>
            <a:r>
              <a:rPr lang="en-US" altLang="zh-TW" b="1" dirty="0">
                <a:latin typeface="微軟正黑體" pitchFamily="34" charset="-120"/>
                <a:ea typeface="微軟正黑體" pitchFamily="34" charset="-120"/>
              </a:rPr>
              <a:t>16</a:t>
            </a:r>
            <a:r>
              <a:rPr lang="zh-TW" altLang="en-US" b="1" dirty="0">
                <a:latin typeface="微軟正黑體" pitchFamily="34" charset="-120"/>
                <a:ea typeface="微軟正黑體" pitchFamily="34" charset="-120"/>
              </a:rPr>
              <a:t>個位元表示位址，最多可表示</a:t>
            </a:r>
            <a:r>
              <a:rPr lang="en-US" altLang="zh-TW" b="1" dirty="0">
                <a:latin typeface="微軟正黑體" pitchFamily="34" charset="-120"/>
                <a:ea typeface="微軟正黑體" pitchFamily="34" charset="-120"/>
              </a:rPr>
              <a:t>2</a:t>
            </a:r>
            <a:r>
              <a:rPr lang="en-US" altLang="zh-TW" b="1" baseline="30000" dirty="0">
                <a:latin typeface="微軟正黑體" pitchFamily="34" charset="-120"/>
                <a:ea typeface="微軟正黑體" pitchFamily="34" charset="-120"/>
              </a:rPr>
              <a:t>16</a:t>
            </a:r>
            <a:r>
              <a:rPr lang="en-US" altLang="zh-TW" b="1" dirty="0">
                <a:latin typeface="微軟正黑體" pitchFamily="34" charset="-120"/>
                <a:ea typeface="微軟正黑體" pitchFamily="34" charset="-120"/>
              </a:rPr>
              <a:t> = 65536</a:t>
            </a:r>
            <a:r>
              <a:rPr lang="zh-TW" altLang="en-US" b="1" dirty="0">
                <a:latin typeface="微軟正黑體" pitchFamily="34" charset="-120"/>
                <a:ea typeface="微軟正黑體" pitchFamily="34" charset="-120"/>
              </a:rPr>
              <a:t>個位址</a:t>
            </a: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46975" y="1660398"/>
            <a:ext cx="3870430" cy="28225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842757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3-2 </a:t>
            </a:r>
            <a:r>
              <a:rPr lang="zh-TW" altLang="en-US" dirty="0"/>
              <a:t>主記憶體</a:t>
            </a:r>
          </a:p>
        </p:txBody>
      </p:sp>
      <p:sp>
        <p:nvSpPr>
          <p:cNvPr id="5" name="內容版面配置區 4"/>
          <p:cNvSpPr>
            <a:spLocks noGrp="1"/>
          </p:cNvSpPr>
          <p:nvPr>
            <p:ph idx="1"/>
          </p:nvPr>
        </p:nvSpPr>
        <p:spPr/>
        <p:txBody>
          <a:bodyPr>
            <a:normAutofit/>
          </a:bodyPr>
          <a:lstStyle/>
          <a:p>
            <a:r>
              <a:rPr lang="zh-TW" altLang="en-US" dirty="0"/>
              <a:t>假設每個位置存放</a:t>
            </a:r>
            <a:r>
              <a:rPr lang="en-US" altLang="zh-TW" dirty="0"/>
              <a:t>8</a:t>
            </a:r>
            <a:r>
              <a:rPr lang="zh-TW" altLang="en-US" dirty="0"/>
              <a:t>個位元</a:t>
            </a:r>
            <a:r>
              <a:rPr lang="en-US" altLang="zh-TW" dirty="0"/>
              <a:t>(1 byte)</a:t>
            </a:r>
            <a:r>
              <a:rPr lang="zh-TW" altLang="en-US" dirty="0"/>
              <a:t>，若電腦有</a:t>
            </a:r>
            <a:r>
              <a:rPr lang="en-US" altLang="zh-TW" dirty="0"/>
              <a:t>32 MB</a:t>
            </a:r>
            <a:r>
              <a:rPr lang="zh-TW" altLang="en-US" dirty="0"/>
              <a:t>，至少需要幾個位元來表示位址呢？也就是多少位元，其組合數至少有</a:t>
            </a:r>
            <a:r>
              <a:rPr lang="en-US" altLang="zh-TW" dirty="0" err="1"/>
              <a:t>32M</a:t>
            </a:r>
            <a:r>
              <a:rPr lang="zh-TW" altLang="en-US" dirty="0"/>
              <a:t>種呢？</a:t>
            </a:r>
            <a:br>
              <a:rPr lang="en-US" altLang="zh-TW" dirty="0"/>
            </a:br>
            <a:br>
              <a:rPr lang="en-US" altLang="zh-TW" dirty="0"/>
            </a:br>
            <a:r>
              <a:rPr lang="en-US" altLang="zh-TW" dirty="0" err="1"/>
              <a:t>log</a:t>
            </a:r>
            <a:r>
              <a:rPr lang="en-US" altLang="zh-TW" baseline="-25000" dirty="0" err="1"/>
              <a:t>2</a:t>
            </a:r>
            <a:r>
              <a:rPr lang="en-US" altLang="zh-TW" dirty="0" err="1"/>
              <a:t>32M</a:t>
            </a:r>
            <a:r>
              <a:rPr lang="en-US" altLang="zh-TW" dirty="0"/>
              <a:t> = </a:t>
            </a:r>
            <a:r>
              <a:rPr lang="en-US" altLang="zh-TW" dirty="0" err="1"/>
              <a:t>log</a:t>
            </a:r>
            <a:r>
              <a:rPr lang="en-US" altLang="zh-TW" baseline="-25000" dirty="0" err="1"/>
              <a:t>2</a:t>
            </a:r>
            <a:r>
              <a:rPr lang="en-US" altLang="zh-TW" dirty="0" err="1"/>
              <a:t>2</a:t>
            </a:r>
            <a:r>
              <a:rPr lang="en-US" altLang="zh-TW" baseline="30000" dirty="0" err="1"/>
              <a:t>25</a:t>
            </a:r>
            <a:r>
              <a:rPr lang="en-US" altLang="zh-TW" dirty="0"/>
              <a:t> = 25</a:t>
            </a:r>
            <a:r>
              <a:rPr lang="zh-TW" altLang="en-US" dirty="0"/>
              <a:t>個位元</a:t>
            </a:r>
          </a:p>
          <a:p>
            <a:endParaRPr lang="zh-TW" altLang="en-US" dirty="0"/>
          </a:p>
        </p:txBody>
      </p:sp>
    </p:spTree>
    <p:extLst>
      <p:ext uri="{BB962C8B-B14F-4D97-AF65-F5344CB8AC3E}">
        <p14:creationId xmlns:p14="http://schemas.microsoft.com/office/powerpoint/2010/main" val="13908998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3-2 </a:t>
            </a:r>
            <a:r>
              <a:rPr lang="zh-TW" altLang="en-US" dirty="0"/>
              <a:t>主記憶體</a:t>
            </a:r>
          </a:p>
        </p:txBody>
      </p:sp>
      <p:sp>
        <p:nvSpPr>
          <p:cNvPr id="5" name="內容版面配置區 4"/>
          <p:cNvSpPr>
            <a:spLocks noGrp="1"/>
          </p:cNvSpPr>
          <p:nvPr>
            <p:ph idx="1"/>
          </p:nvPr>
        </p:nvSpPr>
        <p:spPr>
          <a:xfrm>
            <a:off x="5202070" y="2369227"/>
            <a:ext cx="3484730" cy="2225395"/>
          </a:xfrm>
        </p:spPr>
        <p:txBody>
          <a:bodyPr>
            <a:normAutofit/>
          </a:bodyPr>
          <a:lstStyle/>
          <a:p>
            <a:r>
              <a:rPr lang="zh-TW" altLang="en-US" dirty="0"/>
              <a:t>兩者都可隨機讀取資料，但</a:t>
            </a:r>
            <a:r>
              <a:rPr lang="en-US" altLang="zh-TW" dirty="0"/>
              <a:t>RAM</a:t>
            </a:r>
            <a:r>
              <a:rPr lang="zh-TW" altLang="en-US" dirty="0"/>
              <a:t>才可讓使用者隨意改寫內容。</a:t>
            </a:r>
          </a:p>
          <a:p>
            <a:endParaRPr lang="zh-TW" altLang="en-US" dirty="0"/>
          </a:p>
        </p:txBody>
      </p:sp>
      <p:graphicFrame>
        <p:nvGraphicFramePr>
          <p:cNvPr id="2" name="資料庫圖表 1"/>
          <p:cNvGraphicFramePr/>
          <p:nvPr>
            <p:extLst>
              <p:ext uri="{D42A27DB-BD31-4B8C-83A1-F6EECF244321}">
                <p14:modId xmlns:p14="http://schemas.microsoft.com/office/powerpoint/2010/main" val="3433563900"/>
              </p:ext>
            </p:extLst>
          </p:nvPr>
        </p:nvGraphicFramePr>
        <p:xfrm>
          <a:off x="437764" y="1491853"/>
          <a:ext cx="4523038" cy="29342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868898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3-2 </a:t>
            </a:r>
            <a:r>
              <a:rPr lang="zh-TW" altLang="en-US" dirty="0"/>
              <a:t>主記憶體</a:t>
            </a:r>
          </a:p>
        </p:txBody>
      </p:sp>
      <p:sp>
        <p:nvSpPr>
          <p:cNvPr id="5" name="內容版面配置區 4"/>
          <p:cNvSpPr>
            <a:spLocks noGrp="1"/>
          </p:cNvSpPr>
          <p:nvPr>
            <p:ph idx="1"/>
          </p:nvPr>
        </p:nvSpPr>
        <p:spPr/>
        <p:txBody>
          <a:bodyPr>
            <a:normAutofit/>
          </a:bodyPr>
          <a:lstStyle/>
          <a:p>
            <a:r>
              <a:rPr lang="en-US" altLang="zh-TW" dirty="0"/>
              <a:t>RAM</a:t>
            </a:r>
            <a:r>
              <a:rPr lang="zh-TW" altLang="en-US" dirty="0"/>
              <a:t>一旦關機後， 資料就不見了。</a:t>
            </a:r>
            <a:endParaRPr lang="en-US" altLang="zh-TW" dirty="0"/>
          </a:p>
          <a:p>
            <a:r>
              <a:rPr lang="en-US" altLang="zh-TW" dirty="0"/>
              <a:t>RAM</a:t>
            </a:r>
            <a:r>
              <a:rPr lang="zh-TW" altLang="en-US" dirty="0"/>
              <a:t>有兩種主流：</a:t>
            </a:r>
            <a:endParaRPr lang="en-US" altLang="zh-TW" dirty="0"/>
          </a:p>
          <a:p>
            <a:pPr lvl="1"/>
            <a:r>
              <a:rPr lang="en-US" altLang="zh-TW" dirty="0"/>
              <a:t>SRAM (</a:t>
            </a:r>
            <a:r>
              <a:rPr lang="zh-TW" altLang="zh-TW" dirty="0"/>
              <a:t>靜態隨機存取記憶體</a:t>
            </a:r>
            <a:r>
              <a:rPr lang="en-US" altLang="zh-TW" dirty="0"/>
              <a:t>) </a:t>
            </a:r>
          </a:p>
          <a:p>
            <a:pPr lvl="1"/>
            <a:r>
              <a:rPr lang="en-US" altLang="zh-TW" dirty="0"/>
              <a:t>DRAM (</a:t>
            </a:r>
            <a:r>
              <a:rPr lang="zh-TW" altLang="zh-TW" dirty="0"/>
              <a:t>動態隨機存取記憶體</a:t>
            </a:r>
            <a:r>
              <a:rPr lang="en-US" altLang="zh-TW" dirty="0"/>
              <a:t>)</a:t>
            </a:r>
            <a:endParaRPr lang="zh-TW" altLang="zh-TW" dirty="0"/>
          </a:p>
          <a:p>
            <a:pPr lvl="0"/>
            <a:endParaRPr lang="zh-TW" altLang="zh-TW" dirty="0"/>
          </a:p>
          <a:p>
            <a:endParaRPr lang="zh-TW" altLang="en-US" dirty="0"/>
          </a:p>
        </p:txBody>
      </p:sp>
    </p:spTree>
    <p:extLst>
      <p:ext uri="{BB962C8B-B14F-4D97-AF65-F5344CB8AC3E}">
        <p14:creationId xmlns:p14="http://schemas.microsoft.com/office/powerpoint/2010/main" val="26744620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fontScale="90000"/>
          </a:bodyPr>
          <a:lstStyle/>
          <a:p>
            <a:r>
              <a:rPr lang="en-US" altLang="zh-TW" dirty="0"/>
              <a:t>SRAM</a:t>
            </a:r>
            <a:br>
              <a:rPr lang="en-US" altLang="zh-TW" dirty="0"/>
            </a:br>
            <a:r>
              <a:rPr lang="zh-TW" altLang="en-US" dirty="0"/>
              <a:t>靜態隨機存取記憶體</a:t>
            </a:r>
          </a:p>
        </p:txBody>
      </p:sp>
      <p:sp>
        <p:nvSpPr>
          <p:cNvPr id="5" name="內容版面配置區 4"/>
          <p:cNvSpPr>
            <a:spLocks noGrp="1"/>
          </p:cNvSpPr>
          <p:nvPr>
            <p:ph idx="1"/>
          </p:nvPr>
        </p:nvSpPr>
        <p:spPr/>
        <p:txBody>
          <a:bodyPr>
            <a:normAutofit/>
          </a:bodyPr>
          <a:lstStyle/>
          <a:p>
            <a:r>
              <a:rPr lang="zh-TW" altLang="en-US" dirty="0"/>
              <a:t>以</a:t>
            </a:r>
            <a:r>
              <a:rPr lang="zh-TW" altLang="en-US" dirty="0">
                <a:solidFill>
                  <a:srgbClr val="C00000"/>
                </a:solidFill>
              </a:rPr>
              <a:t>正反器</a:t>
            </a:r>
            <a:r>
              <a:rPr lang="en-US" altLang="zh-TW" dirty="0"/>
              <a:t>(flip-flop gate)</a:t>
            </a:r>
            <a:r>
              <a:rPr lang="zh-TW" altLang="en-US" dirty="0"/>
              <a:t>儲存資料。</a:t>
            </a:r>
            <a:endParaRPr lang="en-US" altLang="zh-TW" dirty="0"/>
          </a:p>
          <a:p>
            <a:r>
              <a:rPr lang="zh-TW" altLang="en-US" dirty="0"/>
              <a:t>取名「靜態」的原因是因為只要電源維持住，並不需要做</a:t>
            </a:r>
            <a:r>
              <a:rPr lang="zh-TW" altLang="en-US" dirty="0">
                <a:solidFill>
                  <a:srgbClr val="C00000"/>
                </a:solidFill>
              </a:rPr>
              <a:t>更新</a:t>
            </a:r>
            <a:r>
              <a:rPr lang="en-US" altLang="zh-TW" dirty="0"/>
              <a:t>(refresh)</a:t>
            </a:r>
            <a:r>
              <a:rPr lang="zh-TW" altLang="en-US" dirty="0"/>
              <a:t>的動作。</a:t>
            </a:r>
            <a:endParaRPr lang="en-US" altLang="zh-TW" dirty="0"/>
          </a:p>
          <a:p>
            <a:r>
              <a:rPr lang="zh-TW" altLang="en-US" dirty="0"/>
              <a:t>速度較快，價錢也貴些。</a:t>
            </a:r>
          </a:p>
        </p:txBody>
      </p:sp>
    </p:spTree>
    <p:extLst>
      <p:ext uri="{BB962C8B-B14F-4D97-AF65-F5344CB8AC3E}">
        <p14:creationId xmlns:p14="http://schemas.microsoft.com/office/powerpoint/2010/main" val="1742399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fontScale="90000"/>
          </a:bodyPr>
          <a:lstStyle/>
          <a:p>
            <a:r>
              <a:rPr lang="en-US" altLang="zh-TW" dirty="0"/>
              <a:t>DRAM</a:t>
            </a:r>
            <a:br>
              <a:rPr lang="en-US" altLang="zh-TW" dirty="0"/>
            </a:br>
            <a:r>
              <a:rPr lang="zh-TW" altLang="en-US" dirty="0"/>
              <a:t>動態隨機存取記憶體</a:t>
            </a:r>
          </a:p>
        </p:txBody>
      </p:sp>
      <p:sp>
        <p:nvSpPr>
          <p:cNvPr id="5" name="內容版面配置區 4"/>
          <p:cNvSpPr>
            <a:spLocks noGrp="1"/>
          </p:cNvSpPr>
          <p:nvPr>
            <p:ph idx="1"/>
          </p:nvPr>
        </p:nvSpPr>
        <p:spPr/>
        <p:txBody>
          <a:bodyPr>
            <a:normAutofit/>
          </a:bodyPr>
          <a:lstStyle/>
          <a:p>
            <a:r>
              <a:rPr lang="zh-TW" altLang="en-US" dirty="0"/>
              <a:t>以</a:t>
            </a:r>
            <a:r>
              <a:rPr lang="zh-TW" altLang="en-US" dirty="0">
                <a:solidFill>
                  <a:srgbClr val="C00000"/>
                </a:solidFill>
              </a:rPr>
              <a:t>電容器</a:t>
            </a:r>
            <a:r>
              <a:rPr lang="en-US" altLang="zh-TW" dirty="0"/>
              <a:t>(capacitor)</a:t>
            </a:r>
            <a:r>
              <a:rPr lang="zh-TW" altLang="en-US" dirty="0"/>
              <a:t>儲存資料。</a:t>
            </a:r>
            <a:endParaRPr lang="en-US" altLang="zh-TW" dirty="0"/>
          </a:p>
          <a:p>
            <a:r>
              <a:rPr lang="zh-TW" altLang="en-US" dirty="0"/>
              <a:t>因電容器會隨時間逐漸失去電容量，因此須動態週期性地</a:t>
            </a:r>
            <a:r>
              <a:rPr lang="zh-TW" altLang="en-US" dirty="0">
                <a:solidFill>
                  <a:srgbClr val="C00000"/>
                </a:solidFill>
              </a:rPr>
              <a:t>更新</a:t>
            </a:r>
            <a:r>
              <a:rPr lang="en-US" altLang="zh-TW" dirty="0"/>
              <a:t>(refresh)</a:t>
            </a:r>
            <a:r>
              <a:rPr lang="zh-TW" altLang="en-US" dirty="0"/>
              <a:t>內容，故取名為動態隨機存取記憶體。</a:t>
            </a:r>
            <a:endParaRPr lang="en-US" altLang="zh-TW" dirty="0"/>
          </a:p>
          <a:p>
            <a:r>
              <a:rPr lang="zh-TW" altLang="en-US" dirty="0"/>
              <a:t>速度較慢，但價錢便宜許多。</a:t>
            </a:r>
          </a:p>
        </p:txBody>
      </p:sp>
    </p:spTree>
    <p:extLst>
      <p:ext uri="{BB962C8B-B14F-4D97-AF65-F5344CB8AC3E}">
        <p14:creationId xmlns:p14="http://schemas.microsoft.com/office/powerpoint/2010/main" val="294009543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a:t>DRAM</a:t>
            </a:r>
            <a:br>
              <a:rPr lang="en-US" altLang="zh-TW" dirty="0"/>
            </a:br>
            <a:r>
              <a:rPr lang="zh-TW" altLang="en-US" dirty="0"/>
              <a:t>動態隨機存取記憶體</a:t>
            </a:r>
          </a:p>
        </p:txBody>
      </p:sp>
      <p:sp>
        <p:nvSpPr>
          <p:cNvPr id="3" name="內容版面配置區 2"/>
          <p:cNvSpPr>
            <a:spLocks noGrp="1"/>
          </p:cNvSpPr>
          <p:nvPr>
            <p:ph idx="1"/>
          </p:nvPr>
        </p:nvSpPr>
        <p:spPr/>
        <p:txBody>
          <a:bodyPr/>
          <a:lstStyle/>
          <a:p>
            <a:r>
              <a:rPr lang="zh-TW" altLang="en-US" dirty="0"/>
              <a:t>在相同的晶片面積下，</a:t>
            </a:r>
            <a:r>
              <a:rPr lang="en-US" altLang="zh-TW" dirty="0"/>
              <a:t>DRAM</a:t>
            </a:r>
            <a:r>
              <a:rPr lang="zh-TW" altLang="en-US" dirty="0"/>
              <a:t>容量大於</a:t>
            </a:r>
            <a:r>
              <a:rPr lang="en-US" altLang="zh-TW" dirty="0"/>
              <a:t>SRAM</a:t>
            </a:r>
            <a:r>
              <a:rPr lang="zh-TW" altLang="en-US" dirty="0"/>
              <a:t>四倍以上。</a:t>
            </a:r>
            <a:endParaRPr lang="en-US" altLang="zh-TW" dirty="0"/>
          </a:p>
          <a:p>
            <a:r>
              <a:rPr lang="zh-TW" altLang="en-US" dirty="0"/>
              <a:t>在速度上，</a:t>
            </a:r>
            <a:r>
              <a:rPr lang="en-US" altLang="zh-TW" dirty="0"/>
              <a:t>SRAM</a:t>
            </a:r>
            <a:r>
              <a:rPr lang="zh-TW" altLang="en-US" dirty="0"/>
              <a:t>卻是比</a:t>
            </a:r>
            <a:r>
              <a:rPr lang="en-US" altLang="zh-TW" dirty="0"/>
              <a:t>DRAM</a:t>
            </a:r>
            <a:r>
              <a:rPr lang="zh-TW" altLang="en-US" dirty="0"/>
              <a:t>快四倍以上。</a:t>
            </a:r>
          </a:p>
          <a:p>
            <a:endParaRPr lang="zh-TW" altLang="en-US" dirty="0"/>
          </a:p>
        </p:txBody>
      </p:sp>
    </p:spTree>
    <p:extLst>
      <p:ext uri="{BB962C8B-B14F-4D97-AF65-F5344CB8AC3E}">
        <p14:creationId xmlns:p14="http://schemas.microsoft.com/office/powerpoint/2010/main" val="16842509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ROM</a:t>
            </a:r>
            <a:endParaRPr lang="zh-TW" altLang="en-US" dirty="0"/>
          </a:p>
        </p:txBody>
      </p:sp>
      <p:sp>
        <p:nvSpPr>
          <p:cNvPr id="5" name="內容版面配置區 4"/>
          <p:cNvSpPr>
            <a:spLocks noGrp="1"/>
          </p:cNvSpPr>
          <p:nvPr>
            <p:ph idx="1"/>
          </p:nvPr>
        </p:nvSpPr>
        <p:spPr/>
        <p:txBody>
          <a:bodyPr>
            <a:normAutofit/>
          </a:bodyPr>
          <a:lstStyle/>
          <a:p>
            <a:r>
              <a:rPr lang="en-US" altLang="zh-TW" sz="2400" dirty="0"/>
              <a:t>ROM</a:t>
            </a:r>
            <a:r>
              <a:rPr lang="zh-TW" altLang="en-US" sz="2400" dirty="0"/>
              <a:t>在關機後，仍可維持資料內容，可用來儲存開機使用的程式。</a:t>
            </a:r>
          </a:p>
        </p:txBody>
      </p:sp>
      <p:graphicFrame>
        <p:nvGraphicFramePr>
          <p:cNvPr id="6" name="表格 5"/>
          <p:cNvGraphicFramePr>
            <a:graphicFrameLocks noGrp="1"/>
          </p:cNvGraphicFramePr>
          <p:nvPr>
            <p:extLst>
              <p:ext uri="{D42A27DB-BD31-4B8C-83A1-F6EECF244321}">
                <p14:modId xmlns:p14="http://schemas.microsoft.com/office/powerpoint/2010/main" val="2068828761"/>
              </p:ext>
            </p:extLst>
          </p:nvPr>
        </p:nvGraphicFramePr>
        <p:xfrm>
          <a:off x="1196625" y="2706765"/>
          <a:ext cx="7302900" cy="2010388"/>
        </p:xfrm>
        <a:graphic>
          <a:graphicData uri="http://schemas.openxmlformats.org/drawingml/2006/table">
            <a:tbl>
              <a:tblPr firstRow="1" bandRow="1">
                <a:effectLst>
                  <a:outerShdw blurRad="63500" sx="102000" sy="102000" algn="ctr" rotWithShape="0">
                    <a:prstClr val="black">
                      <a:alpha val="40000"/>
                    </a:prstClr>
                  </a:outerShdw>
                </a:effectLst>
                <a:tableStyleId>{22838BEF-8BB2-4498-84A7-C5851F593DF1}</a:tableStyleId>
              </a:tblPr>
              <a:tblGrid>
                <a:gridCol w="3027425">
                  <a:extLst>
                    <a:ext uri="{9D8B030D-6E8A-4147-A177-3AD203B41FA5}">
                      <a16:colId xmlns:a16="http://schemas.microsoft.com/office/drawing/2014/main" val="20000"/>
                    </a:ext>
                  </a:extLst>
                </a:gridCol>
                <a:gridCol w="4275475">
                  <a:extLst>
                    <a:ext uri="{9D8B030D-6E8A-4147-A177-3AD203B41FA5}">
                      <a16:colId xmlns:a16="http://schemas.microsoft.com/office/drawing/2014/main" val="20001"/>
                    </a:ext>
                  </a:extLst>
                </a:gridCol>
              </a:tblGrid>
              <a:tr h="586182">
                <a:tc>
                  <a:txBody>
                    <a:bodyPr/>
                    <a:lstStyle/>
                    <a:p>
                      <a:pPr>
                        <a:lnSpc>
                          <a:spcPct val="100000"/>
                        </a:lnSpc>
                      </a:pPr>
                      <a:r>
                        <a:rPr lang="en-US" altLang="zh-TW" sz="1800" b="1" u="none" strike="noStrike" kern="1200" baseline="0" dirty="0">
                          <a:solidFill>
                            <a:srgbClr val="C00000"/>
                          </a:solidFill>
                          <a:latin typeface="微軟正黑體" pitchFamily="34" charset="-120"/>
                          <a:ea typeface="微軟正黑體" pitchFamily="34" charset="-120"/>
                        </a:rPr>
                        <a:t>PROM </a:t>
                      </a:r>
                      <a:r>
                        <a:rPr lang="en-US" altLang="zh-TW" sz="1800" b="1" dirty="0">
                          <a:latin typeface="微軟正黑體" pitchFamily="34" charset="-120"/>
                          <a:ea typeface="微軟正黑體" pitchFamily="34" charset="-120"/>
                        </a:rPr>
                        <a:t>(</a:t>
                      </a:r>
                      <a:r>
                        <a:rPr lang="zh-TW" altLang="en-US" sz="1800" b="1" dirty="0">
                          <a:latin typeface="微軟正黑體" pitchFamily="34" charset="-120"/>
                          <a:ea typeface="微軟正黑體" pitchFamily="34" charset="-120"/>
                        </a:rPr>
                        <a:t>可程式化的唯讀記憶體</a:t>
                      </a:r>
                      <a:r>
                        <a:rPr lang="en-US" altLang="zh-TW" sz="1800" b="1" dirty="0">
                          <a:latin typeface="微軟正黑體" pitchFamily="34" charset="-120"/>
                          <a:ea typeface="微軟正黑體" pitchFamily="34" charset="-120"/>
                        </a:rPr>
                        <a:t>)</a:t>
                      </a:r>
                      <a:r>
                        <a:rPr lang="zh-TW" altLang="en-US" sz="1800" b="1" dirty="0">
                          <a:latin typeface="微軟正黑體" pitchFamily="34" charset="-120"/>
                          <a:ea typeface="微軟正黑體" pitchFamily="34" charset="-120"/>
                        </a:rPr>
                        <a:t> </a:t>
                      </a:r>
                    </a:p>
                  </a:txBody>
                  <a:tcPr marT="34290" marB="34290"/>
                </a:tc>
                <a:tc>
                  <a:txBody>
                    <a:bodyPr/>
                    <a:lstStyle/>
                    <a:p>
                      <a:pPr>
                        <a:lnSpc>
                          <a:spcPct val="100000"/>
                        </a:lnSpc>
                      </a:pPr>
                      <a:r>
                        <a:rPr lang="zh-TW" altLang="en-US" sz="1800" b="1" u="none" strike="noStrike" kern="1200" baseline="0" dirty="0">
                          <a:latin typeface="微軟正黑體" pitchFamily="34" charset="-120"/>
                          <a:ea typeface="微軟正黑體" pitchFamily="34" charset="-120"/>
                        </a:rPr>
                        <a:t>可讓使用者儲存所需的程式，一旦儲存後，就不可再改寫。</a:t>
                      </a:r>
                      <a:endParaRPr lang="zh-TW" altLang="en-US" sz="1800" b="1" dirty="0">
                        <a:latin typeface="微軟正黑體" pitchFamily="34" charset="-120"/>
                        <a:ea typeface="微軟正黑體" pitchFamily="34" charset="-120"/>
                      </a:endParaRPr>
                    </a:p>
                  </a:txBody>
                  <a:tcPr marT="34290" marB="34290"/>
                </a:tc>
                <a:extLst>
                  <a:ext uri="{0D108BD9-81ED-4DB2-BD59-A6C34878D82A}">
                    <a16:rowId xmlns:a16="http://schemas.microsoft.com/office/drawing/2014/main" val="10000"/>
                  </a:ext>
                </a:extLst>
              </a:tr>
              <a:tr h="586182">
                <a:tc>
                  <a:txBody>
                    <a:bodyPr/>
                    <a:lstStyle/>
                    <a:p>
                      <a:pPr>
                        <a:lnSpc>
                          <a:spcPct val="100000"/>
                        </a:lnSpc>
                      </a:pPr>
                      <a:r>
                        <a:rPr lang="en-US" altLang="zh-TW" sz="1800" b="1" u="none" strike="noStrike" kern="1200" baseline="0" dirty="0">
                          <a:solidFill>
                            <a:srgbClr val="C00000"/>
                          </a:solidFill>
                          <a:latin typeface="微軟正黑體" pitchFamily="34" charset="-120"/>
                          <a:ea typeface="微軟正黑體" pitchFamily="34" charset="-120"/>
                        </a:rPr>
                        <a:t>EPROM </a:t>
                      </a:r>
                      <a:r>
                        <a:rPr lang="en-US" altLang="zh-TW" sz="1800" b="1" dirty="0">
                          <a:latin typeface="微軟正黑體" pitchFamily="34" charset="-120"/>
                          <a:ea typeface="微軟正黑體" pitchFamily="34" charset="-120"/>
                        </a:rPr>
                        <a:t>(</a:t>
                      </a:r>
                      <a:r>
                        <a:rPr lang="zh-TW" altLang="en-US" sz="1800" b="1" dirty="0">
                          <a:latin typeface="微軟正黑體" pitchFamily="34" charset="-120"/>
                          <a:ea typeface="微軟正黑體" pitchFamily="34" charset="-120"/>
                        </a:rPr>
                        <a:t>可擦拭及程式化的唯讀記憶體</a:t>
                      </a:r>
                      <a:r>
                        <a:rPr lang="en-US" altLang="zh-TW" sz="1800" b="1" dirty="0">
                          <a:latin typeface="微軟正黑體" pitchFamily="34" charset="-120"/>
                          <a:ea typeface="微軟正黑體" pitchFamily="34" charset="-120"/>
                        </a:rPr>
                        <a:t>)</a:t>
                      </a:r>
                      <a:endParaRPr lang="zh-TW" altLang="en-US" sz="1800" b="1" dirty="0">
                        <a:latin typeface="微軟正黑體" pitchFamily="34" charset="-120"/>
                        <a:ea typeface="微軟正黑體" pitchFamily="34" charset="-120"/>
                      </a:endParaRPr>
                    </a:p>
                  </a:txBody>
                  <a:tcPr marT="34290" marB="34290"/>
                </a:tc>
                <a:tc>
                  <a:txBody>
                    <a:bodyPr/>
                    <a:lstStyle/>
                    <a:p>
                      <a:pPr>
                        <a:lnSpc>
                          <a:spcPct val="100000"/>
                        </a:lnSpc>
                      </a:pPr>
                      <a:r>
                        <a:rPr lang="zh-TW" altLang="en-US" sz="1800" b="1" u="none" strike="noStrike" kern="1200" baseline="0" dirty="0">
                          <a:latin typeface="微軟正黑體" pitchFamily="34" charset="-120"/>
                          <a:ea typeface="微軟正黑體" pitchFamily="34" charset="-120"/>
                        </a:rPr>
                        <a:t>可以改寫，但必須以紫外線照射來擦拭。</a:t>
                      </a:r>
                      <a:endParaRPr lang="zh-TW" altLang="en-US" sz="1800" b="1" dirty="0">
                        <a:latin typeface="微軟正黑體" pitchFamily="34" charset="-120"/>
                        <a:ea typeface="微軟正黑體" pitchFamily="34" charset="-120"/>
                      </a:endParaRPr>
                    </a:p>
                  </a:txBody>
                  <a:tcPr marT="34290" marB="34290"/>
                </a:tc>
                <a:extLst>
                  <a:ext uri="{0D108BD9-81ED-4DB2-BD59-A6C34878D82A}">
                    <a16:rowId xmlns:a16="http://schemas.microsoft.com/office/drawing/2014/main" val="10001"/>
                  </a:ext>
                </a:extLst>
              </a:tr>
              <a:tr h="7759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800" b="1" u="none" strike="noStrike" kern="1200" baseline="0" dirty="0">
                          <a:solidFill>
                            <a:srgbClr val="C00000"/>
                          </a:solidFill>
                          <a:latin typeface="微軟正黑體" pitchFamily="34" charset="-120"/>
                          <a:ea typeface="微軟正黑體" pitchFamily="34" charset="-120"/>
                        </a:rPr>
                        <a:t>EEPROM </a:t>
                      </a:r>
                      <a:r>
                        <a:rPr lang="en-US" altLang="zh-TW" sz="1800" b="1" dirty="0">
                          <a:latin typeface="微軟正黑體" pitchFamily="34" charset="-120"/>
                          <a:ea typeface="微軟正黑體" pitchFamily="34" charset="-120"/>
                        </a:rPr>
                        <a:t>(</a:t>
                      </a:r>
                      <a:r>
                        <a:rPr lang="zh-TW" altLang="en-US" sz="1800" b="1" dirty="0">
                          <a:latin typeface="微軟正黑體" pitchFamily="34" charset="-120"/>
                          <a:ea typeface="微軟正黑體" pitchFamily="34" charset="-120"/>
                        </a:rPr>
                        <a:t>可以電子擦拭及程式化的唯讀記憶體</a:t>
                      </a:r>
                      <a:r>
                        <a:rPr lang="en-US" altLang="zh-TW" sz="1800" b="1" dirty="0">
                          <a:latin typeface="微軟正黑體" pitchFamily="34" charset="-120"/>
                          <a:ea typeface="微軟正黑體" pitchFamily="34" charset="-120"/>
                        </a:rPr>
                        <a:t>)</a:t>
                      </a:r>
                      <a:endParaRPr lang="zh-TW" altLang="en-US" sz="1800" b="1" dirty="0">
                        <a:latin typeface="微軟正黑體" pitchFamily="34" charset="-120"/>
                        <a:ea typeface="微軟正黑體" pitchFamily="34" charset="-120"/>
                      </a:endParaRPr>
                    </a:p>
                  </a:txBody>
                  <a:tcPr marT="34290" marB="34290"/>
                </a:tc>
                <a:tc>
                  <a:txBody>
                    <a:bodyPr/>
                    <a:lstStyle/>
                    <a:p>
                      <a:pPr>
                        <a:lnSpc>
                          <a:spcPct val="100000"/>
                        </a:lnSpc>
                      </a:pPr>
                      <a:r>
                        <a:rPr lang="zh-TW" altLang="en-US" sz="1800" b="1" u="none" strike="noStrike" kern="1200" baseline="0" dirty="0">
                          <a:latin typeface="微軟正黑體" pitchFamily="34" charset="-120"/>
                          <a:ea typeface="微軟正黑體" pitchFamily="34" charset="-120"/>
                        </a:rPr>
                        <a:t>可直接從電腦進行改寫，最為方便，廣泛應用於</a:t>
                      </a:r>
                      <a:r>
                        <a:rPr lang="en-US" altLang="zh-TW" sz="1800" b="1" u="none" strike="noStrike" kern="1200" baseline="0" dirty="0">
                          <a:latin typeface="微軟正黑體" pitchFamily="34" charset="-120"/>
                          <a:ea typeface="微軟正黑體" pitchFamily="34" charset="-120"/>
                        </a:rPr>
                        <a:t>BIOS</a:t>
                      </a:r>
                      <a:r>
                        <a:rPr lang="zh-TW" altLang="en-US" sz="1800" b="1" u="none" strike="noStrike" kern="1200" baseline="0" dirty="0">
                          <a:latin typeface="微軟正黑體" pitchFamily="34" charset="-120"/>
                          <a:ea typeface="微軟正黑體" pitchFamily="34" charset="-120"/>
                        </a:rPr>
                        <a:t>晶片及快閃記憶體。</a:t>
                      </a:r>
                      <a:endParaRPr lang="zh-TW" altLang="en-US" sz="1800" b="1" dirty="0">
                        <a:latin typeface="微軟正黑體" pitchFamily="34" charset="-120"/>
                        <a:ea typeface="微軟正黑體" pitchFamily="34" charset="-120"/>
                      </a:endParaRPr>
                    </a:p>
                  </a:txBody>
                  <a:tcPr marT="34290" marB="3429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686200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3-2 </a:t>
            </a:r>
            <a:r>
              <a:rPr lang="zh-TW" altLang="en-US" dirty="0"/>
              <a:t>主記憶體</a:t>
            </a:r>
          </a:p>
        </p:txBody>
      </p:sp>
      <p:sp>
        <p:nvSpPr>
          <p:cNvPr id="5" name="內容版面配置區 4"/>
          <p:cNvSpPr>
            <a:spLocks noGrp="1"/>
          </p:cNvSpPr>
          <p:nvPr>
            <p:ph idx="1"/>
          </p:nvPr>
        </p:nvSpPr>
        <p:spPr/>
        <p:txBody>
          <a:bodyPr>
            <a:normAutofit fontScale="85000" lnSpcReduction="10000"/>
          </a:bodyPr>
          <a:lstStyle/>
          <a:p>
            <a:r>
              <a:rPr lang="zh-TW" altLang="en-US" dirty="0"/>
              <a:t>主記憶體速度比快取記憶體等慢，但比起硬碟，還是快了許多倍。</a:t>
            </a:r>
            <a:endParaRPr lang="en-US" altLang="zh-TW" dirty="0"/>
          </a:p>
          <a:p>
            <a:r>
              <a:rPr lang="zh-TW" altLang="en-US" dirty="0"/>
              <a:t>記憶體愈大、就能將愈多程式及資料從硬碟載入至記憶體中，</a:t>
            </a:r>
            <a:r>
              <a:rPr lang="en-US" altLang="zh-TW" dirty="0"/>
              <a:t>CPU</a:t>
            </a:r>
            <a:r>
              <a:rPr lang="zh-TW" altLang="en-US" dirty="0"/>
              <a:t>的執行效率也就愈高。</a:t>
            </a:r>
            <a:endParaRPr lang="en-US" altLang="zh-TW" dirty="0"/>
          </a:p>
          <a:p>
            <a:r>
              <a:rPr lang="zh-TW" altLang="en-US" dirty="0"/>
              <a:t>若程式資料太大或太多而無法載入有限的記憶體中，</a:t>
            </a:r>
            <a:r>
              <a:rPr lang="en-US" altLang="zh-TW" dirty="0"/>
              <a:t>CPU</a:t>
            </a:r>
            <a:r>
              <a:rPr lang="zh-TW" altLang="en-US" dirty="0"/>
              <a:t>就必須從硬碟中讀取資料或程式，整個速度就慢了。</a:t>
            </a:r>
          </a:p>
        </p:txBody>
      </p:sp>
    </p:spTree>
    <p:extLst>
      <p:ext uri="{BB962C8B-B14F-4D97-AF65-F5344CB8AC3E}">
        <p14:creationId xmlns:p14="http://schemas.microsoft.com/office/powerpoint/2010/main" val="3953337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a:xfrm>
            <a:off x="406096" y="1692374"/>
            <a:ext cx="8229600" cy="2904601"/>
          </a:xfrm>
        </p:spPr>
        <p:txBody>
          <a:bodyPr>
            <a:normAutofit/>
          </a:bodyPr>
          <a:lstStyle/>
          <a:p>
            <a:pPr>
              <a:lnSpc>
                <a:spcPct val="110000"/>
              </a:lnSpc>
            </a:pPr>
            <a:r>
              <a:rPr lang="zh-TW" altLang="en-US" dirty="0">
                <a:solidFill>
                  <a:srgbClr val="C00000"/>
                </a:solidFill>
              </a:rPr>
              <a:t>人工記憶體 </a:t>
            </a:r>
            <a:r>
              <a:rPr lang="en-US" altLang="zh-TW" dirty="0">
                <a:solidFill>
                  <a:srgbClr val="C00000"/>
                </a:solidFill>
              </a:rPr>
              <a:t>vs. </a:t>
            </a:r>
            <a:r>
              <a:rPr lang="zh-TW" altLang="en-US" dirty="0">
                <a:solidFill>
                  <a:srgbClr val="C00000"/>
                </a:solidFill>
              </a:rPr>
              <a:t>天工記憶體</a:t>
            </a:r>
            <a:endParaRPr lang="en-US" altLang="zh-TW" dirty="0">
              <a:solidFill>
                <a:srgbClr val="C00000"/>
              </a:solidFill>
            </a:endParaRPr>
          </a:p>
          <a:p>
            <a:pPr>
              <a:lnSpc>
                <a:spcPct val="110000"/>
              </a:lnSpc>
            </a:pPr>
            <a:r>
              <a:rPr lang="zh-TW" altLang="en-US" dirty="0"/>
              <a:t>處理器的晶片設計走向立體化堆疊，近年競爭極為激烈的高頻寬記憶體（</a:t>
            </a:r>
            <a:r>
              <a:rPr lang="en-US" altLang="zh-TW" dirty="0"/>
              <a:t>HBM</a:t>
            </a:r>
            <a:r>
              <a:rPr lang="zh-TW" altLang="en-US" dirty="0"/>
              <a:t>）系列，也利用三維先進封裝技術，將</a:t>
            </a:r>
            <a:r>
              <a:rPr lang="en-US" altLang="zh-TW" dirty="0"/>
              <a:t>DRAM</a:t>
            </a:r>
            <a:r>
              <a:rPr lang="zh-TW" altLang="en-US" dirty="0"/>
              <a:t>堆疊出速度更快、功耗更低和容量更大的記憶體，以因應人工智慧運算晶片的需求。</a:t>
            </a:r>
          </a:p>
          <a:p>
            <a:pPr>
              <a:lnSpc>
                <a:spcPct val="110000"/>
              </a:lnSpc>
            </a:pPr>
            <a:r>
              <a:rPr lang="zh-TW" altLang="en-US" dirty="0"/>
              <a:t>　　</a:t>
            </a:r>
          </a:p>
        </p:txBody>
      </p:sp>
    </p:spTree>
    <p:extLst>
      <p:ext uri="{BB962C8B-B14F-4D97-AF65-F5344CB8AC3E}">
        <p14:creationId xmlns:p14="http://schemas.microsoft.com/office/powerpoint/2010/main" val="20575499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normAutofit/>
          </a:bodyPr>
          <a:lstStyle/>
          <a:p>
            <a:pPr>
              <a:lnSpc>
                <a:spcPct val="110000"/>
              </a:lnSpc>
            </a:pPr>
            <a:r>
              <a:rPr lang="zh-TW" altLang="en-US" dirty="0"/>
              <a:t>人工記憶體在單位空間所能儲存的記憶容量固然驚人，但這與老天爺在小小細胞內就能嵌入大量遺傳資訊</a:t>
            </a:r>
            <a:r>
              <a:rPr lang="en-US" altLang="zh-TW" dirty="0"/>
              <a:t>DNA</a:t>
            </a:r>
            <a:r>
              <a:rPr lang="zh-TW" altLang="en-US" dirty="0"/>
              <a:t>相比，仍是小巫見大巫。</a:t>
            </a:r>
            <a:endParaRPr lang="en-US" altLang="zh-TW" dirty="0"/>
          </a:p>
          <a:p>
            <a:pPr>
              <a:lnSpc>
                <a:spcPct val="110000"/>
              </a:lnSpc>
            </a:pPr>
            <a:r>
              <a:rPr lang="zh-TW" altLang="en-US" dirty="0"/>
              <a:t>遺傳基因資訊由一種使用</a:t>
            </a:r>
            <a:r>
              <a:rPr lang="en-US" altLang="zh-TW" dirty="0"/>
              <a:t>A</a:t>
            </a:r>
            <a:r>
              <a:rPr lang="zh-TW" altLang="en-US" dirty="0"/>
              <a:t>、</a:t>
            </a:r>
            <a:r>
              <a:rPr lang="en-US" altLang="zh-TW" dirty="0"/>
              <a:t>G</a:t>
            </a:r>
            <a:r>
              <a:rPr lang="zh-TW" altLang="en-US" dirty="0"/>
              <a:t>、</a:t>
            </a:r>
            <a:r>
              <a:rPr lang="en-US" altLang="zh-TW" dirty="0"/>
              <a:t>C</a:t>
            </a:r>
            <a:r>
              <a:rPr lang="zh-TW" altLang="en-US" dirty="0"/>
              <a:t>、</a:t>
            </a:r>
            <a:r>
              <a:rPr lang="en-US" altLang="zh-TW" dirty="0"/>
              <a:t>T</a:t>
            </a:r>
            <a:r>
              <a:rPr lang="zh-TW" altLang="en-US" dirty="0"/>
              <a:t>四個字母的</a:t>
            </a:r>
            <a:r>
              <a:rPr lang="en-US" altLang="zh-TW" dirty="0"/>
              <a:t>DNA</a:t>
            </a:r>
            <a:r>
              <a:rPr lang="zh-TW" altLang="en-US" dirty="0"/>
              <a:t>語言所寫成，乃數位化的生命樂章。</a:t>
            </a:r>
          </a:p>
        </p:txBody>
      </p:sp>
    </p:spTree>
    <p:extLst>
      <p:ext uri="{BB962C8B-B14F-4D97-AF65-F5344CB8AC3E}">
        <p14:creationId xmlns:p14="http://schemas.microsoft.com/office/powerpoint/2010/main" val="13236815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idx="1"/>
          </p:nvPr>
        </p:nvSpPr>
        <p:spPr/>
        <p:txBody>
          <a:bodyPr/>
          <a:lstStyle/>
          <a:p>
            <a:r>
              <a:rPr lang="zh-TW" altLang="en-US" dirty="0"/>
              <a:t>每個生物體的生命藍圖不僅可以代代演化相傳，而且如果環境合宜，它的保存年限還挺驚人的。</a:t>
            </a:r>
            <a:endParaRPr lang="en-US" altLang="zh-TW"/>
          </a:p>
          <a:p>
            <a:r>
              <a:rPr lang="zh-TW" altLang="en-US"/>
              <a:t>例如</a:t>
            </a:r>
            <a:r>
              <a:rPr lang="zh-TW" altLang="en-US" dirty="0"/>
              <a:t>，數萬年前冰封在西伯利亞的長毛象，它們的毛髮仍保有損害不大的</a:t>
            </a:r>
            <a:r>
              <a:rPr lang="en-US" altLang="zh-TW" dirty="0"/>
              <a:t>DNA</a:t>
            </a:r>
            <a:r>
              <a:rPr lang="zh-TW" altLang="en-US" dirty="0"/>
              <a:t>片段，讓科學家可以在幾萬年後將遺傳資訊讀出來。</a:t>
            </a:r>
          </a:p>
          <a:p>
            <a:endParaRPr lang="zh-TW" altLang="en-US" dirty="0"/>
          </a:p>
        </p:txBody>
      </p:sp>
    </p:spTree>
    <p:extLst>
      <p:ext uri="{BB962C8B-B14F-4D97-AF65-F5344CB8AC3E}">
        <p14:creationId xmlns:p14="http://schemas.microsoft.com/office/powerpoint/2010/main" val="9627742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a:t>3-3 </a:t>
            </a:r>
            <a:r>
              <a:rPr lang="zh-TW" altLang="en-US"/>
              <a:t>執行程式</a:t>
            </a:r>
            <a:endParaRPr lang="zh-TW" altLang="en-US" dirty="0"/>
          </a:p>
        </p:txBody>
      </p:sp>
      <p:sp>
        <p:nvSpPr>
          <p:cNvPr id="5" name="內容版面配置區 4"/>
          <p:cNvSpPr>
            <a:spLocks noGrp="1"/>
          </p:cNvSpPr>
          <p:nvPr>
            <p:ph idx="1"/>
          </p:nvPr>
        </p:nvSpPr>
        <p:spPr/>
        <p:txBody>
          <a:bodyPr/>
          <a:lstStyle/>
          <a:p>
            <a:r>
              <a:rPr lang="zh-TW" altLang="en-US" dirty="0">
                <a:solidFill>
                  <a:srgbClr val="C00000"/>
                </a:solidFill>
              </a:rPr>
              <a:t>擷取指令</a:t>
            </a:r>
            <a:r>
              <a:rPr lang="zh-TW" altLang="en-US" dirty="0"/>
              <a:t>：</a:t>
            </a:r>
            <a:r>
              <a:rPr lang="en-US" altLang="zh-TW" dirty="0"/>
              <a:t>CPU</a:t>
            </a:r>
            <a:r>
              <a:rPr lang="zh-TW" altLang="en-US" dirty="0"/>
              <a:t>執行時，先由控制單元擷取</a:t>
            </a:r>
            <a:r>
              <a:rPr lang="en-US" altLang="zh-TW" dirty="0"/>
              <a:t>(fetch)</a:t>
            </a:r>
            <a:r>
              <a:rPr lang="zh-TW" altLang="en-US" dirty="0"/>
              <a:t>所要執行的指令，放在指令暫存器。</a:t>
            </a:r>
            <a:endParaRPr lang="en-US" altLang="zh-TW" dirty="0"/>
          </a:p>
        </p:txBody>
      </p:sp>
    </p:spTree>
    <p:extLst>
      <p:ext uri="{BB962C8B-B14F-4D97-AF65-F5344CB8AC3E}">
        <p14:creationId xmlns:p14="http://schemas.microsoft.com/office/powerpoint/2010/main" val="3112467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3-3 </a:t>
            </a:r>
            <a:r>
              <a:rPr lang="zh-TW" altLang="en-US" dirty="0"/>
              <a:t>執行程式</a:t>
            </a:r>
          </a:p>
        </p:txBody>
      </p:sp>
      <p:sp>
        <p:nvSpPr>
          <p:cNvPr id="3" name="內容版面配置區 2"/>
          <p:cNvSpPr>
            <a:spLocks noGrp="1"/>
          </p:cNvSpPr>
          <p:nvPr>
            <p:ph idx="1"/>
          </p:nvPr>
        </p:nvSpPr>
        <p:spPr/>
        <p:txBody>
          <a:bodyPr/>
          <a:lstStyle/>
          <a:p>
            <a:r>
              <a:rPr lang="zh-TW" altLang="en-US" dirty="0">
                <a:solidFill>
                  <a:srgbClr val="C00000"/>
                </a:solidFill>
              </a:rPr>
              <a:t>解碼指令</a:t>
            </a:r>
            <a:r>
              <a:rPr lang="zh-TW" altLang="en-US" dirty="0"/>
              <a:t>：所抓到的東西都是二位元字串，每個指令可能包括指令動作及資料，當抓到指令時，可由</a:t>
            </a:r>
            <a:r>
              <a:rPr lang="zh-TW" altLang="en-US" u="sng" dirty="0"/>
              <a:t>查表法</a:t>
            </a:r>
            <a:r>
              <a:rPr lang="zh-TW" altLang="en-US" dirty="0"/>
              <a:t>進行</a:t>
            </a:r>
            <a:r>
              <a:rPr lang="zh-TW" altLang="en-US" dirty="0">
                <a:solidFill>
                  <a:srgbClr val="C00000"/>
                </a:solidFill>
              </a:rPr>
              <a:t>解碼</a:t>
            </a:r>
            <a:r>
              <a:rPr lang="en-US" altLang="zh-TW" dirty="0"/>
              <a:t>(decode)</a:t>
            </a:r>
            <a:r>
              <a:rPr lang="zh-TW" altLang="en-US" dirty="0"/>
              <a:t>動作。</a:t>
            </a:r>
            <a:endParaRPr lang="en-US" altLang="zh-TW" dirty="0"/>
          </a:p>
          <a:p>
            <a:endParaRPr lang="zh-TW" altLang="en-US" dirty="0"/>
          </a:p>
        </p:txBody>
      </p:sp>
    </p:spTree>
    <p:extLst>
      <p:ext uri="{BB962C8B-B14F-4D97-AF65-F5344CB8AC3E}">
        <p14:creationId xmlns:p14="http://schemas.microsoft.com/office/powerpoint/2010/main" val="4347726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3-3 </a:t>
            </a:r>
            <a:r>
              <a:rPr lang="zh-TW" altLang="en-US"/>
              <a:t>執行程式</a:t>
            </a:r>
            <a:endParaRPr lang="zh-TW" altLang="en-US" dirty="0"/>
          </a:p>
        </p:txBody>
      </p:sp>
      <p:sp>
        <p:nvSpPr>
          <p:cNvPr id="3" name="內容版面配置區 2"/>
          <p:cNvSpPr>
            <a:spLocks noGrp="1"/>
          </p:cNvSpPr>
          <p:nvPr>
            <p:ph idx="1"/>
          </p:nvPr>
        </p:nvSpPr>
        <p:spPr/>
        <p:txBody>
          <a:bodyPr/>
          <a:lstStyle/>
          <a:p>
            <a:r>
              <a:rPr lang="zh-TW" altLang="en-US" dirty="0">
                <a:solidFill>
                  <a:srgbClr val="C00000"/>
                </a:solidFill>
              </a:rPr>
              <a:t>執行指令</a:t>
            </a:r>
            <a:r>
              <a:rPr lang="zh-TW" altLang="en-US" dirty="0"/>
              <a:t>：當找到該指令對應的運算動作，就交給</a:t>
            </a:r>
            <a:r>
              <a:rPr lang="zh-TW" altLang="en-US" dirty="0">
                <a:solidFill>
                  <a:srgbClr val="C00000"/>
                </a:solidFill>
              </a:rPr>
              <a:t>算術邏輯單元</a:t>
            </a:r>
            <a:r>
              <a:rPr lang="zh-TW" altLang="en-US" dirty="0"/>
              <a:t>來執行</a:t>
            </a:r>
            <a:r>
              <a:rPr lang="en-US" altLang="zh-TW" dirty="0"/>
              <a:t>(execute)</a:t>
            </a:r>
            <a:r>
              <a:rPr lang="zh-TW" altLang="en-US" dirty="0"/>
              <a:t>，執行完所得的結果再由</a:t>
            </a:r>
            <a:r>
              <a:rPr lang="zh-TW" altLang="en-US" dirty="0">
                <a:solidFill>
                  <a:srgbClr val="C00000"/>
                </a:solidFill>
              </a:rPr>
              <a:t>控制單元</a:t>
            </a:r>
            <a:r>
              <a:rPr lang="zh-TW" altLang="en-US" dirty="0"/>
              <a:t>協助儲存回記憶體。</a:t>
            </a:r>
          </a:p>
          <a:p>
            <a:endParaRPr lang="zh-TW" altLang="en-US" dirty="0"/>
          </a:p>
        </p:txBody>
      </p:sp>
    </p:spTree>
    <p:extLst>
      <p:ext uri="{BB962C8B-B14F-4D97-AF65-F5344CB8AC3E}">
        <p14:creationId xmlns:p14="http://schemas.microsoft.com/office/powerpoint/2010/main" val="29516592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CPU</a:t>
            </a:r>
            <a:r>
              <a:rPr lang="zh-TW" altLang="en-US" dirty="0"/>
              <a:t>執行程式的流程</a:t>
            </a:r>
          </a:p>
        </p:txBody>
      </p:sp>
      <p:sp>
        <p:nvSpPr>
          <p:cNvPr id="5" name="內容版面配置區 4"/>
          <p:cNvSpPr>
            <a:spLocks noGrp="1"/>
          </p:cNvSpPr>
          <p:nvPr>
            <p:ph idx="1"/>
          </p:nvPr>
        </p:nvSpPr>
        <p:spPr>
          <a:xfrm>
            <a:off x="457201" y="1660399"/>
            <a:ext cx="3529735" cy="2934224"/>
          </a:xfrm>
        </p:spPr>
        <p:txBody>
          <a:bodyPr>
            <a:normAutofit/>
          </a:bodyPr>
          <a:lstStyle/>
          <a:p>
            <a:r>
              <a:rPr lang="zh-TW" altLang="en-US" dirty="0"/>
              <a:t>完成一個指令後，再重複同樣流程處理下一個指令，</a:t>
            </a:r>
            <a:r>
              <a:rPr lang="en-US" altLang="zh-TW" dirty="0"/>
              <a:t>CPU</a:t>
            </a:r>
            <a:r>
              <a:rPr lang="zh-TW" altLang="en-US" dirty="0"/>
              <a:t>就這樣循環進行運作。</a:t>
            </a:r>
          </a:p>
          <a:p>
            <a:endParaRPr lang="zh-TW" altLang="en-US"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91980" y="1806665"/>
            <a:ext cx="3976160" cy="26897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0403743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normAutofit/>
          </a:bodyPr>
          <a:lstStyle/>
          <a:p>
            <a:r>
              <a:rPr lang="zh-TW" altLang="en-US" dirty="0"/>
              <a:t>生產線技術</a:t>
            </a:r>
          </a:p>
        </p:txBody>
      </p:sp>
      <p:sp>
        <p:nvSpPr>
          <p:cNvPr id="4" name="內容版面配置區 3"/>
          <p:cNvSpPr>
            <a:spLocks noGrp="1"/>
          </p:cNvSpPr>
          <p:nvPr>
            <p:ph idx="1"/>
          </p:nvPr>
        </p:nvSpPr>
        <p:spPr/>
        <p:txBody>
          <a:bodyPr>
            <a:normAutofit/>
          </a:bodyPr>
          <a:lstStyle/>
          <a:p>
            <a:r>
              <a:rPr lang="zh-TW" altLang="en-US" dirty="0"/>
              <a:t>為增進</a:t>
            </a:r>
            <a:r>
              <a:rPr lang="en-US" altLang="zh-TW" dirty="0"/>
              <a:t>CPU</a:t>
            </a:r>
            <a:r>
              <a:rPr lang="zh-TW" altLang="en-US" dirty="0"/>
              <a:t>效率，當算術邏輯單元正在執行時，控制單元會開始進行下一個擷取指令的動作。</a:t>
            </a:r>
            <a:endParaRPr lang="en-US" altLang="zh-TW" dirty="0"/>
          </a:p>
          <a:p>
            <a:r>
              <a:rPr lang="zh-TW" altLang="en-US" dirty="0"/>
              <a:t>此方式如同汽車工廠的</a:t>
            </a:r>
            <a:r>
              <a:rPr lang="zh-TW" altLang="en-US" dirty="0">
                <a:solidFill>
                  <a:srgbClr val="C00000"/>
                </a:solidFill>
              </a:rPr>
              <a:t>生產線</a:t>
            </a:r>
            <a:r>
              <a:rPr lang="en-US" altLang="zh-TW" dirty="0"/>
              <a:t>(pipeline)</a:t>
            </a:r>
            <a:r>
              <a:rPr lang="zh-TW" altLang="en-US" dirty="0"/>
              <a:t>，某單元完成汽車某零件的裝配後，交給後面單元繼續完成，同時它也接著進行下一部汽車的零件裝配。</a:t>
            </a:r>
            <a:endParaRPr lang="en-US" altLang="zh-TW" dirty="0"/>
          </a:p>
        </p:txBody>
      </p:sp>
    </p:spTree>
    <p:extLst>
      <p:ext uri="{BB962C8B-B14F-4D97-AF65-F5344CB8AC3E}">
        <p14:creationId xmlns:p14="http://schemas.microsoft.com/office/powerpoint/2010/main" val="27508028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生產線技術</a:t>
            </a:r>
          </a:p>
        </p:txBody>
      </p:sp>
      <p:sp>
        <p:nvSpPr>
          <p:cNvPr id="3" name="內容版面配置區 2"/>
          <p:cNvSpPr>
            <a:spLocks noGrp="1"/>
          </p:cNvSpPr>
          <p:nvPr>
            <p:ph idx="1"/>
          </p:nvPr>
        </p:nvSpPr>
        <p:spPr/>
        <p:txBody>
          <a:bodyPr/>
          <a:lstStyle/>
          <a:p>
            <a:r>
              <a:rPr lang="zh-TW" altLang="en-US" dirty="0"/>
              <a:t>將</a:t>
            </a:r>
            <a:r>
              <a:rPr lang="en-US" altLang="zh-TW" dirty="0"/>
              <a:t>CPU</a:t>
            </a:r>
            <a:r>
              <a:rPr lang="zh-TW" altLang="en-US" dirty="0"/>
              <a:t>執行程式的流程，以生產線方式進行，稱為</a:t>
            </a:r>
            <a:r>
              <a:rPr lang="zh-TW" altLang="en-US" dirty="0">
                <a:solidFill>
                  <a:srgbClr val="C00000"/>
                </a:solidFill>
              </a:rPr>
              <a:t>生產線技術</a:t>
            </a:r>
            <a:r>
              <a:rPr lang="en-US" altLang="zh-TW" dirty="0"/>
              <a:t>(pipelining)</a:t>
            </a:r>
            <a:r>
              <a:rPr lang="zh-TW" altLang="en-US" dirty="0"/>
              <a:t>，可大大提升</a:t>
            </a:r>
            <a:r>
              <a:rPr lang="en-US" altLang="zh-TW" dirty="0"/>
              <a:t>CPU</a:t>
            </a:r>
            <a:r>
              <a:rPr lang="zh-TW" altLang="en-US" dirty="0"/>
              <a:t>的執行效率。</a:t>
            </a:r>
          </a:p>
          <a:p>
            <a:endParaRPr lang="zh-TW" altLang="en-US" dirty="0"/>
          </a:p>
          <a:p>
            <a:endParaRPr lang="zh-TW" altLang="en-US" dirty="0"/>
          </a:p>
        </p:txBody>
      </p:sp>
    </p:spTree>
    <p:extLst>
      <p:ext uri="{BB962C8B-B14F-4D97-AF65-F5344CB8AC3E}">
        <p14:creationId xmlns:p14="http://schemas.microsoft.com/office/powerpoint/2010/main" val="761695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br>
              <a:rPr lang="zh-TW" altLang="en-US"/>
            </a:br>
            <a:r>
              <a:rPr lang="en-US" altLang="zh-TW"/>
              <a:t>CPU</a:t>
            </a:r>
            <a:r>
              <a:rPr lang="zh-TW" altLang="en-US"/>
              <a:t>執行時採用生產線技術</a:t>
            </a:r>
            <a:br>
              <a:rPr lang="zh-TW" altLang="en-US"/>
            </a:br>
            <a:endParaRPr lang="zh-TW" altLang="en-US" dirty="0"/>
          </a:p>
        </p:txBody>
      </p:sp>
      <p:sp>
        <p:nvSpPr>
          <p:cNvPr id="4" name="內容版面配置區 3"/>
          <p:cNvSpPr>
            <a:spLocks noGrp="1"/>
          </p:cNvSpPr>
          <p:nvPr>
            <p:ph idx="1"/>
          </p:nvPr>
        </p:nvSpPr>
        <p:spPr/>
        <p:txBody>
          <a:bodyPr/>
          <a:lstStyle/>
          <a:p>
            <a:endParaRPr lang="zh-TW" altLang="en-US"/>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14233" y="1660399"/>
            <a:ext cx="6518107" cy="28178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267153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a:t>3-4 </a:t>
            </a:r>
            <a:r>
              <a:rPr lang="zh-TW" altLang="en-US"/>
              <a:t>匯流排及介面</a:t>
            </a:r>
            <a:endParaRPr lang="zh-TW" altLang="en-US" dirty="0"/>
          </a:p>
        </p:txBody>
      </p:sp>
      <p:sp>
        <p:nvSpPr>
          <p:cNvPr id="5" name="內容版面配置區 4"/>
          <p:cNvSpPr>
            <a:spLocks noGrp="1"/>
          </p:cNvSpPr>
          <p:nvPr>
            <p:ph idx="1"/>
          </p:nvPr>
        </p:nvSpPr>
        <p:spPr/>
        <p:txBody>
          <a:bodyPr/>
          <a:lstStyle/>
          <a:p>
            <a:r>
              <a:rPr lang="zh-TW" altLang="en-US" dirty="0"/>
              <a:t>電腦主機板上用來傳輸電子訊號的傳輸工具，稱為</a:t>
            </a:r>
            <a:r>
              <a:rPr lang="zh-TW" altLang="en-US" dirty="0">
                <a:solidFill>
                  <a:srgbClr val="C00000"/>
                </a:solidFill>
              </a:rPr>
              <a:t>匯流排</a:t>
            </a:r>
            <a:r>
              <a:rPr lang="en-US" altLang="zh-TW" dirty="0"/>
              <a:t>(bus)</a:t>
            </a:r>
            <a:r>
              <a:rPr lang="zh-TW" altLang="en-US" dirty="0"/>
              <a:t>，包括：</a:t>
            </a:r>
            <a:endParaRPr lang="en-US" altLang="zh-TW" dirty="0"/>
          </a:p>
          <a:p>
            <a:pPr lvl="1"/>
            <a:r>
              <a:rPr lang="zh-TW" altLang="en-US" dirty="0"/>
              <a:t>系統匯流排：負責</a:t>
            </a:r>
            <a:r>
              <a:rPr lang="en-US" altLang="zh-TW" dirty="0"/>
              <a:t>CPU</a:t>
            </a:r>
            <a:r>
              <a:rPr lang="zh-TW" altLang="en-US" dirty="0"/>
              <a:t>與記憶體間的資料傳送。</a:t>
            </a:r>
            <a:endParaRPr lang="en-US" altLang="zh-TW" dirty="0"/>
          </a:p>
          <a:p>
            <a:pPr lvl="1"/>
            <a:r>
              <a:rPr lang="zh-TW" altLang="en-US" dirty="0"/>
              <a:t>擴充匯流排：保留一些連接給使用者彈性使用。</a:t>
            </a:r>
            <a:endParaRPr lang="en-US" altLang="zh-TW" dirty="0"/>
          </a:p>
        </p:txBody>
      </p:sp>
    </p:spTree>
    <p:extLst>
      <p:ext uri="{BB962C8B-B14F-4D97-AF65-F5344CB8AC3E}">
        <p14:creationId xmlns:p14="http://schemas.microsoft.com/office/powerpoint/2010/main" val="26373123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3-4 </a:t>
            </a:r>
            <a:r>
              <a:rPr lang="zh-TW" altLang="en-US" dirty="0"/>
              <a:t>匯流排及介面</a:t>
            </a:r>
          </a:p>
        </p:txBody>
      </p:sp>
      <p:sp>
        <p:nvSpPr>
          <p:cNvPr id="3" name="內容版面配置區 2"/>
          <p:cNvSpPr>
            <a:spLocks noGrp="1"/>
          </p:cNvSpPr>
          <p:nvPr>
            <p:ph idx="1"/>
          </p:nvPr>
        </p:nvSpPr>
        <p:spPr/>
        <p:txBody>
          <a:bodyPr/>
          <a:lstStyle/>
          <a:p>
            <a:r>
              <a:rPr lang="zh-TW" altLang="en-US" dirty="0"/>
              <a:t>匯流排一次所能傳輸的資料量，稱為</a:t>
            </a:r>
            <a:r>
              <a:rPr lang="zh-TW" altLang="en-US" dirty="0">
                <a:solidFill>
                  <a:srgbClr val="C00000"/>
                </a:solidFill>
              </a:rPr>
              <a:t>匯流排寬度</a:t>
            </a:r>
            <a:r>
              <a:rPr lang="en-US" altLang="zh-TW" dirty="0"/>
              <a:t>(bus</a:t>
            </a:r>
            <a:r>
              <a:rPr lang="zh-TW" altLang="en-US" dirty="0"/>
              <a:t> </a:t>
            </a:r>
            <a:r>
              <a:rPr lang="en-US" altLang="zh-TW" dirty="0"/>
              <a:t>width)</a:t>
            </a:r>
            <a:r>
              <a:rPr lang="zh-TW" altLang="en-US" dirty="0"/>
              <a:t>，它會和</a:t>
            </a:r>
            <a:r>
              <a:rPr lang="en-US" altLang="zh-TW" dirty="0"/>
              <a:t>CPU</a:t>
            </a:r>
            <a:r>
              <a:rPr lang="zh-TW" altLang="en-US" dirty="0"/>
              <a:t>每次所能處理的位元數相容。</a:t>
            </a:r>
          </a:p>
          <a:p>
            <a:endParaRPr lang="zh-TW" altLang="en-US" dirty="0"/>
          </a:p>
        </p:txBody>
      </p:sp>
      <p:pic>
        <p:nvPicPr>
          <p:cNvPr id="5" name="圖片 4">
            <a:extLst>
              <a:ext uri="{FF2B5EF4-FFF2-40B4-BE49-F238E27FC236}">
                <a16:creationId xmlns:a16="http://schemas.microsoft.com/office/drawing/2014/main" id="{EBD94C14-62DB-7CF9-26CF-2630920B3C39}"/>
              </a:ext>
            </a:extLst>
          </p:cNvPr>
          <p:cNvPicPr>
            <a:picLocks noChangeAspect="1"/>
          </p:cNvPicPr>
          <p:nvPr/>
        </p:nvPicPr>
        <p:blipFill>
          <a:blip r:embed="rId2"/>
          <a:stretch>
            <a:fillRect/>
          </a:stretch>
        </p:blipFill>
        <p:spPr>
          <a:xfrm>
            <a:off x="4932040" y="2706765"/>
            <a:ext cx="2715004" cy="1800476"/>
          </a:xfrm>
          <a:prstGeom prst="rect">
            <a:avLst/>
          </a:prstGeom>
        </p:spPr>
      </p:pic>
    </p:spTree>
    <p:extLst>
      <p:ext uri="{BB962C8B-B14F-4D97-AF65-F5344CB8AC3E}">
        <p14:creationId xmlns:p14="http://schemas.microsoft.com/office/powerpoint/2010/main" val="23223820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t>連接埠</a:t>
            </a:r>
          </a:p>
        </p:txBody>
      </p:sp>
      <p:sp>
        <p:nvSpPr>
          <p:cNvPr id="5" name="內容版面配置區 4"/>
          <p:cNvSpPr>
            <a:spLocks noGrp="1"/>
          </p:cNvSpPr>
          <p:nvPr>
            <p:ph idx="1"/>
          </p:nvPr>
        </p:nvSpPr>
        <p:spPr/>
        <p:txBody>
          <a:bodyPr>
            <a:normAutofit fontScale="92500" lnSpcReduction="10000"/>
          </a:bodyPr>
          <a:lstStyle/>
          <a:p>
            <a:r>
              <a:rPr lang="zh-TW" altLang="en-US" dirty="0"/>
              <a:t>例如：將</a:t>
            </a:r>
            <a:r>
              <a:rPr lang="en-US" altLang="zh-TW" dirty="0"/>
              <a:t>USB</a:t>
            </a:r>
            <a:r>
              <a:rPr lang="zh-TW" altLang="en-US" dirty="0"/>
              <a:t>連接埠從</a:t>
            </a:r>
            <a:r>
              <a:rPr lang="en-US" altLang="zh-TW" dirty="0"/>
              <a:t>1.0</a:t>
            </a:r>
            <a:r>
              <a:rPr lang="zh-TW" altLang="en-US" dirty="0"/>
              <a:t>升級為</a:t>
            </a:r>
            <a:r>
              <a:rPr lang="en-US" altLang="zh-TW" dirty="0"/>
              <a:t>2.0</a:t>
            </a:r>
            <a:r>
              <a:rPr lang="zh-TW" altLang="en-US" dirty="0"/>
              <a:t>，須先購買</a:t>
            </a:r>
            <a:r>
              <a:rPr lang="en-US" altLang="zh-TW" dirty="0"/>
              <a:t>USB 2.0</a:t>
            </a:r>
            <a:r>
              <a:rPr lang="zh-TW" altLang="en-US" dirty="0"/>
              <a:t>介面卡，它可插到主機板</a:t>
            </a:r>
            <a:r>
              <a:rPr lang="en-US" altLang="zh-TW" dirty="0"/>
              <a:t>PCI</a:t>
            </a:r>
            <a:r>
              <a:rPr lang="zh-TW" altLang="en-US" dirty="0"/>
              <a:t>擴充槽，而它的</a:t>
            </a:r>
            <a:r>
              <a:rPr lang="en-US" altLang="zh-TW" dirty="0"/>
              <a:t>USB</a:t>
            </a:r>
            <a:r>
              <a:rPr lang="zh-TW" altLang="en-US" dirty="0"/>
              <a:t>插槽正好就可裝在主機殼的外表上。</a:t>
            </a:r>
            <a:endParaRPr lang="en-US" altLang="zh-TW" dirty="0"/>
          </a:p>
          <a:p>
            <a:r>
              <a:rPr lang="zh-TW" altLang="en-US" dirty="0"/>
              <a:t>這種外部連接端稱為</a:t>
            </a:r>
            <a:r>
              <a:rPr lang="zh-TW" altLang="en-US" dirty="0">
                <a:solidFill>
                  <a:srgbClr val="C00000"/>
                </a:solidFill>
              </a:rPr>
              <a:t>連接埠</a:t>
            </a:r>
            <a:r>
              <a:rPr lang="en-US" altLang="zh-TW" dirty="0"/>
              <a:t>(port)</a:t>
            </a:r>
            <a:r>
              <a:rPr lang="zh-TW" altLang="en-US" dirty="0"/>
              <a:t>，有兩種型態：</a:t>
            </a:r>
            <a:endParaRPr lang="en-US" altLang="zh-TW" dirty="0"/>
          </a:p>
          <a:p>
            <a:pPr lvl="1"/>
            <a:r>
              <a:rPr lang="zh-TW" altLang="en-US" dirty="0">
                <a:solidFill>
                  <a:srgbClr val="0070C0"/>
                </a:solidFill>
              </a:rPr>
              <a:t>序列埠</a:t>
            </a:r>
            <a:r>
              <a:rPr lang="en-US" altLang="zh-TW" dirty="0"/>
              <a:t>(serial port)</a:t>
            </a:r>
            <a:r>
              <a:rPr lang="zh-TW" altLang="en-US" dirty="0"/>
              <a:t>：每次傳一個位元。</a:t>
            </a:r>
            <a:endParaRPr lang="en-US" altLang="zh-TW" dirty="0"/>
          </a:p>
          <a:p>
            <a:pPr lvl="1"/>
            <a:r>
              <a:rPr lang="zh-TW" altLang="en-US" dirty="0">
                <a:solidFill>
                  <a:srgbClr val="0070C0"/>
                </a:solidFill>
              </a:rPr>
              <a:t>平行埠</a:t>
            </a:r>
            <a:r>
              <a:rPr lang="en-US" altLang="zh-TW" dirty="0"/>
              <a:t>(parallel port)</a:t>
            </a:r>
            <a:r>
              <a:rPr lang="zh-TW" altLang="en-US" dirty="0"/>
              <a:t>：每次傳一組位元。</a:t>
            </a:r>
          </a:p>
        </p:txBody>
      </p:sp>
    </p:spTree>
    <p:extLst>
      <p:ext uri="{BB962C8B-B14F-4D97-AF65-F5344CB8AC3E}">
        <p14:creationId xmlns:p14="http://schemas.microsoft.com/office/powerpoint/2010/main" val="25611949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ISA</a:t>
            </a:r>
            <a:r>
              <a:rPr lang="zh-TW" altLang="en-US" dirty="0"/>
              <a:t>、</a:t>
            </a:r>
            <a:r>
              <a:rPr lang="en-US" altLang="zh-TW" dirty="0"/>
              <a:t>PCI</a:t>
            </a:r>
            <a:r>
              <a:rPr lang="zh-TW" altLang="en-US" dirty="0"/>
              <a:t>、</a:t>
            </a:r>
            <a:r>
              <a:rPr lang="en-US" altLang="zh-TW" dirty="0"/>
              <a:t>AGP</a:t>
            </a:r>
            <a:endParaRPr lang="zh-TW" altLang="en-US" dirty="0"/>
          </a:p>
        </p:txBody>
      </p:sp>
      <p:sp>
        <p:nvSpPr>
          <p:cNvPr id="5" name="內容版面配置區 4"/>
          <p:cNvSpPr>
            <a:spLocks noGrp="1"/>
          </p:cNvSpPr>
          <p:nvPr>
            <p:ph idx="1"/>
          </p:nvPr>
        </p:nvSpPr>
        <p:spPr/>
        <p:txBody>
          <a:bodyPr>
            <a:normAutofit/>
          </a:bodyPr>
          <a:lstStyle/>
          <a:p>
            <a:r>
              <a:rPr lang="en-US" altLang="zh-TW" dirty="0"/>
              <a:t>80</a:t>
            </a:r>
            <a:r>
              <a:rPr lang="zh-TW" altLang="en-US" dirty="0"/>
              <a:t>年代最當紅的高速匯流排是</a:t>
            </a:r>
            <a:r>
              <a:rPr lang="en-US" altLang="zh-TW" dirty="0"/>
              <a:t>ISA</a:t>
            </a:r>
            <a:r>
              <a:rPr lang="zh-TW" altLang="en-US" dirty="0"/>
              <a:t>，其傳輸速率只有</a:t>
            </a:r>
            <a:r>
              <a:rPr lang="en-US" altLang="zh-TW" dirty="0"/>
              <a:t>8.33</a:t>
            </a:r>
            <a:r>
              <a:rPr lang="zh-TW" altLang="en-US" dirty="0"/>
              <a:t> </a:t>
            </a:r>
            <a:r>
              <a:rPr lang="en-US" altLang="zh-TW" dirty="0"/>
              <a:t>Mb/s</a:t>
            </a:r>
            <a:r>
              <a:rPr lang="zh-TW" altLang="en-US" dirty="0"/>
              <a:t>。</a:t>
            </a:r>
            <a:endParaRPr lang="en-US" altLang="zh-TW" dirty="0"/>
          </a:p>
          <a:p>
            <a:r>
              <a:rPr lang="en-US" altLang="zh-TW" dirty="0"/>
              <a:t>90</a:t>
            </a:r>
            <a:r>
              <a:rPr lang="zh-TW" altLang="en-US" dirty="0"/>
              <a:t>年代，</a:t>
            </a:r>
            <a:r>
              <a:rPr lang="en-US" altLang="zh-TW" dirty="0"/>
              <a:t>PCI</a:t>
            </a:r>
            <a:r>
              <a:rPr lang="zh-TW" altLang="en-US" dirty="0"/>
              <a:t>的速率</a:t>
            </a:r>
            <a:r>
              <a:rPr lang="en-US" altLang="zh-TW" dirty="0"/>
              <a:t>133 Mb/s</a:t>
            </a:r>
            <a:r>
              <a:rPr lang="zh-TW" altLang="en-US" dirty="0"/>
              <a:t>。</a:t>
            </a:r>
            <a:endParaRPr lang="en-US" altLang="zh-TW" dirty="0"/>
          </a:p>
          <a:p>
            <a:endParaRPr lang="zh-TW" altLang="en-US" dirty="0"/>
          </a:p>
        </p:txBody>
      </p:sp>
    </p:spTree>
    <p:extLst>
      <p:ext uri="{BB962C8B-B14F-4D97-AF65-F5344CB8AC3E}">
        <p14:creationId xmlns:p14="http://schemas.microsoft.com/office/powerpoint/2010/main" val="34406479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ISA</a:t>
            </a:r>
            <a:r>
              <a:rPr lang="zh-TW" altLang="en-US" dirty="0"/>
              <a:t>、</a:t>
            </a:r>
            <a:r>
              <a:rPr lang="en-US" altLang="zh-TW" dirty="0"/>
              <a:t>PCI</a:t>
            </a:r>
            <a:r>
              <a:rPr lang="zh-TW" altLang="en-US" dirty="0"/>
              <a:t>、</a:t>
            </a:r>
            <a:r>
              <a:rPr lang="en-US" altLang="zh-TW" dirty="0"/>
              <a:t>AGP</a:t>
            </a:r>
            <a:endParaRPr lang="zh-TW" altLang="en-US" dirty="0"/>
          </a:p>
        </p:txBody>
      </p:sp>
      <p:sp>
        <p:nvSpPr>
          <p:cNvPr id="3" name="內容版面配置區 2"/>
          <p:cNvSpPr>
            <a:spLocks noGrp="1"/>
          </p:cNvSpPr>
          <p:nvPr>
            <p:ph idx="1"/>
          </p:nvPr>
        </p:nvSpPr>
        <p:spPr/>
        <p:txBody>
          <a:bodyPr/>
          <a:lstStyle/>
          <a:p>
            <a:r>
              <a:rPr lang="zh-TW" altLang="en-US" dirty="0"/>
              <a:t>隨著高速設備接踵而出，</a:t>
            </a:r>
            <a:r>
              <a:rPr lang="en-US" altLang="zh-TW" dirty="0"/>
              <a:t>PCI</a:t>
            </a:r>
            <a:r>
              <a:rPr lang="zh-TW" altLang="en-US" dirty="0"/>
              <a:t>已面臨瓶頸，因此，繪圖卡等高速運作的設備多採用</a:t>
            </a:r>
            <a:r>
              <a:rPr lang="en-US" altLang="zh-TW" dirty="0"/>
              <a:t>AGP</a:t>
            </a:r>
            <a:r>
              <a:rPr lang="zh-TW" altLang="en-US" dirty="0"/>
              <a:t>，其傳輸速率為</a:t>
            </a:r>
            <a:r>
              <a:rPr lang="en-US" altLang="zh-TW" dirty="0"/>
              <a:t>2.1 Gb/s</a:t>
            </a:r>
            <a:r>
              <a:rPr lang="zh-TW" altLang="en-US" dirty="0"/>
              <a:t>。</a:t>
            </a:r>
            <a:endParaRPr lang="en-US" altLang="zh-TW" dirty="0"/>
          </a:p>
          <a:p>
            <a:r>
              <a:rPr lang="zh-TW" altLang="en-US" dirty="0"/>
              <a:t>它們都可用來連接硬碟及網路卡，也可用來連接需大量資料處理的影像圖形介面。</a:t>
            </a:r>
          </a:p>
          <a:p>
            <a:endParaRPr lang="zh-TW" altLang="en-US" dirty="0"/>
          </a:p>
        </p:txBody>
      </p:sp>
    </p:spTree>
    <p:extLst>
      <p:ext uri="{BB962C8B-B14F-4D97-AF65-F5344CB8AC3E}">
        <p14:creationId xmlns:p14="http://schemas.microsoft.com/office/powerpoint/2010/main" val="2684773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PCI Express</a:t>
            </a:r>
            <a:endParaRPr lang="zh-TW" altLang="en-US" dirty="0"/>
          </a:p>
        </p:txBody>
      </p:sp>
      <p:sp>
        <p:nvSpPr>
          <p:cNvPr id="5" name="內容版面配置區 4"/>
          <p:cNvSpPr>
            <a:spLocks noGrp="1"/>
          </p:cNvSpPr>
          <p:nvPr>
            <p:ph idx="1"/>
          </p:nvPr>
        </p:nvSpPr>
        <p:spPr/>
        <p:txBody>
          <a:bodyPr>
            <a:normAutofit/>
          </a:bodyPr>
          <a:lstStyle/>
          <a:p>
            <a:r>
              <a:rPr lang="en-US" altLang="zh-TW" dirty="0"/>
              <a:t>PCI Express</a:t>
            </a:r>
            <a:r>
              <a:rPr lang="zh-TW" altLang="en-US" dirty="0"/>
              <a:t>又稱為</a:t>
            </a:r>
            <a:r>
              <a:rPr lang="en-US" altLang="zh-TW" dirty="0">
                <a:solidFill>
                  <a:srgbClr val="C00000"/>
                </a:solidFill>
              </a:rPr>
              <a:t>3GIO </a:t>
            </a:r>
            <a:r>
              <a:rPr lang="en-US" altLang="zh-TW" dirty="0"/>
              <a:t>(Third Generation I/O Architecture</a:t>
            </a:r>
            <a:r>
              <a:rPr lang="zh-TW" altLang="en-US" dirty="0"/>
              <a:t>；第三代輸出入架構</a:t>
            </a:r>
            <a:r>
              <a:rPr lang="en-US" altLang="zh-TW" dirty="0"/>
              <a:t>)</a:t>
            </a:r>
            <a:r>
              <a:rPr lang="zh-TW" altLang="en-US" dirty="0"/>
              <a:t>。</a:t>
            </a:r>
            <a:endParaRPr lang="en-US" altLang="zh-TW" dirty="0"/>
          </a:p>
          <a:p>
            <a:r>
              <a:rPr lang="zh-TW" altLang="en-US" dirty="0"/>
              <a:t>第三代輸出入架構主要是演進自：</a:t>
            </a:r>
            <a:endParaRPr lang="en-US" altLang="zh-TW" dirty="0"/>
          </a:p>
          <a:p>
            <a:pPr lvl="1"/>
            <a:r>
              <a:rPr lang="zh-TW" altLang="en-US" dirty="0"/>
              <a:t>第一代</a:t>
            </a:r>
            <a:r>
              <a:rPr lang="en-US" altLang="zh-TW" dirty="0"/>
              <a:t>1980</a:t>
            </a:r>
            <a:r>
              <a:rPr lang="zh-TW" altLang="en-US" dirty="0"/>
              <a:t>年代的</a:t>
            </a:r>
            <a:r>
              <a:rPr lang="en-US" altLang="zh-TW" dirty="0">
                <a:solidFill>
                  <a:srgbClr val="C00000"/>
                </a:solidFill>
              </a:rPr>
              <a:t>ISA</a:t>
            </a:r>
            <a:r>
              <a:rPr lang="zh-TW" altLang="en-US" dirty="0"/>
              <a:t>架構</a:t>
            </a:r>
            <a:r>
              <a:rPr lang="en-US" altLang="zh-TW" dirty="0"/>
              <a:t>(</a:t>
            </a:r>
            <a:r>
              <a:rPr lang="zh-TW" altLang="en-US" dirty="0"/>
              <a:t>含</a:t>
            </a:r>
            <a:r>
              <a:rPr lang="en-US" altLang="zh-TW" dirty="0" err="1"/>
              <a:t>EISA</a:t>
            </a:r>
            <a:r>
              <a:rPr lang="zh-TW" altLang="en-US" dirty="0"/>
              <a:t>、</a:t>
            </a:r>
            <a:r>
              <a:rPr lang="en-US" altLang="zh-TW" dirty="0"/>
              <a:t>MCA</a:t>
            </a:r>
            <a:r>
              <a:rPr lang="zh-TW" altLang="en-US" dirty="0"/>
              <a:t>與</a:t>
            </a:r>
            <a:r>
              <a:rPr lang="en-US" altLang="zh-TW" dirty="0" err="1"/>
              <a:t>VESA</a:t>
            </a:r>
            <a:r>
              <a:rPr lang="en-US" altLang="zh-TW" dirty="0"/>
              <a:t>)</a:t>
            </a:r>
            <a:r>
              <a:rPr lang="zh-TW" altLang="en-US" dirty="0"/>
              <a:t> 。</a:t>
            </a:r>
            <a:endParaRPr lang="en-US" altLang="zh-TW" dirty="0"/>
          </a:p>
          <a:p>
            <a:pPr lvl="1"/>
            <a:r>
              <a:rPr lang="zh-TW" altLang="en-US" dirty="0"/>
              <a:t>第二代</a:t>
            </a:r>
            <a:r>
              <a:rPr lang="en-US" altLang="zh-TW" dirty="0"/>
              <a:t>1990</a:t>
            </a:r>
            <a:r>
              <a:rPr lang="zh-TW" altLang="en-US" dirty="0"/>
              <a:t>年代的</a:t>
            </a:r>
            <a:r>
              <a:rPr lang="en-US" altLang="zh-TW" dirty="0">
                <a:solidFill>
                  <a:srgbClr val="C00000"/>
                </a:solidFill>
              </a:rPr>
              <a:t>PCI</a:t>
            </a:r>
            <a:r>
              <a:rPr lang="zh-TW" altLang="en-US" dirty="0"/>
              <a:t>架構</a:t>
            </a:r>
            <a:r>
              <a:rPr lang="en-US" altLang="zh-TW" dirty="0"/>
              <a:t>(</a:t>
            </a:r>
            <a:r>
              <a:rPr lang="zh-TW" altLang="en-US" dirty="0"/>
              <a:t>含</a:t>
            </a:r>
            <a:r>
              <a:rPr lang="en-US" altLang="zh-TW" dirty="0" err="1"/>
              <a:t>AGP</a:t>
            </a:r>
            <a:r>
              <a:rPr lang="zh-TW" altLang="en-US" dirty="0"/>
              <a:t>、</a:t>
            </a:r>
            <a:r>
              <a:rPr lang="en-US" altLang="zh-TW" dirty="0"/>
              <a:t>PCI-x</a:t>
            </a:r>
            <a:r>
              <a:rPr lang="zh-TW" altLang="en-US" dirty="0"/>
              <a:t>與</a:t>
            </a:r>
            <a:r>
              <a:rPr lang="en-US" altLang="zh-TW" dirty="0"/>
              <a:t>HL</a:t>
            </a:r>
            <a:r>
              <a:rPr lang="zh-TW" altLang="en-US" dirty="0"/>
              <a:t>等</a:t>
            </a:r>
            <a:r>
              <a:rPr lang="en-US" altLang="zh-TW" dirty="0"/>
              <a:t>)</a:t>
            </a:r>
            <a:r>
              <a:rPr lang="zh-TW" altLang="en-US" dirty="0"/>
              <a:t>。</a:t>
            </a:r>
          </a:p>
        </p:txBody>
      </p:sp>
    </p:spTree>
    <p:extLst>
      <p:ext uri="{BB962C8B-B14F-4D97-AF65-F5344CB8AC3E}">
        <p14:creationId xmlns:p14="http://schemas.microsoft.com/office/powerpoint/2010/main" val="14902188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PCI Express</a:t>
            </a:r>
            <a:endParaRPr lang="zh-TW" altLang="en-US" dirty="0"/>
          </a:p>
        </p:txBody>
      </p:sp>
      <p:sp>
        <p:nvSpPr>
          <p:cNvPr id="5" name="內容版面配置區 4"/>
          <p:cNvSpPr>
            <a:spLocks noGrp="1"/>
          </p:cNvSpPr>
          <p:nvPr>
            <p:ph idx="1"/>
          </p:nvPr>
        </p:nvSpPr>
        <p:spPr/>
        <p:txBody>
          <a:bodyPr>
            <a:normAutofit fontScale="92500" lnSpcReduction="10000"/>
          </a:bodyPr>
          <a:lstStyle/>
          <a:p>
            <a:r>
              <a:rPr lang="en-US" altLang="zh-TW" dirty="0"/>
              <a:t>PCI Express</a:t>
            </a:r>
            <a:r>
              <a:rPr lang="zh-TW" altLang="en-US" dirty="0"/>
              <a:t>的傳輸速率為每秒</a:t>
            </a:r>
            <a:r>
              <a:rPr lang="en-US" altLang="zh-TW" dirty="0" err="1"/>
              <a:t>2.5Gb</a:t>
            </a:r>
            <a:r>
              <a:rPr lang="zh-TW" altLang="en-US" dirty="0"/>
              <a:t>～</a:t>
            </a:r>
            <a:r>
              <a:rPr lang="en-US" altLang="zh-TW" dirty="0" err="1"/>
              <a:t>8Gb</a:t>
            </a:r>
            <a:r>
              <a:rPr lang="zh-TW" altLang="en-US" dirty="0"/>
              <a:t>。</a:t>
            </a:r>
          </a:p>
          <a:p>
            <a:r>
              <a:rPr lang="zh-TW" altLang="en-US" dirty="0"/>
              <a:t>由英特爾、康柏、</a:t>
            </a:r>
            <a:r>
              <a:rPr lang="en-US" altLang="zh-TW" dirty="0"/>
              <a:t>Dell</a:t>
            </a:r>
            <a:r>
              <a:rPr lang="zh-TW" altLang="en-US" dirty="0"/>
              <a:t>、</a:t>
            </a:r>
            <a:r>
              <a:rPr lang="en-US" altLang="zh-TW" dirty="0"/>
              <a:t>IBM</a:t>
            </a:r>
            <a:r>
              <a:rPr lang="zh-TW" altLang="en-US" dirty="0"/>
              <a:t>、微軟等聯手研發，主要是當作晶片</a:t>
            </a:r>
            <a:r>
              <a:rPr lang="en-US" altLang="zh-TW" dirty="0"/>
              <a:t>(</a:t>
            </a:r>
            <a:r>
              <a:rPr lang="zh-TW" altLang="en-US" dirty="0"/>
              <a:t>晶片組南北橋</a:t>
            </a:r>
            <a:r>
              <a:rPr lang="en-US" altLang="zh-TW" dirty="0"/>
              <a:t>)</a:t>
            </a:r>
            <a:r>
              <a:rPr lang="zh-TW" altLang="en-US" dirty="0"/>
              <a:t>連結、轉接卡的</a:t>
            </a:r>
            <a:r>
              <a:rPr lang="en-US" altLang="zh-TW" dirty="0"/>
              <a:t>I/O</a:t>
            </a:r>
            <a:r>
              <a:rPr lang="zh-TW" altLang="en-US" dirty="0"/>
              <a:t>連結、以及</a:t>
            </a:r>
            <a:r>
              <a:rPr lang="en-US" altLang="zh-TW" dirty="0" err="1"/>
              <a:t>1394b</a:t>
            </a:r>
            <a:r>
              <a:rPr lang="zh-TW" altLang="en-US" dirty="0"/>
              <a:t>、</a:t>
            </a:r>
            <a:r>
              <a:rPr lang="en-US" altLang="zh-TW" dirty="0"/>
              <a:t>USB 2.0</a:t>
            </a:r>
            <a:r>
              <a:rPr lang="zh-TW" altLang="en-US" dirty="0"/>
              <a:t>、</a:t>
            </a:r>
            <a:r>
              <a:rPr lang="en-US" altLang="zh-TW" dirty="0" err="1"/>
              <a:t>InfiniBand</a:t>
            </a:r>
            <a:r>
              <a:rPr lang="zh-TW" altLang="en-US" dirty="0"/>
              <a:t>架構與乙太網路的</a:t>
            </a:r>
            <a:r>
              <a:rPr lang="en-US" altLang="zh-TW" dirty="0"/>
              <a:t>I/O</a:t>
            </a:r>
            <a:r>
              <a:rPr lang="zh-TW" altLang="en-US" dirty="0"/>
              <a:t>連結，另外，也可取代</a:t>
            </a:r>
            <a:r>
              <a:rPr lang="en-US" altLang="zh-TW" dirty="0" err="1"/>
              <a:t>AGP</a:t>
            </a:r>
            <a:r>
              <a:rPr lang="zh-TW" altLang="en-US" dirty="0"/>
              <a:t>匯流排成為繪圖卡的傳輸連結。</a:t>
            </a:r>
          </a:p>
        </p:txBody>
      </p:sp>
    </p:spTree>
    <p:extLst>
      <p:ext uri="{BB962C8B-B14F-4D97-AF65-F5344CB8AC3E}">
        <p14:creationId xmlns:p14="http://schemas.microsoft.com/office/powerpoint/2010/main" val="93634098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PCI Express</a:t>
            </a:r>
            <a:endParaRPr lang="zh-TW" altLang="en-US" dirty="0"/>
          </a:p>
        </p:txBody>
      </p:sp>
      <p:sp>
        <p:nvSpPr>
          <p:cNvPr id="3" name="內容版面配置區 2"/>
          <p:cNvSpPr>
            <a:spLocks noGrp="1"/>
          </p:cNvSpPr>
          <p:nvPr>
            <p:ph idx="1"/>
          </p:nvPr>
        </p:nvSpPr>
        <p:spPr/>
        <p:txBody>
          <a:bodyPr/>
          <a:lstStyle/>
          <a:p>
            <a:r>
              <a:rPr lang="en-US" altLang="zh-TW"/>
              <a:t>PCI Express</a:t>
            </a:r>
            <a:r>
              <a:rPr lang="zh-TW" altLang="en-US"/>
              <a:t>的近期發展可參見</a:t>
            </a:r>
            <a:r>
              <a:rPr lang="en-US" altLang="zh-TW"/>
              <a:t>https://zh.wikipedia.org/wiki/PCI_Express</a:t>
            </a:r>
            <a:r>
              <a:rPr lang="zh-TW" altLang="en-US"/>
              <a:t>。 </a:t>
            </a:r>
            <a:endParaRPr lang="zh-TW" alt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12260" y="2706765"/>
            <a:ext cx="1409700" cy="140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763197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USB</a:t>
            </a:r>
          </a:p>
        </p:txBody>
      </p:sp>
      <p:sp>
        <p:nvSpPr>
          <p:cNvPr id="5" name="內容版面配置區 4"/>
          <p:cNvSpPr>
            <a:spLocks noGrp="1"/>
          </p:cNvSpPr>
          <p:nvPr>
            <p:ph idx="1"/>
          </p:nvPr>
        </p:nvSpPr>
        <p:spPr/>
        <p:txBody>
          <a:bodyPr>
            <a:normAutofit fontScale="92500" lnSpcReduction="10000"/>
          </a:bodyPr>
          <a:lstStyle/>
          <a:p>
            <a:r>
              <a:rPr lang="en-US" altLang="zh-TW" dirty="0">
                <a:solidFill>
                  <a:srgbClr val="C00000"/>
                </a:solidFill>
              </a:rPr>
              <a:t>USB </a:t>
            </a:r>
            <a:r>
              <a:rPr lang="en-US" altLang="zh-TW" dirty="0"/>
              <a:t>(Universal Serial Bus</a:t>
            </a:r>
            <a:r>
              <a:rPr lang="zh-TW" altLang="en-US" dirty="0"/>
              <a:t>；通用序列匯流排</a:t>
            </a:r>
            <a:r>
              <a:rPr lang="en-US" altLang="zh-TW" dirty="0"/>
              <a:t>)</a:t>
            </a:r>
            <a:r>
              <a:rPr lang="zh-TW" altLang="en-US" dirty="0"/>
              <a:t>是</a:t>
            </a:r>
            <a:r>
              <a:rPr lang="en-US" altLang="zh-TW" dirty="0"/>
              <a:t>USB Implementers Forum</a:t>
            </a:r>
            <a:r>
              <a:rPr lang="zh-TW" altLang="en-US" dirty="0"/>
              <a:t>所開發的連線規格。</a:t>
            </a:r>
            <a:endParaRPr lang="en-US" altLang="zh-TW" dirty="0"/>
          </a:p>
          <a:p>
            <a:r>
              <a:rPr lang="zh-TW" altLang="en-US" dirty="0"/>
              <a:t>針對電腦的外接周邊設備</a:t>
            </a:r>
            <a:r>
              <a:rPr lang="en-US" altLang="zh-TW" dirty="0"/>
              <a:t>(</a:t>
            </a:r>
            <a:r>
              <a:rPr lang="zh-TW" altLang="en-US" dirty="0"/>
              <a:t>鍵盤、滑鼠、遊戲控制器、攝影機、儲存裝置、掃描器和其他周邊</a:t>
            </a:r>
            <a:r>
              <a:rPr lang="en-US" altLang="zh-TW" dirty="0"/>
              <a:t>)</a:t>
            </a:r>
            <a:r>
              <a:rPr lang="zh-TW" altLang="en-US" dirty="0"/>
              <a:t>所設計，支援隨插即用，讓使用者安裝特定裝置時，能夠省去開啟電腦機箱及重開機的麻煩。</a:t>
            </a:r>
            <a:endParaRPr lang="en-US" altLang="zh-TW" dirty="0"/>
          </a:p>
        </p:txBody>
      </p:sp>
    </p:spTree>
    <p:extLst>
      <p:ext uri="{BB962C8B-B14F-4D97-AF65-F5344CB8AC3E}">
        <p14:creationId xmlns:p14="http://schemas.microsoft.com/office/powerpoint/2010/main" val="34256409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USB</a:t>
            </a:r>
            <a:endParaRPr lang="zh-TW" altLang="en-US" dirty="0"/>
          </a:p>
        </p:txBody>
      </p:sp>
      <p:sp>
        <p:nvSpPr>
          <p:cNvPr id="3" name="內容版面配置區 2"/>
          <p:cNvSpPr>
            <a:spLocks noGrp="1"/>
          </p:cNvSpPr>
          <p:nvPr>
            <p:ph idx="1"/>
          </p:nvPr>
        </p:nvSpPr>
        <p:spPr/>
        <p:txBody>
          <a:bodyPr/>
          <a:lstStyle/>
          <a:p>
            <a:r>
              <a:rPr lang="zh-TW" altLang="en-US" dirty="0"/>
              <a:t>提供操作簡便、擴充性和快速等優點。</a:t>
            </a:r>
          </a:p>
          <a:p>
            <a:r>
              <a:rPr lang="zh-TW" altLang="en-US" dirty="0"/>
              <a:t>支援多台設備，同一埠最多可支援</a:t>
            </a:r>
            <a:r>
              <a:rPr lang="en-US" altLang="zh-TW" dirty="0"/>
              <a:t>127</a:t>
            </a:r>
            <a:r>
              <a:rPr lang="zh-TW" altLang="en-US" dirty="0"/>
              <a:t>台設備。</a:t>
            </a:r>
          </a:p>
          <a:p>
            <a:endParaRPr lang="zh-TW" altLang="en-US" dirty="0"/>
          </a:p>
        </p:txBody>
      </p:sp>
    </p:spTree>
    <p:extLst>
      <p:ext uri="{BB962C8B-B14F-4D97-AF65-F5344CB8AC3E}">
        <p14:creationId xmlns:p14="http://schemas.microsoft.com/office/powerpoint/2010/main" val="13619823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USB</a:t>
            </a:r>
            <a:r>
              <a:rPr lang="zh-TW" altLang="en-US" dirty="0"/>
              <a:t>傳輸速度</a:t>
            </a:r>
            <a:endParaRPr lang="en-US" altLang="zh-TW" dirty="0"/>
          </a:p>
        </p:txBody>
      </p:sp>
      <p:graphicFrame>
        <p:nvGraphicFramePr>
          <p:cNvPr id="2" name="表格 1"/>
          <p:cNvGraphicFramePr>
            <a:graphicFrameLocks noGrp="1"/>
          </p:cNvGraphicFramePr>
          <p:nvPr>
            <p:extLst>
              <p:ext uri="{D42A27DB-BD31-4B8C-83A1-F6EECF244321}">
                <p14:modId xmlns:p14="http://schemas.microsoft.com/office/powerpoint/2010/main" val="429103100"/>
              </p:ext>
            </p:extLst>
          </p:nvPr>
        </p:nvGraphicFramePr>
        <p:xfrm>
          <a:off x="1581345" y="1660399"/>
          <a:ext cx="6096000" cy="2916000"/>
        </p:xfrm>
        <a:graphic>
          <a:graphicData uri="http://schemas.openxmlformats.org/drawingml/2006/table">
            <a:tbl>
              <a:tblPr firstRow="1" bandRow="1">
                <a:tableStyleId>{00A15C55-8517-42AA-B614-E9B94910E393}</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486000">
                <a:tc>
                  <a:txBody>
                    <a:bodyPr/>
                    <a:lstStyle/>
                    <a:p>
                      <a:pPr algn="ctr"/>
                      <a:r>
                        <a:rPr lang="en-US" altLang="zh-TW" sz="2100" b="1" dirty="0">
                          <a:latin typeface="微軟正黑體" panose="020B0604030504040204" pitchFamily="34" charset="-120"/>
                          <a:ea typeface="微軟正黑體" panose="020B0604030504040204" pitchFamily="34" charset="-120"/>
                        </a:rPr>
                        <a:t>USB</a:t>
                      </a:r>
                      <a:r>
                        <a:rPr lang="zh-TW" altLang="en-US" sz="2100" b="1" dirty="0">
                          <a:latin typeface="微軟正黑體" panose="020B0604030504040204" pitchFamily="34" charset="-120"/>
                          <a:ea typeface="微軟正黑體" panose="020B0604030504040204" pitchFamily="34" charset="-120"/>
                        </a:rPr>
                        <a:t>規格</a:t>
                      </a:r>
                    </a:p>
                  </a:txBody>
                  <a:tcPr marT="34290" marB="34290" anchor="ctr"/>
                </a:tc>
                <a:tc>
                  <a:txBody>
                    <a:bodyPr/>
                    <a:lstStyle/>
                    <a:p>
                      <a:pPr algn="ctr"/>
                      <a:r>
                        <a:rPr lang="zh-TW" altLang="en-US" sz="2100" b="1" dirty="0">
                          <a:latin typeface="微軟正黑體" panose="020B0604030504040204" pitchFamily="34" charset="-120"/>
                          <a:ea typeface="微軟正黑體" panose="020B0604030504040204" pitchFamily="34" charset="-120"/>
                        </a:rPr>
                        <a:t>每秒傳輸速度</a:t>
                      </a:r>
                    </a:p>
                  </a:txBody>
                  <a:tcPr marT="34290" marB="34290" anchor="ctr"/>
                </a:tc>
                <a:extLst>
                  <a:ext uri="{0D108BD9-81ED-4DB2-BD59-A6C34878D82A}">
                    <a16:rowId xmlns:a16="http://schemas.microsoft.com/office/drawing/2014/main" val="10000"/>
                  </a:ext>
                </a:extLst>
              </a:tr>
              <a:tr h="486000">
                <a:tc>
                  <a:txBody>
                    <a:bodyPr/>
                    <a:lstStyle/>
                    <a:p>
                      <a:pPr algn="ctr"/>
                      <a:r>
                        <a:rPr lang="en-US" altLang="zh-TW" sz="2100" b="1" dirty="0">
                          <a:latin typeface="微軟正黑體" panose="020B0604030504040204" pitchFamily="34" charset="-120"/>
                          <a:ea typeface="微軟正黑體" panose="020B0604030504040204" pitchFamily="34" charset="-120"/>
                        </a:rPr>
                        <a:t>USB 1.0</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tc>
                  <a:txBody>
                    <a:bodyPr/>
                    <a:lstStyle/>
                    <a:p>
                      <a:pPr algn="ctr"/>
                      <a:r>
                        <a:rPr lang="en-US" altLang="zh-TW" sz="2100" b="1" dirty="0">
                          <a:latin typeface="微軟正黑體" panose="020B0604030504040204" pitchFamily="34" charset="-120"/>
                          <a:ea typeface="微軟正黑體" panose="020B0604030504040204" pitchFamily="34" charset="-120"/>
                        </a:rPr>
                        <a:t>1.5</a:t>
                      </a:r>
                      <a:r>
                        <a:rPr lang="zh-TW" altLang="en-US" sz="2100" b="1" baseline="0" dirty="0">
                          <a:latin typeface="微軟正黑體" panose="020B0604030504040204" pitchFamily="34" charset="-120"/>
                          <a:ea typeface="微軟正黑體" panose="020B0604030504040204" pitchFamily="34" charset="-120"/>
                        </a:rPr>
                        <a:t> </a:t>
                      </a:r>
                      <a:r>
                        <a:rPr lang="en-US" altLang="zh-TW" sz="2100" b="1" dirty="0">
                          <a:latin typeface="微軟正黑體" panose="020B0604030504040204" pitchFamily="34" charset="-120"/>
                          <a:ea typeface="微軟正黑體" panose="020B0604030504040204" pitchFamily="34" charset="-120"/>
                        </a:rPr>
                        <a:t>Mb</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extLst>
                  <a:ext uri="{0D108BD9-81ED-4DB2-BD59-A6C34878D82A}">
                    <a16:rowId xmlns:a16="http://schemas.microsoft.com/office/drawing/2014/main" val="10001"/>
                  </a:ext>
                </a:extLst>
              </a:tr>
              <a:tr h="486000">
                <a:tc>
                  <a:txBody>
                    <a:bodyPr/>
                    <a:lstStyle/>
                    <a:p>
                      <a:pPr algn="ctr"/>
                      <a:r>
                        <a:rPr lang="en-US" altLang="zh-TW" sz="2100" b="1" dirty="0">
                          <a:latin typeface="微軟正黑體" panose="020B0604030504040204" pitchFamily="34" charset="-120"/>
                          <a:ea typeface="微軟正黑體" panose="020B0604030504040204" pitchFamily="34" charset="-120"/>
                        </a:rPr>
                        <a:t>USB 1.1</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tc>
                  <a:txBody>
                    <a:bodyPr/>
                    <a:lstStyle/>
                    <a:p>
                      <a:pPr algn="ctr"/>
                      <a:r>
                        <a:rPr lang="en-US" altLang="zh-TW" sz="2100" b="1" dirty="0">
                          <a:latin typeface="微軟正黑體" panose="020B0604030504040204" pitchFamily="34" charset="-120"/>
                          <a:ea typeface="微軟正黑體" panose="020B0604030504040204" pitchFamily="34" charset="-120"/>
                        </a:rPr>
                        <a:t>12 Mb</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extLst>
                  <a:ext uri="{0D108BD9-81ED-4DB2-BD59-A6C34878D82A}">
                    <a16:rowId xmlns:a16="http://schemas.microsoft.com/office/drawing/2014/main" val="10002"/>
                  </a:ext>
                </a:extLst>
              </a:tr>
              <a:tr h="486000">
                <a:tc>
                  <a:txBody>
                    <a:bodyPr/>
                    <a:lstStyle/>
                    <a:p>
                      <a:pPr algn="ctr"/>
                      <a:r>
                        <a:rPr lang="en-US" altLang="zh-TW" sz="2100" b="1" dirty="0">
                          <a:latin typeface="微軟正黑體" panose="020B0604030504040204" pitchFamily="34" charset="-120"/>
                          <a:ea typeface="微軟正黑體" panose="020B0604030504040204" pitchFamily="34" charset="-120"/>
                        </a:rPr>
                        <a:t>USB 2.0</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tc>
                  <a:txBody>
                    <a:bodyPr/>
                    <a:lstStyle/>
                    <a:p>
                      <a:pPr algn="ctr"/>
                      <a:r>
                        <a:rPr lang="en-US" altLang="zh-TW" sz="2100" b="1" dirty="0">
                          <a:latin typeface="微軟正黑體" panose="020B0604030504040204" pitchFamily="34" charset="-120"/>
                          <a:ea typeface="微軟正黑體" panose="020B0604030504040204" pitchFamily="34" charset="-120"/>
                        </a:rPr>
                        <a:t>480 Mb</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extLst>
                  <a:ext uri="{0D108BD9-81ED-4DB2-BD59-A6C34878D82A}">
                    <a16:rowId xmlns:a16="http://schemas.microsoft.com/office/drawing/2014/main" val="10003"/>
                  </a:ext>
                </a:extLst>
              </a:tr>
              <a:tr h="486000">
                <a:tc>
                  <a:txBody>
                    <a:bodyPr/>
                    <a:lstStyle/>
                    <a:p>
                      <a:pPr algn="ctr"/>
                      <a:r>
                        <a:rPr lang="en-US" altLang="zh-TW" sz="2100" b="1" dirty="0">
                          <a:latin typeface="微軟正黑體" panose="020B0604030504040204" pitchFamily="34" charset="-120"/>
                          <a:ea typeface="微軟正黑體" panose="020B0604030504040204" pitchFamily="34" charset="-120"/>
                        </a:rPr>
                        <a:t>USB 3.0</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tc>
                  <a:txBody>
                    <a:bodyPr/>
                    <a:lstStyle/>
                    <a:p>
                      <a:pPr algn="ctr"/>
                      <a:r>
                        <a:rPr lang="en-US" altLang="zh-TW" sz="2100" b="1" dirty="0">
                          <a:latin typeface="微軟正黑體" panose="020B0604030504040204" pitchFamily="34" charset="-120"/>
                          <a:ea typeface="微軟正黑體" panose="020B0604030504040204" pitchFamily="34" charset="-120"/>
                        </a:rPr>
                        <a:t>4.8 Gb</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extLst>
                  <a:ext uri="{0D108BD9-81ED-4DB2-BD59-A6C34878D82A}">
                    <a16:rowId xmlns:a16="http://schemas.microsoft.com/office/drawing/2014/main" val="10004"/>
                  </a:ext>
                </a:extLst>
              </a:tr>
              <a:tr h="486000">
                <a:tc>
                  <a:txBody>
                    <a:bodyPr/>
                    <a:lstStyle/>
                    <a:p>
                      <a:pPr algn="ctr"/>
                      <a:r>
                        <a:rPr lang="en-US" altLang="zh-TW" sz="2100" b="1" dirty="0">
                          <a:latin typeface="微軟正黑體" panose="020B0604030504040204" pitchFamily="34" charset="-120"/>
                          <a:ea typeface="微軟正黑體" panose="020B0604030504040204" pitchFamily="34" charset="-120"/>
                        </a:rPr>
                        <a:t>USB 4.0</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100" b="1" dirty="0">
                          <a:latin typeface="微軟正黑體" panose="020B0604030504040204" pitchFamily="34" charset="-120"/>
                          <a:ea typeface="微軟正黑體" panose="020B0604030504040204" pitchFamily="34" charset="-120"/>
                        </a:rPr>
                        <a:t>40</a:t>
                      </a:r>
                      <a:r>
                        <a:rPr lang="zh-TW" altLang="en-US" sz="2100" b="1" dirty="0">
                          <a:latin typeface="微軟正黑體" panose="020B0604030504040204" pitchFamily="34" charset="-120"/>
                          <a:ea typeface="微軟正黑體" panose="020B0604030504040204" pitchFamily="34" charset="-120"/>
                        </a:rPr>
                        <a:t> </a:t>
                      </a:r>
                      <a:r>
                        <a:rPr lang="en-US" altLang="zh-TW" sz="2100" b="1" dirty="0">
                          <a:latin typeface="微軟正黑體" panose="020B0604030504040204" pitchFamily="34" charset="-120"/>
                          <a:ea typeface="微軟正黑體" panose="020B0604030504040204" pitchFamily="34" charset="-120"/>
                        </a:rPr>
                        <a:t>Gb</a:t>
                      </a:r>
                      <a:endParaRPr lang="zh-TW" altLang="en-US" sz="2100" b="1" dirty="0">
                        <a:latin typeface="微軟正黑體" panose="020B0604030504040204" pitchFamily="34" charset="-120"/>
                        <a:ea typeface="微軟正黑體" panose="020B0604030504040204" pitchFamily="34" charset="-120"/>
                      </a:endParaRPr>
                    </a:p>
                  </a:txBody>
                  <a:tcPr marT="34290" marB="34290" anchor="ctr"/>
                </a:tc>
                <a:extLst>
                  <a:ext uri="{0D108BD9-81ED-4DB2-BD59-A6C34878D82A}">
                    <a16:rowId xmlns:a16="http://schemas.microsoft.com/office/drawing/2014/main" val="10005"/>
                  </a:ext>
                </a:extLst>
              </a:tr>
            </a:tbl>
          </a:graphicData>
        </a:graphic>
      </p:graphicFrame>
      <p:pic>
        <p:nvPicPr>
          <p:cNvPr id="5" name="圖片 4"/>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2006715" y="728700"/>
            <a:ext cx="810090" cy="803762"/>
          </a:xfrm>
          <a:prstGeom prst="rect">
            <a:avLst/>
          </a:prstGeom>
        </p:spPr>
      </p:pic>
    </p:spTree>
    <p:extLst>
      <p:ext uri="{BB962C8B-B14F-4D97-AF65-F5344CB8AC3E}">
        <p14:creationId xmlns:p14="http://schemas.microsoft.com/office/powerpoint/2010/main" val="21703061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altLang="zh-TW" dirty="0"/>
              <a:t>3-5 </a:t>
            </a:r>
            <a:r>
              <a:rPr lang="zh-TW" altLang="en-US" dirty="0"/>
              <a:t>儲存裝置</a:t>
            </a:r>
          </a:p>
        </p:txBody>
      </p:sp>
      <p:sp>
        <p:nvSpPr>
          <p:cNvPr id="5" name="內容版面配置區 4"/>
          <p:cNvSpPr>
            <a:spLocks noGrp="1"/>
          </p:cNvSpPr>
          <p:nvPr>
            <p:ph idx="1"/>
          </p:nvPr>
        </p:nvSpPr>
        <p:spPr/>
        <p:txBody>
          <a:bodyPr/>
          <a:lstStyle/>
          <a:p>
            <a:r>
              <a:rPr lang="zh-TW" altLang="en-US" dirty="0"/>
              <a:t>磁性儲存裝置的基本原理，是利用某些物質可以</a:t>
            </a:r>
            <a:r>
              <a:rPr lang="zh-TW" altLang="en-US" u="sng" dirty="0"/>
              <a:t>磁化</a:t>
            </a:r>
            <a:r>
              <a:rPr lang="zh-TW" altLang="en-US" dirty="0"/>
              <a:t>的特性，將資料記錄下來。</a:t>
            </a:r>
            <a:endParaRPr lang="en-US" altLang="zh-TW" dirty="0"/>
          </a:p>
          <a:p>
            <a:r>
              <a:rPr lang="zh-TW" altLang="en-US" dirty="0"/>
              <a:t>在這些磁化物質表面有個多點的陣列，每個點可磁化成代表數位訊號一個位元的 </a:t>
            </a:r>
            <a:r>
              <a:rPr lang="en-US" altLang="zh-TW" dirty="0"/>
              <a:t>0</a:t>
            </a:r>
            <a:r>
              <a:rPr lang="zh-TW" altLang="en-US" dirty="0"/>
              <a:t> 與 </a:t>
            </a:r>
            <a:r>
              <a:rPr lang="en-US" altLang="zh-TW" dirty="0"/>
              <a:t>1</a:t>
            </a:r>
            <a:r>
              <a:rPr lang="zh-TW" altLang="en-US" dirty="0"/>
              <a:t>。</a:t>
            </a:r>
          </a:p>
        </p:txBody>
      </p:sp>
    </p:spTree>
    <p:extLst>
      <p:ext uri="{BB962C8B-B14F-4D97-AF65-F5344CB8AC3E}">
        <p14:creationId xmlns:p14="http://schemas.microsoft.com/office/powerpoint/2010/main" val="98005396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zh-TW" altLang="en-US" dirty="0"/>
              <a:t>硬碟 </a:t>
            </a:r>
            <a:r>
              <a:rPr lang="en-US" altLang="zh-TW" dirty="0"/>
              <a:t>(hard disk)</a:t>
            </a:r>
            <a:endParaRPr lang="zh-TW" altLang="en-US" dirty="0"/>
          </a:p>
        </p:txBody>
      </p:sp>
      <p:sp>
        <p:nvSpPr>
          <p:cNvPr id="5" name="內容版面配置區 4"/>
          <p:cNvSpPr>
            <a:spLocks noGrp="1"/>
          </p:cNvSpPr>
          <p:nvPr>
            <p:ph idx="1"/>
          </p:nvPr>
        </p:nvSpPr>
        <p:spPr/>
        <p:txBody>
          <a:bodyPr>
            <a:normAutofit/>
          </a:bodyPr>
          <a:lstStyle/>
          <a:p>
            <a:r>
              <a:rPr lang="zh-TW" altLang="en-US" dirty="0"/>
              <a:t>硬碟是電腦儲存資料最重要的地方，內部有</a:t>
            </a:r>
            <a:r>
              <a:rPr lang="zh-TW" altLang="en-US" u="sng" dirty="0"/>
              <a:t>圓形碟片</a:t>
            </a:r>
            <a:r>
              <a:rPr lang="zh-TW" altLang="en-US" dirty="0"/>
              <a:t>及</a:t>
            </a:r>
            <a:r>
              <a:rPr lang="zh-TW" altLang="en-US" u="sng" dirty="0"/>
              <a:t>讀寫頭</a:t>
            </a:r>
            <a:r>
              <a:rPr lang="zh-TW" altLang="en-US" dirty="0"/>
              <a:t>。</a:t>
            </a:r>
            <a:endParaRPr lang="en-US" altLang="zh-TW" dirty="0"/>
          </a:p>
          <a:p>
            <a:r>
              <a:rPr lang="zh-TW" altLang="en-US" dirty="0"/>
              <a:t>程式及資料平時存放在硬碟，執行時才從硬碟載入主記憶體，因此是極為重要的儲存設備。</a:t>
            </a:r>
          </a:p>
        </p:txBody>
      </p:sp>
    </p:spTree>
    <p:extLst>
      <p:ext uri="{BB962C8B-B14F-4D97-AF65-F5344CB8AC3E}">
        <p14:creationId xmlns:p14="http://schemas.microsoft.com/office/powerpoint/2010/main" val="174063327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硬碟 </a:t>
            </a:r>
            <a:r>
              <a:rPr lang="en-US" altLang="zh-TW"/>
              <a:t>(hard disk)</a:t>
            </a:r>
            <a:endParaRPr lang="zh-TW" altLang="en-US" dirty="0"/>
          </a:p>
        </p:txBody>
      </p:sp>
      <p:sp>
        <p:nvSpPr>
          <p:cNvPr id="3" name="內容版面配置區 2"/>
          <p:cNvSpPr>
            <a:spLocks noGrp="1"/>
          </p:cNvSpPr>
          <p:nvPr>
            <p:ph idx="1"/>
          </p:nvPr>
        </p:nvSpPr>
        <p:spPr/>
        <p:txBody>
          <a:bodyPr/>
          <a:lstStyle/>
          <a:p>
            <a:r>
              <a:rPr lang="zh-TW" altLang="en-US" dirty="0"/>
              <a:t>硬碟單位已從</a:t>
            </a:r>
            <a:r>
              <a:rPr lang="en-US" altLang="zh-TW" dirty="0"/>
              <a:t>GB</a:t>
            </a:r>
            <a:r>
              <a:rPr lang="zh-TW" altLang="en-US" dirty="0"/>
              <a:t>升級到</a:t>
            </a:r>
            <a:r>
              <a:rPr lang="en-US" altLang="zh-TW" dirty="0"/>
              <a:t>TB</a:t>
            </a:r>
            <a:r>
              <a:rPr lang="zh-TW" altLang="en-US" dirty="0"/>
              <a:t>。</a:t>
            </a:r>
            <a:endParaRPr lang="en-US" altLang="zh-TW" dirty="0"/>
          </a:p>
          <a:p>
            <a:r>
              <a:rPr lang="zh-TW" altLang="en-US" dirty="0">
                <a:solidFill>
                  <a:srgbClr val="C00000"/>
                </a:solidFill>
              </a:rPr>
              <a:t>固態硬碟</a:t>
            </a:r>
            <a:r>
              <a:rPr lang="zh-TW" altLang="en-US" dirty="0"/>
              <a:t>儲存裝置的內部並</a:t>
            </a:r>
            <a:br>
              <a:rPr lang="en-US" altLang="zh-TW" dirty="0"/>
            </a:br>
            <a:r>
              <a:rPr lang="zh-TW" altLang="en-US" dirty="0"/>
              <a:t>沒有圓形碟片，比較省電</a:t>
            </a:r>
            <a:br>
              <a:rPr lang="en-US" altLang="zh-TW" dirty="0"/>
            </a:br>
            <a:r>
              <a:rPr lang="zh-TW" altLang="en-US" dirty="0"/>
              <a:t>及耐震，成本也較高。</a:t>
            </a:r>
          </a:p>
          <a:p>
            <a:endParaRPr lang="zh-TW" altLang="en-US" dirty="0"/>
          </a:p>
        </p:txBody>
      </p:sp>
      <p:pic>
        <p:nvPicPr>
          <p:cNvPr id="4" name="Picture 2"/>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078285" y="1660399"/>
            <a:ext cx="2638510" cy="1951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矩形 4"/>
          <p:cNvSpPr/>
          <p:nvPr/>
        </p:nvSpPr>
        <p:spPr>
          <a:xfrm>
            <a:off x="6777245" y="3831890"/>
            <a:ext cx="1800493" cy="369332"/>
          </a:xfrm>
          <a:prstGeom prst="rect">
            <a:avLst/>
          </a:prstGeom>
          <a:solidFill>
            <a:srgbClr val="FFCC66"/>
          </a:solidFill>
        </p:spPr>
        <p:txBody>
          <a:bodyPr wrap="none">
            <a:spAutoFit/>
          </a:bodyPr>
          <a:lstStyle/>
          <a:p>
            <a:r>
              <a:rPr lang="zh-TW" altLang="en-US" b="1" dirty="0">
                <a:latin typeface="微軟正黑體" pitchFamily="34" charset="-120"/>
                <a:ea typeface="微軟正黑體" pitchFamily="34" charset="-120"/>
              </a:rPr>
              <a:t>硬碟的內部結構</a:t>
            </a:r>
          </a:p>
        </p:txBody>
      </p:sp>
    </p:spTree>
    <p:extLst>
      <p:ext uri="{BB962C8B-B14F-4D97-AF65-F5344CB8AC3E}">
        <p14:creationId xmlns:p14="http://schemas.microsoft.com/office/powerpoint/2010/main" val="4299117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zh-TW" altLang="en-US" dirty="0"/>
              <a:t>磁帶</a:t>
            </a:r>
          </a:p>
        </p:txBody>
      </p:sp>
      <p:sp>
        <p:nvSpPr>
          <p:cNvPr id="5" name="內容版面配置區 4"/>
          <p:cNvSpPr>
            <a:spLocks noGrp="1"/>
          </p:cNvSpPr>
          <p:nvPr>
            <p:ph idx="1"/>
          </p:nvPr>
        </p:nvSpPr>
        <p:spPr/>
        <p:txBody>
          <a:bodyPr>
            <a:normAutofit/>
          </a:bodyPr>
          <a:lstStyle/>
          <a:p>
            <a:r>
              <a:rPr lang="zh-TW" altLang="en-US" dirty="0"/>
              <a:t>磁帶容量比硬碟要大許多，通常用來備份。</a:t>
            </a:r>
            <a:endParaRPr lang="en-US" altLang="zh-TW" dirty="0"/>
          </a:p>
          <a:p>
            <a:r>
              <a:rPr lang="zh-TW" altLang="en-US" dirty="0"/>
              <a:t>現今磁帶備份的資料動輒以</a:t>
            </a:r>
            <a:r>
              <a:rPr lang="zh-TW" altLang="en-US" dirty="0">
                <a:solidFill>
                  <a:srgbClr val="C00000"/>
                </a:solidFill>
              </a:rPr>
              <a:t>兆位元組</a:t>
            </a:r>
            <a:r>
              <a:rPr lang="en-US" altLang="zh-TW" dirty="0"/>
              <a:t>(Tera</a:t>
            </a:r>
            <a:r>
              <a:rPr lang="zh-TW" altLang="en-US" dirty="0"/>
              <a:t> </a:t>
            </a:r>
            <a:r>
              <a:rPr lang="en-US" altLang="zh-TW" dirty="0"/>
              <a:t>Byte</a:t>
            </a:r>
            <a:r>
              <a:rPr lang="zh-TW" altLang="en-US" dirty="0"/>
              <a:t>；</a:t>
            </a:r>
            <a:r>
              <a:rPr lang="en-US" altLang="zh-TW" dirty="0"/>
              <a:t>TB)</a:t>
            </a:r>
            <a:r>
              <a:rPr lang="zh-TW" altLang="en-US" dirty="0"/>
              <a:t>計，容量超大。</a:t>
            </a:r>
            <a:endParaRPr lang="en-US" altLang="zh-TW" dirty="0"/>
          </a:p>
        </p:txBody>
      </p:sp>
    </p:spTree>
    <p:extLst>
      <p:ext uri="{BB962C8B-B14F-4D97-AF65-F5344CB8AC3E}">
        <p14:creationId xmlns:p14="http://schemas.microsoft.com/office/powerpoint/2010/main" val="23943843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磁帶</a:t>
            </a:r>
          </a:p>
        </p:txBody>
      </p:sp>
      <p:sp>
        <p:nvSpPr>
          <p:cNvPr id="3" name="內容版面配置區 2"/>
          <p:cNvSpPr>
            <a:spLocks noGrp="1"/>
          </p:cNvSpPr>
          <p:nvPr>
            <p:ph idx="1"/>
          </p:nvPr>
        </p:nvSpPr>
        <p:spPr/>
        <p:txBody>
          <a:bodyPr>
            <a:normAutofit fontScale="85000" lnSpcReduction="10000"/>
          </a:bodyPr>
          <a:lstStyle/>
          <a:p>
            <a:r>
              <a:rPr lang="zh-TW" altLang="en-US" dirty="0"/>
              <a:t>備份的另一選擇是使用</a:t>
            </a:r>
            <a:r>
              <a:rPr lang="en-US" altLang="zh-TW" dirty="0">
                <a:solidFill>
                  <a:srgbClr val="C00000"/>
                </a:solidFill>
              </a:rPr>
              <a:t>RAID</a:t>
            </a:r>
            <a:r>
              <a:rPr lang="zh-TW" altLang="en-US" dirty="0">
                <a:solidFill>
                  <a:srgbClr val="C00000"/>
                </a:solidFill>
              </a:rPr>
              <a:t>磁碟陣列</a:t>
            </a:r>
            <a:r>
              <a:rPr lang="zh-TW" altLang="en-US" dirty="0"/>
              <a:t>。</a:t>
            </a:r>
            <a:endParaRPr lang="en-US" altLang="zh-TW" dirty="0"/>
          </a:p>
          <a:p>
            <a:r>
              <a:rPr lang="en-US" altLang="zh-TW" dirty="0"/>
              <a:t>RAID</a:t>
            </a:r>
            <a:r>
              <a:rPr lang="zh-TW" altLang="en-US" dirty="0"/>
              <a:t>上有多顆硬碟，當有硬碟故障時，系統會自動調整，使資料不會喪失。</a:t>
            </a:r>
            <a:endParaRPr lang="en-US" altLang="zh-TW" dirty="0"/>
          </a:p>
          <a:p>
            <a:r>
              <a:rPr lang="zh-TW" altLang="en-US" dirty="0"/>
              <a:t>在</a:t>
            </a:r>
            <a:r>
              <a:rPr lang="en-US" altLang="zh-TW" dirty="0"/>
              <a:t>AI</a:t>
            </a:r>
            <a:r>
              <a:rPr lang="zh-TW" altLang="en-US" dirty="0"/>
              <a:t>運算架構中，通常還會採用</a:t>
            </a:r>
            <a:r>
              <a:rPr lang="zh-TW" altLang="en-US" dirty="0">
                <a:solidFill>
                  <a:srgbClr val="C00000"/>
                </a:solidFill>
              </a:rPr>
              <a:t>記憶體內運算</a:t>
            </a:r>
            <a:r>
              <a:rPr lang="zh-TW" altLang="en-US" dirty="0"/>
              <a:t>（</a:t>
            </a:r>
            <a:r>
              <a:rPr lang="en-US" altLang="zh-TW" dirty="0"/>
              <a:t>in-memory computing, IMC</a:t>
            </a:r>
            <a:r>
              <a:rPr lang="zh-TW" altLang="en-US" dirty="0"/>
              <a:t>）的模式與硬碟協作，以便節省處理大量資料時所耗費的存取時間，讓運算極速化。</a:t>
            </a:r>
            <a:endParaRPr lang="en-US" altLang="zh-TW" dirty="0"/>
          </a:p>
          <a:p>
            <a:endParaRPr lang="zh-TW" altLang="en-US" dirty="0"/>
          </a:p>
          <a:p>
            <a:endParaRPr lang="zh-TW" altLang="en-US" dirty="0"/>
          </a:p>
        </p:txBody>
      </p:sp>
    </p:spTree>
    <p:extLst>
      <p:ext uri="{BB962C8B-B14F-4D97-AF65-F5344CB8AC3E}">
        <p14:creationId xmlns:p14="http://schemas.microsoft.com/office/powerpoint/2010/main" val="33991144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zh-TW" altLang="en-US" dirty="0"/>
              <a:t>光碟片</a:t>
            </a:r>
          </a:p>
        </p:txBody>
      </p:sp>
      <p:sp>
        <p:nvSpPr>
          <p:cNvPr id="5" name="內容版面配置區 4"/>
          <p:cNvSpPr>
            <a:spLocks noGrp="1"/>
          </p:cNvSpPr>
          <p:nvPr>
            <p:ph idx="1"/>
          </p:nvPr>
        </p:nvSpPr>
        <p:spPr/>
        <p:txBody>
          <a:bodyPr>
            <a:normAutofit fontScale="85000" lnSpcReduction="10000"/>
          </a:bodyPr>
          <a:lstStyle/>
          <a:p>
            <a:r>
              <a:rPr lang="zh-TW" altLang="en-US" dirty="0"/>
              <a:t>新力</a:t>
            </a:r>
            <a:r>
              <a:rPr lang="en-US" altLang="zh-TW" dirty="0"/>
              <a:t>(Sony)</a:t>
            </a:r>
            <a:r>
              <a:rPr lang="zh-TW" altLang="en-US" dirty="0"/>
              <a:t>和飛利浦</a:t>
            </a:r>
            <a:r>
              <a:rPr lang="en-US" altLang="zh-TW" dirty="0"/>
              <a:t>(Philips)</a:t>
            </a:r>
            <a:r>
              <a:rPr lang="zh-TW" altLang="en-US" dirty="0"/>
              <a:t>在</a:t>
            </a:r>
            <a:r>
              <a:rPr lang="en-US" altLang="zh-TW" dirty="0"/>
              <a:t>80</a:t>
            </a:r>
            <a:r>
              <a:rPr lang="zh-TW" altLang="en-US" dirty="0"/>
              <a:t>年代初期推出</a:t>
            </a:r>
            <a:r>
              <a:rPr lang="en-US" altLang="zh-TW" dirty="0"/>
              <a:t>CD-ROM</a:t>
            </a:r>
            <a:r>
              <a:rPr lang="zh-TW" altLang="en-US" dirty="0"/>
              <a:t>。</a:t>
            </a:r>
            <a:endParaRPr lang="en-US" altLang="zh-TW" dirty="0"/>
          </a:p>
          <a:p>
            <a:r>
              <a:rPr lang="zh-TW" altLang="en-US" dirty="0"/>
              <a:t>計算</a:t>
            </a:r>
            <a:r>
              <a:rPr lang="en-US" altLang="zh-TW" dirty="0"/>
              <a:t>CD</a:t>
            </a:r>
            <a:r>
              <a:rPr lang="zh-TW" altLang="en-US" dirty="0"/>
              <a:t>系列</a:t>
            </a:r>
            <a:r>
              <a:rPr lang="en-US" altLang="zh-TW" dirty="0"/>
              <a:t>(CD-ROM</a:t>
            </a:r>
            <a:r>
              <a:rPr lang="zh-TW" altLang="en-US" dirty="0"/>
              <a:t>、</a:t>
            </a:r>
            <a:r>
              <a:rPr lang="en-US" altLang="zh-TW" dirty="0"/>
              <a:t>CD-R</a:t>
            </a:r>
            <a:r>
              <a:rPr lang="zh-TW" altLang="en-US" dirty="0"/>
              <a:t>、</a:t>
            </a:r>
            <a:r>
              <a:rPr lang="en-US" altLang="zh-TW" dirty="0"/>
              <a:t>CD-RW</a:t>
            </a:r>
            <a:r>
              <a:rPr lang="zh-TW" altLang="en-US" dirty="0"/>
              <a:t>或</a:t>
            </a:r>
            <a:r>
              <a:rPr lang="en-US" altLang="zh-TW" dirty="0"/>
              <a:t>VCD)</a:t>
            </a:r>
            <a:r>
              <a:rPr lang="zh-TW" altLang="en-US" dirty="0"/>
              <a:t>的存取速度時，</a:t>
            </a:r>
            <a:r>
              <a:rPr lang="zh-TW" altLang="en-US" dirty="0">
                <a:solidFill>
                  <a:srgbClr val="C00000"/>
                </a:solidFill>
              </a:rPr>
              <a:t>單倍速為每秒</a:t>
            </a:r>
            <a:r>
              <a:rPr lang="en-US" altLang="zh-TW" dirty="0">
                <a:solidFill>
                  <a:srgbClr val="C00000"/>
                </a:solidFill>
              </a:rPr>
              <a:t>150 KB</a:t>
            </a:r>
            <a:r>
              <a:rPr lang="zh-TW" altLang="en-US" dirty="0"/>
              <a:t>。</a:t>
            </a:r>
            <a:endParaRPr lang="en-US" altLang="zh-TW" dirty="0"/>
          </a:p>
          <a:p>
            <a:r>
              <a:rPr lang="zh-TW" altLang="en-US" dirty="0"/>
              <a:t>計算</a:t>
            </a:r>
            <a:r>
              <a:rPr lang="en-US" altLang="zh-TW" dirty="0"/>
              <a:t>DVD</a:t>
            </a:r>
            <a:r>
              <a:rPr lang="zh-TW" altLang="en-US" dirty="0"/>
              <a:t>系列</a:t>
            </a:r>
            <a:r>
              <a:rPr lang="en-US" altLang="zh-TW" dirty="0"/>
              <a:t>(DVD-ROM</a:t>
            </a:r>
            <a:r>
              <a:rPr lang="zh-TW" altLang="en-US" dirty="0"/>
              <a:t>、</a:t>
            </a:r>
            <a:r>
              <a:rPr lang="en-US" altLang="zh-TW" dirty="0"/>
              <a:t>DVD-R</a:t>
            </a:r>
            <a:r>
              <a:rPr lang="zh-TW" altLang="en-US" dirty="0"/>
              <a:t>、</a:t>
            </a:r>
            <a:r>
              <a:rPr lang="en-US" altLang="zh-TW" dirty="0"/>
              <a:t>DVD-RW</a:t>
            </a:r>
            <a:r>
              <a:rPr lang="zh-TW" altLang="en-US" dirty="0"/>
              <a:t>或</a:t>
            </a:r>
            <a:r>
              <a:rPr lang="en-US" altLang="zh-TW" dirty="0" err="1"/>
              <a:t>DVDVideo</a:t>
            </a:r>
            <a:r>
              <a:rPr lang="en-US" altLang="zh-TW" dirty="0"/>
              <a:t>)</a:t>
            </a:r>
            <a:r>
              <a:rPr lang="zh-TW" altLang="en-US" dirty="0"/>
              <a:t>的存取速度時，</a:t>
            </a:r>
            <a:r>
              <a:rPr lang="zh-TW" altLang="en-US" dirty="0">
                <a:solidFill>
                  <a:srgbClr val="C00000"/>
                </a:solidFill>
              </a:rPr>
              <a:t>單倍速為每秒約</a:t>
            </a:r>
            <a:r>
              <a:rPr lang="en-US" altLang="zh-TW" dirty="0">
                <a:solidFill>
                  <a:srgbClr val="C00000"/>
                </a:solidFill>
              </a:rPr>
              <a:t>1350 KB</a:t>
            </a:r>
            <a:r>
              <a:rPr lang="zh-TW" altLang="en-US" dirty="0"/>
              <a:t>。</a:t>
            </a:r>
          </a:p>
        </p:txBody>
      </p:sp>
    </p:spTree>
    <p:extLst>
      <p:ext uri="{BB962C8B-B14F-4D97-AF65-F5344CB8AC3E}">
        <p14:creationId xmlns:p14="http://schemas.microsoft.com/office/powerpoint/2010/main" val="40181662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光碟片</a:t>
            </a:r>
          </a:p>
        </p:txBody>
      </p:sp>
      <p:sp>
        <p:nvSpPr>
          <p:cNvPr id="3" name="內容版面配置區 2"/>
          <p:cNvSpPr>
            <a:spLocks noGrp="1"/>
          </p:cNvSpPr>
          <p:nvPr>
            <p:ph idx="1"/>
          </p:nvPr>
        </p:nvSpPr>
        <p:spPr/>
        <p:txBody>
          <a:bodyPr/>
          <a:lstStyle/>
          <a:p>
            <a:endParaRPr lang="zh-TW" altLang="en-US"/>
          </a:p>
        </p:txBody>
      </p:sp>
      <p:sp>
        <p:nvSpPr>
          <p:cNvPr id="4" name="矩形 3"/>
          <p:cNvSpPr/>
          <p:nvPr/>
        </p:nvSpPr>
        <p:spPr>
          <a:xfrm>
            <a:off x="2006715" y="3966905"/>
            <a:ext cx="4230470" cy="369332"/>
          </a:xfrm>
          <a:prstGeom prst="rect">
            <a:avLst/>
          </a:prstGeom>
          <a:solidFill>
            <a:schemeClr val="accent4">
              <a:lumMod val="40000"/>
              <a:lumOff val="60000"/>
            </a:schemeClr>
          </a:solidFill>
          <a:effectLst>
            <a:innerShdw blurRad="114300">
              <a:prstClr val="black"/>
            </a:innerShdw>
          </a:effectLst>
        </p:spPr>
        <p:txBody>
          <a:bodyPr wrap="square">
            <a:spAutoFit/>
          </a:bodyPr>
          <a:lstStyle/>
          <a:p>
            <a:r>
              <a:rPr lang="en-US" altLang="zh-TW" b="1" dirty="0">
                <a:latin typeface="微軟正黑體" pitchFamily="34" charset="-120"/>
                <a:ea typeface="微軟正黑體" pitchFamily="34" charset="-120"/>
              </a:rPr>
              <a:t>DVD</a:t>
            </a:r>
            <a:r>
              <a:rPr lang="zh-TW" altLang="en-US" b="1" dirty="0">
                <a:latin typeface="微軟正黑體" pitchFamily="34" charset="-120"/>
                <a:ea typeface="微軟正黑體" pitchFamily="34" charset="-120"/>
              </a:rPr>
              <a:t>光碟機曾是很重要的輔助儲存裝置</a:t>
            </a:r>
          </a:p>
        </p:txBody>
      </p:sp>
      <p:pic>
        <p:nvPicPr>
          <p:cNvPr id="5" name="Picture 2"/>
          <p:cNvPicPr>
            <a:picLocks noChangeAspect="1" noChangeArrowheads="1"/>
          </p:cNvPicPr>
          <p:nvPr/>
        </p:nvPicPr>
        <p:blipFill>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2906815" y="2076695"/>
            <a:ext cx="2521721" cy="15508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625837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a:t>記憶卡</a:t>
            </a:r>
            <a:endParaRPr lang="zh-TW" altLang="en-US" dirty="0"/>
          </a:p>
        </p:txBody>
      </p:sp>
      <p:sp>
        <p:nvSpPr>
          <p:cNvPr id="5" name="內容版面配置區 4"/>
          <p:cNvSpPr>
            <a:spLocks noGrp="1"/>
          </p:cNvSpPr>
          <p:nvPr>
            <p:ph idx="1"/>
          </p:nvPr>
        </p:nvSpPr>
        <p:spPr/>
        <p:txBody>
          <a:bodyPr>
            <a:normAutofit fontScale="85000" lnSpcReduction="20000"/>
          </a:bodyPr>
          <a:lstStyle/>
          <a:p>
            <a:r>
              <a:rPr lang="zh-TW" altLang="en-US" dirty="0"/>
              <a:t>記憶卡的種類繁多，包括：</a:t>
            </a:r>
            <a:endParaRPr lang="en-US" altLang="zh-TW" dirty="0"/>
          </a:p>
          <a:p>
            <a:pPr lvl="1"/>
            <a:r>
              <a:rPr lang="en-US" altLang="zh-TW" dirty="0"/>
              <a:t>CF</a:t>
            </a:r>
          </a:p>
          <a:p>
            <a:pPr lvl="1"/>
            <a:r>
              <a:rPr lang="en-US" altLang="zh-TW" dirty="0"/>
              <a:t>SM</a:t>
            </a:r>
          </a:p>
          <a:p>
            <a:pPr lvl="1"/>
            <a:r>
              <a:rPr lang="en-US" altLang="zh-TW" dirty="0"/>
              <a:t>SDHC</a:t>
            </a:r>
          </a:p>
          <a:p>
            <a:pPr lvl="1"/>
            <a:r>
              <a:rPr lang="en-US" altLang="zh-TW" dirty="0"/>
              <a:t>MMC</a:t>
            </a:r>
          </a:p>
          <a:p>
            <a:pPr lvl="1"/>
            <a:r>
              <a:rPr lang="en-US" altLang="zh-TW" dirty="0"/>
              <a:t>MS</a:t>
            </a:r>
          </a:p>
          <a:p>
            <a:pPr lvl="1"/>
            <a:r>
              <a:rPr lang="en-US" altLang="zh-TW" dirty="0" err="1"/>
              <a:t>xD</a:t>
            </a:r>
            <a:endParaRPr lang="zh-TW" altLang="en-US" dirty="0"/>
          </a:p>
        </p:txBody>
      </p:sp>
      <p:sp>
        <p:nvSpPr>
          <p:cNvPr id="11" name="矩形 10"/>
          <p:cNvSpPr/>
          <p:nvPr/>
        </p:nvSpPr>
        <p:spPr>
          <a:xfrm>
            <a:off x="4887036" y="2536123"/>
            <a:ext cx="2031325" cy="369332"/>
          </a:xfrm>
          <a:prstGeom prst="rect">
            <a:avLst/>
          </a:prstGeom>
          <a:solidFill>
            <a:schemeClr val="tx2">
              <a:lumMod val="50000"/>
            </a:schemeClr>
          </a:solidFill>
          <a:scene3d>
            <a:camera prst="orthographicFront"/>
            <a:lightRig rig="threePt" dir="t"/>
          </a:scene3d>
          <a:sp3d>
            <a:bevelT w="165100" prst="coolSlant"/>
          </a:sp3d>
        </p:spPr>
        <p:txBody>
          <a:bodyPr wrap="none">
            <a:spAutoFit/>
          </a:bodyPr>
          <a:lstStyle/>
          <a:p>
            <a:r>
              <a:rPr lang="zh-TW" altLang="en-US" dirty="0">
                <a:solidFill>
                  <a:schemeClr val="bg1"/>
                </a:solidFill>
                <a:latin typeface="微軟正黑體" pitchFamily="34" charset="-120"/>
                <a:ea typeface="微軟正黑體" pitchFamily="34" charset="-120"/>
              </a:rPr>
              <a:t>各式各樣的記憶卡</a:t>
            </a:r>
          </a:p>
        </p:txBody>
      </p:sp>
      <p:pic>
        <p:nvPicPr>
          <p:cNvPr id="12" name="Picture 4"/>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3705745" y="2954626"/>
            <a:ext cx="1143105" cy="1504561"/>
          </a:xfrm>
          <a:prstGeom prst="rect">
            <a:avLst/>
          </a:prstGeom>
          <a:noFill/>
          <a:ln>
            <a:noFill/>
          </a:ln>
          <a:effectLst>
            <a:outerShdw dist="35921" dir="2700000" algn="ctr" rotWithShape="0">
              <a:schemeClr val="bg2"/>
            </a:outerShdw>
            <a:reflection blurRad="6350" stA="50000" endA="300" endPos="55000" dir="5400000" sy="-100000" algn="bl" rotWithShape="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2"/>
          <p:cNvPicPr>
            <a:picLocks noChangeAspect="1" noChangeArrowheads="1"/>
          </p:cNvPicPr>
          <p:nvPr/>
        </p:nvPicPr>
        <p:blipFill>
          <a:blip r:embed="rId3"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5058286" y="3221245"/>
            <a:ext cx="1471581" cy="1237941"/>
          </a:xfrm>
          <a:prstGeom prst="rect">
            <a:avLst/>
          </a:prstGeom>
          <a:noFill/>
          <a:ln>
            <a:noFill/>
          </a:ln>
          <a:effectLst>
            <a:outerShdw dist="35921" dir="2700000" algn="ctr" rotWithShape="0">
              <a:schemeClr val="bg2"/>
            </a:outerShdw>
            <a:reflection blurRad="6350" stA="50000" endA="300" endPos="55000" dir="5400000" sy="-100000" algn="bl" rotWithShape="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636893" y="3529423"/>
            <a:ext cx="1175467" cy="932537"/>
          </a:xfrm>
          <a:prstGeom prst="rect">
            <a:avLst/>
          </a:prstGeom>
          <a:noFill/>
          <a:ln>
            <a:noFill/>
          </a:ln>
          <a:effectLst>
            <a:outerShdw dist="35921" dir="2700000" algn="ctr" rotWithShape="0">
              <a:schemeClr val="bg2"/>
            </a:outerShdw>
            <a:reflection blurRad="6350" stA="50000" endA="300" endPos="55000" dir="5400000" sy="-100000" algn="bl" rotWithShape="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063742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zh-TW" altLang="en-US" dirty="0"/>
              <a:t>隨身碟</a:t>
            </a:r>
          </a:p>
        </p:txBody>
      </p:sp>
      <p:sp>
        <p:nvSpPr>
          <p:cNvPr id="5" name="內容版面配置區 4"/>
          <p:cNvSpPr>
            <a:spLocks noGrp="1"/>
          </p:cNvSpPr>
          <p:nvPr>
            <p:ph idx="1"/>
          </p:nvPr>
        </p:nvSpPr>
        <p:spPr>
          <a:xfrm>
            <a:off x="446184" y="1483495"/>
            <a:ext cx="8229600" cy="2934224"/>
          </a:xfrm>
        </p:spPr>
        <p:txBody>
          <a:bodyPr>
            <a:normAutofit/>
          </a:bodyPr>
          <a:lstStyle/>
          <a:p>
            <a:r>
              <a:rPr lang="zh-TW" altLang="en-US" dirty="0">
                <a:solidFill>
                  <a:srgbClr val="C00000"/>
                </a:solidFill>
              </a:rPr>
              <a:t>隨身碟</a:t>
            </a:r>
            <a:r>
              <a:rPr lang="en-US" altLang="zh-TW" dirty="0"/>
              <a:t>(flash disk)</a:t>
            </a:r>
            <a:r>
              <a:rPr lang="zh-TW" altLang="en-US" dirty="0"/>
              <a:t>又稱大拇哥，意即和大拇指大小差不多，透過</a:t>
            </a:r>
            <a:r>
              <a:rPr lang="en-US" altLang="zh-TW" dirty="0"/>
              <a:t>USB</a:t>
            </a:r>
            <a:r>
              <a:rPr lang="zh-TW" altLang="en-US" dirty="0"/>
              <a:t>埠連接電腦，進行存取動作。</a:t>
            </a:r>
            <a:endParaRPr lang="en-US" altLang="zh-TW" dirty="0"/>
          </a:p>
          <a:p>
            <a:r>
              <a:rPr lang="zh-TW" altLang="en-US" dirty="0"/>
              <a:t>其容量已可達</a:t>
            </a:r>
            <a:r>
              <a:rPr lang="en-US" altLang="zh-TW" dirty="0"/>
              <a:t>TB</a:t>
            </a:r>
            <a:r>
              <a:rPr lang="zh-TW" altLang="en-US" dirty="0"/>
              <a:t>，造型花樣百出，令人讚嘆。</a:t>
            </a:r>
            <a:endParaRPr lang="en-US" altLang="zh-TW" dirty="0"/>
          </a:p>
          <a:p>
            <a:pPr marL="0" indent="0">
              <a:buNone/>
            </a:pPr>
            <a:endParaRPr lang="zh-TW" altLang="en-US" dirty="0"/>
          </a:p>
        </p:txBody>
      </p:sp>
      <p:sp>
        <p:nvSpPr>
          <p:cNvPr id="2" name="文字方塊 1"/>
          <p:cNvSpPr txBox="1"/>
          <p:nvPr/>
        </p:nvSpPr>
        <p:spPr>
          <a:xfrm>
            <a:off x="2411761" y="4688699"/>
            <a:ext cx="4725525" cy="338554"/>
          </a:xfrm>
          <a:prstGeom prst="rect">
            <a:avLst/>
          </a:prstGeom>
          <a:solidFill>
            <a:schemeClr val="tx2">
              <a:lumMod val="20000"/>
              <a:lumOff val="80000"/>
            </a:schemeClr>
          </a:solidFill>
        </p:spPr>
        <p:txBody>
          <a:bodyPr wrap="square" rtlCol="0">
            <a:spAutoFit/>
          </a:bodyPr>
          <a:lstStyle/>
          <a:p>
            <a:r>
              <a:rPr lang="zh-TW" altLang="en-US" sz="1600" b="1" dirty="0">
                <a:latin typeface="微軟正黑體" panose="020B0604030504040204" pitchFamily="34" charset="-120"/>
                <a:ea typeface="微軟正黑體" panose="020B0604030504040204" pitchFamily="34" charset="-120"/>
              </a:rPr>
              <a:t>隨身碟造型設計極具巧思</a:t>
            </a:r>
            <a:r>
              <a:rPr lang="en-US" altLang="zh-TW" sz="1600" b="1" dirty="0">
                <a:latin typeface="微軟正黑體" panose="020B0604030504040204" pitchFamily="34" charset="-120"/>
                <a:ea typeface="微軟正黑體" panose="020B0604030504040204" pitchFamily="34" charset="-120"/>
              </a:rPr>
              <a:t>(</a:t>
            </a:r>
            <a:r>
              <a:rPr lang="zh-TW" altLang="en-US" sz="1600" b="1" dirty="0">
                <a:latin typeface="微軟正黑體" panose="020B0604030504040204" pitchFamily="34" charset="-120"/>
                <a:ea typeface="微軟正黑體" panose="020B0604030504040204" pitchFamily="34" charset="-120"/>
              </a:rPr>
              <a:t>資料來源：</a:t>
            </a:r>
            <a:r>
              <a:rPr lang="en-US" altLang="zh-TW" sz="1600" b="1" dirty="0">
                <a:latin typeface="微軟正黑體" panose="020B0604030504040204" pitchFamily="34" charset="-120"/>
                <a:ea typeface="微軟正黑體" panose="020B0604030504040204" pitchFamily="34" charset="-120"/>
              </a:rPr>
              <a:t>SanDisk)</a:t>
            </a:r>
            <a:endParaRPr lang="zh-TW" altLang="en-US" sz="1600" b="1" dirty="0">
              <a:latin typeface="微軟正黑體" panose="020B0604030504040204" pitchFamily="34" charset="-120"/>
              <a:ea typeface="微軟正黑體" panose="020B0604030504040204" pitchFamily="34" charset="-120"/>
            </a:endParaRPr>
          </a:p>
        </p:txBody>
      </p:sp>
      <p:pic>
        <p:nvPicPr>
          <p:cNvPr id="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56523" y="3179406"/>
            <a:ext cx="597713" cy="1509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41930" y="3261698"/>
            <a:ext cx="1195022" cy="13447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62109" y="3400984"/>
            <a:ext cx="1346347" cy="1205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357889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normAutofit/>
          </a:bodyPr>
          <a:lstStyle/>
          <a:p>
            <a:r>
              <a:rPr lang="zh-TW" altLang="en-US" dirty="0"/>
              <a:t>可攜式硬碟</a:t>
            </a:r>
          </a:p>
        </p:txBody>
      </p:sp>
      <p:sp>
        <p:nvSpPr>
          <p:cNvPr id="5" name="內容版面配置區 4"/>
          <p:cNvSpPr>
            <a:spLocks noGrp="1"/>
          </p:cNvSpPr>
          <p:nvPr>
            <p:ph idx="1"/>
          </p:nvPr>
        </p:nvSpPr>
        <p:spPr/>
        <p:txBody>
          <a:bodyPr>
            <a:normAutofit/>
          </a:bodyPr>
          <a:lstStyle/>
          <a:p>
            <a:r>
              <a:rPr lang="en-US" altLang="zh-TW" dirty="0"/>
              <a:t>USB</a:t>
            </a:r>
            <a:r>
              <a:rPr lang="zh-TW" altLang="en-US" dirty="0"/>
              <a:t>外接硬碟是一種體積小且重量輕的攜帶式儲存裝置，大約只有手掌般的大小，而且具有</a:t>
            </a:r>
            <a:r>
              <a:rPr lang="en-US" altLang="zh-TW" dirty="0"/>
              <a:t>USB</a:t>
            </a:r>
            <a:r>
              <a:rPr lang="zh-TW" altLang="en-US" dirty="0"/>
              <a:t>連接線即插即用的功能，可輕易地與個人電腦相連接，安裝極為便捷。</a:t>
            </a:r>
          </a:p>
        </p:txBody>
      </p:sp>
    </p:spTree>
    <p:extLst>
      <p:ext uri="{BB962C8B-B14F-4D97-AF65-F5344CB8AC3E}">
        <p14:creationId xmlns:p14="http://schemas.microsoft.com/office/powerpoint/2010/main" val="67539528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可攜式硬碟</a:t>
            </a:r>
          </a:p>
        </p:txBody>
      </p:sp>
      <p:sp>
        <p:nvSpPr>
          <p:cNvPr id="3" name="內容版面配置區 2"/>
          <p:cNvSpPr>
            <a:spLocks noGrp="1"/>
          </p:cNvSpPr>
          <p:nvPr>
            <p:ph idx="1"/>
          </p:nvPr>
        </p:nvSpPr>
        <p:spPr/>
        <p:txBody>
          <a:bodyPr/>
          <a:lstStyle/>
          <a:p>
            <a:r>
              <a:rPr lang="zh-TW" altLang="en-US" dirty="0"/>
              <a:t>體積雖然較隨身碟大，但容量可達數十</a:t>
            </a:r>
            <a:r>
              <a:rPr lang="en-US" altLang="zh-TW"/>
              <a:t>TB</a:t>
            </a:r>
            <a:r>
              <a:rPr lang="zh-TW" altLang="en-US" dirty="0"/>
              <a:t>，是需攜帶大量資料人士的最愛。</a:t>
            </a:r>
          </a:p>
          <a:p>
            <a:endParaRPr lang="zh-TW" altLang="en-U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3954" y="2897260"/>
            <a:ext cx="2777199" cy="16377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25335507"/>
      </p:ext>
    </p:extLst>
  </p:cSld>
  <p:clrMapOvr>
    <a:masterClrMapping/>
  </p:clrMapOvr>
</p:sld>
</file>

<file path=ppt/theme/theme1.xml><?xml version="1.0" encoding="utf-8"?>
<a:theme xmlns:a="http://schemas.openxmlformats.org/drawingml/2006/main" name="Office 佈景主題">
  <a:themeElements>
    <a:clrScheme name="藍綠色">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2593</TotalTime>
  <Words>3407</Words>
  <Application>Microsoft Office PowerPoint</Application>
  <PresentationFormat>如螢幕大小 (16:9)</PresentationFormat>
  <Paragraphs>252</Paragraphs>
  <Slides>76</Slides>
  <Notes>3</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76</vt:i4>
      </vt:variant>
    </vt:vector>
  </HeadingPairs>
  <TitlesOfParts>
    <vt:vector size="81" baseType="lpstr">
      <vt:lpstr>微軟正黑體</vt:lpstr>
      <vt:lpstr>Arial</vt:lpstr>
      <vt:lpstr>Calibri</vt:lpstr>
      <vt:lpstr>Wingdings 3</vt:lpstr>
      <vt:lpstr>Office 佈景主題</vt:lpstr>
      <vt:lpstr>計算機組織</vt:lpstr>
      <vt:lpstr>摩爾定律(Moore's Law)</vt:lpstr>
      <vt:lpstr>PowerPoint 簡報</vt:lpstr>
      <vt:lpstr>PowerPoint 簡報</vt:lpstr>
      <vt:lpstr>PowerPoint 簡報</vt:lpstr>
      <vt:lpstr>PowerPoint 簡報</vt:lpstr>
      <vt:lpstr>PowerPoint 簡報</vt:lpstr>
      <vt:lpstr>PowerPoint 簡報</vt:lpstr>
      <vt:lpstr>全球二大電腦展</vt:lpstr>
      <vt:lpstr>桌上型電腦</vt:lpstr>
      <vt:lpstr>第三波革命</vt:lpstr>
      <vt:lpstr>計算機組織未來發展</vt:lpstr>
      <vt:lpstr>3-1 中央處理器</vt:lpstr>
      <vt:lpstr>3-1 中央處理器</vt:lpstr>
      <vt:lpstr>暫存器</vt:lpstr>
      <vt:lpstr>暫存器</vt:lpstr>
      <vt:lpstr>PowerPoint 簡報</vt:lpstr>
      <vt:lpstr>控制單元</vt:lpstr>
      <vt:lpstr>控制單元</vt:lpstr>
      <vt:lpstr>算術邏輯單元</vt:lpstr>
      <vt:lpstr>算術邏輯單元</vt:lpstr>
      <vt:lpstr>PowerPoint 簡報</vt:lpstr>
      <vt:lpstr>XOR做資料遮罩的基礎</vt:lpstr>
      <vt:lpstr>XOR做資料遮罩的基礎</vt:lpstr>
      <vt:lpstr>QR Code</vt:lpstr>
      <vt:lpstr>匯流排</vt:lpstr>
      <vt:lpstr>匯流排</vt:lpstr>
      <vt:lpstr>3-1 中央處理器</vt:lpstr>
      <vt:lpstr>3-1 中央處理器</vt:lpstr>
      <vt:lpstr>3-1 中央處理器</vt:lpstr>
      <vt:lpstr>3-2 主記憶體</vt:lpstr>
      <vt:lpstr>3-2 主記憶體</vt:lpstr>
      <vt:lpstr>3-2 主記憶體</vt:lpstr>
      <vt:lpstr>3-2 主記憶體</vt:lpstr>
      <vt:lpstr>3-2 主記憶體</vt:lpstr>
      <vt:lpstr>3-2 主記憶體</vt:lpstr>
      <vt:lpstr>3-2 主記憶體</vt:lpstr>
      <vt:lpstr>3-2 主記憶體</vt:lpstr>
      <vt:lpstr>3-2 主記憶體</vt:lpstr>
      <vt:lpstr>SRAM 靜態隨機存取記憶體</vt:lpstr>
      <vt:lpstr>DRAM 動態隨機存取記憶體</vt:lpstr>
      <vt:lpstr>DRAM 動態隨機存取記憶體</vt:lpstr>
      <vt:lpstr>ROM</vt:lpstr>
      <vt:lpstr>3-2 主記憶體</vt:lpstr>
      <vt:lpstr>PowerPoint 簡報</vt:lpstr>
      <vt:lpstr>PowerPoint 簡報</vt:lpstr>
      <vt:lpstr>PowerPoint 簡報</vt:lpstr>
      <vt:lpstr>3-3 執行程式</vt:lpstr>
      <vt:lpstr>3-3 執行程式</vt:lpstr>
      <vt:lpstr>3-3 執行程式</vt:lpstr>
      <vt:lpstr>CPU執行程式的流程</vt:lpstr>
      <vt:lpstr>生產線技術</vt:lpstr>
      <vt:lpstr>生產線技術</vt:lpstr>
      <vt:lpstr> CPU執行時採用生產線技術 </vt:lpstr>
      <vt:lpstr>3-4 匯流排及介面</vt:lpstr>
      <vt:lpstr>3-4 匯流排及介面</vt:lpstr>
      <vt:lpstr>連接埠</vt:lpstr>
      <vt:lpstr>ISA、PCI、AGP</vt:lpstr>
      <vt:lpstr>ISA、PCI、AGP</vt:lpstr>
      <vt:lpstr>PCI Express</vt:lpstr>
      <vt:lpstr>PCI Express</vt:lpstr>
      <vt:lpstr>PCI Express</vt:lpstr>
      <vt:lpstr>USB</vt:lpstr>
      <vt:lpstr>USB</vt:lpstr>
      <vt:lpstr>USB傳輸速度</vt:lpstr>
      <vt:lpstr>3-5 儲存裝置</vt:lpstr>
      <vt:lpstr>硬碟 (hard disk)</vt:lpstr>
      <vt:lpstr>硬碟 (hard disk)</vt:lpstr>
      <vt:lpstr>磁帶</vt:lpstr>
      <vt:lpstr>磁帶</vt:lpstr>
      <vt:lpstr>光碟片</vt:lpstr>
      <vt:lpstr>光碟片</vt:lpstr>
      <vt:lpstr>記憶卡</vt:lpstr>
      <vt:lpstr>隨身碟</vt:lpstr>
      <vt:lpstr>可攜式硬碟</vt:lpstr>
      <vt:lpstr>可攜式硬碟</vt:lpstr>
    </vt:vector>
  </TitlesOfParts>
  <Company>FDZone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ox01ox01</dc:creator>
  <cp:lastModifiedBy>D2</cp:lastModifiedBy>
  <cp:revision>225</cp:revision>
  <dcterms:created xsi:type="dcterms:W3CDTF">2015-04-21T01:58:17Z</dcterms:created>
  <dcterms:modified xsi:type="dcterms:W3CDTF">2026-08-13T01:25:26Z</dcterms:modified>
</cp:coreProperties>
</file>