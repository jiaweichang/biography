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486" r:id="rId3"/>
    <p:sldId id="364" r:id="rId4"/>
    <p:sldId id="365" r:id="rId5"/>
    <p:sldId id="459" r:id="rId6"/>
    <p:sldId id="369" r:id="rId7"/>
    <p:sldId id="355" r:id="rId8"/>
    <p:sldId id="370" r:id="rId9"/>
    <p:sldId id="487" r:id="rId10"/>
    <p:sldId id="356" r:id="rId11"/>
    <p:sldId id="488" r:id="rId12"/>
    <p:sldId id="489" r:id="rId13"/>
    <p:sldId id="490" r:id="rId14"/>
    <p:sldId id="491" r:id="rId15"/>
    <p:sldId id="492" r:id="rId16"/>
    <p:sldId id="494" r:id="rId17"/>
    <p:sldId id="318" r:id="rId18"/>
    <p:sldId id="495" r:id="rId19"/>
    <p:sldId id="462" r:id="rId20"/>
    <p:sldId id="463" r:id="rId21"/>
    <p:sldId id="447" r:id="rId22"/>
    <p:sldId id="464" r:id="rId23"/>
    <p:sldId id="377" r:id="rId24"/>
    <p:sldId id="383" r:id="rId25"/>
    <p:sldId id="496" r:id="rId26"/>
    <p:sldId id="497" r:id="rId27"/>
    <p:sldId id="391" r:id="rId28"/>
    <p:sldId id="498" r:id="rId29"/>
    <p:sldId id="499" r:id="rId30"/>
    <p:sldId id="392" r:id="rId31"/>
    <p:sldId id="393" r:id="rId32"/>
    <p:sldId id="394" r:id="rId33"/>
    <p:sldId id="500" r:id="rId34"/>
    <p:sldId id="501" r:id="rId35"/>
    <p:sldId id="502" r:id="rId36"/>
    <p:sldId id="503" r:id="rId37"/>
    <p:sldId id="504" r:id="rId38"/>
    <p:sldId id="505" r:id="rId39"/>
    <p:sldId id="506" r:id="rId40"/>
    <p:sldId id="507" r:id="rId41"/>
    <p:sldId id="508" r:id="rId42"/>
    <p:sldId id="509" r:id="rId43"/>
    <p:sldId id="510" r:id="rId44"/>
    <p:sldId id="511" r:id="rId45"/>
    <p:sldId id="512" r:id="rId46"/>
    <p:sldId id="513" r:id="rId47"/>
    <p:sldId id="514" r:id="rId48"/>
    <p:sldId id="439" r:id="rId49"/>
    <p:sldId id="411" r:id="rId50"/>
    <p:sldId id="479" r:id="rId51"/>
    <p:sldId id="412" r:id="rId52"/>
    <p:sldId id="476" r:id="rId53"/>
    <p:sldId id="319" r:id="rId54"/>
    <p:sldId id="413" r:id="rId55"/>
    <p:sldId id="414" r:id="rId56"/>
    <p:sldId id="458" r:id="rId57"/>
    <p:sldId id="415" r:id="rId58"/>
    <p:sldId id="480" r:id="rId59"/>
    <p:sldId id="334" r:id="rId60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FFFF"/>
    <a:srgbClr val="FFCC66"/>
    <a:srgbClr val="9BBB59"/>
    <a:srgbClr val="F2F2F2"/>
    <a:srgbClr val="99B1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60" autoAdjust="0"/>
    <p:restoredTop sz="94660"/>
  </p:normalViewPr>
  <p:slideViewPr>
    <p:cSldViewPr snapToObjects="1">
      <p:cViewPr varScale="1">
        <p:scale>
          <a:sx n="142" d="100"/>
          <a:sy n="142" d="100"/>
        </p:scale>
        <p:origin x="864" y="10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5" cy="450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EDA60C-F55E-4693-819A-272F5D0184C3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TW" altLang="en-US"/>
        </a:p>
      </dgm:t>
    </dgm:pt>
    <dgm:pt modelId="{7BD85239-6627-465D-8E36-86B3CF04A89B}">
      <dgm:prSet custT="1"/>
      <dgm:spPr/>
      <dgm:t>
        <a:bodyPr/>
        <a:lstStyle/>
        <a:p>
          <a:pPr algn="l" rtl="0"/>
          <a:r>
            <a:rPr lang="zh-TW" sz="1800" b="1" dirty="0"/>
            <a:t>西元</a:t>
          </a:r>
          <a:r>
            <a:rPr lang="en-US" sz="1800" b="1" dirty="0"/>
            <a:t>1977</a:t>
          </a:r>
          <a:r>
            <a:rPr lang="zh-TW" sz="1800" b="1" dirty="0"/>
            <a:t>年，</a:t>
          </a:r>
          <a:r>
            <a:rPr lang="zh-TW" altLang="en-US" sz="1800" b="1" dirty="0"/>
            <a:t>臺灣</a:t>
          </a:r>
          <a:r>
            <a:rPr lang="zh-TW" sz="1800" b="1" dirty="0"/>
            <a:t>大學設立了最早命名為資訊工程系的科系。</a:t>
          </a:r>
          <a:endParaRPr lang="zh-TW" sz="1800" dirty="0"/>
        </a:p>
      </dgm:t>
    </dgm:pt>
    <dgm:pt modelId="{4C0E87C3-992B-4A93-B4D3-596496170A77}" type="sibTrans" cxnId="{B35F12B6-4FA7-41E5-8567-7115C1BA5B95}">
      <dgm:prSet/>
      <dgm:spPr/>
      <dgm:t>
        <a:bodyPr/>
        <a:lstStyle/>
        <a:p>
          <a:endParaRPr lang="zh-TW" altLang="en-US"/>
        </a:p>
      </dgm:t>
    </dgm:pt>
    <dgm:pt modelId="{3EA4C932-E069-4D8B-88F6-84BE60D3A6BB}" type="parTrans" cxnId="{B35F12B6-4FA7-41E5-8567-7115C1BA5B95}">
      <dgm:prSet/>
      <dgm:spPr/>
      <dgm:t>
        <a:bodyPr/>
        <a:lstStyle/>
        <a:p>
          <a:endParaRPr lang="zh-TW" altLang="en-US"/>
        </a:p>
      </dgm:t>
    </dgm:pt>
    <dgm:pt modelId="{1FCBF336-AE42-4EB0-A0AD-4E913405EC69}">
      <dgm:prSet custT="1"/>
      <dgm:spPr/>
      <dgm:t>
        <a:bodyPr/>
        <a:lstStyle/>
        <a:p>
          <a:pPr algn="l" rtl="0"/>
          <a:r>
            <a:rPr lang="zh-TW" sz="1800" b="1" dirty="0"/>
            <a:t>西元</a:t>
          </a:r>
          <a:r>
            <a:rPr lang="en-US" sz="1800" b="1" dirty="0"/>
            <a:t>1969</a:t>
          </a:r>
          <a:r>
            <a:rPr lang="zh-TW" sz="1800" b="1" dirty="0"/>
            <a:t>年，淡江大學設立的電子計算機科學學系是</a:t>
          </a:r>
          <a:r>
            <a:rPr lang="zh-TW" altLang="en-US" sz="1800" b="1" dirty="0"/>
            <a:t>臺灣</a:t>
          </a:r>
          <a:r>
            <a:rPr lang="zh-TW" sz="1800" b="1" dirty="0"/>
            <a:t>最早的計算機科學系。</a:t>
          </a:r>
          <a:endParaRPr lang="zh-TW" sz="1800" dirty="0"/>
        </a:p>
      </dgm:t>
    </dgm:pt>
    <dgm:pt modelId="{511E48C7-E8A4-4387-94BA-00FAD40C00D8}" type="sibTrans" cxnId="{E2C833D3-BE0D-4BA6-9559-32EF6DD3976D}">
      <dgm:prSet/>
      <dgm:spPr/>
      <dgm:t>
        <a:bodyPr/>
        <a:lstStyle/>
        <a:p>
          <a:endParaRPr lang="zh-TW" altLang="en-US"/>
        </a:p>
      </dgm:t>
    </dgm:pt>
    <dgm:pt modelId="{F8D46124-681E-4255-ADD3-3C4CD192566C}" type="parTrans" cxnId="{E2C833D3-BE0D-4BA6-9559-32EF6DD3976D}">
      <dgm:prSet/>
      <dgm:spPr/>
      <dgm:t>
        <a:bodyPr/>
        <a:lstStyle/>
        <a:p>
          <a:endParaRPr lang="zh-TW" altLang="en-US"/>
        </a:p>
      </dgm:t>
    </dgm:pt>
    <dgm:pt modelId="{BC6066D0-A971-46FA-8EC4-E395BF22814B}">
      <dgm:prSet custT="1"/>
      <dgm:spPr/>
      <dgm:t>
        <a:bodyPr/>
        <a:lstStyle/>
        <a:p>
          <a:pPr algn="l" rtl="0"/>
          <a:r>
            <a:rPr lang="zh-TW" sz="1800" b="1" dirty="0"/>
            <a:t>西元</a:t>
          </a:r>
          <a:r>
            <a:rPr lang="en-US" sz="1800" b="1" dirty="0"/>
            <a:t>1960</a:t>
          </a:r>
          <a:r>
            <a:rPr lang="zh-TW" sz="1800" b="1" dirty="0"/>
            <a:t>年，交通大學設立</a:t>
          </a:r>
          <a:r>
            <a:rPr lang="zh-TW" altLang="en-US" sz="1800" b="1" dirty="0"/>
            <a:t>臺灣</a:t>
          </a:r>
          <a:r>
            <a:rPr lang="zh-TW" sz="1800" b="1" dirty="0"/>
            <a:t>最早的計算機研究學程。</a:t>
          </a:r>
          <a:endParaRPr lang="zh-TW" sz="1800" dirty="0"/>
        </a:p>
      </dgm:t>
    </dgm:pt>
    <dgm:pt modelId="{B132C0F8-B451-453B-8B9E-98D8C42149FC}" type="sibTrans" cxnId="{591FE704-916D-4638-8836-469903593F1E}">
      <dgm:prSet/>
      <dgm:spPr/>
      <dgm:t>
        <a:bodyPr/>
        <a:lstStyle/>
        <a:p>
          <a:endParaRPr lang="zh-TW" altLang="en-US"/>
        </a:p>
      </dgm:t>
    </dgm:pt>
    <dgm:pt modelId="{A40D9460-D7BC-4CEE-A16B-12C97CA6A17F}" type="parTrans" cxnId="{591FE704-916D-4638-8836-469903593F1E}">
      <dgm:prSet/>
      <dgm:spPr/>
      <dgm:t>
        <a:bodyPr/>
        <a:lstStyle/>
        <a:p>
          <a:endParaRPr lang="zh-TW" altLang="en-US"/>
        </a:p>
      </dgm:t>
    </dgm:pt>
    <dgm:pt modelId="{20A02875-B920-4502-90E2-A829E9A4AE06}" type="pres">
      <dgm:prSet presAssocID="{8DEDA60C-F55E-4693-819A-272F5D0184C3}" presName="Name0" presStyleCnt="0">
        <dgm:presLayoutVars>
          <dgm:dir/>
          <dgm:resizeHandles val="exact"/>
        </dgm:presLayoutVars>
      </dgm:prSet>
      <dgm:spPr/>
    </dgm:pt>
    <dgm:pt modelId="{E80EC0E7-D492-4778-AD42-09E7261423B2}" type="pres">
      <dgm:prSet presAssocID="{BC6066D0-A971-46FA-8EC4-E395BF22814B}" presName="node" presStyleLbl="node1" presStyleIdx="0" presStyleCnt="3" custScaleX="119204">
        <dgm:presLayoutVars>
          <dgm:bulletEnabled val="1"/>
        </dgm:presLayoutVars>
      </dgm:prSet>
      <dgm:spPr/>
    </dgm:pt>
    <dgm:pt modelId="{C6901B86-A96E-461B-AE1A-DDC0B6783B88}" type="pres">
      <dgm:prSet presAssocID="{B132C0F8-B451-453B-8B9E-98D8C42149FC}" presName="sibTrans" presStyleLbl="sibTrans2D1" presStyleIdx="0" presStyleCnt="2"/>
      <dgm:spPr/>
    </dgm:pt>
    <dgm:pt modelId="{F6B42B3A-F4A2-4540-A4B1-79A477796CE4}" type="pres">
      <dgm:prSet presAssocID="{B132C0F8-B451-453B-8B9E-98D8C42149FC}" presName="connectorText" presStyleLbl="sibTrans2D1" presStyleIdx="0" presStyleCnt="2"/>
      <dgm:spPr/>
    </dgm:pt>
    <dgm:pt modelId="{3758DBC1-6C11-44C0-AB85-0F95675156F3}" type="pres">
      <dgm:prSet presAssocID="{1FCBF336-AE42-4EB0-A0AD-4E913405EC69}" presName="node" presStyleLbl="node1" presStyleIdx="1" presStyleCnt="3" custScaleX="165051">
        <dgm:presLayoutVars>
          <dgm:bulletEnabled val="1"/>
        </dgm:presLayoutVars>
      </dgm:prSet>
      <dgm:spPr/>
    </dgm:pt>
    <dgm:pt modelId="{F8CEFBE9-1FE3-44E2-9BCF-421701B8C49D}" type="pres">
      <dgm:prSet presAssocID="{511E48C7-E8A4-4387-94BA-00FAD40C00D8}" presName="sibTrans" presStyleLbl="sibTrans2D1" presStyleIdx="1" presStyleCnt="2"/>
      <dgm:spPr/>
    </dgm:pt>
    <dgm:pt modelId="{F61320EF-717F-4F65-B088-79EEB705E99F}" type="pres">
      <dgm:prSet presAssocID="{511E48C7-E8A4-4387-94BA-00FAD40C00D8}" presName="connectorText" presStyleLbl="sibTrans2D1" presStyleIdx="1" presStyleCnt="2"/>
      <dgm:spPr/>
    </dgm:pt>
    <dgm:pt modelId="{A24774EF-6DB9-4725-8CFC-3AE89CC59633}" type="pres">
      <dgm:prSet presAssocID="{7BD85239-6627-465D-8E36-86B3CF04A89B}" presName="node" presStyleLbl="node1" presStyleIdx="2" presStyleCnt="3" custScaleX="135627">
        <dgm:presLayoutVars>
          <dgm:bulletEnabled val="1"/>
        </dgm:presLayoutVars>
      </dgm:prSet>
      <dgm:spPr/>
    </dgm:pt>
  </dgm:ptLst>
  <dgm:cxnLst>
    <dgm:cxn modelId="{AD00CB03-CFB3-4A96-AC3F-63E7DF3D1421}" type="presOf" srcId="{B132C0F8-B451-453B-8B9E-98D8C42149FC}" destId="{F6B42B3A-F4A2-4540-A4B1-79A477796CE4}" srcOrd="1" destOrd="0" presId="urn:microsoft.com/office/officeart/2005/8/layout/process1"/>
    <dgm:cxn modelId="{591FE704-916D-4638-8836-469903593F1E}" srcId="{8DEDA60C-F55E-4693-819A-272F5D0184C3}" destId="{BC6066D0-A971-46FA-8EC4-E395BF22814B}" srcOrd="0" destOrd="0" parTransId="{A40D9460-D7BC-4CEE-A16B-12C97CA6A17F}" sibTransId="{B132C0F8-B451-453B-8B9E-98D8C42149FC}"/>
    <dgm:cxn modelId="{D2009207-0CBB-43F8-85CB-C580E0B1EDBB}" type="presOf" srcId="{511E48C7-E8A4-4387-94BA-00FAD40C00D8}" destId="{F61320EF-717F-4F65-B088-79EEB705E99F}" srcOrd="1" destOrd="0" presId="urn:microsoft.com/office/officeart/2005/8/layout/process1"/>
    <dgm:cxn modelId="{06EFB425-42CF-452D-B0C4-6FE8FEF93AC5}" type="presOf" srcId="{7BD85239-6627-465D-8E36-86B3CF04A89B}" destId="{A24774EF-6DB9-4725-8CFC-3AE89CC59633}" srcOrd="0" destOrd="0" presId="urn:microsoft.com/office/officeart/2005/8/layout/process1"/>
    <dgm:cxn modelId="{31F86663-6755-4D52-9123-34B1BFCFF62A}" type="presOf" srcId="{B132C0F8-B451-453B-8B9E-98D8C42149FC}" destId="{C6901B86-A96E-461B-AE1A-DDC0B6783B88}" srcOrd="0" destOrd="0" presId="urn:microsoft.com/office/officeart/2005/8/layout/process1"/>
    <dgm:cxn modelId="{EEC46583-B6EE-42B9-B58F-2707E9BA56BB}" type="presOf" srcId="{1FCBF336-AE42-4EB0-A0AD-4E913405EC69}" destId="{3758DBC1-6C11-44C0-AB85-0F95675156F3}" srcOrd="0" destOrd="0" presId="urn:microsoft.com/office/officeart/2005/8/layout/process1"/>
    <dgm:cxn modelId="{D884FA93-F9C3-4CA6-AA6C-7BA8435F7068}" type="presOf" srcId="{BC6066D0-A971-46FA-8EC4-E395BF22814B}" destId="{E80EC0E7-D492-4778-AD42-09E7261423B2}" srcOrd="0" destOrd="0" presId="urn:microsoft.com/office/officeart/2005/8/layout/process1"/>
    <dgm:cxn modelId="{46B8299D-28F3-4371-AFCC-2E945FD02DEA}" type="presOf" srcId="{8DEDA60C-F55E-4693-819A-272F5D0184C3}" destId="{20A02875-B920-4502-90E2-A829E9A4AE06}" srcOrd="0" destOrd="0" presId="urn:microsoft.com/office/officeart/2005/8/layout/process1"/>
    <dgm:cxn modelId="{A14B7BB0-7F83-403F-BF82-409874B63C52}" type="presOf" srcId="{511E48C7-E8A4-4387-94BA-00FAD40C00D8}" destId="{F8CEFBE9-1FE3-44E2-9BCF-421701B8C49D}" srcOrd="0" destOrd="0" presId="urn:microsoft.com/office/officeart/2005/8/layout/process1"/>
    <dgm:cxn modelId="{B35F12B6-4FA7-41E5-8567-7115C1BA5B95}" srcId="{8DEDA60C-F55E-4693-819A-272F5D0184C3}" destId="{7BD85239-6627-465D-8E36-86B3CF04A89B}" srcOrd="2" destOrd="0" parTransId="{3EA4C932-E069-4D8B-88F6-84BE60D3A6BB}" sibTransId="{4C0E87C3-992B-4A93-B4D3-596496170A77}"/>
    <dgm:cxn modelId="{E2C833D3-BE0D-4BA6-9559-32EF6DD3976D}" srcId="{8DEDA60C-F55E-4693-819A-272F5D0184C3}" destId="{1FCBF336-AE42-4EB0-A0AD-4E913405EC69}" srcOrd="1" destOrd="0" parTransId="{F8D46124-681E-4255-ADD3-3C4CD192566C}" sibTransId="{511E48C7-E8A4-4387-94BA-00FAD40C00D8}"/>
    <dgm:cxn modelId="{8F4DE075-71A4-425E-9688-8BEF56D48193}" type="presParOf" srcId="{20A02875-B920-4502-90E2-A829E9A4AE06}" destId="{E80EC0E7-D492-4778-AD42-09E7261423B2}" srcOrd="0" destOrd="0" presId="urn:microsoft.com/office/officeart/2005/8/layout/process1"/>
    <dgm:cxn modelId="{511C7384-5E7F-45E3-B8B9-475886A551BA}" type="presParOf" srcId="{20A02875-B920-4502-90E2-A829E9A4AE06}" destId="{C6901B86-A96E-461B-AE1A-DDC0B6783B88}" srcOrd="1" destOrd="0" presId="urn:microsoft.com/office/officeart/2005/8/layout/process1"/>
    <dgm:cxn modelId="{5266C489-8FB5-4EEC-8D2E-0F1E74F4852A}" type="presParOf" srcId="{C6901B86-A96E-461B-AE1A-DDC0B6783B88}" destId="{F6B42B3A-F4A2-4540-A4B1-79A477796CE4}" srcOrd="0" destOrd="0" presId="urn:microsoft.com/office/officeart/2005/8/layout/process1"/>
    <dgm:cxn modelId="{94D11C77-5CDB-4810-B133-3E508A1D13BA}" type="presParOf" srcId="{20A02875-B920-4502-90E2-A829E9A4AE06}" destId="{3758DBC1-6C11-44C0-AB85-0F95675156F3}" srcOrd="2" destOrd="0" presId="urn:microsoft.com/office/officeart/2005/8/layout/process1"/>
    <dgm:cxn modelId="{E6B51E7A-B86B-402D-A142-E4CB322749EA}" type="presParOf" srcId="{20A02875-B920-4502-90E2-A829E9A4AE06}" destId="{F8CEFBE9-1FE3-44E2-9BCF-421701B8C49D}" srcOrd="3" destOrd="0" presId="urn:microsoft.com/office/officeart/2005/8/layout/process1"/>
    <dgm:cxn modelId="{DF560362-133F-44A4-941D-386E4F35C7A0}" type="presParOf" srcId="{F8CEFBE9-1FE3-44E2-9BCF-421701B8C49D}" destId="{F61320EF-717F-4F65-B088-79EEB705E99F}" srcOrd="0" destOrd="0" presId="urn:microsoft.com/office/officeart/2005/8/layout/process1"/>
    <dgm:cxn modelId="{77EE3322-9309-4571-837A-38CB41918CAB}" type="presParOf" srcId="{20A02875-B920-4502-90E2-A829E9A4AE06}" destId="{A24774EF-6DB9-4725-8CFC-3AE89CC59633}" srcOrd="4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145F68B-C315-4D23-89D0-095FEC65CD54}" type="doc">
      <dgm:prSet loTypeId="urn:microsoft.com/office/officeart/2005/8/layout/list1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zh-TW" altLang="en-US"/>
        </a:p>
      </dgm:t>
    </dgm:pt>
    <dgm:pt modelId="{9B762C9F-FE2C-454A-8160-5F2C3BF6789E}">
      <dgm:prSet phldrT="[文字]"/>
      <dgm:spPr/>
      <dgm:t>
        <a:bodyPr/>
        <a:lstStyle/>
        <a:p>
          <a:r>
            <a:rPr lang="zh-TW" altLang="en-US" dirty="0"/>
            <a:t>人工智慧</a:t>
          </a:r>
        </a:p>
      </dgm:t>
    </dgm:pt>
    <dgm:pt modelId="{CAE82142-6397-4498-BAE2-B73FD507BE05}" type="parTrans" cxnId="{D82317FF-1362-4509-9B10-B957001AC791}">
      <dgm:prSet/>
      <dgm:spPr/>
      <dgm:t>
        <a:bodyPr/>
        <a:lstStyle/>
        <a:p>
          <a:endParaRPr lang="zh-TW" altLang="en-US"/>
        </a:p>
      </dgm:t>
    </dgm:pt>
    <dgm:pt modelId="{D0F163C9-6A39-4C99-83A4-AAF17C98A35B}" type="sibTrans" cxnId="{D82317FF-1362-4509-9B10-B957001AC791}">
      <dgm:prSet/>
      <dgm:spPr/>
      <dgm:t>
        <a:bodyPr/>
        <a:lstStyle/>
        <a:p>
          <a:endParaRPr lang="zh-TW" altLang="en-US"/>
        </a:p>
      </dgm:t>
    </dgm:pt>
    <dgm:pt modelId="{9747A501-275E-4751-9EEC-F8BE735C931B}">
      <dgm:prSet phldrT="[文字]"/>
      <dgm:spPr/>
      <dgm:t>
        <a:bodyPr/>
        <a:lstStyle/>
        <a:p>
          <a:r>
            <a:rPr lang="zh-TW" altLang="en-US" dirty="0"/>
            <a:t>硬體架構與量子突破</a:t>
          </a:r>
        </a:p>
      </dgm:t>
    </dgm:pt>
    <dgm:pt modelId="{227B0019-256A-43A5-8A9A-BEB49A2150B5}" type="parTrans" cxnId="{4F4792AF-D830-4A7E-A760-65B4FABED02C}">
      <dgm:prSet/>
      <dgm:spPr/>
      <dgm:t>
        <a:bodyPr/>
        <a:lstStyle/>
        <a:p>
          <a:endParaRPr lang="zh-TW" altLang="en-US"/>
        </a:p>
      </dgm:t>
    </dgm:pt>
    <dgm:pt modelId="{82A966BB-9A05-47C8-AA56-B65CA828CE30}" type="sibTrans" cxnId="{4F4792AF-D830-4A7E-A760-65B4FABED02C}">
      <dgm:prSet/>
      <dgm:spPr/>
      <dgm:t>
        <a:bodyPr/>
        <a:lstStyle/>
        <a:p>
          <a:endParaRPr lang="zh-TW" altLang="en-US"/>
        </a:p>
      </dgm:t>
    </dgm:pt>
    <dgm:pt modelId="{EC403D54-EB76-46F3-9232-9B0C6178A4BC}">
      <dgm:prSet phldrT="[文字]"/>
      <dgm:spPr/>
      <dgm:t>
        <a:bodyPr/>
        <a:lstStyle/>
        <a:p>
          <a:r>
            <a:rPr lang="zh-TW" altLang="en-US" dirty="0"/>
            <a:t>網路連結與全球化應用</a:t>
          </a:r>
        </a:p>
      </dgm:t>
    </dgm:pt>
    <dgm:pt modelId="{813E582D-68D9-49C1-8F02-44B94E69264A}" type="parTrans" cxnId="{C8A6C443-BAC3-4B80-8541-751D49B99B1B}">
      <dgm:prSet/>
      <dgm:spPr/>
      <dgm:t>
        <a:bodyPr/>
        <a:lstStyle/>
        <a:p>
          <a:endParaRPr lang="zh-TW" altLang="en-US"/>
        </a:p>
      </dgm:t>
    </dgm:pt>
    <dgm:pt modelId="{8DC1362C-8C15-4DD7-8E5B-DC0479DE3BF0}" type="sibTrans" cxnId="{C8A6C443-BAC3-4B80-8541-751D49B99B1B}">
      <dgm:prSet/>
      <dgm:spPr/>
      <dgm:t>
        <a:bodyPr/>
        <a:lstStyle/>
        <a:p>
          <a:endParaRPr lang="zh-TW" altLang="en-US"/>
        </a:p>
      </dgm:t>
    </dgm:pt>
    <dgm:pt modelId="{41F9CF4D-CDEC-4257-A7CC-06E4C09AC49C}">
      <dgm:prSet phldrT="[文字]"/>
      <dgm:spPr/>
      <dgm:t>
        <a:bodyPr/>
        <a:lstStyle/>
        <a:p>
          <a:r>
            <a:rPr lang="zh-TW" altLang="en-US"/>
            <a:t>數位倫理與法規監管</a:t>
          </a:r>
          <a:endParaRPr lang="zh-TW" altLang="en-US" dirty="0"/>
        </a:p>
      </dgm:t>
    </dgm:pt>
    <dgm:pt modelId="{CE13CAE1-E826-4D12-B075-28C751392AC8}" type="parTrans" cxnId="{E82F3A19-FE97-41B6-8513-FF6A07CFC3E5}">
      <dgm:prSet/>
      <dgm:spPr/>
      <dgm:t>
        <a:bodyPr/>
        <a:lstStyle/>
        <a:p>
          <a:endParaRPr lang="zh-TW" altLang="en-US"/>
        </a:p>
      </dgm:t>
    </dgm:pt>
    <dgm:pt modelId="{8A49336D-54EE-4865-B120-528733DFEE50}" type="sibTrans" cxnId="{E82F3A19-FE97-41B6-8513-FF6A07CFC3E5}">
      <dgm:prSet/>
      <dgm:spPr/>
      <dgm:t>
        <a:bodyPr/>
        <a:lstStyle/>
        <a:p>
          <a:endParaRPr lang="zh-TW" altLang="en-US"/>
        </a:p>
      </dgm:t>
    </dgm:pt>
    <dgm:pt modelId="{3A59850D-7927-4477-A622-A7C4213F71F3}" type="pres">
      <dgm:prSet presAssocID="{C145F68B-C315-4D23-89D0-095FEC65CD54}" presName="linear" presStyleCnt="0">
        <dgm:presLayoutVars>
          <dgm:dir/>
          <dgm:animLvl val="lvl"/>
          <dgm:resizeHandles val="exact"/>
        </dgm:presLayoutVars>
      </dgm:prSet>
      <dgm:spPr/>
    </dgm:pt>
    <dgm:pt modelId="{8FDDFBC2-A8D4-42EA-9EED-F615AE2BBB6E}" type="pres">
      <dgm:prSet presAssocID="{9B762C9F-FE2C-454A-8160-5F2C3BF6789E}" presName="parentLin" presStyleCnt="0"/>
      <dgm:spPr/>
    </dgm:pt>
    <dgm:pt modelId="{5D660CC2-2365-461D-A819-262C3A23C7CC}" type="pres">
      <dgm:prSet presAssocID="{9B762C9F-FE2C-454A-8160-5F2C3BF6789E}" presName="parentLeftMargin" presStyleLbl="node1" presStyleIdx="0" presStyleCnt="4"/>
      <dgm:spPr/>
    </dgm:pt>
    <dgm:pt modelId="{D21B0D49-03AD-4505-8564-1DF80D1767DD}" type="pres">
      <dgm:prSet presAssocID="{9B762C9F-FE2C-454A-8160-5F2C3BF6789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4579819-1E0E-415E-B34C-50F76D1FF2AD}" type="pres">
      <dgm:prSet presAssocID="{9B762C9F-FE2C-454A-8160-5F2C3BF6789E}" presName="negativeSpace" presStyleCnt="0"/>
      <dgm:spPr/>
    </dgm:pt>
    <dgm:pt modelId="{01882106-38BC-4F97-8703-26583842FCA2}" type="pres">
      <dgm:prSet presAssocID="{9B762C9F-FE2C-454A-8160-5F2C3BF6789E}" presName="childText" presStyleLbl="conFgAcc1" presStyleIdx="0" presStyleCnt="4">
        <dgm:presLayoutVars>
          <dgm:bulletEnabled val="1"/>
        </dgm:presLayoutVars>
      </dgm:prSet>
      <dgm:spPr/>
    </dgm:pt>
    <dgm:pt modelId="{1C876569-75DA-412E-B506-ECF3FFF3D959}" type="pres">
      <dgm:prSet presAssocID="{D0F163C9-6A39-4C99-83A4-AAF17C98A35B}" presName="spaceBetweenRectangles" presStyleCnt="0"/>
      <dgm:spPr/>
    </dgm:pt>
    <dgm:pt modelId="{AD13B465-D2A2-45B8-BD44-35A3367B4563}" type="pres">
      <dgm:prSet presAssocID="{9747A501-275E-4751-9EEC-F8BE735C931B}" presName="parentLin" presStyleCnt="0"/>
      <dgm:spPr/>
    </dgm:pt>
    <dgm:pt modelId="{B2620FE1-992F-46E3-875F-E441D4421DE6}" type="pres">
      <dgm:prSet presAssocID="{9747A501-275E-4751-9EEC-F8BE735C931B}" presName="parentLeftMargin" presStyleLbl="node1" presStyleIdx="0" presStyleCnt="4"/>
      <dgm:spPr/>
    </dgm:pt>
    <dgm:pt modelId="{A4823367-FA5F-497D-ADEF-1CAE8377DC9F}" type="pres">
      <dgm:prSet presAssocID="{9747A501-275E-4751-9EEC-F8BE735C931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F49528C-D73A-4939-AEB1-F9CDDCC46D23}" type="pres">
      <dgm:prSet presAssocID="{9747A501-275E-4751-9EEC-F8BE735C931B}" presName="negativeSpace" presStyleCnt="0"/>
      <dgm:spPr/>
    </dgm:pt>
    <dgm:pt modelId="{29816908-775A-42AC-8951-CA3688FEA5B7}" type="pres">
      <dgm:prSet presAssocID="{9747A501-275E-4751-9EEC-F8BE735C931B}" presName="childText" presStyleLbl="conFgAcc1" presStyleIdx="1" presStyleCnt="4">
        <dgm:presLayoutVars>
          <dgm:bulletEnabled val="1"/>
        </dgm:presLayoutVars>
      </dgm:prSet>
      <dgm:spPr/>
    </dgm:pt>
    <dgm:pt modelId="{8BFE7D89-4AB7-46EA-89E3-B8FB728D9C59}" type="pres">
      <dgm:prSet presAssocID="{82A966BB-9A05-47C8-AA56-B65CA828CE30}" presName="spaceBetweenRectangles" presStyleCnt="0"/>
      <dgm:spPr/>
    </dgm:pt>
    <dgm:pt modelId="{407CB323-AFE4-4670-B350-E500EBAB9658}" type="pres">
      <dgm:prSet presAssocID="{EC403D54-EB76-46F3-9232-9B0C6178A4BC}" presName="parentLin" presStyleCnt="0"/>
      <dgm:spPr/>
    </dgm:pt>
    <dgm:pt modelId="{4CE8EBDE-A2CF-4233-B375-6D19F4794427}" type="pres">
      <dgm:prSet presAssocID="{EC403D54-EB76-46F3-9232-9B0C6178A4BC}" presName="parentLeftMargin" presStyleLbl="node1" presStyleIdx="1" presStyleCnt="4"/>
      <dgm:spPr/>
    </dgm:pt>
    <dgm:pt modelId="{413BA9BB-CD2A-47AE-B47D-B2EF27E7A3D8}" type="pres">
      <dgm:prSet presAssocID="{EC403D54-EB76-46F3-9232-9B0C6178A4B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C9C101B-E655-4559-8446-9F4E445F5DF7}" type="pres">
      <dgm:prSet presAssocID="{EC403D54-EB76-46F3-9232-9B0C6178A4BC}" presName="negativeSpace" presStyleCnt="0"/>
      <dgm:spPr/>
    </dgm:pt>
    <dgm:pt modelId="{2C2AC44A-7BD9-4561-8EF2-CC69E335F5A6}" type="pres">
      <dgm:prSet presAssocID="{EC403D54-EB76-46F3-9232-9B0C6178A4BC}" presName="childText" presStyleLbl="conFgAcc1" presStyleIdx="2" presStyleCnt="4">
        <dgm:presLayoutVars>
          <dgm:bulletEnabled val="1"/>
        </dgm:presLayoutVars>
      </dgm:prSet>
      <dgm:spPr/>
    </dgm:pt>
    <dgm:pt modelId="{D099CC8A-BA0D-4898-99B4-93EFF993F697}" type="pres">
      <dgm:prSet presAssocID="{8DC1362C-8C15-4DD7-8E5B-DC0479DE3BF0}" presName="spaceBetweenRectangles" presStyleCnt="0"/>
      <dgm:spPr/>
    </dgm:pt>
    <dgm:pt modelId="{5876EC2D-5E44-424A-940E-5A836D585ABE}" type="pres">
      <dgm:prSet presAssocID="{41F9CF4D-CDEC-4257-A7CC-06E4C09AC49C}" presName="parentLin" presStyleCnt="0"/>
      <dgm:spPr/>
    </dgm:pt>
    <dgm:pt modelId="{2B0076A6-999C-4235-B7FB-BD18CE34C932}" type="pres">
      <dgm:prSet presAssocID="{41F9CF4D-CDEC-4257-A7CC-06E4C09AC49C}" presName="parentLeftMargin" presStyleLbl="node1" presStyleIdx="2" presStyleCnt="4"/>
      <dgm:spPr/>
    </dgm:pt>
    <dgm:pt modelId="{4EF17955-852B-49B5-98BE-A8457F59321B}" type="pres">
      <dgm:prSet presAssocID="{41F9CF4D-CDEC-4257-A7CC-06E4C09AC49C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44354F9-EDEA-4B3B-A444-CB4F851996D1}" type="pres">
      <dgm:prSet presAssocID="{41F9CF4D-CDEC-4257-A7CC-06E4C09AC49C}" presName="negativeSpace" presStyleCnt="0"/>
      <dgm:spPr/>
    </dgm:pt>
    <dgm:pt modelId="{86E8E26B-B674-4DAD-9FD1-F4B7C52081B3}" type="pres">
      <dgm:prSet presAssocID="{41F9CF4D-CDEC-4257-A7CC-06E4C09AC49C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1D9D20B-0249-4AFC-9C8D-0DDDDFF68123}" type="presOf" srcId="{EC403D54-EB76-46F3-9232-9B0C6178A4BC}" destId="{413BA9BB-CD2A-47AE-B47D-B2EF27E7A3D8}" srcOrd="1" destOrd="0" presId="urn:microsoft.com/office/officeart/2005/8/layout/list1"/>
    <dgm:cxn modelId="{E82F3A19-FE97-41B6-8513-FF6A07CFC3E5}" srcId="{C145F68B-C315-4D23-89D0-095FEC65CD54}" destId="{41F9CF4D-CDEC-4257-A7CC-06E4C09AC49C}" srcOrd="3" destOrd="0" parTransId="{CE13CAE1-E826-4D12-B075-28C751392AC8}" sibTransId="{8A49336D-54EE-4865-B120-528733DFEE50}"/>
    <dgm:cxn modelId="{B88D6D2C-8F4A-4361-9043-3F1A44C20084}" type="presOf" srcId="{41F9CF4D-CDEC-4257-A7CC-06E4C09AC49C}" destId="{4EF17955-852B-49B5-98BE-A8457F59321B}" srcOrd="1" destOrd="0" presId="urn:microsoft.com/office/officeart/2005/8/layout/list1"/>
    <dgm:cxn modelId="{67CC0F40-037C-43C7-B883-8EDF924D560F}" type="presOf" srcId="{9B762C9F-FE2C-454A-8160-5F2C3BF6789E}" destId="{5D660CC2-2365-461D-A819-262C3A23C7CC}" srcOrd="0" destOrd="0" presId="urn:microsoft.com/office/officeart/2005/8/layout/list1"/>
    <dgm:cxn modelId="{C8A6C443-BAC3-4B80-8541-751D49B99B1B}" srcId="{C145F68B-C315-4D23-89D0-095FEC65CD54}" destId="{EC403D54-EB76-46F3-9232-9B0C6178A4BC}" srcOrd="2" destOrd="0" parTransId="{813E582D-68D9-49C1-8F02-44B94E69264A}" sibTransId="{8DC1362C-8C15-4DD7-8E5B-DC0479DE3BF0}"/>
    <dgm:cxn modelId="{1B221166-C571-48D5-A451-21DE106F05CE}" type="presOf" srcId="{EC403D54-EB76-46F3-9232-9B0C6178A4BC}" destId="{4CE8EBDE-A2CF-4233-B375-6D19F4794427}" srcOrd="0" destOrd="0" presId="urn:microsoft.com/office/officeart/2005/8/layout/list1"/>
    <dgm:cxn modelId="{04D2BD91-6D15-407C-9995-D39E4BCE078A}" type="presOf" srcId="{9B762C9F-FE2C-454A-8160-5F2C3BF6789E}" destId="{D21B0D49-03AD-4505-8564-1DF80D1767DD}" srcOrd="1" destOrd="0" presId="urn:microsoft.com/office/officeart/2005/8/layout/list1"/>
    <dgm:cxn modelId="{4F4792AF-D830-4A7E-A760-65B4FABED02C}" srcId="{C145F68B-C315-4D23-89D0-095FEC65CD54}" destId="{9747A501-275E-4751-9EEC-F8BE735C931B}" srcOrd="1" destOrd="0" parTransId="{227B0019-256A-43A5-8A9A-BEB49A2150B5}" sibTransId="{82A966BB-9A05-47C8-AA56-B65CA828CE30}"/>
    <dgm:cxn modelId="{EDDE72B0-26FC-4C6E-88FC-4BD9411E08F2}" type="presOf" srcId="{41F9CF4D-CDEC-4257-A7CC-06E4C09AC49C}" destId="{2B0076A6-999C-4235-B7FB-BD18CE34C932}" srcOrd="0" destOrd="0" presId="urn:microsoft.com/office/officeart/2005/8/layout/list1"/>
    <dgm:cxn modelId="{F5B373C5-E309-4496-9BAC-E3E544319311}" type="presOf" srcId="{9747A501-275E-4751-9EEC-F8BE735C931B}" destId="{A4823367-FA5F-497D-ADEF-1CAE8377DC9F}" srcOrd="1" destOrd="0" presId="urn:microsoft.com/office/officeart/2005/8/layout/list1"/>
    <dgm:cxn modelId="{960581D9-58E9-4E6F-BEBF-9153C097D6C6}" type="presOf" srcId="{C145F68B-C315-4D23-89D0-095FEC65CD54}" destId="{3A59850D-7927-4477-A622-A7C4213F71F3}" srcOrd="0" destOrd="0" presId="urn:microsoft.com/office/officeart/2005/8/layout/list1"/>
    <dgm:cxn modelId="{4A4EBCFA-598C-42D4-BA57-68643C0F59E3}" type="presOf" srcId="{9747A501-275E-4751-9EEC-F8BE735C931B}" destId="{B2620FE1-992F-46E3-875F-E441D4421DE6}" srcOrd="0" destOrd="0" presId="urn:microsoft.com/office/officeart/2005/8/layout/list1"/>
    <dgm:cxn modelId="{D82317FF-1362-4509-9B10-B957001AC791}" srcId="{C145F68B-C315-4D23-89D0-095FEC65CD54}" destId="{9B762C9F-FE2C-454A-8160-5F2C3BF6789E}" srcOrd="0" destOrd="0" parTransId="{CAE82142-6397-4498-BAE2-B73FD507BE05}" sibTransId="{D0F163C9-6A39-4C99-83A4-AAF17C98A35B}"/>
    <dgm:cxn modelId="{C42C8FF9-2742-4CA1-A45E-5DCA160AE243}" type="presParOf" srcId="{3A59850D-7927-4477-A622-A7C4213F71F3}" destId="{8FDDFBC2-A8D4-42EA-9EED-F615AE2BBB6E}" srcOrd="0" destOrd="0" presId="urn:microsoft.com/office/officeart/2005/8/layout/list1"/>
    <dgm:cxn modelId="{7002AACD-0E8E-4D72-AAF5-4BD51802898F}" type="presParOf" srcId="{8FDDFBC2-A8D4-42EA-9EED-F615AE2BBB6E}" destId="{5D660CC2-2365-461D-A819-262C3A23C7CC}" srcOrd="0" destOrd="0" presId="urn:microsoft.com/office/officeart/2005/8/layout/list1"/>
    <dgm:cxn modelId="{C6147603-A009-42FE-A17D-E68C92F83D47}" type="presParOf" srcId="{8FDDFBC2-A8D4-42EA-9EED-F615AE2BBB6E}" destId="{D21B0D49-03AD-4505-8564-1DF80D1767DD}" srcOrd="1" destOrd="0" presId="urn:microsoft.com/office/officeart/2005/8/layout/list1"/>
    <dgm:cxn modelId="{614EAE5A-AB0A-4D4A-BDDE-CA5CFFF830C8}" type="presParOf" srcId="{3A59850D-7927-4477-A622-A7C4213F71F3}" destId="{14579819-1E0E-415E-B34C-50F76D1FF2AD}" srcOrd="1" destOrd="0" presId="urn:microsoft.com/office/officeart/2005/8/layout/list1"/>
    <dgm:cxn modelId="{9B3538B9-DAD2-4910-B015-2896F249C06C}" type="presParOf" srcId="{3A59850D-7927-4477-A622-A7C4213F71F3}" destId="{01882106-38BC-4F97-8703-26583842FCA2}" srcOrd="2" destOrd="0" presId="urn:microsoft.com/office/officeart/2005/8/layout/list1"/>
    <dgm:cxn modelId="{8EC18196-77F9-4B40-A008-F2B9AA3BFC77}" type="presParOf" srcId="{3A59850D-7927-4477-A622-A7C4213F71F3}" destId="{1C876569-75DA-412E-B506-ECF3FFF3D959}" srcOrd="3" destOrd="0" presId="urn:microsoft.com/office/officeart/2005/8/layout/list1"/>
    <dgm:cxn modelId="{30D4F139-BDEE-43E0-B259-49CD91BAA5A4}" type="presParOf" srcId="{3A59850D-7927-4477-A622-A7C4213F71F3}" destId="{AD13B465-D2A2-45B8-BD44-35A3367B4563}" srcOrd="4" destOrd="0" presId="urn:microsoft.com/office/officeart/2005/8/layout/list1"/>
    <dgm:cxn modelId="{FCA0BD4F-58E0-4929-8F4A-7ABA9457A75B}" type="presParOf" srcId="{AD13B465-D2A2-45B8-BD44-35A3367B4563}" destId="{B2620FE1-992F-46E3-875F-E441D4421DE6}" srcOrd="0" destOrd="0" presId="urn:microsoft.com/office/officeart/2005/8/layout/list1"/>
    <dgm:cxn modelId="{DA442280-B048-4ADC-9771-CCF0009DB1CD}" type="presParOf" srcId="{AD13B465-D2A2-45B8-BD44-35A3367B4563}" destId="{A4823367-FA5F-497D-ADEF-1CAE8377DC9F}" srcOrd="1" destOrd="0" presId="urn:microsoft.com/office/officeart/2005/8/layout/list1"/>
    <dgm:cxn modelId="{3B16391D-C40C-447A-81D2-85F6A5309665}" type="presParOf" srcId="{3A59850D-7927-4477-A622-A7C4213F71F3}" destId="{7F49528C-D73A-4939-AEB1-F9CDDCC46D23}" srcOrd="5" destOrd="0" presId="urn:microsoft.com/office/officeart/2005/8/layout/list1"/>
    <dgm:cxn modelId="{39A435FF-BD53-4250-986E-E80A29EBFFD4}" type="presParOf" srcId="{3A59850D-7927-4477-A622-A7C4213F71F3}" destId="{29816908-775A-42AC-8951-CA3688FEA5B7}" srcOrd="6" destOrd="0" presId="urn:microsoft.com/office/officeart/2005/8/layout/list1"/>
    <dgm:cxn modelId="{FF46383C-54F7-4562-A2E9-16ADE996183F}" type="presParOf" srcId="{3A59850D-7927-4477-A622-A7C4213F71F3}" destId="{8BFE7D89-4AB7-46EA-89E3-B8FB728D9C59}" srcOrd="7" destOrd="0" presId="urn:microsoft.com/office/officeart/2005/8/layout/list1"/>
    <dgm:cxn modelId="{70CF590B-1FAA-44D2-95ED-1C527B480F5B}" type="presParOf" srcId="{3A59850D-7927-4477-A622-A7C4213F71F3}" destId="{407CB323-AFE4-4670-B350-E500EBAB9658}" srcOrd="8" destOrd="0" presId="urn:microsoft.com/office/officeart/2005/8/layout/list1"/>
    <dgm:cxn modelId="{B69C0CEF-CC5D-407E-B9DC-6FC2B2ECA138}" type="presParOf" srcId="{407CB323-AFE4-4670-B350-E500EBAB9658}" destId="{4CE8EBDE-A2CF-4233-B375-6D19F4794427}" srcOrd="0" destOrd="0" presId="urn:microsoft.com/office/officeart/2005/8/layout/list1"/>
    <dgm:cxn modelId="{E24CD2E0-252B-44CF-B9AA-85DEAF25BF25}" type="presParOf" srcId="{407CB323-AFE4-4670-B350-E500EBAB9658}" destId="{413BA9BB-CD2A-47AE-B47D-B2EF27E7A3D8}" srcOrd="1" destOrd="0" presId="urn:microsoft.com/office/officeart/2005/8/layout/list1"/>
    <dgm:cxn modelId="{2A85B8F7-E5EA-40A7-9B9F-6800E99E80F5}" type="presParOf" srcId="{3A59850D-7927-4477-A622-A7C4213F71F3}" destId="{2C9C101B-E655-4559-8446-9F4E445F5DF7}" srcOrd="9" destOrd="0" presId="urn:microsoft.com/office/officeart/2005/8/layout/list1"/>
    <dgm:cxn modelId="{839C8841-CC15-44CD-922F-9B2B2A434160}" type="presParOf" srcId="{3A59850D-7927-4477-A622-A7C4213F71F3}" destId="{2C2AC44A-7BD9-4561-8EF2-CC69E335F5A6}" srcOrd="10" destOrd="0" presId="urn:microsoft.com/office/officeart/2005/8/layout/list1"/>
    <dgm:cxn modelId="{018FE0D0-F540-4059-88DF-13CE1431E9C3}" type="presParOf" srcId="{3A59850D-7927-4477-A622-A7C4213F71F3}" destId="{D099CC8A-BA0D-4898-99B4-93EFF993F697}" srcOrd="11" destOrd="0" presId="urn:microsoft.com/office/officeart/2005/8/layout/list1"/>
    <dgm:cxn modelId="{730DE624-1A08-4EB0-B20D-FB39FA251BE2}" type="presParOf" srcId="{3A59850D-7927-4477-A622-A7C4213F71F3}" destId="{5876EC2D-5E44-424A-940E-5A836D585ABE}" srcOrd="12" destOrd="0" presId="urn:microsoft.com/office/officeart/2005/8/layout/list1"/>
    <dgm:cxn modelId="{7E85DCF2-C492-4605-888B-69C82049378C}" type="presParOf" srcId="{5876EC2D-5E44-424A-940E-5A836D585ABE}" destId="{2B0076A6-999C-4235-B7FB-BD18CE34C932}" srcOrd="0" destOrd="0" presId="urn:microsoft.com/office/officeart/2005/8/layout/list1"/>
    <dgm:cxn modelId="{D319C21A-FB1E-4023-91E9-F15D21C62754}" type="presParOf" srcId="{5876EC2D-5E44-424A-940E-5A836D585ABE}" destId="{4EF17955-852B-49B5-98BE-A8457F59321B}" srcOrd="1" destOrd="0" presId="urn:microsoft.com/office/officeart/2005/8/layout/list1"/>
    <dgm:cxn modelId="{80623BCF-84CE-4EAA-9984-59CA03890718}" type="presParOf" srcId="{3A59850D-7927-4477-A622-A7C4213F71F3}" destId="{E44354F9-EDEA-4B3B-A444-CB4F851996D1}" srcOrd="13" destOrd="0" presId="urn:microsoft.com/office/officeart/2005/8/layout/list1"/>
    <dgm:cxn modelId="{4DBAFD9F-7E60-4CCF-86D5-23201FED0D71}" type="presParOf" srcId="{3A59850D-7927-4477-A622-A7C4213F71F3}" destId="{86E8E26B-B674-4DAD-9FD1-F4B7C52081B3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0EC0E7-D492-4778-AD42-09E7261423B2}">
      <dsp:nvSpPr>
        <dsp:cNvPr id="0" name=""/>
        <dsp:cNvSpPr/>
      </dsp:nvSpPr>
      <dsp:spPr>
        <a:xfrm>
          <a:off x="5991" y="0"/>
          <a:ext cx="1959607" cy="14196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1800" b="1" kern="1200" dirty="0"/>
            <a:t>西元</a:t>
          </a:r>
          <a:r>
            <a:rPr lang="en-US" sz="1800" b="1" kern="1200" dirty="0"/>
            <a:t>1960</a:t>
          </a:r>
          <a:r>
            <a:rPr lang="zh-TW" sz="1800" b="1" kern="1200" dirty="0"/>
            <a:t>年，交通大學設立</a:t>
          </a:r>
          <a:r>
            <a:rPr lang="zh-TW" altLang="en-US" sz="1800" b="1" kern="1200" dirty="0"/>
            <a:t>臺灣</a:t>
          </a:r>
          <a:r>
            <a:rPr lang="zh-TW" sz="1800" b="1" kern="1200" dirty="0"/>
            <a:t>最早的計算機研究學程。</a:t>
          </a:r>
          <a:endParaRPr lang="zh-TW" sz="1800" kern="1200" dirty="0"/>
        </a:p>
      </dsp:txBody>
      <dsp:txXfrm>
        <a:off x="47571" y="41580"/>
        <a:ext cx="1876447" cy="1336475"/>
      </dsp:txXfrm>
    </dsp:sp>
    <dsp:sp modelId="{C6901B86-A96E-461B-AE1A-DDC0B6783B88}">
      <dsp:nvSpPr>
        <dsp:cNvPr id="0" name=""/>
        <dsp:cNvSpPr/>
      </dsp:nvSpPr>
      <dsp:spPr>
        <a:xfrm>
          <a:off x="2129990" y="505972"/>
          <a:ext cx="348509" cy="40768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700" kern="1200"/>
        </a:p>
      </dsp:txBody>
      <dsp:txXfrm>
        <a:off x="2129990" y="587510"/>
        <a:ext cx="243956" cy="244613"/>
      </dsp:txXfrm>
    </dsp:sp>
    <dsp:sp modelId="{3758DBC1-6C11-44C0-AB85-0F95675156F3}">
      <dsp:nvSpPr>
        <dsp:cNvPr id="0" name=""/>
        <dsp:cNvSpPr/>
      </dsp:nvSpPr>
      <dsp:spPr>
        <a:xfrm>
          <a:off x="2623164" y="0"/>
          <a:ext cx="2713291" cy="14196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1800" b="1" kern="1200" dirty="0"/>
            <a:t>西元</a:t>
          </a:r>
          <a:r>
            <a:rPr lang="en-US" sz="1800" b="1" kern="1200" dirty="0"/>
            <a:t>1969</a:t>
          </a:r>
          <a:r>
            <a:rPr lang="zh-TW" sz="1800" b="1" kern="1200" dirty="0"/>
            <a:t>年，淡江大學設立的電子計算機科學學系是</a:t>
          </a:r>
          <a:r>
            <a:rPr lang="zh-TW" altLang="en-US" sz="1800" b="1" kern="1200" dirty="0"/>
            <a:t>臺灣</a:t>
          </a:r>
          <a:r>
            <a:rPr lang="zh-TW" sz="1800" b="1" kern="1200" dirty="0"/>
            <a:t>最早的計算機科學系。</a:t>
          </a:r>
          <a:endParaRPr lang="zh-TW" sz="1800" kern="1200" dirty="0"/>
        </a:p>
      </dsp:txBody>
      <dsp:txXfrm>
        <a:off x="2664744" y="41580"/>
        <a:ext cx="2630131" cy="1336475"/>
      </dsp:txXfrm>
    </dsp:sp>
    <dsp:sp modelId="{F8CEFBE9-1FE3-44E2-9BCF-421701B8C49D}">
      <dsp:nvSpPr>
        <dsp:cNvPr id="0" name=""/>
        <dsp:cNvSpPr/>
      </dsp:nvSpPr>
      <dsp:spPr>
        <a:xfrm>
          <a:off x="5500847" y="505972"/>
          <a:ext cx="348509" cy="40768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TW" altLang="en-US" sz="1700" kern="1200"/>
        </a:p>
      </dsp:txBody>
      <dsp:txXfrm>
        <a:off x="5500847" y="587510"/>
        <a:ext cx="243956" cy="244613"/>
      </dsp:txXfrm>
    </dsp:sp>
    <dsp:sp modelId="{A24774EF-6DB9-4725-8CFC-3AE89CC59633}">
      <dsp:nvSpPr>
        <dsp:cNvPr id="0" name=""/>
        <dsp:cNvSpPr/>
      </dsp:nvSpPr>
      <dsp:spPr>
        <a:xfrm>
          <a:off x="5994020" y="0"/>
          <a:ext cx="2229587" cy="141963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sz="1800" b="1" kern="1200" dirty="0"/>
            <a:t>西元</a:t>
          </a:r>
          <a:r>
            <a:rPr lang="en-US" sz="1800" b="1" kern="1200" dirty="0"/>
            <a:t>1977</a:t>
          </a:r>
          <a:r>
            <a:rPr lang="zh-TW" sz="1800" b="1" kern="1200" dirty="0"/>
            <a:t>年，</a:t>
          </a:r>
          <a:r>
            <a:rPr lang="zh-TW" altLang="en-US" sz="1800" b="1" kern="1200" dirty="0"/>
            <a:t>臺灣</a:t>
          </a:r>
          <a:r>
            <a:rPr lang="zh-TW" sz="1800" b="1" kern="1200" dirty="0"/>
            <a:t>大學設立了最早命名為資訊工程系的科系。</a:t>
          </a:r>
          <a:endParaRPr lang="zh-TW" sz="1800" kern="1200" dirty="0"/>
        </a:p>
      </dsp:txBody>
      <dsp:txXfrm>
        <a:off x="6035600" y="41580"/>
        <a:ext cx="2146427" cy="13364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82106-38BC-4F97-8703-26583842FCA2}">
      <dsp:nvSpPr>
        <dsp:cNvPr id="0" name=""/>
        <dsp:cNvSpPr/>
      </dsp:nvSpPr>
      <dsp:spPr>
        <a:xfrm>
          <a:off x="0" y="282384"/>
          <a:ext cx="6018330" cy="4536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1B0D49-03AD-4505-8564-1DF80D1767DD}">
      <dsp:nvSpPr>
        <dsp:cNvPr id="0" name=""/>
        <dsp:cNvSpPr/>
      </dsp:nvSpPr>
      <dsp:spPr>
        <a:xfrm>
          <a:off x="300916" y="16704"/>
          <a:ext cx="4212831" cy="53136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9235" tIns="0" rIns="15923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1800" kern="1200" dirty="0"/>
            <a:t>人工智慧</a:t>
          </a:r>
        </a:p>
      </dsp:txBody>
      <dsp:txXfrm>
        <a:off x="326855" y="42643"/>
        <a:ext cx="4160953" cy="479482"/>
      </dsp:txXfrm>
    </dsp:sp>
    <dsp:sp modelId="{29816908-775A-42AC-8951-CA3688FEA5B7}">
      <dsp:nvSpPr>
        <dsp:cNvPr id="0" name=""/>
        <dsp:cNvSpPr/>
      </dsp:nvSpPr>
      <dsp:spPr>
        <a:xfrm>
          <a:off x="0" y="1098864"/>
          <a:ext cx="6018330" cy="4536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823367-FA5F-497D-ADEF-1CAE8377DC9F}">
      <dsp:nvSpPr>
        <dsp:cNvPr id="0" name=""/>
        <dsp:cNvSpPr/>
      </dsp:nvSpPr>
      <dsp:spPr>
        <a:xfrm>
          <a:off x="300916" y="833184"/>
          <a:ext cx="4212831" cy="53136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9235" tIns="0" rIns="15923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1800" kern="1200" dirty="0"/>
            <a:t>硬體架構與量子突破</a:t>
          </a:r>
        </a:p>
      </dsp:txBody>
      <dsp:txXfrm>
        <a:off x="326855" y="859123"/>
        <a:ext cx="4160953" cy="479482"/>
      </dsp:txXfrm>
    </dsp:sp>
    <dsp:sp modelId="{2C2AC44A-7BD9-4561-8EF2-CC69E335F5A6}">
      <dsp:nvSpPr>
        <dsp:cNvPr id="0" name=""/>
        <dsp:cNvSpPr/>
      </dsp:nvSpPr>
      <dsp:spPr>
        <a:xfrm>
          <a:off x="0" y="1915345"/>
          <a:ext cx="6018330" cy="4536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3BA9BB-CD2A-47AE-B47D-B2EF27E7A3D8}">
      <dsp:nvSpPr>
        <dsp:cNvPr id="0" name=""/>
        <dsp:cNvSpPr/>
      </dsp:nvSpPr>
      <dsp:spPr>
        <a:xfrm>
          <a:off x="300916" y="1649665"/>
          <a:ext cx="4212831" cy="53136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9235" tIns="0" rIns="15923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1800" kern="1200" dirty="0"/>
            <a:t>網路連結與全球化應用</a:t>
          </a:r>
        </a:p>
      </dsp:txBody>
      <dsp:txXfrm>
        <a:off x="326855" y="1675604"/>
        <a:ext cx="4160953" cy="479482"/>
      </dsp:txXfrm>
    </dsp:sp>
    <dsp:sp modelId="{86E8E26B-B674-4DAD-9FD1-F4B7C52081B3}">
      <dsp:nvSpPr>
        <dsp:cNvPr id="0" name=""/>
        <dsp:cNvSpPr/>
      </dsp:nvSpPr>
      <dsp:spPr>
        <a:xfrm>
          <a:off x="0" y="2731825"/>
          <a:ext cx="6018330" cy="453600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F17955-852B-49B5-98BE-A8457F59321B}">
      <dsp:nvSpPr>
        <dsp:cNvPr id="0" name=""/>
        <dsp:cNvSpPr/>
      </dsp:nvSpPr>
      <dsp:spPr>
        <a:xfrm>
          <a:off x="300916" y="2466145"/>
          <a:ext cx="4212831" cy="53136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9235" tIns="0" rIns="159235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TW" altLang="en-US" sz="1800" kern="1200"/>
            <a:t>數位倫理與法規監管</a:t>
          </a:r>
          <a:endParaRPr lang="zh-TW" altLang="en-US" sz="1800" kern="1200" dirty="0"/>
        </a:p>
      </dsp:txBody>
      <dsp:txXfrm>
        <a:off x="326855" y="2492084"/>
        <a:ext cx="4160953" cy="4794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EB12AB-0481-4543-9448-EE76391C4D02}" type="datetimeFigureOut">
              <a:rPr lang="zh-TW" altLang="en-US" smtClean="0"/>
              <a:t>2026/8/13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E245B1-C9B5-4CB2-8096-E56E4F101A5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8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-26078" y="377109"/>
            <a:ext cx="9170078" cy="4764079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8" name="圓角矩形圖說文字 277"/>
          <p:cNvSpPr/>
          <p:nvPr userDrawn="1"/>
        </p:nvSpPr>
        <p:spPr>
          <a:xfrm>
            <a:off x="272957" y="715294"/>
            <a:ext cx="2737212" cy="742533"/>
          </a:xfrm>
          <a:prstGeom prst="wedgeRoundRectCallout">
            <a:avLst>
              <a:gd name="adj1" fmla="val 34844"/>
              <a:gd name="adj2" fmla="val 81478"/>
              <a:gd name="adj3" fmla="val 16667"/>
            </a:avLst>
          </a:prstGeom>
          <a:solidFill>
            <a:srgbClr val="F2F2F2">
              <a:alpha val="20000"/>
            </a:srgbClr>
          </a:solidFill>
          <a:ln w="28575">
            <a:solidFill>
              <a:srgbClr val="000000">
                <a:alpha val="20000"/>
              </a:srgb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ctrTitle" hasCustomPrompt="1"/>
          </p:nvPr>
        </p:nvSpPr>
        <p:spPr>
          <a:xfrm>
            <a:off x="3157954" y="782801"/>
            <a:ext cx="5476465" cy="725061"/>
          </a:xfrm>
        </p:spPr>
        <p:txBody>
          <a:bodyPr>
            <a:noAutofit/>
          </a:bodyPr>
          <a:lstStyle>
            <a:lvl1pPr algn="l">
              <a:defRPr sz="4800" b="1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zh-TW" altLang="en-US" dirty="0"/>
              <a:t>計算機簡介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4622800" y="1795463"/>
            <a:ext cx="4194429" cy="2801541"/>
          </a:xfrm>
        </p:spPr>
        <p:txBody>
          <a:bodyPr/>
          <a:lstStyle>
            <a:lvl1pPr marL="0" indent="0" algn="l">
              <a:buNone/>
              <a:defRPr b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9" name="矩形 28"/>
          <p:cNvSpPr/>
          <p:nvPr userDrawn="1"/>
        </p:nvSpPr>
        <p:spPr>
          <a:xfrm>
            <a:off x="11650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/>
          <p:cNvSpPr/>
          <p:nvPr userDrawn="1"/>
        </p:nvSpPr>
        <p:spPr>
          <a:xfrm>
            <a:off x="389694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/>
          <p:cNvSpPr/>
          <p:nvPr userDrawn="1"/>
        </p:nvSpPr>
        <p:spPr>
          <a:xfrm>
            <a:off x="258071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/>
          <p:cNvSpPr/>
          <p:nvPr userDrawn="1"/>
        </p:nvSpPr>
        <p:spPr>
          <a:xfrm>
            <a:off x="542094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/>
          <p:cNvSpPr/>
          <p:nvPr userDrawn="1"/>
        </p:nvSpPr>
        <p:spPr>
          <a:xfrm>
            <a:off x="694494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/>
          <p:cNvSpPr/>
          <p:nvPr userDrawn="1"/>
        </p:nvSpPr>
        <p:spPr>
          <a:xfrm>
            <a:off x="89969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4" name="矩形 53"/>
          <p:cNvSpPr/>
          <p:nvPr userDrawn="1"/>
        </p:nvSpPr>
        <p:spPr>
          <a:xfrm>
            <a:off x="1172885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5" name="矩形 54"/>
          <p:cNvSpPr/>
          <p:nvPr userDrawn="1"/>
        </p:nvSpPr>
        <p:spPr>
          <a:xfrm>
            <a:off x="1041262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6" name="矩形 55"/>
          <p:cNvSpPr/>
          <p:nvPr userDrawn="1"/>
        </p:nvSpPr>
        <p:spPr>
          <a:xfrm>
            <a:off x="1325285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7" name="矩形 56"/>
          <p:cNvSpPr/>
          <p:nvPr userDrawn="1"/>
        </p:nvSpPr>
        <p:spPr>
          <a:xfrm>
            <a:off x="1477685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8" name="矩形 57"/>
          <p:cNvSpPr/>
          <p:nvPr userDrawn="1"/>
        </p:nvSpPr>
        <p:spPr>
          <a:xfrm>
            <a:off x="169875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矩形 58"/>
          <p:cNvSpPr/>
          <p:nvPr userDrawn="1"/>
        </p:nvSpPr>
        <p:spPr>
          <a:xfrm>
            <a:off x="197194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0" name="矩形 59"/>
          <p:cNvSpPr/>
          <p:nvPr userDrawn="1"/>
        </p:nvSpPr>
        <p:spPr>
          <a:xfrm>
            <a:off x="184032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1" name="矩形 60"/>
          <p:cNvSpPr/>
          <p:nvPr userDrawn="1"/>
        </p:nvSpPr>
        <p:spPr>
          <a:xfrm>
            <a:off x="212434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2" name="矩形 61"/>
          <p:cNvSpPr/>
          <p:nvPr userDrawn="1"/>
        </p:nvSpPr>
        <p:spPr>
          <a:xfrm>
            <a:off x="227674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3" name="矩形 62"/>
          <p:cNvSpPr/>
          <p:nvPr userDrawn="1"/>
        </p:nvSpPr>
        <p:spPr>
          <a:xfrm>
            <a:off x="2512459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矩形 63"/>
          <p:cNvSpPr/>
          <p:nvPr userDrawn="1"/>
        </p:nvSpPr>
        <p:spPr>
          <a:xfrm>
            <a:off x="278564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5" name="矩形 64"/>
          <p:cNvSpPr/>
          <p:nvPr userDrawn="1"/>
        </p:nvSpPr>
        <p:spPr>
          <a:xfrm>
            <a:off x="2654024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6" name="矩形 65"/>
          <p:cNvSpPr/>
          <p:nvPr userDrawn="1"/>
        </p:nvSpPr>
        <p:spPr>
          <a:xfrm>
            <a:off x="293804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7" name="矩形 66"/>
          <p:cNvSpPr/>
          <p:nvPr userDrawn="1"/>
        </p:nvSpPr>
        <p:spPr>
          <a:xfrm>
            <a:off x="309044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8" name="矩形 67"/>
          <p:cNvSpPr/>
          <p:nvPr userDrawn="1"/>
        </p:nvSpPr>
        <p:spPr>
          <a:xfrm>
            <a:off x="3318938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9" name="矩形 68"/>
          <p:cNvSpPr/>
          <p:nvPr userDrawn="1"/>
        </p:nvSpPr>
        <p:spPr>
          <a:xfrm>
            <a:off x="359212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0" name="矩形 69"/>
          <p:cNvSpPr/>
          <p:nvPr userDrawn="1"/>
        </p:nvSpPr>
        <p:spPr>
          <a:xfrm>
            <a:off x="346050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矩形 70"/>
          <p:cNvSpPr/>
          <p:nvPr userDrawn="1"/>
        </p:nvSpPr>
        <p:spPr>
          <a:xfrm>
            <a:off x="374452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2" name="矩形 71"/>
          <p:cNvSpPr/>
          <p:nvPr userDrawn="1"/>
        </p:nvSpPr>
        <p:spPr>
          <a:xfrm>
            <a:off x="389692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3" name="矩形 72"/>
          <p:cNvSpPr/>
          <p:nvPr userDrawn="1"/>
        </p:nvSpPr>
        <p:spPr>
          <a:xfrm>
            <a:off x="4129028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4" name="矩形 73"/>
          <p:cNvSpPr/>
          <p:nvPr userDrawn="1"/>
        </p:nvSpPr>
        <p:spPr>
          <a:xfrm>
            <a:off x="440221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5" name="矩形 74"/>
          <p:cNvSpPr/>
          <p:nvPr userDrawn="1"/>
        </p:nvSpPr>
        <p:spPr>
          <a:xfrm>
            <a:off x="427059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6" name="矩形 75"/>
          <p:cNvSpPr/>
          <p:nvPr userDrawn="1"/>
        </p:nvSpPr>
        <p:spPr>
          <a:xfrm>
            <a:off x="455461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7" name="矩形 76"/>
          <p:cNvSpPr/>
          <p:nvPr userDrawn="1"/>
        </p:nvSpPr>
        <p:spPr>
          <a:xfrm>
            <a:off x="470701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8" name="矩形 77"/>
          <p:cNvSpPr/>
          <p:nvPr userDrawn="1"/>
        </p:nvSpPr>
        <p:spPr>
          <a:xfrm>
            <a:off x="4939117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9" name="矩形 78"/>
          <p:cNvSpPr/>
          <p:nvPr userDrawn="1"/>
        </p:nvSpPr>
        <p:spPr>
          <a:xfrm>
            <a:off x="521230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0" name="矩形 79"/>
          <p:cNvSpPr/>
          <p:nvPr userDrawn="1"/>
        </p:nvSpPr>
        <p:spPr>
          <a:xfrm>
            <a:off x="508068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1" name="矩形 80"/>
          <p:cNvSpPr/>
          <p:nvPr userDrawn="1"/>
        </p:nvSpPr>
        <p:spPr>
          <a:xfrm>
            <a:off x="5364705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2" name="矩形 81"/>
          <p:cNvSpPr/>
          <p:nvPr userDrawn="1"/>
        </p:nvSpPr>
        <p:spPr>
          <a:xfrm>
            <a:off x="5517106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3" name="矩形 82"/>
          <p:cNvSpPr/>
          <p:nvPr userDrawn="1"/>
        </p:nvSpPr>
        <p:spPr>
          <a:xfrm>
            <a:off x="5749208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4" name="矩形 83"/>
          <p:cNvSpPr/>
          <p:nvPr userDrawn="1"/>
        </p:nvSpPr>
        <p:spPr>
          <a:xfrm>
            <a:off x="602239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5" name="矩形 84"/>
          <p:cNvSpPr/>
          <p:nvPr userDrawn="1"/>
        </p:nvSpPr>
        <p:spPr>
          <a:xfrm>
            <a:off x="5890773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6" name="矩形 85"/>
          <p:cNvSpPr/>
          <p:nvPr userDrawn="1"/>
        </p:nvSpPr>
        <p:spPr>
          <a:xfrm>
            <a:off x="617479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7" name="矩形 86"/>
          <p:cNvSpPr/>
          <p:nvPr userDrawn="1"/>
        </p:nvSpPr>
        <p:spPr>
          <a:xfrm>
            <a:off x="632719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8" name="矩形 87"/>
          <p:cNvSpPr/>
          <p:nvPr userDrawn="1"/>
        </p:nvSpPr>
        <p:spPr>
          <a:xfrm>
            <a:off x="6563897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矩形 88"/>
          <p:cNvSpPr/>
          <p:nvPr userDrawn="1"/>
        </p:nvSpPr>
        <p:spPr>
          <a:xfrm>
            <a:off x="6837085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0" name="矩形 89"/>
          <p:cNvSpPr/>
          <p:nvPr userDrawn="1"/>
        </p:nvSpPr>
        <p:spPr>
          <a:xfrm>
            <a:off x="6705462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1" name="矩形 90"/>
          <p:cNvSpPr/>
          <p:nvPr userDrawn="1"/>
        </p:nvSpPr>
        <p:spPr>
          <a:xfrm>
            <a:off x="6989485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2" name="矩形 91"/>
          <p:cNvSpPr/>
          <p:nvPr userDrawn="1"/>
        </p:nvSpPr>
        <p:spPr>
          <a:xfrm>
            <a:off x="7141885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3" name="矩形 92"/>
          <p:cNvSpPr/>
          <p:nvPr userDrawn="1"/>
        </p:nvSpPr>
        <p:spPr>
          <a:xfrm>
            <a:off x="7369388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4" name="矩形 93"/>
          <p:cNvSpPr/>
          <p:nvPr userDrawn="1"/>
        </p:nvSpPr>
        <p:spPr>
          <a:xfrm>
            <a:off x="764257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5" name="矩形 94"/>
          <p:cNvSpPr/>
          <p:nvPr userDrawn="1"/>
        </p:nvSpPr>
        <p:spPr>
          <a:xfrm>
            <a:off x="7510952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6" name="矩形 95"/>
          <p:cNvSpPr/>
          <p:nvPr userDrawn="1"/>
        </p:nvSpPr>
        <p:spPr>
          <a:xfrm>
            <a:off x="779497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7" name="矩形 96"/>
          <p:cNvSpPr/>
          <p:nvPr userDrawn="1"/>
        </p:nvSpPr>
        <p:spPr>
          <a:xfrm>
            <a:off x="7947376" y="-789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8" name="矩形 97"/>
          <p:cNvSpPr/>
          <p:nvPr userDrawn="1"/>
        </p:nvSpPr>
        <p:spPr>
          <a:xfrm>
            <a:off x="8171735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9" name="矩形 98"/>
          <p:cNvSpPr/>
          <p:nvPr userDrawn="1"/>
        </p:nvSpPr>
        <p:spPr>
          <a:xfrm>
            <a:off x="844492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0" name="矩形 99"/>
          <p:cNvSpPr/>
          <p:nvPr userDrawn="1"/>
        </p:nvSpPr>
        <p:spPr>
          <a:xfrm>
            <a:off x="8313300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1" name="矩形 100"/>
          <p:cNvSpPr/>
          <p:nvPr userDrawn="1"/>
        </p:nvSpPr>
        <p:spPr>
          <a:xfrm>
            <a:off x="859732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2" name="矩形 101"/>
          <p:cNvSpPr/>
          <p:nvPr userDrawn="1"/>
        </p:nvSpPr>
        <p:spPr>
          <a:xfrm>
            <a:off x="8749723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3" name="矩形 102"/>
          <p:cNvSpPr/>
          <p:nvPr userDrawn="1"/>
        </p:nvSpPr>
        <p:spPr>
          <a:xfrm>
            <a:off x="8969630" y="0"/>
            <a:ext cx="67507" cy="4725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5" name="圖片版面配置區 274"/>
          <p:cNvSpPr>
            <a:spLocks noGrp="1"/>
          </p:cNvSpPr>
          <p:nvPr>
            <p:ph type="pic" sz="quarter" idx="13"/>
          </p:nvPr>
        </p:nvSpPr>
        <p:spPr>
          <a:xfrm>
            <a:off x="0" y="1795463"/>
            <a:ext cx="4622800" cy="2801541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276" name="文字方塊 275"/>
          <p:cNvSpPr txBox="1"/>
          <p:nvPr userDrawn="1"/>
        </p:nvSpPr>
        <p:spPr>
          <a:xfrm>
            <a:off x="264913" y="613305"/>
            <a:ext cx="2768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+mn-cs"/>
              </a:rPr>
              <a:t>CHAPTER</a:t>
            </a:r>
            <a:r>
              <a:rPr lang="zh-TW" altLang="en-US" sz="3600" b="1" dirty="0">
                <a:solidFill>
                  <a:schemeClr val="bg1"/>
                </a:solidFill>
                <a:latin typeface="Calibri" panose="020F0502020204030204" pitchFamily="34" charset="0"/>
              </a:rPr>
              <a:t> </a:t>
            </a:r>
            <a:r>
              <a:rPr lang="en-US" altLang="zh-TW" sz="5400" b="1" dirty="0">
                <a:solidFill>
                  <a:schemeClr val="accent3">
                    <a:lumMod val="50000"/>
                  </a:schemeClr>
                </a:solidFill>
                <a:latin typeface="Calibri" panose="020F0502020204030204" pitchFamily="34" charset="0"/>
              </a:rPr>
              <a:t>01</a:t>
            </a:r>
            <a:endParaRPr lang="zh-TW" altLang="en-US" sz="5400" b="1" dirty="0">
              <a:solidFill>
                <a:schemeClr val="accent3">
                  <a:lumMod val="50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8819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634604"/>
            <a:ext cx="8229600" cy="857250"/>
          </a:xfrm>
        </p:spPr>
        <p:txBody>
          <a:bodyPr>
            <a:normAutofit/>
          </a:bodyPr>
          <a:lstStyle>
            <a:lvl1pPr>
              <a:defRPr sz="3200" b="1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2934224"/>
          </a:xfrm>
        </p:spPr>
        <p:txBody>
          <a:bodyPr>
            <a:normAutofit/>
          </a:bodyPr>
          <a:lstStyle>
            <a:lvl1pPr marL="457200" indent="-457200" algn="l" defTabSz="914400" rtl="0" eaLnBrk="1" latinLnBrk="0" hangingPunct="1">
              <a:spcBef>
                <a:spcPts val="800"/>
              </a:spcBef>
              <a:buFontTx/>
              <a:buBlip>
                <a:blip r:embed="rId2"/>
              </a:buBlip>
              <a:defRPr lang="zh-TW" altLang="en-US" sz="28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1pPr>
            <a:lvl2pPr marL="914400" indent="-457200" algn="l" defTabSz="914400" rtl="0" eaLnBrk="1" latinLnBrk="0" hangingPunct="1">
              <a:spcBef>
                <a:spcPts val="800"/>
              </a:spcBef>
              <a:buClr>
                <a:schemeClr val="tx2"/>
              </a:buClr>
              <a:buFont typeface="Wingdings 3" panose="05040102010807070707" pitchFamily="18" charset="2"/>
              <a:buChar char=""/>
              <a:defRPr lang="zh-TW" altLang="en-US" sz="24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2pPr>
            <a:lvl3pPr marL="1257300" indent="-342900" algn="l" defTabSz="914400" rtl="0" eaLnBrk="1" latinLnBrk="0" hangingPunct="1">
              <a:spcBef>
                <a:spcPts val="800"/>
              </a:spcBef>
              <a:buClr>
                <a:schemeClr val="accent1"/>
              </a:buClr>
              <a:buFont typeface="微軟正黑體" panose="020B0604030504040204" pitchFamily="34" charset="-120"/>
              <a:buChar char="■"/>
              <a:defRPr lang="zh-TW" altLang="en-US" sz="20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3pPr>
            <a:lvl4pPr marL="1371600" indent="0" algn="l" defTabSz="914400" rtl="0" eaLnBrk="1" latinLnBrk="0" hangingPunct="1">
              <a:spcBef>
                <a:spcPts val="800"/>
              </a:spcBef>
              <a:buFont typeface="Wingdings" pitchFamily="2" charset="2"/>
              <a:buNone/>
              <a:defRPr lang="zh-TW" altLang="en-US" sz="20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4pPr>
            <a:lvl5pPr marL="1828800" indent="0" algn="l" defTabSz="914400" rtl="0" eaLnBrk="1" latinLnBrk="0" hangingPunct="1">
              <a:spcBef>
                <a:spcPts val="800"/>
              </a:spcBef>
              <a:buFont typeface="Wingdings" pitchFamily="2" charset="2"/>
              <a:buNone/>
              <a:defRPr lang="zh-TW" altLang="en-US" sz="1800" b="1" kern="12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13" name="群組 12"/>
          <p:cNvGrpSpPr/>
          <p:nvPr userDrawn="1"/>
        </p:nvGrpSpPr>
        <p:grpSpPr>
          <a:xfrm>
            <a:off x="0" y="0"/>
            <a:ext cx="9198260" cy="591240"/>
            <a:chOff x="0" y="0"/>
            <a:chExt cx="9198260" cy="591240"/>
          </a:xfrm>
        </p:grpSpPr>
        <p:grpSp>
          <p:nvGrpSpPr>
            <p:cNvPr id="14" name="群組 13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grpSp>
            <p:nvGrpSpPr>
              <p:cNvPr id="16" name="群組 15"/>
              <p:cNvGrpSpPr/>
              <p:nvPr userDrawn="1"/>
            </p:nvGrpSpPr>
            <p:grpSpPr>
              <a:xfrm>
                <a:off x="0" y="0"/>
                <a:ext cx="9144000" cy="546525"/>
                <a:chOff x="0" y="0"/>
                <a:chExt cx="9144000" cy="546525"/>
              </a:xfrm>
            </p:grpSpPr>
            <p:sp>
              <p:nvSpPr>
                <p:cNvPr id="18" name="矩形 17"/>
                <p:cNvSpPr/>
                <p:nvPr userDrawn="1"/>
              </p:nvSpPr>
              <p:spPr>
                <a:xfrm>
                  <a:off x="0" y="0"/>
                  <a:ext cx="9144000" cy="546525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9" name="矩形 18"/>
                <p:cNvSpPr/>
                <p:nvPr userDrawn="1"/>
              </p:nvSpPr>
              <p:spPr>
                <a:xfrm>
                  <a:off x="906574" y="134763"/>
                  <a:ext cx="366542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800" b="0" i="0" u="none" strike="noStrike" kern="1200" baseline="0" dirty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rPr>
                    <a:t>An Introduction to Computer Science</a:t>
                  </a:r>
                  <a:endParaRPr lang="zh-TW" alt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  <p:sp>
              <p:nvSpPr>
                <p:cNvPr id="20" name="矩形 19"/>
                <p:cNvSpPr/>
                <p:nvPr userDrawn="1"/>
              </p:nvSpPr>
              <p:spPr>
                <a:xfrm>
                  <a:off x="7677346" y="388486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1" name="矩形 20"/>
                <p:cNvSpPr/>
                <p:nvPr userDrawn="1"/>
              </p:nvSpPr>
              <p:spPr>
                <a:xfrm>
                  <a:off x="7778146" y="287225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pic>
              <p:nvPicPr>
                <p:cNvPr id="22" name="Picture 4" descr="D:\製作中\02再版書\0558909\章首頁\computer.png"/>
                <p:cNvPicPr>
                  <a:picLocks noChangeAspect="1" noChangeArrowheads="1"/>
                </p:cNvPicPr>
                <p:nvPr userDrawn="1"/>
              </p:nvPicPr>
              <p:blipFill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bright="-20000" contrast="-2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8211" y="80775"/>
                  <a:ext cx="323350" cy="4207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17" name="矩形 16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/>
            <p:cNvSpPr txBox="1"/>
            <p:nvPr userDrawn="1"/>
          </p:nvSpPr>
          <p:spPr>
            <a:xfrm>
              <a:off x="8073135" y="6465"/>
              <a:ext cx="1125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01</a:t>
              </a:r>
              <a:endParaRPr lang="zh-TW" altLang="en-US" sz="2000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1305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884063"/>
            <a:ext cx="8229600" cy="3710560"/>
          </a:xfrm>
        </p:spPr>
        <p:txBody>
          <a:bodyPr/>
          <a:lstStyle>
            <a:lvl1pPr marL="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13" name="群組 12"/>
          <p:cNvGrpSpPr/>
          <p:nvPr userDrawn="1"/>
        </p:nvGrpSpPr>
        <p:grpSpPr>
          <a:xfrm>
            <a:off x="0" y="0"/>
            <a:ext cx="9198260" cy="591240"/>
            <a:chOff x="0" y="0"/>
            <a:chExt cx="9198260" cy="591240"/>
          </a:xfrm>
        </p:grpSpPr>
        <p:grpSp>
          <p:nvGrpSpPr>
            <p:cNvPr id="14" name="群組 13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grpSp>
            <p:nvGrpSpPr>
              <p:cNvPr id="16" name="群組 15"/>
              <p:cNvGrpSpPr/>
              <p:nvPr userDrawn="1"/>
            </p:nvGrpSpPr>
            <p:grpSpPr>
              <a:xfrm>
                <a:off x="0" y="0"/>
                <a:ext cx="9144000" cy="546525"/>
                <a:chOff x="0" y="0"/>
                <a:chExt cx="9144000" cy="546525"/>
              </a:xfrm>
            </p:grpSpPr>
            <p:sp>
              <p:nvSpPr>
                <p:cNvPr id="18" name="矩形 17"/>
                <p:cNvSpPr/>
                <p:nvPr userDrawn="1"/>
              </p:nvSpPr>
              <p:spPr>
                <a:xfrm>
                  <a:off x="0" y="0"/>
                  <a:ext cx="9144000" cy="546525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19" name="矩形 18"/>
                <p:cNvSpPr/>
                <p:nvPr userDrawn="1"/>
              </p:nvSpPr>
              <p:spPr>
                <a:xfrm>
                  <a:off x="906574" y="134763"/>
                  <a:ext cx="366542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800" b="0" i="0" u="none" strike="noStrike" kern="1200" baseline="0" dirty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rPr>
                    <a:t>An Introduction to Computer Science</a:t>
                  </a:r>
                  <a:endParaRPr lang="zh-TW" alt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  <p:sp>
              <p:nvSpPr>
                <p:cNvPr id="20" name="矩形 19"/>
                <p:cNvSpPr/>
                <p:nvPr userDrawn="1"/>
              </p:nvSpPr>
              <p:spPr>
                <a:xfrm>
                  <a:off x="7677346" y="388486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1" name="矩形 20"/>
                <p:cNvSpPr/>
                <p:nvPr userDrawn="1"/>
              </p:nvSpPr>
              <p:spPr>
                <a:xfrm>
                  <a:off x="7778146" y="287225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pic>
              <p:nvPicPr>
                <p:cNvPr id="22" name="Picture 4" descr="D:\製作中\02再版書\0558909\章首頁\computer.png"/>
                <p:cNvPicPr>
                  <a:picLocks noChangeAspect="1" noChangeArrowheads="1"/>
                </p:cNvPicPr>
                <p:nvPr userDrawn="1"/>
              </p:nvPicPr>
              <p:blipFill>
                <a:blip r:embed="rId2" cstate="screen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bright="-20000" contrast="-2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8211" y="80775"/>
                  <a:ext cx="323350" cy="4207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17" name="矩形 16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5" name="文字方塊 14"/>
            <p:cNvSpPr txBox="1"/>
            <p:nvPr userDrawn="1"/>
          </p:nvSpPr>
          <p:spPr>
            <a:xfrm>
              <a:off x="8073135" y="6465"/>
              <a:ext cx="1125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01</a:t>
              </a:r>
              <a:endParaRPr lang="zh-TW" altLang="en-US" sz="2000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75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內容版面配置區 2"/>
          <p:cNvSpPr>
            <a:spLocks noGrp="1"/>
          </p:cNvSpPr>
          <p:nvPr>
            <p:ph idx="1"/>
          </p:nvPr>
        </p:nvSpPr>
        <p:spPr>
          <a:xfrm>
            <a:off x="457200" y="850309"/>
            <a:ext cx="8229600" cy="3744314"/>
          </a:xfrm>
        </p:spPr>
        <p:txBody>
          <a:bodyPr/>
          <a:lstStyle>
            <a:lvl1pPr marL="457200" indent="-457200">
              <a:buFontTx/>
              <a:buBlip>
                <a:blip r:embed="rId2"/>
              </a:buBlip>
              <a:defRPr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buNone/>
              <a:defRPr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14" name="群組 13"/>
          <p:cNvGrpSpPr/>
          <p:nvPr userDrawn="1"/>
        </p:nvGrpSpPr>
        <p:grpSpPr>
          <a:xfrm>
            <a:off x="0" y="0"/>
            <a:ext cx="9198260" cy="591240"/>
            <a:chOff x="0" y="0"/>
            <a:chExt cx="9198260" cy="591240"/>
          </a:xfrm>
        </p:grpSpPr>
        <p:grpSp>
          <p:nvGrpSpPr>
            <p:cNvPr id="15" name="群組 14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grpSp>
            <p:nvGrpSpPr>
              <p:cNvPr id="17" name="群組 16"/>
              <p:cNvGrpSpPr/>
              <p:nvPr userDrawn="1"/>
            </p:nvGrpSpPr>
            <p:grpSpPr>
              <a:xfrm>
                <a:off x="0" y="0"/>
                <a:ext cx="9144000" cy="546525"/>
                <a:chOff x="0" y="0"/>
                <a:chExt cx="9144000" cy="546525"/>
              </a:xfrm>
            </p:grpSpPr>
            <p:sp>
              <p:nvSpPr>
                <p:cNvPr id="19" name="矩形 18"/>
                <p:cNvSpPr/>
                <p:nvPr userDrawn="1"/>
              </p:nvSpPr>
              <p:spPr>
                <a:xfrm>
                  <a:off x="0" y="0"/>
                  <a:ext cx="9144000" cy="546525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0" name="矩形 19"/>
                <p:cNvSpPr/>
                <p:nvPr userDrawn="1"/>
              </p:nvSpPr>
              <p:spPr>
                <a:xfrm>
                  <a:off x="906574" y="134763"/>
                  <a:ext cx="366542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800" b="0" i="0" u="none" strike="noStrike" kern="1200" baseline="0" dirty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rPr>
                    <a:t>An Introduction to Computer Science</a:t>
                  </a:r>
                  <a:endParaRPr lang="zh-TW" alt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  <p:sp>
              <p:nvSpPr>
                <p:cNvPr id="21" name="矩形 20"/>
                <p:cNvSpPr/>
                <p:nvPr userDrawn="1"/>
              </p:nvSpPr>
              <p:spPr>
                <a:xfrm>
                  <a:off x="7677346" y="388486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2" name="矩形 21"/>
                <p:cNvSpPr/>
                <p:nvPr userDrawn="1"/>
              </p:nvSpPr>
              <p:spPr>
                <a:xfrm>
                  <a:off x="7778146" y="287225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pic>
              <p:nvPicPr>
                <p:cNvPr id="23" name="Picture 4" descr="D:\製作中\02再版書\0558909\章首頁\computer.png"/>
                <p:cNvPicPr>
                  <a:picLocks noChangeAspect="1" noChangeArrowheads="1"/>
                </p:cNvPicPr>
                <p:nvPr userDrawn="1"/>
              </p:nvPicPr>
              <p:blipFill>
                <a:blip r:embed="rId3" cstate="screen"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bright="-20000" contrast="-2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8211" y="80775"/>
                  <a:ext cx="323350" cy="4207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18" name="矩形 17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6" name="文字方塊 15"/>
            <p:cNvSpPr txBox="1"/>
            <p:nvPr userDrawn="1"/>
          </p:nvSpPr>
          <p:spPr>
            <a:xfrm>
              <a:off x="8073135" y="6465"/>
              <a:ext cx="1125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01</a:t>
              </a:r>
              <a:endParaRPr lang="zh-TW" altLang="en-US" sz="2000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7201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3250" y="628578"/>
            <a:ext cx="9144000" cy="3915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圓角矩形 5"/>
          <p:cNvSpPr/>
          <p:nvPr userDrawn="1"/>
        </p:nvSpPr>
        <p:spPr>
          <a:xfrm>
            <a:off x="269866" y="1255354"/>
            <a:ext cx="8604269" cy="310534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1" name="Picture 15"/>
          <p:cNvPicPr>
            <a:picLocks noChangeAspect="1" noChangeArrowheads="1"/>
          </p:cNvPicPr>
          <p:nvPr userDrawn="1"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43616" y="722472"/>
            <a:ext cx="2456765" cy="6341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2" name="Picture 13"/>
          <p:cNvPicPr>
            <a:picLocks noChangeAspect="1" noChangeArrowheads="1"/>
          </p:cNvPicPr>
          <p:nvPr userDrawn="1"/>
        </p:nvPicPr>
        <p:blipFill>
          <a:blip r:embed="rId3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487232">
            <a:off x="7757944" y="802232"/>
            <a:ext cx="1038226" cy="800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5" name="群組 4"/>
          <p:cNvGrpSpPr/>
          <p:nvPr userDrawn="1"/>
        </p:nvGrpSpPr>
        <p:grpSpPr>
          <a:xfrm>
            <a:off x="683018" y="771550"/>
            <a:ext cx="1781968" cy="414607"/>
            <a:chOff x="683018" y="1178750"/>
            <a:chExt cx="1781968" cy="414607"/>
          </a:xfrm>
        </p:grpSpPr>
        <p:sp>
          <p:nvSpPr>
            <p:cNvPr id="24" name="橢圓 23"/>
            <p:cNvSpPr/>
            <p:nvPr userDrawn="1"/>
          </p:nvSpPr>
          <p:spPr>
            <a:xfrm>
              <a:off x="683018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5" name="橢圓 24"/>
            <p:cNvSpPr/>
            <p:nvPr userDrawn="1"/>
          </p:nvSpPr>
          <p:spPr>
            <a:xfrm>
              <a:off x="1151620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6" name="橢圓 25"/>
            <p:cNvSpPr/>
            <p:nvPr userDrawn="1"/>
          </p:nvSpPr>
          <p:spPr>
            <a:xfrm>
              <a:off x="1601670" y="1178750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27" name="橢圓 26"/>
            <p:cNvSpPr/>
            <p:nvPr userDrawn="1"/>
          </p:nvSpPr>
          <p:spPr>
            <a:xfrm>
              <a:off x="2051720" y="1180091"/>
              <a:ext cx="413266" cy="413266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sp>
        <p:nvSpPr>
          <p:cNvPr id="23" name="文字方塊 22"/>
          <p:cNvSpPr txBox="1"/>
          <p:nvPr userDrawn="1"/>
        </p:nvSpPr>
        <p:spPr>
          <a:xfrm>
            <a:off x="701570" y="789784"/>
            <a:ext cx="2221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rPr>
              <a:t>IT</a:t>
            </a:r>
            <a:r>
              <a:rPr lang="zh-TW" altLang="en-US" b="1" dirty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rPr>
              <a:t>　專    家    </a:t>
            </a:r>
            <a:endParaRPr lang="en-US" altLang="zh-TW" b="1" dirty="0">
              <a:solidFill>
                <a:srgbClr val="C00000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grpSp>
        <p:nvGrpSpPr>
          <p:cNvPr id="34" name="群組 33"/>
          <p:cNvGrpSpPr/>
          <p:nvPr userDrawn="1"/>
        </p:nvGrpSpPr>
        <p:grpSpPr>
          <a:xfrm>
            <a:off x="0" y="0"/>
            <a:ext cx="9198260" cy="591240"/>
            <a:chOff x="0" y="0"/>
            <a:chExt cx="9198260" cy="591240"/>
          </a:xfrm>
        </p:grpSpPr>
        <p:grpSp>
          <p:nvGrpSpPr>
            <p:cNvPr id="35" name="群組 34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grpSp>
            <p:nvGrpSpPr>
              <p:cNvPr id="37" name="群組 36"/>
              <p:cNvGrpSpPr/>
              <p:nvPr userDrawn="1"/>
            </p:nvGrpSpPr>
            <p:grpSpPr>
              <a:xfrm>
                <a:off x="0" y="0"/>
                <a:ext cx="9144000" cy="546525"/>
                <a:chOff x="0" y="0"/>
                <a:chExt cx="9144000" cy="546525"/>
              </a:xfrm>
            </p:grpSpPr>
            <p:sp>
              <p:nvSpPr>
                <p:cNvPr id="39" name="矩形 38"/>
                <p:cNvSpPr/>
                <p:nvPr userDrawn="1"/>
              </p:nvSpPr>
              <p:spPr>
                <a:xfrm>
                  <a:off x="0" y="0"/>
                  <a:ext cx="9144000" cy="546525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40" name="矩形 39"/>
                <p:cNvSpPr/>
                <p:nvPr userDrawn="1"/>
              </p:nvSpPr>
              <p:spPr>
                <a:xfrm>
                  <a:off x="906574" y="134763"/>
                  <a:ext cx="366542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800" b="0" i="0" u="none" strike="noStrike" kern="1200" baseline="0" dirty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rPr>
                    <a:t>An Introduction to Computer Science</a:t>
                  </a:r>
                  <a:endParaRPr lang="zh-TW" alt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  <p:sp>
              <p:nvSpPr>
                <p:cNvPr id="41" name="矩形 40"/>
                <p:cNvSpPr/>
                <p:nvPr userDrawn="1"/>
              </p:nvSpPr>
              <p:spPr>
                <a:xfrm>
                  <a:off x="7677346" y="388486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42" name="矩形 41"/>
                <p:cNvSpPr/>
                <p:nvPr userDrawn="1"/>
              </p:nvSpPr>
              <p:spPr>
                <a:xfrm>
                  <a:off x="7778146" y="287225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pic>
              <p:nvPicPr>
                <p:cNvPr id="43" name="Picture 4" descr="D:\製作中\02再版書\0558909\章首頁\computer.png"/>
                <p:cNvPicPr>
                  <a:picLocks noChangeAspect="1" noChangeArrowheads="1"/>
                </p:cNvPicPr>
                <p:nvPr userDrawn="1"/>
              </p:nvPicPr>
              <p:blipFill>
                <a:blip r:embed="rId4" cstate="screen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rightnessContrast bright="-20000" contrast="-2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8211" y="80775"/>
                  <a:ext cx="323350" cy="4207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38" name="矩形 37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36" name="文字方塊 35"/>
            <p:cNvSpPr txBox="1"/>
            <p:nvPr userDrawn="1"/>
          </p:nvSpPr>
          <p:spPr>
            <a:xfrm>
              <a:off x="8073135" y="6465"/>
              <a:ext cx="1125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01</a:t>
              </a:r>
              <a:endParaRPr lang="zh-TW" altLang="en-US" sz="2000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36492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3250" y="628578"/>
            <a:ext cx="9144000" cy="391543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圓角矩形 5"/>
          <p:cNvSpPr/>
          <p:nvPr userDrawn="1"/>
        </p:nvSpPr>
        <p:spPr>
          <a:xfrm>
            <a:off x="269866" y="1255354"/>
            <a:ext cx="8604269" cy="310534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7" name="Picture 14"/>
          <p:cNvPicPr>
            <a:picLocks noChangeAspect="1" noChangeArrowheads="1"/>
          </p:cNvPicPr>
          <p:nvPr userDrawn="1"/>
        </p:nvPicPr>
        <p:blipFill>
          <a:blip r:embed="rId2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096036" y="851302"/>
            <a:ext cx="616424" cy="76555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8" name="Picture 3" descr="D:\製作中\02再版書\0558909\資訊小耳朵 圖.png"/>
          <p:cNvPicPr>
            <a:picLocks noChangeAspect="1" noChangeArrowheads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64973" y="636535"/>
            <a:ext cx="3836948" cy="1080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文字方塊 12"/>
          <p:cNvSpPr txBox="1"/>
          <p:nvPr userDrawn="1"/>
        </p:nvSpPr>
        <p:spPr>
          <a:xfrm>
            <a:off x="607663" y="1254990"/>
            <a:ext cx="2794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</a:rPr>
              <a:t>資    訊    專    欄</a:t>
            </a:r>
            <a:endParaRPr lang="en-US" altLang="zh-TW" sz="2400" b="1" dirty="0">
              <a:solidFill>
                <a:srgbClr val="C00000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15" name="內容版面配置區 2"/>
          <p:cNvSpPr>
            <a:spLocks noGrp="1"/>
          </p:cNvSpPr>
          <p:nvPr>
            <p:ph idx="1"/>
          </p:nvPr>
        </p:nvSpPr>
        <p:spPr>
          <a:xfrm>
            <a:off x="406096" y="1692374"/>
            <a:ext cx="8229600" cy="2668325"/>
          </a:xfrm>
        </p:spPr>
        <p:txBody>
          <a:bodyPr/>
          <a:lstStyle>
            <a:lvl1pPr marL="0" indent="0">
              <a:buNone/>
              <a:defRPr sz="2400" b="1">
                <a:latin typeface="微軟正黑體" pitchFamily="34" charset="-120"/>
                <a:ea typeface="微軟正黑體" pitchFamily="34" charset="-120"/>
              </a:defRPr>
            </a:lvl1pPr>
            <a:lvl2pPr marL="457200" indent="0">
              <a:buNone/>
              <a:defRPr b="1">
                <a:latin typeface="微軟正黑體" pitchFamily="34" charset="-120"/>
                <a:ea typeface="微軟正黑體" pitchFamily="34" charset="-120"/>
              </a:defRPr>
            </a:lvl2pPr>
            <a:lvl3pPr marL="914400" indent="0">
              <a:buNone/>
              <a:defRPr b="1">
                <a:latin typeface="微軟正黑體" pitchFamily="34" charset="-120"/>
                <a:ea typeface="微軟正黑體" pitchFamily="34" charset="-120"/>
              </a:defRPr>
            </a:lvl3pPr>
            <a:lvl4pPr marL="1371600" indent="0">
              <a:buNone/>
              <a:defRPr b="1">
                <a:latin typeface="微軟正黑體" pitchFamily="34" charset="-120"/>
                <a:ea typeface="微軟正黑體" pitchFamily="34" charset="-120"/>
              </a:defRPr>
            </a:lvl4pPr>
            <a:lvl5pPr marL="1828800" indent="0">
              <a:buNone/>
              <a:defRPr b="1">
                <a:latin typeface="微軟正黑體" pitchFamily="34" charset="-120"/>
                <a:ea typeface="微軟正黑體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grpSp>
        <p:nvGrpSpPr>
          <p:cNvPr id="16" name="群組 15"/>
          <p:cNvGrpSpPr/>
          <p:nvPr userDrawn="1"/>
        </p:nvGrpSpPr>
        <p:grpSpPr>
          <a:xfrm>
            <a:off x="0" y="0"/>
            <a:ext cx="9198260" cy="591240"/>
            <a:chOff x="0" y="0"/>
            <a:chExt cx="9198260" cy="591240"/>
          </a:xfrm>
        </p:grpSpPr>
        <p:grpSp>
          <p:nvGrpSpPr>
            <p:cNvPr id="17" name="群組 16"/>
            <p:cNvGrpSpPr/>
            <p:nvPr userDrawn="1"/>
          </p:nvGrpSpPr>
          <p:grpSpPr>
            <a:xfrm>
              <a:off x="0" y="0"/>
              <a:ext cx="9144001" cy="546525"/>
              <a:chOff x="0" y="0"/>
              <a:chExt cx="9144001" cy="546525"/>
            </a:xfrm>
          </p:grpSpPr>
          <p:grpSp>
            <p:nvGrpSpPr>
              <p:cNvPr id="20" name="群組 19"/>
              <p:cNvGrpSpPr/>
              <p:nvPr userDrawn="1"/>
            </p:nvGrpSpPr>
            <p:grpSpPr>
              <a:xfrm>
                <a:off x="0" y="0"/>
                <a:ext cx="9144000" cy="546525"/>
                <a:chOff x="0" y="0"/>
                <a:chExt cx="9144000" cy="546525"/>
              </a:xfrm>
            </p:grpSpPr>
            <p:sp>
              <p:nvSpPr>
                <p:cNvPr id="22" name="矩形 21"/>
                <p:cNvSpPr/>
                <p:nvPr userDrawn="1"/>
              </p:nvSpPr>
              <p:spPr>
                <a:xfrm>
                  <a:off x="0" y="0"/>
                  <a:ext cx="9144000" cy="546525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3" name="矩形 22"/>
                <p:cNvSpPr/>
                <p:nvPr userDrawn="1"/>
              </p:nvSpPr>
              <p:spPr>
                <a:xfrm>
                  <a:off x="906574" y="134763"/>
                  <a:ext cx="3665427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zh-TW" sz="1800" b="0" i="0" u="none" strike="noStrike" kern="1200" baseline="0" dirty="0">
                      <a:solidFill>
                        <a:schemeClr val="accent3">
                          <a:lumMod val="60000"/>
                          <a:lumOff val="40000"/>
                        </a:schemeClr>
                      </a:solidFill>
                      <a:latin typeface="+mn-lt"/>
                      <a:ea typeface="+mn-ea"/>
                      <a:cs typeface="+mn-cs"/>
                    </a:rPr>
                    <a:t>An Introduction to Computer Science</a:t>
                  </a:r>
                  <a:endParaRPr lang="zh-TW" altLang="en-US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  <p:sp>
              <p:nvSpPr>
                <p:cNvPr id="24" name="矩形 23"/>
                <p:cNvSpPr/>
                <p:nvPr userDrawn="1"/>
              </p:nvSpPr>
              <p:spPr>
                <a:xfrm>
                  <a:off x="7677346" y="388486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sp>
              <p:nvSpPr>
                <p:cNvPr id="25" name="矩形 24"/>
                <p:cNvSpPr/>
                <p:nvPr userDrawn="1"/>
              </p:nvSpPr>
              <p:spPr>
                <a:xfrm>
                  <a:off x="7778146" y="287225"/>
                  <a:ext cx="100800" cy="101261"/>
                </a:xfrm>
                <a:prstGeom prst="rect">
                  <a:avLst/>
                </a:prstGeom>
                <a:solidFill>
                  <a:schemeClr val="accent3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TW" altLang="en-US"/>
                </a:p>
              </p:txBody>
            </p:sp>
            <p:pic>
              <p:nvPicPr>
                <p:cNvPr id="26" name="Picture 4" descr="D:\製作中\02再版書\0558909\章首頁\computer.png"/>
                <p:cNvPicPr>
                  <a:picLocks noChangeAspect="1" noChangeArrowheads="1"/>
                </p:cNvPicPr>
                <p:nvPr userDrawn="1"/>
              </p:nvPicPr>
              <p:blipFill>
                <a:blip r:embed="rId4" cstate="screen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rightnessContrast bright="-20000" contrast="-2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288211" y="80775"/>
                  <a:ext cx="323350" cy="42074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sp>
            <p:nvSpPr>
              <p:cNvPr id="21" name="矩形 20"/>
              <p:cNvSpPr/>
              <p:nvPr userDrawn="1"/>
            </p:nvSpPr>
            <p:spPr>
              <a:xfrm>
                <a:off x="8127396" y="0"/>
                <a:ext cx="1016605" cy="546525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</p:grpSp>
        <p:sp>
          <p:nvSpPr>
            <p:cNvPr id="18" name="文字方塊 17"/>
            <p:cNvSpPr txBox="1"/>
            <p:nvPr userDrawn="1"/>
          </p:nvSpPr>
          <p:spPr>
            <a:xfrm>
              <a:off x="8073135" y="6465"/>
              <a:ext cx="112512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12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Chapter</a:t>
              </a:r>
            </a:p>
            <a:p>
              <a:pPr algn="ctr"/>
              <a:r>
                <a:rPr lang="en-US" altLang="zh-TW" sz="2000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01</a:t>
              </a:r>
              <a:endParaRPr lang="zh-TW" altLang="en-US" sz="2000" dirty="0">
                <a:solidFill>
                  <a:schemeClr val="accent3">
                    <a:lumMod val="20000"/>
                    <a:lumOff val="8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1923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18750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14432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2790587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252424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91000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9997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2208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DAD8F38-8795-4DFA-8634-4D84CBE67FB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3518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975288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橢圓 16"/>
          <p:cNvSpPr/>
          <p:nvPr userDrawn="1"/>
        </p:nvSpPr>
        <p:spPr>
          <a:xfrm>
            <a:off x="161510" y="4617951"/>
            <a:ext cx="450050" cy="45005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8" name="橢圓 17"/>
          <p:cNvSpPr/>
          <p:nvPr userDrawn="1"/>
        </p:nvSpPr>
        <p:spPr>
          <a:xfrm>
            <a:off x="296525" y="4617951"/>
            <a:ext cx="450050" cy="450050"/>
          </a:xfrm>
          <a:prstGeom prst="ellipse">
            <a:avLst/>
          </a:prstGeom>
          <a:solidFill>
            <a:srgbClr val="9BBB59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9" name="Picture 2" descr="D:\桌面\logo.png"/>
          <p:cNvPicPr>
            <a:picLocks noChangeAspect="1" noChangeArrowheads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6595" y="4777015"/>
            <a:ext cx="610257" cy="1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動作按鈕: 上一項 19">
            <a:hlinkClick r:id="" action="ppaction://hlinkshowjump?jump=previousslide" highlightClick="1"/>
          </p:cNvPr>
          <p:cNvSpPr/>
          <p:nvPr userDrawn="1"/>
        </p:nvSpPr>
        <p:spPr>
          <a:xfrm>
            <a:off x="7452320" y="4694752"/>
            <a:ext cx="360000" cy="360000"/>
          </a:xfrm>
          <a:prstGeom prst="actionButtonBackPrevious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>
            <a:reflection blurRad="6350" stA="50000" endA="300" endPos="90000" dir="5400000" sy="-100000" algn="bl" rotWithShape="0"/>
          </a:effectLst>
          <a:scene3d>
            <a:camera prst="obliqueBottomRight"/>
            <a:lightRig rig="threePt" dir="t"/>
          </a:scene3d>
          <a:sp3d>
            <a:bevelT w="25400" h="25400"/>
            <a:bevelB w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動作按鈕: 首頁 20">
            <a:hlinkClick r:id="" action="ppaction://hlinkshowjump?jump=firstslide" highlightClick="1"/>
          </p:cNvPr>
          <p:cNvSpPr/>
          <p:nvPr userDrawn="1"/>
        </p:nvSpPr>
        <p:spPr>
          <a:xfrm>
            <a:off x="7992380" y="4694752"/>
            <a:ext cx="360000" cy="360000"/>
          </a:xfrm>
          <a:prstGeom prst="actionButtonHome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>
            <a:reflection blurRad="6350" stA="50000" endA="300" endPos="90000" dir="5400000" sy="-100000" algn="bl" rotWithShape="0"/>
          </a:effectLst>
          <a:scene3d>
            <a:camera prst="obliqueBottomRight"/>
            <a:lightRig rig="threePt" dir="t"/>
          </a:scene3d>
          <a:sp3d>
            <a:bevelT w="25400" h="25400"/>
            <a:bevelB w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2" name="動作按鈕: 下一項 21">
            <a:hlinkClick r:id="" action="ppaction://hlinkshowjump?jump=nextslide" highlightClick="1"/>
          </p:cNvPr>
          <p:cNvSpPr/>
          <p:nvPr userDrawn="1"/>
        </p:nvSpPr>
        <p:spPr>
          <a:xfrm>
            <a:off x="8492930" y="4693863"/>
            <a:ext cx="360000" cy="360000"/>
          </a:xfrm>
          <a:prstGeom prst="actionButtonForwardNex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  <a:effectLst>
            <a:reflection blurRad="6350" stA="50000" endA="300" endPos="90000" dir="5400000" sy="-100000" algn="bl" rotWithShape="0"/>
          </a:effectLst>
          <a:scene3d>
            <a:camera prst="obliqueBottomRight"/>
            <a:lightRig rig="threePt" dir="t"/>
          </a:scene3d>
          <a:sp3d>
            <a:bevelT w="25400" h="25400"/>
            <a:bevelB w="12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3" name="文字方塊 22"/>
          <p:cNvSpPr txBox="1"/>
          <p:nvPr userDrawn="1"/>
        </p:nvSpPr>
        <p:spPr>
          <a:xfrm>
            <a:off x="251521" y="4694752"/>
            <a:ext cx="585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8B089E88-AE65-4CA2-BA11-4B6DC14C3389}" type="slidenum">
              <a:rPr lang="zh-TW" altLang="en-US" smtClean="0">
                <a:solidFill>
                  <a:schemeClr val="bg1"/>
                </a:solidFill>
              </a:rPr>
              <a:t>‹#›</a:t>
            </a:fld>
            <a:endParaRPr lang="zh-TW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03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120000"/>
        </a:lnSpc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defTabSz="914400" rtl="0" eaLnBrk="1" latinLnBrk="0" hangingPunct="1">
        <a:lnSpc>
          <a:spcPct val="120000"/>
        </a:lnSpc>
        <a:spcBef>
          <a:spcPct val="20000"/>
        </a:spcBef>
        <a:buFont typeface="Arial" pitchFamily="34" charset="0"/>
        <a:buChar char="–"/>
        <a:defRPr sz="24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slide" Target="slide4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直線接點 28"/>
          <p:cNvCxnSpPr/>
          <p:nvPr/>
        </p:nvCxnSpPr>
        <p:spPr>
          <a:xfrm>
            <a:off x="3157953" y="1507862"/>
            <a:ext cx="5779532" cy="0"/>
          </a:xfrm>
          <a:prstGeom prst="line">
            <a:avLst/>
          </a:prstGeom>
          <a:ln w="76200">
            <a:solidFill>
              <a:schemeClr val="bg2">
                <a:lumMod val="25000"/>
              </a:schemeClr>
            </a:solidFill>
            <a:prstDash val="solid"/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D:\製作中\02再版書\0558909\章首頁\note.png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42030" y="1491630"/>
            <a:ext cx="3790950" cy="333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標題 6"/>
          <p:cNvSpPr>
            <a:spLocks noGrp="1"/>
          </p:cNvSpPr>
          <p:nvPr>
            <p:ph type="ctrTitle"/>
          </p:nvPr>
        </p:nvSpPr>
        <p:spPr>
          <a:xfrm>
            <a:off x="3157954" y="782801"/>
            <a:ext cx="5476465" cy="704549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123122" y="1797111"/>
            <a:ext cx="3228769" cy="16312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1-1 </a:t>
            </a:r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計算機科學大事記</a:t>
            </a:r>
            <a:endParaRPr lang="en-US" altLang="zh-TW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  <a:p>
            <a:pPr>
              <a:lnSpc>
                <a:spcPct val="200000"/>
              </a:lnSpc>
            </a:pP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1-2 </a:t>
            </a:r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當代計算機的通用架構</a:t>
            </a:r>
            <a:endParaRPr lang="zh-TW" altLang="en-US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  <a:p>
            <a:endParaRPr lang="en-US" altLang="zh-TW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5587" y="2076695"/>
            <a:ext cx="2850330" cy="1980000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4"/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401888">
            <a:off x="761948" y="2289298"/>
            <a:ext cx="2850330" cy="1980000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077218">
            <a:off x="913071" y="2557491"/>
            <a:ext cx="2850330" cy="1980000"/>
          </a:xfrm>
          <a:prstGeom prst="rect">
            <a:avLst/>
          </a:prstGeom>
          <a:noFill/>
          <a:ln w="57150"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43748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2F3567-F34F-B1BE-DB24-E26D76FE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1-1 </a:t>
            </a:r>
            <a:r>
              <a:rPr lang="zh-TW" altLang="en-US" dirty="0"/>
              <a:t>計算機科學大事記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B11B2D-ED4C-406C-4E03-351E4EA45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0399"/>
            <a:ext cx="5149915" cy="2934224"/>
          </a:xfrm>
        </p:spPr>
        <p:txBody>
          <a:bodyPr>
            <a:normAutofit fontScale="85000" lnSpcReduction="10000"/>
          </a:bodyPr>
          <a:lstStyle/>
          <a:p>
            <a:r>
              <a:rPr lang="zh-TW" altLang="en-US" dirty="0">
                <a:solidFill>
                  <a:srgbClr val="C00000"/>
                </a:solidFill>
              </a:rPr>
              <a:t>計算機</a:t>
            </a:r>
            <a:r>
              <a:rPr lang="zh-TW" altLang="en-US" dirty="0"/>
              <a:t>（</a:t>
            </a:r>
            <a:r>
              <a:rPr lang="en-US" altLang="zh-TW" dirty="0"/>
              <a:t>computer</a:t>
            </a:r>
            <a:r>
              <a:rPr lang="zh-TW" altLang="en-US" dirty="0"/>
              <a:t>）乃協助人們計算的工具。</a:t>
            </a:r>
            <a:endParaRPr lang="en-US" altLang="zh-TW" dirty="0"/>
          </a:p>
          <a:p>
            <a:r>
              <a:rPr lang="zh-TW" altLang="en-US" dirty="0"/>
              <a:t>從西元前</a:t>
            </a:r>
            <a:r>
              <a:rPr lang="en-US" altLang="zh-TW" dirty="0"/>
              <a:t>3000</a:t>
            </a:r>
            <a:r>
              <a:rPr lang="zh-TW" altLang="en-US" dirty="0"/>
              <a:t>年算盤的發明，到現今以半導體晶片為核心的數位處理器，每一個時代的突破都奠定了當代運算科技的基礎。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17865" y="1851670"/>
            <a:ext cx="2638854" cy="20702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6017865" y="4042977"/>
            <a:ext cx="64633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zh-TW" altLang="en-US" dirty="0">
                <a:latin typeface="微軟正黑體" pitchFamily="34" charset="-120"/>
                <a:ea typeface="微軟正黑體" pitchFamily="34" charset="-120"/>
              </a:rPr>
              <a:t>算盤</a:t>
            </a:r>
          </a:p>
        </p:txBody>
      </p:sp>
    </p:spTree>
    <p:extLst>
      <p:ext uri="{BB962C8B-B14F-4D97-AF65-F5344CB8AC3E}">
        <p14:creationId xmlns:p14="http://schemas.microsoft.com/office/powerpoint/2010/main" val="81408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計算工具的誕生與理論奠基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西元前</a:t>
            </a:r>
            <a:r>
              <a:rPr lang="en-US" altLang="zh-TW" dirty="0"/>
              <a:t>3000</a:t>
            </a:r>
            <a:r>
              <a:rPr lang="zh-TW" altLang="en-US" dirty="0"/>
              <a:t>年</a:t>
            </a:r>
          </a:p>
          <a:p>
            <a:pPr lvl="1"/>
            <a:r>
              <a:rPr lang="zh-TW" altLang="en-US" dirty="0"/>
              <a:t>算盤已出現在亞洲。</a:t>
            </a:r>
            <a:endParaRPr lang="en-US" altLang="zh-TW" dirty="0"/>
          </a:p>
          <a:p>
            <a:r>
              <a:rPr lang="zh-TW" altLang="en-US" dirty="0"/>
              <a:t>西元</a:t>
            </a:r>
            <a:r>
              <a:rPr lang="en-US" altLang="zh-TW" dirty="0"/>
              <a:t>1642</a:t>
            </a:r>
            <a:r>
              <a:rPr lang="zh-TW" altLang="en-US" dirty="0"/>
              <a:t>年</a:t>
            </a:r>
          </a:p>
          <a:p>
            <a:pPr lvl="1"/>
            <a:r>
              <a:rPr lang="zh-TW" altLang="en-US" dirty="0"/>
              <a:t>法國數學家</a:t>
            </a:r>
            <a:r>
              <a:rPr lang="en-US" altLang="zh-TW" dirty="0"/>
              <a:t>Blaise Pascal</a:t>
            </a:r>
            <a:r>
              <a:rPr lang="zh-TW" altLang="en-US" dirty="0"/>
              <a:t>發明了機械式加法器</a:t>
            </a:r>
            <a:r>
              <a:rPr lang="en-US" altLang="zh-TW" dirty="0" err="1">
                <a:solidFill>
                  <a:srgbClr val="C00000"/>
                </a:solidFill>
              </a:rPr>
              <a:t>Pascaline</a:t>
            </a:r>
            <a:r>
              <a:rPr lang="zh-TW" altLang="en-US" dirty="0"/>
              <a:t>。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62506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計算工具的誕生與理論奠基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457200" y="1660399"/>
            <a:ext cx="5779985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西元</a:t>
            </a:r>
            <a:r>
              <a:rPr lang="en-US" altLang="zh-TW" dirty="0"/>
              <a:t>1801</a:t>
            </a:r>
            <a:r>
              <a:rPr lang="zh-TW" altLang="en-US" dirty="0"/>
              <a:t>年</a:t>
            </a:r>
          </a:p>
          <a:p>
            <a:pPr lvl="1"/>
            <a:r>
              <a:rPr lang="en-US" altLang="zh-TW" dirty="0"/>
              <a:t>Joseph-Marie Jacquard</a:t>
            </a:r>
            <a:r>
              <a:rPr lang="zh-TW" altLang="en-US" dirty="0"/>
              <a:t>發明緹花織布機</a:t>
            </a:r>
            <a:r>
              <a:rPr lang="en-US" altLang="zh-TW" dirty="0">
                <a:solidFill>
                  <a:srgbClr val="C00000"/>
                </a:solidFill>
              </a:rPr>
              <a:t>Jacquard loom</a:t>
            </a:r>
            <a:r>
              <a:rPr lang="zh-TW" altLang="en-US" dirty="0"/>
              <a:t>，率先使用打孔卡片（</a:t>
            </a:r>
            <a:r>
              <a:rPr lang="en-US" altLang="zh-TW" dirty="0"/>
              <a:t>punched card</a:t>
            </a:r>
            <a:r>
              <a:rPr lang="zh-TW" altLang="en-US" dirty="0"/>
              <a:t>）來控制編織流程，引入了</a:t>
            </a:r>
            <a:r>
              <a:rPr lang="zh-TW" altLang="en-US" dirty="0">
                <a:solidFill>
                  <a:schemeClr val="accent6">
                    <a:lumMod val="75000"/>
                  </a:schemeClr>
                </a:solidFill>
              </a:rPr>
              <a:t>程式設計</a:t>
            </a:r>
            <a:r>
              <a:rPr lang="zh-TW" altLang="en-US" dirty="0"/>
              <a:t>和</a:t>
            </a:r>
            <a:r>
              <a:rPr lang="zh-TW" altLang="en-US" dirty="0">
                <a:solidFill>
                  <a:schemeClr val="accent6">
                    <a:lumMod val="75000"/>
                  </a:schemeClr>
                </a:solidFill>
              </a:rPr>
              <a:t>儲存資料</a:t>
            </a:r>
            <a:r>
              <a:rPr lang="zh-TW" altLang="en-US" dirty="0"/>
              <a:t>的概念。。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926C6877-7F9D-454D-B6FE-67C934890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735" y="1266605"/>
            <a:ext cx="2167065" cy="28800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15D69F56-7B4D-1FEF-5293-78922F588F16}"/>
              </a:ext>
            </a:extLst>
          </p:cNvPr>
          <p:cNvSpPr/>
          <p:nvPr/>
        </p:nvSpPr>
        <p:spPr>
          <a:xfrm>
            <a:off x="6587604" y="4227643"/>
            <a:ext cx="203132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zh-TW" altLang="en-US" dirty="0">
                <a:latin typeface="微軟正黑體" pitchFamily="34" charset="-120"/>
                <a:ea typeface="微軟正黑體" pitchFamily="34" charset="-120"/>
              </a:rPr>
              <a:t>雅卡爾緹花織布機</a:t>
            </a:r>
          </a:p>
        </p:txBody>
      </p:sp>
    </p:spTree>
    <p:extLst>
      <p:ext uri="{BB962C8B-B14F-4D97-AF65-F5344CB8AC3E}">
        <p14:creationId xmlns:p14="http://schemas.microsoft.com/office/powerpoint/2010/main" val="676353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/>
          <a:p>
            <a:r>
              <a:rPr lang="zh-TW" altLang="en-US"/>
              <a:t>打孔卡片後來被赫爾曼．何樂禮（</a:t>
            </a:r>
            <a:r>
              <a:rPr lang="en-US" altLang="zh-TW"/>
              <a:t>Herman Hollerith</a:t>
            </a:r>
            <a:r>
              <a:rPr lang="zh-TW" altLang="en-US"/>
              <a:t>）應用於人口統計分析，並促成了</a:t>
            </a:r>
            <a:r>
              <a:rPr lang="en-US" altLang="zh-TW"/>
              <a:t>IBM</a:t>
            </a:r>
            <a:r>
              <a:rPr lang="zh-TW" altLang="en-US"/>
              <a:t>公司的成立。</a:t>
            </a:r>
          </a:p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A7726E10-A662-FA69-9FAD-41CC03727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983654"/>
            <a:ext cx="4038600" cy="1827466"/>
          </a:xfrm>
          <a:prstGeom prst="rect">
            <a:avLst/>
          </a:prstGeom>
          <a:noFill/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083063E-1188-1549-9FE0-B4C0B7A2784A}"/>
              </a:ext>
            </a:extLst>
          </p:cNvPr>
          <p:cNvSpPr/>
          <p:nvPr/>
        </p:nvSpPr>
        <p:spPr>
          <a:xfrm>
            <a:off x="4797025" y="3966905"/>
            <a:ext cx="3889775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/>
              <a:t>80 </a:t>
            </a:r>
            <a:r>
              <a:rPr lang="zh-TW" altLang="en-US" dirty="0"/>
              <a:t>列、矩形孔的標準</a:t>
            </a:r>
            <a:r>
              <a:rPr lang="en-US" altLang="zh-TW" dirty="0"/>
              <a:t>IBM </a:t>
            </a:r>
            <a:r>
              <a:rPr lang="zh-TW" altLang="en-US" dirty="0"/>
              <a:t>打孔卡片（圖片來源：</a:t>
            </a:r>
            <a:r>
              <a:rPr lang="en-US" altLang="zh-TW" dirty="0"/>
              <a:t>Wikimedia</a:t>
            </a:r>
            <a:r>
              <a:rPr lang="zh-TW" altLang="en-US" dirty="0"/>
              <a:t>） </a:t>
            </a:r>
            <a:endParaRPr lang="zh-TW" altLang="en-US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9" name="標題 3">
            <a:extLst>
              <a:ext uri="{FF2B5EF4-FFF2-40B4-BE49-F238E27FC236}">
                <a16:creationId xmlns:a16="http://schemas.microsoft.com/office/drawing/2014/main" id="{1BF6BDB5-2DEF-C99B-D2B4-5676F69B5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6375"/>
            <a:ext cx="8229600" cy="857250"/>
          </a:xfrm>
        </p:spPr>
        <p:txBody>
          <a:bodyPr/>
          <a:lstStyle/>
          <a:p>
            <a:r>
              <a:rPr lang="zh-TW" altLang="en-US" b="1" dirty="0">
                <a:solidFill>
                  <a:srgbClr val="C00000"/>
                </a:solidFill>
              </a:rPr>
              <a:t>計算工具的誕生與理論奠基</a:t>
            </a:r>
          </a:p>
        </p:txBody>
      </p:sp>
    </p:spTree>
    <p:extLst>
      <p:ext uri="{BB962C8B-B14F-4D97-AF65-F5344CB8AC3E}">
        <p14:creationId xmlns:p14="http://schemas.microsoft.com/office/powerpoint/2010/main" val="3064930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457200" y="1660399"/>
            <a:ext cx="3664750" cy="2934224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在理論層面，英國數學家亞蘭．圖靈（</a:t>
            </a:r>
            <a:r>
              <a:rPr lang="en-US" altLang="zh-TW" dirty="0"/>
              <a:t>Alan Turing</a:t>
            </a:r>
            <a:r>
              <a:rPr lang="zh-TW" altLang="en-US" dirty="0"/>
              <a:t>）於西元</a:t>
            </a:r>
            <a:r>
              <a:rPr lang="en-US" altLang="zh-TW" dirty="0"/>
              <a:t>1937 </a:t>
            </a:r>
            <a:r>
              <a:rPr lang="zh-TW" altLang="en-US" dirty="0"/>
              <a:t>年提出圖靈機（</a:t>
            </a:r>
            <a:r>
              <a:rPr lang="en-US" altLang="zh-TW" dirty="0"/>
              <a:t>Turing Machine</a:t>
            </a:r>
            <a:r>
              <a:rPr lang="zh-TW" altLang="en-US" dirty="0"/>
              <a:t>）的概念。</a:t>
            </a:r>
            <a:endParaRPr lang="en-US" altLang="zh-TW" dirty="0"/>
          </a:p>
        </p:txBody>
      </p:sp>
      <p:sp>
        <p:nvSpPr>
          <p:cNvPr id="7" name="標題 3">
            <a:extLst>
              <a:ext uri="{FF2B5EF4-FFF2-40B4-BE49-F238E27FC236}">
                <a16:creationId xmlns:a16="http://schemas.microsoft.com/office/drawing/2014/main" id="{439683D2-7CF1-BA5A-A3F9-C7633C3A3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b="1" dirty="0">
                <a:solidFill>
                  <a:srgbClr val="C00000"/>
                </a:solidFill>
              </a:rPr>
              <a:t>計算工具的誕生與理論奠基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B002E4EA-7C0B-1E1C-A9B0-577089DC7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8159" y="1513225"/>
            <a:ext cx="4458641" cy="2988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2524E3BE-B1B9-3FDA-9BCA-00123A062532}"/>
              </a:ext>
            </a:extLst>
          </p:cNvPr>
          <p:cNvSpPr/>
          <p:nvPr/>
        </p:nvSpPr>
        <p:spPr>
          <a:xfrm>
            <a:off x="4301971" y="4474878"/>
            <a:ext cx="2970330" cy="6463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/>
              <a:t>圖靈機模型（圖片來源：</a:t>
            </a:r>
            <a:r>
              <a:rPr lang="en-US" altLang="zh-TW" dirty="0"/>
              <a:t>Wikimedia, Rocky Acosta</a:t>
            </a:r>
            <a:r>
              <a:rPr lang="zh-TW" altLang="en-US" dirty="0"/>
              <a:t>上傳）</a:t>
            </a:r>
            <a:endParaRPr lang="zh-TW" altLang="en-US" dirty="0"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4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4294967295"/>
          </p:nvPr>
        </p:nvSpPr>
        <p:spPr>
          <a:xfrm>
            <a:off x="406095" y="1526522"/>
            <a:ext cx="5381039" cy="2834177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zh-TW" altLang="en-US" b="1" dirty="0"/>
              <a:t>英國數學家亞蘭圖靈</a:t>
            </a:r>
            <a:r>
              <a:rPr lang="en-US" altLang="zh-TW" b="1" dirty="0"/>
              <a:t>(Alan Turing</a:t>
            </a:r>
            <a:r>
              <a:rPr lang="zh-TW" altLang="en-US" b="1" dirty="0"/>
              <a:t>，</a:t>
            </a:r>
            <a:r>
              <a:rPr lang="en-US" altLang="zh-TW" b="1" dirty="0"/>
              <a:t>1912-1954)</a:t>
            </a:r>
            <a:r>
              <a:rPr lang="zh-TW" altLang="en-US" b="1" dirty="0"/>
              <a:t>。</a:t>
            </a:r>
            <a:endParaRPr lang="en-US" altLang="zh-TW" b="1" dirty="0"/>
          </a:p>
          <a:p>
            <a:pPr>
              <a:lnSpc>
                <a:spcPct val="120000"/>
              </a:lnSpc>
            </a:pPr>
            <a:r>
              <a:rPr lang="zh-TW" altLang="en-US" b="1" dirty="0"/>
              <a:t>雖然無緣在有生之年得到諾貝爾獎，但後人為紀念他在數位計算理論上的貢獻而設立的</a:t>
            </a:r>
            <a:r>
              <a:rPr lang="zh-TW" altLang="en-US" b="1" dirty="0">
                <a:solidFill>
                  <a:srgbClr val="C00000"/>
                </a:solidFill>
              </a:rPr>
              <a:t>圖靈獎</a:t>
            </a:r>
            <a:r>
              <a:rPr lang="en-US" altLang="zh-TW" b="1" dirty="0"/>
              <a:t>(Turing Award)</a:t>
            </a:r>
            <a:r>
              <a:rPr lang="zh-TW" altLang="en-US" b="1" dirty="0"/>
              <a:t>，已被公認是資訊科學領域最崇高的獎項，而有「資訊科學諾貝爾獎」的美譽。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02164" y="1581640"/>
            <a:ext cx="1925231" cy="277667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5" name="矩形 4"/>
          <p:cNvSpPr/>
          <p:nvPr/>
        </p:nvSpPr>
        <p:spPr>
          <a:xfrm>
            <a:off x="5967155" y="4011910"/>
            <a:ext cx="2540247" cy="369332"/>
          </a:xfrm>
          <a:prstGeom prst="rect">
            <a:avLst/>
          </a:prstGeom>
          <a:solidFill>
            <a:srgbClr val="FFC000"/>
          </a:solidFill>
          <a:ln w="19050">
            <a:solidFill>
              <a:srgbClr val="000000"/>
            </a:solidFill>
            <a:prstDash val="dash"/>
          </a:ln>
        </p:spPr>
        <p:txBody>
          <a:bodyPr wrap="none">
            <a:spAutoFit/>
          </a:bodyPr>
          <a:lstStyle/>
          <a:p>
            <a:r>
              <a:rPr lang="zh-TW" altLang="en-US" dirty="0">
                <a:latin typeface="微軟正黑體" pitchFamily="34" charset="-120"/>
                <a:ea typeface="微軟正黑體" pitchFamily="34" charset="-120"/>
              </a:rPr>
              <a:t>亞蘭圖靈</a:t>
            </a:r>
            <a:r>
              <a:rPr lang="en-US" altLang="zh-TW" dirty="0">
                <a:latin typeface="微軟正黑體" pitchFamily="34" charset="-120"/>
                <a:ea typeface="微軟正黑體" pitchFamily="34" charset="-120"/>
              </a:rPr>
              <a:t>(Alan Turing) </a:t>
            </a:r>
            <a:endParaRPr lang="zh-TW" altLang="en-US" dirty="0">
              <a:latin typeface="微軟正黑體" pitchFamily="34" charset="-120"/>
              <a:ea typeface="微軟正黑體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43361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電腦世代的轉變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現代數位電腦的架構是基於</a:t>
            </a:r>
            <a:r>
              <a:rPr lang="zh-TW" altLang="en-US" dirty="0">
                <a:solidFill>
                  <a:srgbClr val="C00000"/>
                </a:solidFill>
              </a:rPr>
              <a:t>馮紐曼</a:t>
            </a:r>
            <a:r>
              <a:rPr lang="zh-TW" altLang="en-US" dirty="0"/>
              <a:t>（</a:t>
            </a:r>
            <a:r>
              <a:rPr lang="en-US" altLang="zh-TW" dirty="0"/>
              <a:t>John Louis von Neumann</a:t>
            </a:r>
            <a:r>
              <a:rPr lang="zh-TW" altLang="en-US" dirty="0"/>
              <a:t>）在西元</a:t>
            </a:r>
            <a:r>
              <a:rPr lang="en-US" altLang="zh-TW" dirty="0"/>
              <a:t>1945</a:t>
            </a:r>
            <a:r>
              <a:rPr lang="zh-TW" altLang="en-US" dirty="0"/>
              <a:t>年提出的「儲存程式」（</a:t>
            </a:r>
            <a:r>
              <a:rPr lang="en-US" altLang="zh-TW" dirty="0"/>
              <a:t>stored program</a:t>
            </a:r>
            <a:r>
              <a:rPr lang="zh-TW" altLang="en-US" dirty="0"/>
              <a:t>）概念，</a:t>
            </a:r>
            <a:endParaRPr lang="en-US" altLang="zh-TW" dirty="0"/>
          </a:p>
          <a:p>
            <a:pPr lvl="1"/>
            <a:r>
              <a:rPr lang="zh-TW" altLang="en-US" dirty="0"/>
              <a:t>此模式將</a:t>
            </a:r>
            <a:r>
              <a:rPr lang="zh-TW" altLang="en-US" dirty="0">
                <a:solidFill>
                  <a:srgbClr val="C00000"/>
                </a:solidFill>
              </a:rPr>
              <a:t>程式指令</a:t>
            </a:r>
            <a:r>
              <a:rPr lang="zh-TW" altLang="en-US" dirty="0"/>
              <a:t>和</a:t>
            </a:r>
            <a:r>
              <a:rPr lang="zh-TW" altLang="en-US" dirty="0">
                <a:solidFill>
                  <a:srgbClr val="C00000"/>
                </a:solidFill>
              </a:rPr>
              <a:t>資料</a:t>
            </a:r>
            <a:r>
              <a:rPr lang="zh-TW" altLang="en-US" dirty="0"/>
              <a:t>一同儲存在</a:t>
            </a:r>
            <a:r>
              <a:rPr lang="zh-TW" altLang="en-US" dirty="0">
                <a:solidFill>
                  <a:srgbClr val="C00000"/>
                </a:solidFill>
              </a:rPr>
              <a:t>記憶體</a:t>
            </a:r>
            <a:r>
              <a:rPr lang="zh-TW" altLang="en-US" dirty="0"/>
              <a:t>中，是當今計算機通用架構的基石。</a:t>
            </a:r>
          </a:p>
        </p:txBody>
      </p:sp>
    </p:spTree>
    <p:extLst>
      <p:ext uri="{BB962C8B-B14F-4D97-AF65-F5344CB8AC3E}">
        <p14:creationId xmlns:p14="http://schemas.microsoft.com/office/powerpoint/2010/main" val="3864578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5879204-CB2F-E4E0-6C16-66FF540F6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通常以</a:t>
            </a:r>
            <a:r>
              <a:rPr lang="zh-TW" altLang="en-US">
                <a:solidFill>
                  <a:srgbClr val="C00000"/>
                </a:solidFill>
              </a:rPr>
              <a:t>基礎元件</a:t>
            </a:r>
            <a:r>
              <a:rPr lang="zh-TW" altLang="en-US"/>
              <a:t>的</a:t>
            </a:r>
            <a:r>
              <a:rPr lang="zh-TW" altLang="en-US" dirty="0"/>
              <a:t>變革來劃分電腦世代的演進。</a:t>
            </a:r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E8EE26C8-05ED-F389-21C2-FA898165E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dirty="0"/>
              <a:t>電腦世代的轉變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3532A28-A555-84CA-1371-D3D37A079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690" y="2211251"/>
            <a:ext cx="529716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7314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矩形 58"/>
          <p:cNvSpPr/>
          <p:nvPr/>
        </p:nvSpPr>
        <p:spPr>
          <a:xfrm>
            <a:off x="627063" y="906565"/>
            <a:ext cx="3887787" cy="1861130"/>
          </a:xfrm>
          <a:prstGeom prst="rect">
            <a:avLst/>
          </a:prstGeom>
          <a:solidFill>
            <a:srgbClr val="2B2E3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ea typeface="造字工房悦黑体验版常规体" pitchFamily="50" charset="-122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4578350" y="906565"/>
            <a:ext cx="3889375" cy="1861130"/>
          </a:xfrm>
          <a:prstGeom prst="rect">
            <a:avLst/>
          </a:prstGeom>
          <a:solidFill>
            <a:srgbClr val="21A3D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ea typeface="造字工房悦黑体验版常规体" pitchFamily="50" charset="-122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627063" y="2642496"/>
            <a:ext cx="3887787" cy="1861130"/>
          </a:xfrm>
          <a:prstGeom prst="rect">
            <a:avLst/>
          </a:prstGeom>
          <a:solidFill>
            <a:srgbClr val="21A3D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ea typeface="造字工房悦黑体验版常规体" pitchFamily="50" charset="-122"/>
            </a:endParaRPr>
          </a:p>
        </p:txBody>
      </p:sp>
      <p:sp>
        <p:nvSpPr>
          <p:cNvPr id="62" name="矩形 61"/>
          <p:cNvSpPr/>
          <p:nvPr/>
        </p:nvSpPr>
        <p:spPr>
          <a:xfrm>
            <a:off x="4578350" y="2642496"/>
            <a:ext cx="3889375" cy="1861130"/>
          </a:xfrm>
          <a:prstGeom prst="rect">
            <a:avLst/>
          </a:prstGeom>
          <a:solidFill>
            <a:srgbClr val="2B2E30"/>
          </a:solidFill>
          <a:ln>
            <a:noFill/>
          </a:ln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ea typeface="造字工房悦黑体验版常规体" pitchFamily="50" charset="-122"/>
            </a:endParaRPr>
          </a:p>
        </p:txBody>
      </p:sp>
      <p:sp>
        <p:nvSpPr>
          <p:cNvPr id="87" name="矩形 86"/>
          <p:cNvSpPr/>
          <p:nvPr/>
        </p:nvSpPr>
        <p:spPr>
          <a:xfrm>
            <a:off x="2175362" y="1086585"/>
            <a:ext cx="2056973" cy="181588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第一代電腦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真空管時期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en-US" altLang="zh-TW" sz="2800" b="1" dirty="0">
                <a:solidFill>
                  <a:schemeClr val="bg1"/>
                </a:solidFill>
              </a:rPr>
              <a:t>(1946~1958)</a:t>
            </a:r>
            <a:endParaRPr lang="zh-TW" altLang="en-US" sz="2800" b="1" dirty="0">
              <a:solidFill>
                <a:schemeClr val="bg1"/>
              </a:solidFill>
            </a:endParaRPr>
          </a:p>
          <a:p>
            <a:pPr algn="ctr"/>
            <a:endParaRPr lang="zh-TW" altLang="en-US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4882970" y="1086585"/>
            <a:ext cx="2411238" cy="138499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第二代電腦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電晶體時期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en-US" altLang="zh-TW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(1959~1963)</a:t>
            </a:r>
            <a:endParaRPr lang="zh-TW" altLang="en-US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1826696" y="2875534"/>
            <a:ext cx="2564127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第三代電腦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積體電路時期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(1964~1970)</a:t>
            </a:r>
            <a:endParaRPr lang="zh-TW" altLang="en-US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887035" y="2739653"/>
            <a:ext cx="3580689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第四代電腦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超大型積體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電路時期</a:t>
            </a:r>
            <a:endParaRPr lang="en-US" altLang="zh-TW" sz="2800" b="1" dirty="0">
              <a:solidFill>
                <a:schemeClr val="bg1"/>
              </a:solidFill>
              <a:latin typeface="微軟正黑體" pitchFamily="34" charset="-120"/>
              <a:ea typeface="微軟正黑體" pitchFamily="34" charset="-120"/>
            </a:endParaRPr>
          </a:p>
          <a:p>
            <a:r>
              <a:rPr lang="en-US" altLang="zh-TW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(1971~</a:t>
            </a:r>
            <a:r>
              <a:rPr lang="zh-TW" altLang="en-US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迄今</a:t>
            </a:r>
            <a:r>
              <a:rPr lang="en-US" altLang="zh-TW" sz="28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)</a:t>
            </a: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4885" y="2861031"/>
            <a:ext cx="1395155" cy="120048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pic>
        <p:nvPicPr>
          <p:cNvPr id="13" name="Picture 3"/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3577" y="695559"/>
            <a:ext cx="1481226" cy="2146221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2394500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C66812-CBCF-ACE6-ED90-D16D1F2037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zh-TW" altLang="en-US" dirty="0"/>
              <a:t>第一代電腦以</a:t>
            </a:r>
            <a:r>
              <a:rPr lang="zh-TW" altLang="en-US" dirty="0">
                <a:solidFill>
                  <a:srgbClr val="C00000"/>
                </a:solidFill>
              </a:rPr>
              <a:t>真空管</a:t>
            </a:r>
            <a:r>
              <a:rPr lang="zh-TW" altLang="en-US" dirty="0"/>
              <a:t>（</a:t>
            </a:r>
            <a:r>
              <a:rPr lang="en-US" altLang="zh-TW" dirty="0"/>
              <a:t>vacuum tube</a:t>
            </a:r>
            <a:r>
              <a:rPr lang="zh-TW" altLang="en-US" dirty="0"/>
              <a:t>）為基礎元件。</a:t>
            </a:r>
            <a:endParaRPr lang="en-US" altLang="zh-TW" dirty="0"/>
          </a:p>
          <a:p>
            <a:r>
              <a:rPr lang="zh-TW" altLang="en-US" dirty="0"/>
              <a:t>西元</a:t>
            </a:r>
            <a:r>
              <a:rPr lang="en-US" altLang="zh-TW" dirty="0"/>
              <a:t>1946</a:t>
            </a:r>
            <a:r>
              <a:rPr lang="zh-TW" altLang="en-US" dirty="0"/>
              <a:t>年，賓州大學的</a:t>
            </a:r>
            <a:r>
              <a:rPr lang="en-US" altLang="zh-TW" dirty="0"/>
              <a:t>John. W. Mauchly</a:t>
            </a:r>
            <a:r>
              <a:rPr lang="zh-TW" altLang="en-US" dirty="0"/>
              <a:t>和</a:t>
            </a:r>
            <a:r>
              <a:rPr lang="en-US" altLang="zh-TW" dirty="0"/>
              <a:t>J. Presper Eckert, Jr.</a:t>
            </a:r>
            <a:r>
              <a:rPr lang="zh-TW" altLang="en-US" dirty="0"/>
              <a:t>製造了第一部真空管計算機</a:t>
            </a:r>
            <a:r>
              <a:rPr lang="en-US" altLang="zh-TW" dirty="0">
                <a:solidFill>
                  <a:srgbClr val="C00000"/>
                </a:solidFill>
              </a:rPr>
              <a:t>ENIAC</a:t>
            </a:r>
            <a:r>
              <a:rPr lang="zh-TW" altLang="en-US" dirty="0"/>
              <a:t>（</a:t>
            </a:r>
            <a:r>
              <a:rPr lang="en-US" altLang="zh-TW" dirty="0"/>
              <a:t>Electronic Numerical Integrator and Computer</a:t>
            </a:r>
            <a:r>
              <a:rPr lang="zh-TW" altLang="en-US" dirty="0"/>
              <a:t>），它是</a:t>
            </a:r>
            <a:r>
              <a:rPr lang="zh-TW" altLang="en-US" dirty="0">
                <a:solidFill>
                  <a:schemeClr val="accent6">
                    <a:lumMod val="75000"/>
                  </a:schemeClr>
                </a:solidFill>
              </a:rPr>
              <a:t>世界上第一部可程式的通用電子數位計算機</a:t>
            </a:r>
            <a:r>
              <a:rPr lang="zh-TW" altLang="en-US" dirty="0"/>
              <a:t>。</a:t>
            </a:r>
            <a:endParaRPr lang="en-US" altLang="zh-TW" dirty="0"/>
          </a:p>
          <a:p>
            <a:r>
              <a:rPr lang="zh-TW" altLang="en-US" dirty="0"/>
              <a:t>世界第一台</a:t>
            </a:r>
            <a:r>
              <a:rPr lang="zh-TW" altLang="en-US" dirty="0">
                <a:solidFill>
                  <a:schemeClr val="accent6">
                    <a:lumMod val="75000"/>
                  </a:schemeClr>
                </a:solidFill>
              </a:rPr>
              <a:t>商用電子計算機</a:t>
            </a:r>
            <a:r>
              <a:rPr lang="en-US" altLang="zh-TW" dirty="0">
                <a:solidFill>
                  <a:srgbClr val="C00000"/>
                </a:solidFill>
              </a:rPr>
              <a:t>UNIVAC I</a:t>
            </a:r>
            <a:r>
              <a:rPr lang="zh-TW" altLang="en-US" dirty="0"/>
              <a:t>緊隨</a:t>
            </a:r>
            <a:r>
              <a:rPr lang="en-US" altLang="zh-TW" dirty="0"/>
              <a:t>ENIAC</a:t>
            </a:r>
            <a:r>
              <a:rPr lang="zh-TW" altLang="en-US" dirty="0"/>
              <a:t>之後。</a:t>
            </a:r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D093739B-D7EB-6B9E-4627-99AD1180C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dirty="0"/>
              <a:t>第一代電腦：真空管時期（</a:t>
            </a:r>
            <a:r>
              <a:rPr lang="en-US" altLang="zh-TW" dirty="0"/>
              <a:t>1946</a:t>
            </a:r>
            <a:r>
              <a:rPr lang="zh-TW" altLang="en-US" dirty="0"/>
              <a:t>年起）</a:t>
            </a:r>
          </a:p>
        </p:txBody>
      </p:sp>
    </p:spTree>
    <p:extLst>
      <p:ext uri="{BB962C8B-B14F-4D97-AF65-F5344CB8AC3E}">
        <p14:creationId xmlns:p14="http://schemas.microsoft.com/office/powerpoint/2010/main" val="3270906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417336D7-D11E-8DF1-9FAB-18DF8607B1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3189" y="1660525"/>
            <a:ext cx="4677621" cy="2933700"/>
          </a:xfrm>
          <a:prstGeom prst="rect">
            <a:avLst/>
          </a:prstGeom>
        </p:spPr>
      </p:pic>
      <p:sp>
        <p:nvSpPr>
          <p:cNvPr id="6" name="標題 3">
            <a:extLst>
              <a:ext uri="{FF2B5EF4-FFF2-40B4-BE49-F238E27FC236}">
                <a16:creationId xmlns:a16="http://schemas.microsoft.com/office/drawing/2014/main" id="{2BB4AEA3-DA1A-9508-61ED-CE8FF5B00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dirty="0"/>
              <a:t>第一代電腦：真空管時期（</a:t>
            </a:r>
            <a:r>
              <a:rPr lang="en-US" altLang="zh-TW" dirty="0"/>
              <a:t>1946</a:t>
            </a:r>
            <a:r>
              <a:rPr lang="zh-TW" altLang="en-US" dirty="0"/>
              <a:t>年起）</a:t>
            </a:r>
          </a:p>
        </p:txBody>
      </p:sp>
    </p:spTree>
    <p:extLst>
      <p:ext uri="{BB962C8B-B14F-4D97-AF65-F5344CB8AC3E}">
        <p14:creationId xmlns:p14="http://schemas.microsoft.com/office/powerpoint/2010/main" val="4240539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6DFA1-8E29-3834-D9B7-702AEBF2D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37BB43-525C-C21A-FA36-75515FD30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60399"/>
            <a:ext cx="6770095" cy="2934224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西元</a:t>
            </a:r>
            <a:r>
              <a:rPr lang="en-US" altLang="zh-TW" dirty="0"/>
              <a:t>1959</a:t>
            </a:r>
            <a:r>
              <a:rPr lang="zh-TW" altLang="en-US" dirty="0"/>
              <a:t>年，</a:t>
            </a:r>
            <a:r>
              <a:rPr lang="en-US" altLang="zh-TW" dirty="0"/>
              <a:t>Honeywell</a:t>
            </a:r>
            <a:r>
              <a:rPr lang="zh-TW" altLang="en-US" dirty="0"/>
              <a:t>公司推出以電晶體（</a:t>
            </a:r>
            <a:r>
              <a:rPr lang="en-US" altLang="zh-TW" dirty="0"/>
              <a:t>transistor</a:t>
            </a:r>
            <a:r>
              <a:rPr lang="zh-TW" altLang="en-US" dirty="0"/>
              <a:t>）為基礎元件的</a:t>
            </a:r>
            <a:r>
              <a:rPr lang="en-US" altLang="zh-TW" dirty="0"/>
              <a:t>Honeywell 400</a:t>
            </a:r>
            <a:r>
              <a:rPr lang="zh-TW" altLang="en-US" dirty="0"/>
              <a:t>，是第二代電腦的代表作。</a:t>
            </a:r>
            <a:endParaRPr lang="en-US" altLang="zh-TW" dirty="0"/>
          </a:p>
          <a:p>
            <a:r>
              <a:rPr lang="zh-TW" altLang="en-US" dirty="0"/>
              <a:t>電晶體是貝爾實驗室的科學家於西元</a:t>
            </a:r>
            <a:r>
              <a:rPr lang="en-US" altLang="zh-TW" dirty="0"/>
              <a:t>1947</a:t>
            </a:r>
            <a:r>
              <a:rPr lang="zh-TW" altLang="en-US" dirty="0"/>
              <a:t>年開發出來的。</a:t>
            </a:r>
            <a:endParaRPr lang="en-US" altLang="zh-TW" dirty="0"/>
          </a:p>
          <a:p>
            <a:r>
              <a:rPr lang="zh-TW" altLang="en-US" dirty="0"/>
              <a:t>相較於真空管，電晶體的體積更小、耗電更少、散熱更快，因此可靠性更高且價格更低廉。</a:t>
            </a:r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7E6529CF-4890-0721-274D-4F00EBC1E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dirty="0"/>
              <a:t>第二代電腦：電晶體時期（</a:t>
            </a:r>
            <a:r>
              <a:rPr lang="en-US" altLang="zh-TW" dirty="0"/>
              <a:t>1959</a:t>
            </a:r>
            <a:r>
              <a:rPr lang="zh-TW" altLang="en-US" dirty="0"/>
              <a:t>年起）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14B4BE8-11D5-697D-14FF-6C641888D0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5691" y="2100105"/>
            <a:ext cx="1296148" cy="2080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067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50C30-A3D2-8F7E-4224-B50335493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487B0F-BE7D-1BD6-DBCC-13558A405C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/>
          <a:p>
            <a:r>
              <a:rPr lang="zh-TW" altLang="en-US" dirty="0"/>
              <a:t>西元</a:t>
            </a:r>
            <a:r>
              <a:rPr lang="en-US" altLang="zh-TW" dirty="0"/>
              <a:t>1964</a:t>
            </a:r>
            <a:r>
              <a:rPr lang="zh-TW" altLang="en-US" dirty="0"/>
              <a:t>年，</a:t>
            </a:r>
            <a:r>
              <a:rPr lang="en-US" altLang="zh-TW" dirty="0"/>
              <a:t>IBM</a:t>
            </a:r>
            <a:r>
              <a:rPr lang="zh-TW" altLang="en-US" dirty="0"/>
              <a:t>推出了第一部以積體電路（</a:t>
            </a:r>
            <a:r>
              <a:rPr lang="en-US" altLang="zh-TW" dirty="0"/>
              <a:t>Integrated Circuit</a:t>
            </a:r>
            <a:r>
              <a:rPr lang="zh-TW" altLang="en-US" dirty="0"/>
              <a:t>；</a:t>
            </a:r>
            <a:r>
              <a:rPr lang="en-US" altLang="zh-TW" dirty="0"/>
              <a:t>IC</a:t>
            </a:r>
            <a:r>
              <a:rPr lang="zh-TW" altLang="en-US" dirty="0"/>
              <a:t>）為基礎元件的</a:t>
            </a:r>
            <a:r>
              <a:rPr lang="en-US" altLang="zh-TW" dirty="0"/>
              <a:t>IBM 360</a:t>
            </a:r>
            <a:r>
              <a:rPr lang="zh-TW" altLang="en-US" dirty="0"/>
              <a:t>型計算機。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7A97A40-0726-35BA-34C6-9540B651FF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35" r="-1" b="16622"/>
          <a:stretch>
            <a:fillRect/>
          </a:stretch>
        </p:blipFill>
        <p:spPr>
          <a:xfrm>
            <a:off x="4648200" y="1200151"/>
            <a:ext cx="4038600" cy="3394472"/>
          </a:xfrm>
          <a:prstGeom prst="rect">
            <a:avLst/>
          </a:prstGeom>
          <a:noFill/>
        </p:spPr>
      </p:pic>
      <p:sp>
        <p:nvSpPr>
          <p:cNvPr id="11" name="標題 3">
            <a:extLst>
              <a:ext uri="{FF2B5EF4-FFF2-40B4-BE49-F238E27FC236}">
                <a16:creationId xmlns:a16="http://schemas.microsoft.com/office/drawing/2014/main" id="{15F16C04-A6A8-1A33-EFD6-441DCE976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409" y="120252"/>
            <a:ext cx="8229600" cy="857250"/>
          </a:xfrm>
        </p:spPr>
        <p:txBody>
          <a:bodyPr/>
          <a:lstStyle/>
          <a:p>
            <a:r>
              <a:rPr lang="zh-TW" altLang="en-US" b="1" dirty="0">
                <a:solidFill>
                  <a:srgbClr val="C00000"/>
                </a:solidFill>
              </a:rPr>
              <a:t>第三代電腦：積體電路時期（</a:t>
            </a:r>
            <a:r>
              <a:rPr lang="en-US" altLang="zh-TW" b="1" dirty="0">
                <a:solidFill>
                  <a:srgbClr val="C00000"/>
                </a:solidFill>
              </a:rPr>
              <a:t>1964</a:t>
            </a:r>
            <a:r>
              <a:rPr lang="zh-TW" altLang="en-US" b="1" dirty="0">
                <a:solidFill>
                  <a:srgbClr val="C00000"/>
                </a:solidFill>
              </a:rPr>
              <a:t>年起）</a:t>
            </a:r>
          </a:p>
        </p:txBody>
      </p:sp>
    </p:spTree>
    <p:extLst>
      <p:ext uri="{BB962C8B-B14F-4D97-AF65-F5344CB8AC3E}">
        <p14:creationId xmlns:p14="http://schemas.microsoft.com/office/powerpoint/2010/main" val="34436783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145B4-B81D-CF5C-19EA-801B970F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F2690D9-9B83-E920-5BF9-687A96ACA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60399"/>
            <a:ext cx="8229600" cy="2934224"/>
          </a:xfrm>
        </p:spPr>
        <p:txBody>
          <a:bodyPr>
            <a:normAutofit fontScale="92500" lnSpcReduction="10000"/>
          </a:bodyPr>
          <a:lstStyle/>
          <a:p>
            <a:r>
              <a:rPr lang="en-US" altLang="zh-TW" dirty="0"/>
              <a:t>IC</a:t>
            </a:r>
            <a:r>
              <a:rPr lang="zh-TW" altLang="en-US" dirty="0"/>
              <a:t>晶片是由各種電子元件及其互連而成的緊緻型電子電路組件，在空間上更節省，且速度快。</a:t>
            </a:r>
            <a:endParaRPr lang="en-US" altLang="zh-TW" dirty="0"/>
          </a:p>
          <a:p>
            <a:r>
              <a:rPr lang="zh-TW" altLang="en-US" dirty="0"/>
              <a:t>開發初期的第三代電腦，每顆</a:t>
            </a:r>
            <a:r>
              <a:rPr lang="en-US" altLang="zh-TW" dirty="0"/>
              <a:t>IC</a:t>
            </a:r>
            <a:r>
              <a:rPr lang="zh-TW" altLang="en-US" dirty="0"/>
              <a:t>晶片可容納數十個電子元件的功能。</a:t>
            </a:r>
          </a:p>
          <a:p>
            <a:r>
              <a:rPr lang="zh-TW" altLang="en-US" dirty="0"/>
              <a:t>西元</a:t>
            </a:r>
            <a:r>
              <a:rPr lang="en-US" altLang="zh-TW" dirty="0"/>
              <a:t>1968</a:t>
            </a:r>
            <a:r>
              <a:rPr lang="zh-TW" altLang="en-US" dirty="0"/>
              <a:t>年，</a:t>
            </a:r>
            <a:r>
              <a:rPr lang="en-US" altLang="zh-TW" dirty="0"/>
              <a:t>Robert Noyce</a:t>
            </a:r>
            <a:r>
              <a:rPr lang="zh-TW" altLang="en-US" dirty="0"/>
              <a:t>、</a:t>
            </a:r>
            <a:r>
              <a:rPr lang="en-US" altLang="zh-TW" dirty="0"/>
              <a:t>Andrew Grove</a:t>
            </a:r>
            <a:r>
              <a:rPr lang="zh-TW" altLang="en-US" dirty="0"/>
              <a:t>和</a:t>
            </a:r>
            <a:r>
              <a:rPr lang="en-US" altLang="zh-TW" dirty="0"/>
              <a:t>Gordon Moore</a:t>
            </a:r>
            <a:r>
              <a:rPr lang="zh-TW" altLang="en-US" dirty="0"/>
              <a:t>成立了</a:t>
            </a:r>
            <a:r>
              <a:rPr lang="en-US" altLang="zh-TW" dirty="0"/>
              <a:t>Intel</a:t>
            </a:r>
            <a:r>
              <a:rPr lang="zh-TW" altLang="en-US" dirty="0"/>
              <a:t>。</a:t>
            </a:r>
          </a:p>
        </p:txBody>
      </p:sp>
      <p:sp>
        <p:nvSpPr>
          <p:cNvPr id="4" name="標題 3">
            <a:extLst>
              <a:ext uri="{FF2B5EF4-FFF2-40B4-BE49-F238E27FC236}">
                <a16:creationId xmlns:a16="http://schemas.microsoft.com/office/drawing/2014/main" id="{2FFCE0E9-E714-D284-69C1-17300B99F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35000"/>
            <a:ext cx="8229600" cy="857250"/>
          </a:xfrm>
        </p:spPr>
        <p:txBody>
          <a:bodyPr/>
          <a:lstStyle/>
          <a:p>
            <a:r>
              <a:rPr lang="zh-TW" altLang="en-US" dirty="0"/>
              <a:t>第三代電腦：積體電路時期（</a:t>
            </a:r>
            <a:r>
              <a:rPr lang="en-US" altLang="zh-TW" dirty="0"/>
              <a:t>1964</a:t>
            </a:r>
            <a:r>
              <a:rPr lang="zh-TW" altLang="en-US" dirty="0"/>
              <a:t>年起）</a:t>
            </a:r>
          </a:p>
        </p:txBody>
      </p:sp>
    </p:spTree>
    <p:extLst>
      <p:ext uri="{BB962C8B-B14F-4D97-AF65-F5344CB8AC3E}">
        <p14:creationId xmlns:p14="http://schemas.microsoft.com/office/powerpoint/2010/main" val="17540649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59BB-0400-496A-70AE-4C430363E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D54CB485-A010-F6E1-3C82-9D137495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95807" y="3240375"/>
            <a:ext cx="1479873" cy="1273379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4" name="標題 3">
            <a:extLst>
              <a:ext uri="{FF2B5EF4-FFF2-40B4-BE49-F238E27FC236}">
                <a16:creationId xmlns:a16="http://schemas.microsoft.com/office/drawing/2014/main" id="{7174B9E9-05F0-15D0-28F5-5C2E22EE0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en-US" dirty="0"/>
              <a:t>第四代電腦：超大型積體電路時期</a:t>
            </a:r>
            <a:br>
              <a:rPr lang="zh-TW" altLang="en-US" dirty="0"/>
            </a:br>
            <a:r>
              <a:rPr lang="en-US" altLang="zh-TW" dirty="0"/>
              <a:t>(1971</a:t>
            </a:r>
            <a:r>
              <a:rPr lang="zh-TW" altLang="en-US" dirty="0"/>
              <a:t>年後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C68CA12-63BD-89C7-F081-5A65E0BD6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2934224"/>
          </a:xfrm>
        </p:spPr>
        <p:txBody>
          <a:bodyPr>
            <a:normAutofit fontScale="92500" lnSpcReduction="10000"/>
          </a:bodyPr>
          <a:lstStyle/>
          <a:p>
            <a:r>
              <a:rPr lang="zh-TW" altLang="en-US" dirty="0"/>
              <a:t>絕大多數人認為，第四代電腦濫觴於西元</a:t>
            </a:r>
            <a:r>
              <a:rPr lang="en-US" altLang="zh-TW" dirty="0"/>
              <a:t>1971</a:t>
            </a:r>
            <a:r>
              <a:rPr lang="zh-TW" altLang="en-US" dirty="0"/>
              <a:t>年，它以</a:t>
            </a:r>
            <a:r>
              <a:rPr lang="zh-TW" altLang="en-US" dirty="0">
                <a:solidFill>
                  <a:srgbClr val="C00000"/>
                </a:solidFill>
              </a:rPr>
              <a:t>超大型積體電路</a:t>
            </a:r>
            <a:r>
              <a:rPr lang="zh-TW" altLang="en-US" dirty="0"/>
              <a:t>（</a:t>
            </a:r>
            <a:r>
              <a:rPr lang="en-US" altLang="zh-TW" dirty="0"/>
              <a:t>VLSI</a:t>
            </a:r>
            <a:r>
              <a:rPr lang="zh-TW" altLang="en-US" dirty="0"/>
              <a:t>）為基礎元件。</a:t>
            </a:r>
            <a:endParaRPr lang="en-US" altLang="zh-TW" dirty="0"/>
          </a:p>
          <a:p>
            <a:r>
              <a:rPr lang="zh-TW" altLang="en-US" dirty="0"/>
              <a:t>開發初期可讓單一晶片容納數千個、甚至數萬個電晶體。其代表作是全世界第一部</a:t>
            </a:r>
            <a:br>
              <a:rPr lang="en-US" altLang="zh-TW" dirty="0"/>
            </a:br>
            <a:r>
              <a:rPr lang="zh-TW" altLang="en-US" dirty="0"/>
              <a:t>微處理器（</a:t>
            </a:r>
            <a:r>
              <a:rPr lang="en-US" altLang="zh-TW" dirty="0"/>
              <a:t>microprocessor</a:t>
            </a:r>
            <a:r>
              <a:rPr lang="zh-TW" altLang="en-US" dirty="0"/>
              <a:t>）</a:t>
            </a:r>
            <a:br>
              <a:rPr lang="en-US" altLang="zh-TW" dirty="0"/>
            </a:br>
            <a:r>
              <a:rPr lang="en-US" altLang="zh-TW" dirty="0"/>
              <a:t>Intel 4004</a:t>
            </a:r>
            <a:endParaRPr lang="zh-TW" altLang="en-US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D757EBB-3517-6C72-0171-AB35FDA690F5}"/>
              </a:ext>
            </a:extLst>
          </p:cNvPr>
          <p:cNvSpPr/>
          <p:nvPr/>
        </p:nvSpPr>
        <p:spPr>
          <a:xfrm>
            <a:off x="5967155" y="4542678"/>
            <a:ext cx="1107996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r>
              <a:rPr lang="zh-TW" altLang="en-US" dirty="0">
                <a:latin typeface="微軟正黑體" pitchFamily="34" charset="-120"/>
                <a:ea typeface="微軟正黑體" pitchFamily="34" charset="-120"/>
              </a:rPr>
              <a:t>微處理器</a:t>
            </a:r>
          </a:p>
        </p:txBody>
      </p:sp>
    </p:spTree>
    <p:extLst>
      <p:ext uri="{BB962C8B-B14F-4D97-AF65-F5344CB8AC3E}">
        <p14:creationId xmlns:p14="http://schemas.microsoft.com/office/powerpoint/2010/main" val="1432561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574843" y="726187"/>
            <a:ext cx="3870742" cy="36933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Intel 4004</a:t>
            </a:r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是全世界第一部微處理器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148062" y="1266397"/>
            <a:ext cx="2594068" cy="34655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046070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617D7E-30EF-B7BB-F55C-84CDB2E5A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摩爾定律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55195A0-2496-3372-5A09-81662E959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zh-TW" dirty="0"/>
              <a:t>Gordon Moore</a:t>
            </a:r>
            <a:r>
              <a:rPr lang="zh-TW" altLang="en-US" dirty="0"/>
              <a:t>觀察到：</a:t>
            </a:r>
            <a:r>
              <a:rPr lang="zh-TW" altLang="en-US" dirty="0">
                <a:solidFill>
                  <a:schemeClr val="accent6">
                    <a:lumMod val="75000"/>
                  </a:schemeClr>
                </a:solidFill>
              </a:rPr>
              <a:t>晶片裡的電晶體個數，大約每兩年就會倍增</a:t>
            </a:r>
            <a:r>
              <a:rPr lang="zh-TW" altLang="en-US" dirty="0"/>
              <a:t>，此指數增長趨勢即為著名的摩爾定律（</a:t>
            </a:r>
            <a:r>
              <a:rPr lang="en-US" altLang="zh-TW" dirty="0"/>
              <a:t>Moore's Law</a:t>
            </a:r>
            <a:r>
              <a:rPr lang="zh-TW" altLang="en-US" dirty="0"/>
              <a:t>）。</a:t>
            </a:r>
            <a:endParaRPr lang="en-US" altLang="zh-TW" dirty="0"/>
          </a:p>
          <a:p>
            <a:r>
              <a:rPr lang="zh-TW" altLang="en-US" dirty="0"/>
              <a:t>演進至今，單一晶片已可置入數以億計的電晶體。</a:t>
            </a:r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VLSI</a:t>
            </a:r>
            <a:r>
              <a:rPr lang="zh-TW" altLang="en-US" dirty="0"/>
              <a:t>技術持續推陳出新，當前仍是主流電腦的基礎元件，奠定了資訊科技革命的基礎。</a:t>
            </a:r>
          </a:p>
        </p:txBody>
      </p:sp>
    </p:spTree>
    <p:extLst>
      <p:ext uri="{BB962C8B-B14F-4D97-AF65-F5344CB8AC3E}">
        <p14:creationId xmlns:p14="http://schemas.microsoft.com/office/powerpoint/2010/main" val="2272656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補充資料─儲存程式的概念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西元</a:t>
            </a:r>
            <a:r>
              <a:rPr lang="en-US" altLang="zh-TW" dirty="0"/>
              <a:t>1945</a:t>
            </a:r>
            <a:r>
              <a:rPr lang="zh-TW" altLang="en-US" dirty="0"/>
              <a:t>年</a:t>
            </a:r>
            <a:endParaRPr lang="en-US" altLang="zh-TW" dirty="0"/>
          </a:p>
          <a:p>
            <a:pPr lvl="1"/>
            <a:r>
              <a:rPr lang="zh-TW" altLang="en-US" dirty="0">
                <a:solidFill>
                  <a:srgbClr val="C00000"/>
                </a:solidFill>
              </a:rPr>
              <a:t>馮紐曼</a:t>
            </a:r>
            <a:r>
              <a:rPr lang="en-US" altLang="zh-TW" dirty="0"/>
              <a:t>(John Louis von Neumann)</a:t>
            </a:r>
            <a:r>
              <a:rPr lang="zh-TW" altLang="en-US" dirty="0"/>
              <a:t>介紹了</a:t>
            </a:r>
            <a:r>
              <a:rPr lang="zh-TW" altLang="en-US" dirty="0">
                <a:solidFill>
                  <a:srgbClr val="C00000"/>
                </a:solidFill>
              </a:rPr>
              <a:t>儲存程式</a:t>
            </a:r>
            <a:r>
              <a:rPr lang="en-US" altLang="zh-TW" dirty="0"/>
              <a:t>(stored program)</a:t>
            </a:r>
            <a:r>
              <a:rPr lang="zh-TW" altLang="en-US"/>
              <a:t>的</a:t>
            </a:r>
            <a:r>
              <a:rPr lang="zh-TW" altLang="en-US" dirty="0"/>
              <a:t>概念，今日的數位電腦基本上</a:t>
            </a:r>
            <a:r>
              <a:rPr lang="zh-TW" altLang="en-US"/>
              <a:t>都是採用</a:t>
            </a:r>
            <a:r>
              <a:rPr lang="zh-TW" altLang="en-US" dirty="0"/>
              <a:t>這個概念所建構而成的。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20466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補充資料─漢明碼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西元</a:t>
            </a:r>
            <a:r>
              <a:rPr lang="en-US" altLang="zh-TW" dirty="0"/>
              <a:t>1948</a:t>
            </a:r>
            <a:r>
              <a:rPr lang="zh-TW" altLang="en-US" dirty="0"/>
              <a:t>年</a:t>
            </a:r>
          </a:p>
          <a:p>
            <a:pPr lvl="1"/>
            <a:r>
              <a:rPr lang="en-US" altLang="zh-TW" dirty="0"/>
              <a:t>Richard Hamming</a:t>
            </a:r>
            <a:r>
              <a:rPr lang="zh-TW" altLang="en-US" dirty="0"/>
              <a:t>發明</a:t>
            </a:r>
            <a:r>
              <a:rPr lang="en-US" altLang="zh-TW" dirty="0">
                <a:solidFill>
                  <a:srgbClr val="C00000"/>
                </a:solidFill>
              </a:rPr>
              <a:t>Hamming code </a:t>
            </a:r>
            <a:r>
              <a:rPr lang="en-US" altLang="zh-TW" dirty="0"/>
              <a:t>(</a:t>
            </a:r>
            <a:r>
              <a:rPr lang="zh-TW" altLang="en-US" dirty="0"/>
              <a:t>漢明碼</a:t>
            </a:r>
            <a:r>
              <a:rPr lang="en-US" altLang="zh-TW" dirty="0"/>
              <a:t>)</a:t>
            </a:r>
            <a:r>
              <a:rPr lang="zh-TW" altLang="en-US" dirty="0"/>
              <a:t>，可找出傳輸資料的錯誤並訂正之，此技巧被廣泛應用在電腦及電話系統。</a:t>
            </a:r>
          </a:p>
          <a:p>
            <a:pPr lvl="1"/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54824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>
                <a:solidFill>
                  <a:srgbClr val="C00000"/>
                </a:solidFill>
              </a:rPr>
              <a:t>點矽鍺成金 人走茶未涼</a:t>
            </a:r>
            <a:endParaRPr lang="en-US" altLang="zh-TW" dirty="0">
              <a:solidFill>
                <a:srgbClr val="C00000"/>
              </a:solidFill>
            </a:endParaRPr>
          </a:p>
          <a:p>
            <a:r>
              <a:rPr lang="zh-TW" altLang="en-US" dirty="0"/>
              <a:t>巴丁（</a:t>
            </a:r>
            <a:r>
              <a:rPr lang="en-US" altLang="zh-TW" dirty="0"/>
              <a:t>John Bardeen</a:t>
            </a:r>
            <a:r>
              <a:rPr lang="zh-TW" altLang="en-US" dirty="0"/>
              <a:t>）和布拉頓（</a:t>
            </a:r>
            <a:r>
              <a:rPr lang="en-US" altLang="zh-TW" dirty="0"/>
              <a:t>Walter Brattain</a:t>
            </a:r>
            <a:r>
              <a:rPr lang="zh-TW" altLang="en-US" dirty="0"/>
              <a:t>）以半導體材料鍺開發出史上第一顆電晶體，在</a:t>
            </a:r>
            <a:r>
              <a:rPr lang="en-US" altLang="zh-TW" dirty="0"/>
              <a:t>1947</a:t>
            </a:r>
            <a:r>
              <a:rPr lang="zh-TW" altLang="en-US" dirty="0"/>
              <a:t>年</a:t>
            </a:r>
            <a:r>
              <a:rPr lang="en-US" altLang="zh-TW" dirty="0"/>
              <a:t>12</a:t>
            </a:r>
            <a:r>
              <a:rPr lang="zh-TW" altLang="en-US" dirty="0"/>
              <a:t>月</a:t>
            </a:r>
            <a:r>
              <a:rPr lang="en-US" altLang="zh-TW" dirty="0"/>
              <a:t>23</a:t>
            </a:r>
            <a:r>
              <a:rPr lang="zh-TW" altLang="en-US" dirty="0"/>
              <a:t>日正式展示給任職的貝爾實驗室，勇奪彼時科學家追尋數十年的聖杯。</a:t>
            </a:r>
            <a:endParaRPr lang="en-US" altLang="zh-TW" dirty="0"/>
          </a:p>
          <a:p>
            <a:r>
              <a:rPr lang="zh-TW" altLang="en-US" dirty="0"/>
              <a:t>　　</a:t>
            </a:r>
          </a:p>
        </p:txBody>
      </p:sp>
    </p:spTree>
    <p:extLst>
      <p:ext uri="{BB962C8B-B14F-4D97-AF65-F5344CB8AC3E}">
        <p14:creationId xmlns:p14="http://schemas.microsoft.com/office/powerpoint/2010/main" val="24976604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電晶體具備開關電流與放大信號的功用，可應用於任何需要運算、存取、通訊、感測、顯影的電子裝置，是廿世紀最偉大的發明之一。電晶體問世後，沒幾年就取代真空管，成為數位電腦的基礎元件。</a:t>
            </a:r>
            <a:endParaRPr lang="en-US" altLang="zh-TW" dirty="0"/>
          </a:p>
          <a:p>
            <a:r>
              <a:rPr lang="zh-TW" altLang="en-US" dirty="0"/>
              <a:t>雖然研發電晶體的開路先鋒早已往生超過卅年，但他們的智慧結晶仍在發光發熱，並在未來持續造福人間。</a:t>
            </a:r>
          </a:p>
        </p:txBody>
      </p:sp>
    </p:spTree>
    <p:extLst>
      <p:ext uri="{BB962C8B-B14F-4D97-AF65-F5344CB8AC3E}">
        <p14:creationId xmlns:p14="http://schemas.microsoft.com/office/powerpoint/2010/main" val="3466141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補充資料─計算機科學研究體系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457200" y="1530487"/>
            <a:ext cx="8229600" cy="3251611"/>
          </a:xfrm>
        </p:spPr>
        <p:txBody>
          <a:bodyPr>
            <a:normAutofit/>
          </a:bodyPr>
          <a:lstStyle/>
          <a:p>
            <a:r>
              <a:rPr lang="zh-TW" altLang="en-US" sz="2400" dirty="0"/>
              <a:t>西元</a:t>
            </a:r>
            <a:r>
              <a:rPr lang="en-US" altLang="zh-TW" sz="2400" dirty="0"/>
              <a:t>1962</a:t>
            </a:r>
            <a:r>
              <a:rPr lang="zh-TW" altLang="en-US" sz="2400" dirty="0"/>
              <a:t>年</a:t>
            </a:r>
          </a:p>
          <a:p>
            <a:pPr lvl="1"/>
            <a:r>
              <a:rPr lang="zh-TW" altLang="en-US" sz="2000" dirty="0"/>
              <a:t>史丹佛大學和普渡大學成立全球最早的</a:t>
            </a:r>
            <a:r>
              <a:rPr lang="zh-TW" altLang="en-US" sz="2000" dirty="0">
                <a:solidFill>
                  <a:srgbClr val="C00000"/>
                </a:solidFill>
              </a:rPr>
              <a:t>計算機科學系</a:t>
            </a:r>
            <a:r>
              <a:rPr lang="en-US" altLang="zh-TW" sz="2000" dirty="0"/>
              <a:t>(computer science departments)</a:t>
            </a:r>
            <a:r>
              <a:rPr lang="zh-TW" altLang="en-US" sz="2000" dirty="0"/>
              <a:t>。</a:t>
            </a:r>
            <a:endParaRPr lang="en-US" altLang="zh-TW" sz="2000" dirty="0"/>
          </a:p>
          <a:p>
            <a:pPr lvl="1"/>
            <a:endParaRPr lang="en-US" altLang="zh-TW" sz="2000" dirty="0"/>
          </a:p>
          <a:p>
            <a:pPr lvl="1"/>
            <a:endParaRPr lang="en-US" altLang="zh-TW" sz="2000" dirty="0"/>
          </a:p>
          <a:p>
            <a:pPr lvl="1"/>
            <a:endParaRPr lang="en-US" altLang="zh-TW" sz="2000" dirty="0"/>
          </a:p>
          <a:p>
            <a:pPr lvl="1"/>
            <a:endParaRPr lang="en-US" altLang="zh-TW" sz="2000" dirty="0"/>
          </a:p>
        </p:txBody>
      </p:sp>
      <p:graphicFrame>
        <p:nvGraphicFramePr>
          <p:cNvPr id="7" name="資料庫圖表 6"/>
          <p:cNvGraphicFramePr/>
          <p:nvPr>
            <p:extLst>
              <p:ext uri="{D42A27DB-BD31-4B8C-83A1-F6EECF244321}">
                <p14:modId xmlns:p14="http://schemas.microsoft.com/office/powerpoint/2010/main" val="1070135411"/>
              </p:ext>
            </p:extLst>
          </p:nvPr>
        </p:nvGraphicFramePr>
        <p:xfrm>
          <a:off x="457935" y="2772295"/>
          <a:ext cx="8229600" cy="14196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242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457200" y="1660399"/>
            <a:ext cx="5329935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個人電腦與軟體的崛起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1975</a:t>
            </a:r>
            <a:r>
              <a:rPr lang="zh-TW" altLang="en-US" dirty="0"/>
              <a:t>年，第一部個人電腦</a:t>
            </a:r>
            <a:r>
              <a:rPr lang="en-US" altLang="zh-TW" dirty="0"/>
              <a:t>(PC)</a:t>
            </a:r>
            <a:r>
              <a:rPr lang="zh-TW" altLang="en-US" dirty="0"/>
              <a:t> </a:t>
            </a:r>
            <a:r>
              <a:rPr lang="en-US" altLang="zh-TW" dirty="0">
                <a:solidFill>
                  <a:srgbClr val="C00000"/>
                </a:solidFill>
              </a:rPr>
              <a:t>Altair 8800</a:t>
            </a:r>
            <a:r>
              <a:rPr lang="zh-TW" altLang="en-US" dirty="0"/>
              <a:t>問世。</a:t>
            </a:r>
          </a:p>
          <a:p>
            <a:endParaRPr lang="zh-TW" alt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72200" y="2256714"/>
            <a:ext cx="2440570" cy="211445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6" name="矩形 5"/>
          <p:cNvSpPr/>
          <p:nvPr/>
        </p:nvSpPr>
        <p:spPr>
          <a:xfrm rot="21133119">
            <a:off x="5941585" y="3957065"/>
            <a:ext cx="120937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/>
          <a:p>
            <a:r>
              <a:rPr lang="en-US" altLang="zh-TW" dirty="0"/>
              <a:t>Altair 8800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815542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2270A-4F3E-D3F5-C29B-1CBA42073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F33A026F-05C2-71F8-4E88-D5C49AC68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72556E-7452-ACBA-446D-2A23DB3BB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0399"/>
            <a:ext cx="5329935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個人電腦與軟體的崛起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1977</a:t>
            </a:r>
            <a:r>
              <a:rPr lang="zh-TW" altLang="en-US" dirty="0"/>
              <a:t>年，</a:t>
            </a:r>
            <a:r>
              <a:rPr lang="en-US" altLang="zh-TW" dirty="0"/>
              <a:t>Steve Jobs</a:t>
            </a:r>
            <a:r>
              <a:rPr lang="zh-TW" altLang="en-US" dirty="0"/>
              <a:t>和</a:t>
            </a:r>
            <a:r>
              <a:rPr lang="en-US" altLang="zh-TW" dirty="0"/>
              <a:t>Steve Wozniak</a:t>
            </a:r>
            <a:r>
              <a:rPr lang="zh-TW" altLang="en-US" dirty="0"/>
              <a:t>成立了蘋果電腦公司，並推出了彼時極為流行的個人電腦</a:t>
            </a:r>
            <a:r>
              <a:rPr lang="en-US" altLang="zh-TW" dirty="0"/>
              <a:t>Apple II</a:t>
            </a:r>
            <a:r>
              <a:rPr lang="zh-TW" altLang="en-US" dirty="0"/>
              <a:t>。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C38A7B7-965E-7A27-889C-93B420EDA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34910" y="2369574"/>
            <a:ext cx="2251890" cy="188210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02C3C907-EAD6-EB44-08C6-73B2C496F06A}"/>
              </a:ext>
            </a:extLst>
          </p:cNvPr>
          <p:cNvSpPr/>
          <p:nvPr/>
        </p:nvSpPr>
        <p:spPr>
          <a:xfrm>
            <a:off x="2836150" y="4137900"/>
            <a:ext cx="457200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spAutoFit/>
          </a:bodyPr>
          <a:lstStyle/>
          <a:p>
            <a:r>
              <a:rPr lang="en-US" altLang="zh-TW" dirty="0"/>
              <a:t>Apple II</a:t>
            </a:r>
            <a:r>
              <a:rPr lang="zh-TW" altLang="en-US" dirty="0"/>
              <a:t>應可算是第一部大量流行的個人電腦</a:t>
            </a:r>
          </a:p>
        </p:txBody>
      </p:sp>
    </p:spTree>
    <p:extLst>
      <p:ext uri="{BB962C8B-B14F-4D97-AF65-F5344CB8AC3E}">
        <p14:creationId xmlns:p14="http://schemas.microsoft.com/office/powerpoint/2010/main" val="3657904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F577F-D166-781E-F42F-1DA284010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64FCB680-14B9-3491-CFAC-957DFE5CA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E56D1CF-B748-21F4-BAA4-CCA5D163F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個人電腦與軟體的崛起</a:t>
            </a:r>
            <a:endParaRPr lang="en-US" altLang="zh-TW" dirty="0"/>
          </a:p>
          <a:p>
            <a:pPr lvl="1"/>
            <a:r>
              <a:rPr lang="en-US" altLang="zh-TW" dirty="0"/>
              <a:t>Bill Gates</a:t>
            </a:r>
            <a:r>
              <a:rPr lang="zh-TW" altLang="en-US" dirty="0"/>
              <a:t>和</a:t>
            </a:r>
            <a:r>
              <a:rPr lang="en-US" altLang="zh-TW" dirty="0"/>
              <a:t>Paul Allen</a:t>
            </a:r>
            <a:r>
              <a:rPr lang="zh-TW" altLang="en-US" dirty="0"/>
              <a:t>創設</a:t>
            </a:r>
            <a:r>
              <a:rPr lang="zh-TW" altLang="en-US" dirty="0">
                <a:solidFill>
                  <a:srgbClr val="C00000"/>
                </a:solidFill>
              </a:rPr>
              <a:t>微軟</a:t>
            </a:r>
            <a:r>
              <a:rPr lang="en-US" altLang="zh-TW" dirty="0"/>
              <a:t>(Microsoft)</a:t>
            </a:r>
            <a:r>
              <a:rPr lang="zh-TW" altLang="en-US" dirty="0"/>
              <a:t>。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1981</a:t>
            </a:r>
            <a:r>
              <a:rPr lang="zh-TW" altLang="en-US" dirty="0"/>
              <a:t>年，</a:t>
            </a:r>
            <a:r>
              <a:rPr lang="en-US" altLang="zh-TW" dirty="0"/>
              <a:t>IBM</a:t>
            </a:r>
            <a:r>
              <a:rPr lang="zh-TW" altLang="en-US" dirty="0"/>
              <a:t>推出</a:t>
            </a:r>
            <a:r>
              <a:rPr lang="zh-TW" altLang="en-US" dirty="0">
                <a:solidFill>
                  <a:srgbClr val="C00000"/>
                </a:solidFill>
              </a:rPr>
              <a:t>開放式</a:t>
            </a:r>
            <a:r>
              <a:rPr lang="zh-TW" altLang="en-US" dirty="0"/>
              <a:t>的個人電腦架構。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287563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網路與</a:t>
            </a:r>
            <a:r>
              <a:rPr lang="en-US" altLang="zh-TW" dirty="0"/>
              <a:t>WWW</a:t>
            </a:r>
            <a:r>
              <a:rPr lang="zh-TW" altLang="en-US" dirty="0"/>
              <a:t>的革新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1989</a:t>
            </a:r>
            <a:r>
              <a:rPr lang="zh-TW" altLang="en-US" dirty="0"/>
              <a:t>年，</a:t>
            </a:r>
            <a:r>
              <a:rPr lang="en-US" altLang="zh-TW" dirty="0"/>
              <a:t>Tim Berners-Lee</a:t>
            </a:r>
            <a:r>
              <a:rPr lang="zh-TW" altLang="en-US" dirty="0"/>
              <a:t>提出了全球資訊網（</a:t>
            </a:r>
            <a:r>
              <a:rPr lang="en-US" altLang="zh-TW" dirty="0"/>
              <a:t>WWW</a:t>
            </a:r>
            <a:r>
              <a:rPr lang="zh-TW" altLang="en-US" dirty="0"/>
              <a:t>）的構想。</a:t>
            </a:r>
            <a:endParaRPr lang="en-US" altLang="zh-TW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48981" y="2785286"/>
            <a:ext cx="3986935" cy="18093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7" name="矩形 6"/>
          <p:cNvSpPr/>
          <p:nvPr/>
        </p:nvSpPr>
        <p:spPr>
          <a:xfrm>
            <a:off x="1656301" y="4594623"/>
            <a:ext cx="4904512" cy="424732"/>
          </a:xfrm>
          <a:prstGeom prst="rect">
            <a:avLst/>
          </a:prstGeom>
          <a:solidFill>
            <a:schemeClr val="accent6">
              <a:lumMod val="75000"/>
            </a:schemeClr>
          </a:solidFill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square">
            <a:spAutoFit/>
          </a:bodyPr>
          <a:lstStyle/>
          <a:p>
            <a:pPr marL="265113" indent="-265113">
              <a:lnSpc>
                <a:spcPct val="120000"/>
              </a:lnSpc>
            </a:pPr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全球資訊網發明人</a:t>
            </a:r>
            <a:r>
              <a:rPr lang="en-US" altLang="zh-TW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Tim Berners-Lee</a:t>
            </a:r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改變了世界</a:t>
            </a:r>
          </a:p>
        </p:txBody>
      </p:sp>
    </p:spTree>
    <p:extLst>
      <p:ext uri="{BB962C8B-B14F-4D97-AF65-F5344CB8AC3E}">
        <p14:creationId xmlns:p14="http://schemas.microsoft.com/office/powerpoint/2010/main" val="18197416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9DF24-DACA-00C5-9078-B91A2DD13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66E67FD1-B817-3AD6-FBB6-8E603A4DA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3AA81CBB-9D52-81DD-ACFB-828A6A45C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網路與</a:t>
            </a:r>
            <a:r>
              <a:rPr lang="en-US" altLang="zh-TW" dirty="0"/>
              <a:t>WWW</a:t>
            </a:r>
            <a:r>
              <a:rPr lang="zh-TW" altLang="en-US" dirty="0"/>
              <a:t>的革新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1990</a:t>
            </a:r>
            <a:r>
              <a:rPr lang="zh-TW" altLang="en-US" dirty="0"/>
              <a:t>年</a:t>
            </a:r>
            <a:r>
              <a:rPr lang="en-US" altLang="zh-TW" dirty="0"/>
              <a:t>WWW</a:t>
            </a:r>
            <a:r>
              <a:rPr lang="zh-TW" altLang="en-US" dirty="0"/>
              <a:t>正式推出，迅速風行全球。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1993</a:t>
            </a:r>
            <a:r>
              <a:rPr lang="zh-TW" altLang="en-US" dirty="0"/>
              <a:t>年，第一個圖形化瀏覽器</a:t>
            </a:r>
            <a:r>
              <a:rPr lang="en-US" altLang="zh-TW" dirty="0"/>
              <a:t>Mosaic</a:t>
            </a:r>
            <a:r>
              <a:rPr lang="zh-TW" altLang="en-US" dirty="0"/>
              <a:t>問世。</a:t>
            </a:r>
          </a:p>
        </p:txBody>
      </p:sp>
    </p:spTree>
    <p:extLst>
      <p:ext uri="{BB962C8B-B14F-4D97-AF65-F5344CB8AC3E}">
        <p14:creationId xmlns:p14="http://schemas.microsoft.com/office/powerpoint/2010/main" val="24492901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6761D-A7DE-F465-A2EB-FFC251E8C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D083B50-2CC8-82D0-5535-F1D6C2747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個人電腦與全球網路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0CC855F0-B789-B939-6C0E-27C182201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網路與</a:t>
            </a:r>
            <a:r>
              <a:rPr lang="en-US" altLang="zh-TW" dirty="0"/>
              <a:t>WWW</a:t>
            </a:r>
            <a:r>
              <a:rPr lang="zh-TW" altLang="en-US" dirty="0"/>
              <a:t>的革新─搜尋與通訊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1994</a:t>
            </a:r>
            <a:r>
              <a:rPr lang="zh-TW" altLang="en-US" dirty="0"/>
              <a:t>年，</a:t>
            </a:r>
            <a:r>
              <a:rPr lang="en-US" altLang="zh-TW" dirty="0"/>
              <a:t>Yahoo!</a:t>
            </a:r>
            <a:r>
              <a:rPr lang="zh-TW" altLang="en-US" dirty="0"/>
              <a:t>搜尋引擎推出。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1996</a:t>
            </a:r>
            <a:r>
              <a:rPr lang="zh-TW" altLang="en-US" dirty="0"/>
              <a:t>年，最早的即時通軟體</a:t>
            </a:r>
            <a:r>
              <a:rPr lang="en-US" altLang="zh-TW" dirty="0"/>
              <a:t>ICQ</a:t>
            </a:r>
            <a:r>
              <a:rPr lang="zh-TW" altLang="en-US" dirty="0"/>
              <a:t>誕生。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1998</a:t>
            </a:r>
            <a:r>
              <a:rPr lang="zh-TW" altLang="en-US" dirty="0"/>
              <a:t>年，廣受歡迎的搜尋引擎</a:t>
            </a:r>
            <a:r>
              <a:rPr lang="en-US" altLang="zh-TW" dirty="0"/>
              <a:t>Google</a:t>
            </a:r>
            <a:r>
              <a:rPr lang="zh-TW" altLang="en-US" dirty="0"/>
              <a:t>問世。</a:t>
            </a:r>
          </a:p>
        </p:txBody>
      </p:sp>
    </p:spTree>
    <p:extLst>
      <p:ext uri="{BB962C8B-B14F-4D97-AF65-F5344CB8AC3E}">
        <p14:creationId xmlns:p14="http://schemas.microsoft.com/office/powerpoint/2010/main" val="18083226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當代科技趨勢總覽（</a:t>
            </a:r>
            <a:r>
              <a:rPr lang="en-US" altLang="zh-TW" dirty="0"/>
              <a:t>2000</a:t>
            </a:r>
            <a:r>
              <a:rPr lang="zh-TW" altLang="en-US" dirty="0"/>
              <a:t>年後）</a:t>
            </a:r>
          </a:p>
        </p:txBody>
      </p:sp>
      <p:graphicFrame>
        <p:nvGraphicFramePr>
          <p:cNvPr id="7" name="資料庫圖表 6">
            <a:extLst>
              <a:ext uri="{FF2B5EF4-FFF2-40B4-BE49-F238E27FC236}">
                <a16:creationId xmlns:a16="http://schemas.microsoft.com/office/drawing/2014/main" id="{2E7D1376-BA6B-0336-64B2-2D0D68EAD0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0225423"/>
              </p:ext>
            </p:extLst>
          </p:nvPr>
        </p:nvGraphicFramePr>
        <p:xfrm>
          <a:off x="1601670" y="1401620"/>
          <a:ext cx="6018330" cy="32021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045567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當代科技趨勢總覽（</a:t>
            </a:r>
            <a:r>
              <a:rPr lang="en-US" altLang="zh-TW" dirty="0"/>
              <a:t>2000</a:t>
            </a:r>
            <a:r>
              <a:rPr lang="zh-TW" altLang="en-US" dirty="0"/>
              <a:t>年後）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457200" y="1660399"/>
            <a:ext cx="8229600" cy="3116596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/>
              <a:t>VLSI</a:t>
            </a:r>
            <a:r>
              <a:rPr lang="zh-TW" altLang="en-US" dirty="0"/>
              <a:t>（超大型積體電路）技術持續發展。</a:t>
            </a:r>
            <a:endParaRPr lang="en-US" altLang="zh-TW" dirty="0"/>
          </a:p>
          <a:p>
            <a:r>
              <a:rPr lang="zh-TW" altLang="en-US" dirty="0"/>
              <a:t>摩爾定律近乎守恆。</a:t>
            </a:r>
            <a:endParaRPr lang="en-US" altLang="zh-TW" dirty="0"/>
          </a:p>
          <a:p>
            <a:r>
              <a:rPr lang="zh-TW" altLang="en-US" dirty="0"/>
              <a:t>人工智慧專用處理器</a:t>
            </a:r>
            <a:r>
              <a:rPr lang="en-US" altLang="zh-TW" dirty="0"/>
              <a:t>GPU</a:t>
            </a:r>
            <a:r>
              <a:rPr lang="zh-TW" altLang="en-US" dirty="0"/>
              <a:t>（圖形處理單元）和</a:t>
            </a:r>
            <a:r>
              <a:rPr lang="en-US" altLang="zh-TW" dirty="0"/>
              <a:t>TPU</a:t>
            </a:r>
            <a:r>
              <a:rPr lang="zh-TW" altLang="en-US" dirty="0"/>
              <a:t>（張量處理單元）推波助瀾。</a:t>
            </a:r>
            <a:endParaRPr lang="en-US" altLang="zh-TW" dirty="0"/>
          </a:p>
          <a:p>
            <a:r>
              <a:rPr lang="zh-TW" altLang="en-US" dirty="0"/>
              <a:t>資通訊科技的發展，催生了新一波的數位革命浪潮，尤其在人工智慧、全球網路及智慧裝置等方面，深深影響了各行各業。</a:t>
            </a:r>
          </a:p>
        </p:txBody>
      </p:sp>
    </p:spTree>
    <p:extLst>
      <p:ext uri="{BB962C8B-B14F-4D97-AF65-F5344CB8AC3E}">
        <p14:creationId xmlns:p14="http://schemas.microsoft.com/office/powerpoint/2010/main" val="1950631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en-US" dirty="0"/>
              <a:t>西元</a:t>
            </a:r>
            <a:r>
              <a:rPr lang="en-US" altLang="zh-TW" dirty="0"/>
              <a:t>2016</a:t>
            </a:r>
            <a:r>
              <a:rPr lang="zh-TW" altLang="en-US" dirty="0"/>
              <a:t>年，電腦圍棋軟體</a:t>
            </a:r>
            <a:r>
              <a:rPr lang="en-US" altLang="zh-TW" dirty="0"/>
              <a:t>AlphaGo</a:t>
            </a:r>
            <a:r>
              <a:rPr lang="zh-TW" altLang="en-US" dirty="0"/>
              <a:t>以四勝一負的戰績，擊敗韓國棋王李世乭，讓世人見識到人工智慧的神速進展。</a:t>
            </a:r>
            <a:endParaRPr lang="en-US" altLang="zh-TW" dirty="0"/>
          </a:p>
          <a:p>
            <a:r>
              <a:rPr lang="en-US" altLang="zh-TW" dirty="0"/>
              <a:t>AlphaGo</a:t>
            </a:r>
            <a:r>
              <a:rPr lang="zh-TW" altLang="en-US" dirty="0"/>
              <a:t>後續透過</a:t>
            </a:r>
            <a:r>
              <a:rPr lang="zh-TW" altLang="en-US" dirty="0">
                <a:solidFill>
                  <a:srgbClr val="C00000"/>
                </a:solidFill>
              </a:rPr>
              <a:t>強化學習</a:t>
            </a:r>
            <a:r>
              <a:rPr lang="zh-TW" altLang="en-US" dirty="0"/>
              <a:t>模式，棋力持續增進。</a:t>
            </a:r>
            <a:endParaRPr lang="en-US" altLang="zh-TW" dirty="0"/>
          </a:p>
          <a:p>
            <a:r>
              <a:rPr lang="zh-TW" altLang="en-US" dirty="0"/>
              <a:t>西元</a:t>
            </a:r>
            <a:r>
              <a:rPr lang="en-US" altLang="zh-TW" dirty="0"/>
              <a:t>2019</a:t>
            </a:r>
            <a:r>
              <a:rPr lang="zh-TW" altLang="en-US" dirty="0"/>
              <a:t>年，</a:t>
            </a:r>
            <a:r>
              <a:rPr lang="zh-TW" altLang="en-US" dirty="0">
                <a:solidFill>
                  <a:srgbClr val="C00000"/>
                </a:solidFill>
              </a:rPr>
              <a:t>深度學習</a:t>
            </a:r>
            <a:r>
              <a:rPr lang="zh-TW" altLang="en-US" dirty="0"/>
              <a:t>（</a:t>
            </a:r>
            <a:r>
              <a:rPr lang="en-US" altLang="zh-TW" dirty="0"/>
              <a:t>Deep Learning</a:t>
            </a:r>
            <a:r>
              <a:rPr lang="zh-TW" altLang="en-US" dirty="0"/>
              <a:t>）技術革命的三位先驅者獲頒圖靈獎。</a:t>
            </a:r>
          </a:p>
        </p:txBody>
      </p:sp>
    </p:spTree>
    <p:extLst>
      <p:ext uri="{BB962C8B-B14F-4D97-AF65-F5344CB8AC3E}">
        <p14:creationId xmlns:p14="http://schemas.microsoft.com/office/powerpoint/2010/main" val="36128088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BFDB2-673C-E692-05FF-6DE695339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C4D8F42D-5689-62E3-F526-20A200CD9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E2BF8B9F-D158-9A6E-83A1-890A4D3FB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0" dirty="0"/>
              <a:t>生成式</a:t>
            </a:r>
            <a:r>
              <a:rPr lang="en-US" altLang="zh-TW" dirty="0"/>
              <a:t>AI</a:t>
            </a:r>
            <a:r>
              <a:rPr lang="zh-TW" altLang="en-US" b="0" dirty="0"/>
              <a:t>爆發</a:t>
            </a:r>
            <a:endParaRPr lang="en-US" altLang="zh-TW" b="0" dirty="0"/>
          </a:p>
          <a:p>
            <a:pPr lvl="1"/>
            <a:r>
              <a:rPr lang="zh-TW" altLang="en-US" b="0" dirty="0"/>
              <a:t>西元</a:t>
            </a:r>
            <a:r>
              <a:rPr lang="en-US" altLang="zh-TW" b="0" dirty="0"/>
              <a:t>2022</a:t>
            </a:r>
            <a:r>
              <a:rPr lang="zh-TW" altLang="en-US" b="0" dirty="0"/>
              <a:t>年，</a:t>
            </a:r>
            <a:r>
              <a:rPr lang="en-US" altLang="zh-TW" b="0" dirty="0"/>
              <a:t>OpenAI</a:t>
            </a:r>
            <a:r>
              <a:rPr lang="zh-TW" altLang="en-US" b="0" dirty="0"/>
              <a:t>推出聊天機器人</a:t>
            </a:r>
            <a:r>
              <a:rPr lang="en-US" altLang="zh-TW" b="0" dirty="0"/>
              <a:t>ChatGPT</a:t>
            </a:r>
            <a:r>
              <a:rPr lang="zh-TW" altLang="en-US" b="0" dirty="0"/>
              <a:t>。它基於深度學習自然語言模型</a:t>
            </a:r>
            <a:r>
              <a:rPr lang="en-US" altLang="zh-TW" b="0" dirty="0"/>
              <a:t>GPT-3.5</a:t>
            </a:r>
            <a:r>
              <a:rPr lang="zh-TW" altLang="en-US" b="0" dirty="0"/>
              <a:t>，並使用監督學習和強化學習等技術。</a:t>
            </a:r>
            <a:endParaRPr lang="en-US" altLang="zh-TW" b="0" dirty="0"/>
          </a:p>
          <a:p>
            <a:pPr lvl="1"/>
            <a:r>
              <a:rPr lang="en-US" altLang="zh-TW" b="0" dirty="0"/>
              <a:t>Google</a:t>
            </a:r>
            <a:r>
              <a:rPr lang="zh-TW" altLang="en-US" b="0" dirty="0"/>
              <a:t>於西元</a:t>
            </a:r>
            <a:r>
              <a:rPr lang="en-US" altLang="zh-TW" b="0" dirty="0"/>
              <a:t>2023</a:t>
            </a:r>
            <a:r>
              <a:rPr lang="zh-TW" altLang="en-US" b="0" dirty="0"/>
              <a:t>年推出新世代多模態大型語言模型</a:t>
            </a:r>
            <a:r>
              <a:rPr lang="en-US" altLang="zh-TW" b="0" dirty="0"/>
              <a:t>Gemini</a:t>
            </a:r>
            <a:r>
              <a:rPr lang="zh-TW" altLang="en-US" b="0" dirty="0"/>
              <a:t>，加速網路查詢模式的典範轉移。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87738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D935-B7CC-D81D-3FEC-A567AE3E8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E8ED910-2F9B-F674-07AB-BA979A458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822CF04D-5613-DE53-FCD7-AFEBA8144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b="0" dirty="0"/>
              <a:t>生成式</a:t>
            </a:r>
            <a:r>
              <a:rPr lang="en-US" altLang="zh-TW" dirty="0"/>
              <a:t>AI</a:t>
            </a:r>
            <a:r>
              <a:rPr lang="zh-TW" altLang="en-US" b="0" dirty="0"/>
              <a:t>爆發</a:t>
            </a:r>
            <a:endParaRPr lang="en-US" altLang="zh-TW" b="0" dirty="0"/>
          </a:p>
          <a:p>
            <a:pPr lvl="1"/>
            <a:r>
              <a:rPr lang="zh-TW" altLang="en-US" b="0" dirty="0"/>
              <a:t>生成式人工智慧（</a:t>
            </a:r>
            <a:r>
              <a:rPr lang="en-US" altLang="zh-TW" b="0" dirty="0"/>
              <a:t>Generative AI</a:t>
            </a:r>
            <a:r>
              <a:rPr lang="zh-TW" altLang="en-US" b="0" dirty="0"/>
              <a:t>）利用深層運算來演繹生成全新內容，從影音文字創作到軟體開發偵錯，皆已帶來突破與衝擊。</a:t>
            </a:r>
            <a:endParaRPr lang="en-US" altLang="zh-TW" b="0" dirty="0"/>
          </a:p>
          <a:p>
            <a:pPr lvl="1"/>
            <a:r>
              <a:rPr lang="zh-TW" altLang="en-US" b="0" dirty="0"/>
              <a:t>當前流行的網路查詢，已逐漸從關鍵字搜尋相關網頁，轉變為自然語言聊天式的智慧統整問答。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73052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40BCB-B6D5-8778-84CB-2F9DA45FE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05F88577-8C0D-A16E-5F42-EB5A5FD6B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6AD32FF8-F2D7-1CC2-6BE4-BFE3F9D74F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b="0" dirty="0"/>
              <a:t>實體</a:t>
            </a:r>
            <a:r>
              <a:rPr lang="en-US" altLang="zh-TW" b="0" dirty="0"/>
              <a:t>AI</a:t>
            </a:r>
          </a:p>
          <a:p>
            <a:pPr lvl="1"/>
            <a:r>
              <a:rPr lang="zh-TW" altLang="en-US" b="0" dirty="0"/>
              <a:t>無人機和機器人已經廣泛應用在如物流運輸、醫療救援、巡邏警戒、油礦探勘、精密製造、精準農業、餐飲服務、休閒娛樂等。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852362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FE96D-6A39-9C68-4AF3-B39367534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BD679B81-90E5-40BD-ABBE-626B56B13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5D4F08E-7FF9-8FE6-38F0-760CDA85E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zh-TW" altLang="en-US" b="0" dirty="0"/>
              <a:t>學術與倫理衝擊</a:t>
            </a:r>
            <a:endParaRPr lang="en-US" altLang="zh-TW" b="0" dirty="0"/>
          </a:p>
          <a:p>
            <a:pPr lvl="1"/>
            <a:r>
              <a:rPr lang="zh-TW" altLang="en-US" b="0" dirty="0"/>
              <a:t>西元</a:t>
            </a:r>
            <a:r>
              <a:rPr lang="en-US" altLang="zh-TW" b="0" dirty="0"/>
              <a:t>2024</a:t>
            </a:r>
            <a:r>
              <a:rPr lang="zh-TW" altLang="en-US" b="0" dirty="0"/>
              <a:t>年，約翰．霍普菲爾（</a:t>
            </a:r>
            <a:r>
              <a:rPr lang="en-US" altLang="zh-TW" b="0" dirty="0"/>
              <a:t>John Hopfield</a:t>
            </a:r>
            <a:r>
              <a:rPr lang="zh-TW" altLang="en-US" b="0" dirty="0"/>
              <a:t>）和傑佛瑞．辛頓（</a:t>
            </a:r>
            <a:r>
              <a:rPr lang="en-US" altLang="zh-TW" b="0" dirty="0"/>
              <a:t>Geoffrey Hinton</a:t>
            </a:r>
            <a:r>
              <a:rPr lang="zh-TW" altLang="en-US" b="0" dirty="0"/>
              <a:t>）因透過類神經網路實現機器學習的基礎發現與發明，獲頒諾貝爾物理學獎。</a:t>
            </a:r>
            <a:endParaRPr lang="en-US" altLang="zh-TW" b="0" dirty="0"/>
          </a:p>
          <a:p>
            <a:pPr lvl="1"/>
            <a:r>
              <a:rPr lang="zh-TW" altLang="en-US" b="0" dirty="0"/>
              <a:t>同年，化學獎也頒給運用計算工具在蛋白質設計和結構預測的學者，進一步見證了</a:t>
            </a:r>
            <a:r>
              <a:rPr lang="zh-TW" altLang="en-US" b="0" dirty="0">
                <a:solidFill>
                  <a:srgbClr val="C00000"/>
                </a:solidFill>
              </a:rPr>
              <a:t>深度學習</a:t>
            </a:r>
            <a:r>
              <a:rPr lang="zh-TW" altLang="en-US" b="0" dirty="0"/>
              <a:t>的繁榮景象。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63217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071AFD-8602-58B9-6258-0F29CEBF9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B77590B-CACA-6CCC-866E-6E224145B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當代科技趨勢總覽─人工智慧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81CC0FE1-6FBD-0010-6B80-511730CA9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/>
          </a:bodyPr>
          <a:lstStyle/>
          <a:p>
            <a:r>
              <a:rPr lang="zh-TW" altLang="en-US" b="0" dirty="0"/>
              <a:t>學術與倫理衝擊</a:t>
            </a:r>
            <a:endParaRPr lang="en-US" altLang="zh-TW" b="0" dirty="0"/>
          </a:p>
          <a:p>
            <a:pPr lvl="1"/>
            <a:r>
              <a:rPr lang="zh-TW" altLang="en-US" b="0" dirty="0"/>
              <a:t>生成式</a:t>
            </a:r>
            <a:r>
              <a:rPr lang="en-US" altLang="zh-TW" b="0" dirty="0"/>
              <a:t>AI</a:t>
            </a:r>
            <a:r>
              <a:rPr lang="zh-TW" altLang="en-US" b="0" dirty="0"/>
              <a:t>也帶來風險，例如</a:t>
            </a:r>
            <a:r>
              <a:rPr lang="en-US" altLang="zh-TW" b="0" dirty="0">
                <a:solidFill>
                  <a:srgbClr val="C00000"/>
                </a:solidFill>
              </a:rPr>
              <a:t>AI</a:t>
            </a:r>
            <a:r>
              <a:rPr lang="zh-TW" altLang="en-US" b="0" dirty="0">
                <a:solidFill>
                  <a:srgbClr val="C00000"/>
                </a:solidFill>
              </a:rPr>
              <a:t>幻覺</a:t>
            </a:r>
            <a:r>
              <a:rPr lang="zh-TW" altLang="en-US" b="0" dirty="0"/>
              <a:t>（</a:t>
            </a:r>
            <a:r>
              <a:rPr lang="en-US" altLang="zh-TW" b="0" dirty="0"/>
              <a:t>AI Hallucination</a:t>
            </a:r>
            <a:r>
              <a:rPr lang="zh-TW" altLang="en-US" b="0" dirty="0"/>
              <a:t>），它凸槌時會產生看似正確而卻嚴重錯誤的資訊。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638766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52A9F-8494-787A-C2C6-E5C433C9E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621AE3F5-0668-9250-CB7B-DA4363EBC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C00000"/>
                </a:solidFill>
              </a:rPr>
              <a:t>百家相爭鳴 兆事永亨通</a:t>
            </a:r>
            <a:r>
              <a:rPr lang="zh-TW" altLang="en-US" dirty="0"/>
              <a:t>　　</a:t>
            </a:r>
            <a:endParaRPr lang="en-US" altLang="zh-TW" dirty="0"/>
          </a:p>
          <a:p>
            <a:r>
              <a:rPr lang="en-US" altLang="zh-TW" dirty="0"/>
              <a:t>ChatGPT</a:t>
            </a:r>
            <a:r>
              <a:rPr lang="zh-TW" altLang="en-US" dirty="0"/>
              <a:t>上知天文，下知地理，可說是「居家旅行，拉家帶口」的必備良伴。因此，愈來愈多的人們上網諮詢時，不是以關鍵字搜尋相關網頁，然後再逐頁檢視歸納；而是以母語聊天方式提出需求，直接由</a:t>
            </a:r>
            <a:r>
              <a:rPr lang="en-US" altLang="zh-TW" dirty="0"/>
              <a:t>ChatGPT</a:t>
            </a:r>
            <a:r>
              <a:rPr lang="zh-TW" altLang="en-US" dirty="0"/>
              <a:t>智能生成回應所需。</a:t>
            </a:r>
          </a:p>
        </p:txBody>
      </p:sp>
    </p:spTree>
    <p:extLst>
      <p:ext uri="{BB962C8B-B14F-4D97-AF65-F5344CB8AC3E}">
        <p14:creationId xmlns:p14="http://schemas.microsoft.com/office/powerpoint/2010/main" val="32831041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FC50A-183D-821A-A54C-721EDCAE1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0FCACFEA-B619-5204-83F8-392D55EAB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此一上網求知的典範轉移，當然對搜尋引擎巨擘</a:t>
            </a:r>
            <a:r>
              <a:rPr lang="en-US" altLang="zh-TW" dirty="0"/>
              <a:t>Google</a:t>
            </a:r>
            <a:r>
              <a:rPr lang="zh-TW" altLang="en-US" dirty="0"/>
              <a:t>造成巨大威脅，故而在</a:t>
            </a:r>
            <a:r>
              <a:rPr lang="en-US" altLang="zh-TW" dirty="0"/>
              <a:t>ChatGPT</a:t>
            </a:r>
            <a:r>
              <a:rPr lang="zh-TW" altLang="en-US" dirty="0"/>
              <a:t>周歲之際，由</a:t>
            </a:r>
            <a:r>
              <a:rPr lang="en-US" altLang="zh-TW" dirty="0"/>
              <a:t>Google</a:t>
            </a:r>
            <a:r>
              <a:rPr lang="zh-TW" altLang="en-US" dirty="0"/>
              <a:t>的</a:t>
            </a:r>
            <a:r>
              <a:rPr lang="en-US" altLang="zh-TW" dirty="0"/>
              <a:t>AI</a:t>
            </a:r>
            <a:r>
              <a:rPr lang="zh-TW" altLang="en-US" dirty="0"/>
              <a:t>雙強部門</a:t>
            </a:r>
            <a:r>
              <a:rPr lang="en-US" altLang="zh-TW" dirty="0"/>
              <a:t>Google Brain</a:t>
            </a:r>
            <a:r>
              <a:rPr lang="zh-TW" altLang="en-US" dirty="0"/>
              <a:t>和</a:t>
            </a:r>
            <a:r>
              <a:rPr lang="en-US" altLang="zh-TW" dirty="0"/>
              <a:t>DeepMind</a:t>
            </a:r>
            <a:r>
              <a:rPr lang="zh-TW" altLang="en-US" dirty="0"/>
              <a:t>齊力開發的</a:t>
            </a:r>
            <a:r>
              <a:rPr lang="en-US" altLang="zh-TW" dirty="0"/>
              <a:t>AI</a:t>
            </a:r>
            <a:r>
              <a:rPr lang="zh-TW" altLang="en-US" dirty="0"/>
              <a:t>助理</a:t>
            </a:r>
            <a:r>
              <a:rPr lang="en-US" altLang="zh-TW" dirty="0"/>
              <a:t>Gemini</a:t>
            </a:r>
            <a:r>
              <a:rPr lang="zh-TW" altLang="en-US" dirty="0"/>
              <a:t>（雙子座）正式問世。</a:t>
            </a:r>
            <a:endParaRPr lang="en-US" altLang="zh-TW" dirty="0"/>
          </a:p>
          <a:p>
            <a:r>
              <a:rPr lang="zh-TW" altLang="en-US" dirty="0"/>
              <a:t>另一方面，</a:t>
            </a:r>
            <a:r>
              <a:rPr lang="en-US" altLang="zh-TW" dirty="0"/>
              <a:t>ChatGPT</a:t>
            </a:r>
            <a:r>
              <a:rPr lang="zh-TW" altLang="en-US" dirty="0"/>
              <a:t>也在</a:t>
            </a:r>
            <a:r>
              <a:rPr lang="en-US" altLang="zh-TW" dirty="0"/>
              <a:t>2024</a:t>
            </a:r>
            <a:r>
              <a:rPr lang="zh-TW" altLang="en-US" dirty="0"/>
              <a:t>年</a:t>
            </a:r>
            <a:r>
              <a:rPr lang="en-US" altLang="zh-TW" dirty="0"/>
              <a:t>10</a:t>
            </a:r>
            <a:r>
              <a:rPr lang="zh-TW" altLang="en-US" dirty="0"/>
              <a:t>月推出搜尋功能，直接與</a:t>
            </a:r>
            <a:r>
              <a:rPr lang="en-US" altLang="zh-TW" dirty="0"/>
              <a:t>Google</a:t>
            </a:r>
            <a:r>
              <a:rPr lang="zh-TW" altLang="en-US" dirty="0"/>
              <a:t>拿手的搜尋引擎叫板。</a:t>
            </a:r>
          </a:p>
        </p:txBody>
      </p:sp>
    </p:spTree>
    <p:extLst>
      <p:ext uri="{BB962C8B-B14F-4D97-AF65-F5344CB8AC3E}">
        <p14:creationId xmlns:p14="http://schemas.microsoft.com/office/powerpoint/2010/main" val="34081191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199CB-3C9D-5BC3-F3FA-C4F18D2BF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EE796AA8-EA74-7311-FD5C-B394C6863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除了</a:t>
            </a:r>
            <a:r>
              <a:rPr lang="en-US" altLang="zh-TW" dirty="0"/>
              <a:t>ChatGPT</a:t>
            </a:r>
            <a:r>
              <a:rPr lang="zh-TW" altLang="en-US" dirty="0"/>
              <a:t>和</a:t>
            </a:r>
            <a:r>
              <a:rPr lang="en-US" altLang="zh-TW" dirty="0"/>
              <a:t>Gemini</a:t>
            </a:r>
            <a:r>
              <a:rPr lang="zh-TW" altLang="en-US" dirty="0"/>
              <a:t>之外，還有在內容隨建即用和複雜程式設計方面相當出色的</a:t>
            </a:r>
            <a:r>
              <a:rPr lang="en-US" altLang="zh-TW" dirty="0"/>
              <a:t>Claude</a:t>
            </a:r>
            <a:r>
              <a:rPr lang="zh-TW" altLang="en-US" dirty="0"/>
              <a:t>、擅長自動化流程任務，並與</a:t>
            </a:r>
            <a:r>
              <a:rPr lang="en-US" altLang="zh-TW" dirty="0"/>
              <a:t>Windows</a:t>
            </a:r>
            <a:r>
              <a:rPr lang="zh-TW" altLang="en-US" dirty="0"/>
              <a:t>無縫整合的</a:t>
            </a:r>
            <a:r>
              <a:rPr lang="en-US" altLang="zh-TW" dirty="0"/>
              <a:t>Copilot</a:t>
            </a:r>
            <a:r>
              <a:rPr lang="zh-TW" altLang="en-US" dirty="0"/>
              <a:t>、專注搜尋和資訊檢索的</a:t>
            </a:r>
            <a:r>
              <a:rPr lang="en-US" altLang="zh-TW" dirty="0"/>
              <a:t>Perplexity AI</a:t>
            </a:r>
            <a:r>
              <a:rPr lang="zh-TW" altLang="en-US" dirty="0"/>
              <a:t>、低訓練成本的</a:t>
            </a:r>
            <a:r>
              <a:rPr lang="en-US" altLang="zh-TW" dirty="0"/>
              <a:t>DeepSeek</a:t>
            </a:r>
            <a:r>
              <a:rPr lang="zh-TW" altLang="en-US" dirty="0"/>
              <a:t>等。此外，蘋果的</a:t>
            </a:r>
            <a:r>
              <a:rPr lang="en-US" altLang="zh-TW" dirty="0"/>
              <a:t>Siri</a:t>
            </a:r>
            <a:r>
              <a:rPr lang="zh-TW" altLang="en-US" dirty="0"/>
              <a:t>、亞馬遜的</a:t>
            </a:r>
            <a:r>
              <a:rPr lang="en-US" altLang="zh-TW" dirty="0"/>
              <a:t>Alexa</a:t>
            </a:r>
            <a:r>
              <a:rPr lang="zh-TW" altLang="en-US" dirty="0"/>
              <a:t>，以及</a:t>
            </a:r>
            <a:r>
              <a:rPr lang="en-US" altLang="zh-TW" dirty="0"/>
              <a:t>2025</a:t>
            </a:r>
            <a:r>
              <a:rPr lang="zh-TW" altLang="en-US" dirty="0"/>
              <a:t>年底宣布要在臺灣上線的</a:t>
            </a:r>
            <a:r>
              <a:rPr lang="en-US" altLang="zh-TW" dirty="0"/>
              <a:t>Meta AI</a:t>
            </a:r>
            <a:r>
              <a:rPr lang="zh-TW" altLang="en-US" dirty="0"/>
              <a:t>等，各自都擁有為數可觀的愛用人士。</a:t>
            </a:r>
          </a:p>
        </p:txBody>
      </p:sp>
    </p:spTree>
    <p:extLst>
      <p:ext uri="{BB962C8B-B14F-4D97-AF65-F5344CB8AC3E}">
        <p14:creationId xmlns:p14="http://schemas.microsoft.com/office/powerpoint/2010/main" val="34198621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F2E7-204E-24AF-76A0-D91ED7D8E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B392FF1-668D-2CAD-4094-2D064BD6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當代科技趨勢總覽─硬體架構與量子突破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D7D317A4-A8C2-21AD-884A-696CC6523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/>
          </a:bodyPr>
          <a:lstStyle/>
          <a:p>
            <a:r>
              <a:rPr lang="zh-TW" altLang="en-US" b="0" dirty="0"/>
              <a:t>微處理器在</a:t>
            </a:r>
            <a:r>
              <a:rPr lang="en-US" altLang="zh-TW" b="0" dirty="0"/>
              <a:t>VLSI</a:t>
            </a:r>
            <a:r>
              <a:rPr lang="zh-TW" altLang="en-US" b="0" dirty="0"/>
              <a:t>時代進展神速，</a:t>
            </a:r>
            <a:r>
              <a:rPr lang="en-US" altLang="zh-TW" b="0" dirty="0"/>
              <a:t>Intel</a:t>
            </a:r>
            <a:r>
              <a:rPr lang="zh-TW" altLang="en-US" b="0" dirty="0"/>
              <a:t>、</a:t>
            </a:r>
            <a:r>
              <a:rPr lang="en-US" altLang="zh-TW" b="0" dirty="0"/>
              <a:t>AMD</a:t>
            </a:r>
            <a:r>
              <a:rPr lang="zh-TW" altLang="en-US" b="0" dirty="0"/>
              <a:t>等公司持續推陳出新。</a:t>
            </a:r>
            <a:endParaRPr lang="en-US" altLang="zh-TW" b="0" dirty="0"/>
          </a:p>
          <a:p>
            <a:r>
              <a:rPr lang="zh-TW" altLang="en-US" b="0" dirty="0"/>
              <a:t>近年來，晶片製造和供應鏈成為全球焦點。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384582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D7026-BB58-734F-6917-A3646E9E5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FFCE240-4779-7F68-E38C-3493CCA93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當代科技趨勢總覽─硬體架構與量子突破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25FF86E5-7145-B908-34E4-DCE69C07A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 lnSpcReduction="10000"/>
          </a:bodyPr>
          <a:lstStyle/>
          <a:p>
            <a:r>
              <a:rPr lang="zh-TW" altLang="en-US" b="0" dirty="0"/>
              <a:t>量子計算</a:t>
            </a:r>
            <a:endParaRPr lang="en-US" altLang="zh-TW" b="0" dirty="0"/>
          </a:p>
          <a:p>
            <a:pPr lvl="1"/>
            <a:r>
              <a:rPr lang="zh-TW" altLang="en-US" b="0" dirty="0"/>
              <a:t>西元</a:t>
            </a:r>
            <a:r>
              <a:rPr lang="en-US" altLang="zh-TW" b="0" dirty="0"/>
              <a:t>2021</a:t>
            </a:r>
            <a:r>
              <a:rPr lang="zh-TW" altLang="en-US" b="0" dirty="0"/>
              <a:t>年，</a:t>
            </a:r>
            <a:r>
              <a:rPr lang="en-US" altLang="zh-TW" b="0" dirty="0" err="1"/>
              <a:t>IonQ</a:t>
            </a:r>
            <a:r>
              <a:rPr lang="zh-TW" altLang="en-US" b="0" dirty="0"/>
              <a:t>在紐約證交所上市，成為首家公開發行的量子電腦公司。</a:t>
            </a:r>
            <a:endParaRPr lang="en-US" altLang="zh-TW" b="0" dirty="0"/>
          </a:p>
          <a:p>
            <a:pPr lvl="1"/>
            <a:r>
              <a:rPr lang="zh-TW" altLang="en-US" b="0" dirty="0"/>
              <a:t>量子電腦的基本單位是</a:t>
            </a:r>
            <a:r>
              <a:rPr lang="zh-TW" altLang="en-US" b="0" dirty="0">
                <a:solidFill>
                  <a:srgbClr val="C00000"/>
                </a:solidFill>
              </a:rPr>
              <a:t>量子位元</a:t>
            </a:r>
            <a:r>
              <a:rPr lang="zh-TW" altLang="en-US" b="0" dirty="0"/>
              <a:t>（</a:t>
            </a:r>
            <a:r>
              <a:rPr lang="en-US" altLang="zh-TW" b="0" dirty="0"/>
              <a:t>qubit</a:t>
            </a:r>
            <a:r>
              <a:rPr lang="zh-TW" altLang="en-US" b="0" dirty="0"/>
              <a:t>），它以</a:t>
            </a:r>
            <a:r>
              <a:rPr lang="zh-TW" altLang="en-US" b="0" dirty="0">
                <a:solidFill>
                  <a:srgbClr val="0070C0"/>
                </a:solidFill>
              </a:rPr>
              <a:t>疊加態</a:t>
            </a:r>
            <a:r>
              <a:rPr lang="zh-TW" altLang="en-US" b="0" dirty="0"/>
              <a:t>並存</a:t>
            </a:r>
            <a:r>
              <a:rPr lang="en-US" altLang="zh-TW" b="0" dirty="0"/>
              <a:t>0</a:t>
            </a:r>
            <a:r>
              <a:rPr lang="zh-TW" altLang="en-US" b="0" dirty="0"/>
              <a:t>和</a:t>
            </a:r>
            <a:r>
              <a:rPr lang="en-US" altLang="zh-TW" b="0" dirty="0"/>
              <a:t>1</a:t>
            </a:r>
            <a:r>
              <a:rPr lang="zh-TW" altLang="en-US" b="0" dirty="0"/>
              <a:t>，且同群的量子位元之間可</a:t>
            </a:r>
            <a:r>
              <a:rPr lang="zh-TW" altLang="en-US" b="0" dirty="0">
                <a:solidFill>
                  <a:srgbClr val="0070C0"/>
                </a:solidFill>
              </a:rPr>
              <a:t>遠距糾纏</a:t>
            </a:r>
            <a:r>
              <a:rPr lang="zh-TW" altLang="en-US" b="0" dirty="0"/>
              <a:t>，使其具備處理複雜問題的超強運算能力。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615985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ACCB-65FB-DF8B-7484-8625977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3D57871-BED4-ADEC-F8F6-AFCE8EEEE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當代科技趨勢總覽─網路連結與全球化應用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BBD65ED6-D1C9-7EBA-2E68-7539320B8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b="0" dirty="0"/>
              <a:t>西元</a:t>
            </a:r>
            <a:r>
              <a:rPr lang="en-US" altLang="zh-TW" b="0" dirty="0"/>
              <a:t>2001</a:t>
            </a:r>
            <a:r>
              <a:rPr lang="zh-TW" altLang="en-US" b="0" dirty="0"/>
              <a:t>年，維基百科（</a:t>
            </a:r>
            <a:r>
              <a:rPr lang="en-US" altLang="zh-TW" b="0" dirty="0"/>
              <a:t>Wikipedia</a:t>
            </a:r>
            <a:r>
              <a:rPr lang="zh-TW" altLang="en-US" b="0" dirty="0"/>
              <a:t>）問世。</a:t>
            </a:r>
            <a:endParaRPr lang="en-US" altLang="zh-TW" b="0" dirty="0"/>
          </a:p>
          <a:p>
            <a:r>
              <a:rPr lang="zh-TW" altLang="en-US" b="0" dirty="0"/>
              <a:t>西元</a:t>
            </a:r>
            <a:r>
              <a:rPr lang="en-US" altLang="zh-TW" b="0" dirty="0"/>
              <a:t>2007</a:t>
            </a:r>
            <a:r>
              <a:rPr lang="zh-TW" altLang="en-US" b="0" dirty="0"/>
              <a:t>年，</a:t>
            </a:r>
            <a:r>
              <a:rPr lang="en-US" altLang="zh-TW" b="0" dirty="0"/>
              <a:t>Apple</a:t>
            </a:r>
            <a:r>
              <a:rPr lang="zh-TW" altLang="en-US" b="0" dirty="0"/>
              <a:t>推出</a:t>
            </a:r>
            <a:r>
              <a:rPr lang="en-US" altLang="zh-TW" b="0" dirty="0"/>
              <a:t>iPhone</a:t>
            </a:r>
            <a:r>
              <a:rPr lang="zh-TW" altLang="en-US" b="0" dirty="0"/>
              <a:t>，</a:t>
            </a:r>
            <a:r>
              <a:rPr lang="en-US" altLang="zh-TW" b="0" dirty="0"/>
              <a:t>Google</a:t>
            </a:r>
            <a:r>
              <a:rPr lang="zh-TW" altLang="en-US" b="0" dirty="0"/>
              <a:t>推出</a:t>
            </a:r>
            <a:r>
              <a:rPr lang="en-US" altLang="zh-TW" b="0" dirty="0"/>
              <a:t>Android</a:t>
            </a:r>
            <a:r>
              <a:rPr lang="zh-TW" altLang="en-US" b="0" dirty="0"/>
              <a:t>行動電話平台，使手機與電腦更進一步結合。</a:t>
            </a:r>
            <a:endParaRPr lang="en-US" altLang="zh-TW" b="0" dirty="0"/>
          </a:p>
          <a:p>
            <a:r>
              <a:rPr lang="zh-TW" altLang="en-US" b="0" dirty="0"/>
              <a:t>西元</a:t>
            </a:r>
            <a:r>
              <a:rPr lang="en-US" altLang="zh-TW" b="0" dirty="0"/>
              <a:t>2010</a:t>
            </a:r>
            <a:r>
              <a:rPr lang="zh-TW" altLang="en-US" b="0" dirty="0"/>
              <a:t>年，透過網路計算、儲存及服務的雲端運算成為熱門技術名詞。</a:t>
            </a:r>
            <a:endParaRPr lang="en-US" altLang="zh-TW" b="0" dirty="0"/>
          </a:p>
          <a:p>
            <a:pPr lvl="1"/>
            <a:r>
              <a:rPr lang="zh-TW" altLang="en-US" b="0" dirty="0"/>
              <a:t>雲端運算技術的成熟，應驗了人工智慧大師</a:t>
            </a:r>
            <a:r>
              <a:rPr lang="en-US" altLang="zh-TW" b="0" dirty="0"/>
              <a:t>John McCarthy</a:t>
            </a:r>
            <a:r>
              <a:rPr lang="zh-TW" altLang="en-US" b="0" dirty="0"/>
              <a:t>在</a:t>
            </a:r>
            <a:r>
              <a:rPr lang="en-US" altLang="zh-TW" b="0" dirty="0"/>
              <a:t>1960</a:t>
            </a:r>
            <a:r>
              <a:rPr lang="zh-TW" altLang="en-US" b="0" dirty="0"/>
              <a:t>年代所預言，「有朝一日，運算可能被組織成一種公用事業」。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634368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EA333-9B29-FBE5-3EC1-5A6F8534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DBB84135-4213-9067-38CD-D72D58D1C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當代科技趨勢總覽─網路連結與全球化應用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073B9C8A-E073-F8BE-D856-AE2BA5B9A3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社群與行動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2012</a:t>
            </a:r>
            <a:r>
              <a:rPr lang="zh-TW" altLang="en-US" dirty="0"/>
              <a:t>年，臉書（</a:t>
            </a:r>
            <a:r>
              <a:rPr lang="en-US" altLang="zh-TW" dirty="0"/>
              <a:t>Facebook</a:t>
            </a:r>
            <a:r>
              <a:rPr lang="zh-TW" altLang="en-US" dirty="0"/>
              <a:t>）在美國申請上市。</a:t>
            </a:r>
            <a:endParaRPr lang="en-US" altLang="zh-TW" dirty="0"/>
          </a:p>
          <a:p>
            <a:r>
              <a:rPr lang="zh-TW" altLang="en-US" dirty="0"/>
              <a:t>低軌道衛星通訊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2022</a:t>
            </a:r>
            <a:r>
              <a:rPr lang="zh-TW" altLang="en-US" dirty="0"/>
              <a:t>年，</a:t>
            </a:r>
            <a:r>
              <a:rPr lang="en-US" altLang="zh-TW" dirty="0"/>
              <a:t>Starlink</a:t>
            </a:r>
            <a:r>
              <a:rPr lang="zh-TW" altLang="en-US" dirty="0"/>
              <a:t>公司發射了超過</a:t>
            </a:r>
            <a:r>
              <a:rPr lang="en-US" altLang="zh-TW" dirty="0"/>
              <a:t>1,900</a:t>
            </a:r>
            <a:r>
              <a:rPr lang="zh-TW" altLang="en-US" dirty="0"/>
              <a:t>顆衛星到天空上，提供透過衛星的寬頻傳輸服務。</a:t>
            </a:r>
            <a:endParaRPr lang="en-US" altLang="zh-TW" dirty="0"/>
          </a:p>
          <a:p>
            <a:pPr lvl="1"/>
            <a:r>
              <a:rPr lang="zh-TW" altLang="en-US" dirty="0"/>
              <a:t>低軌衛星因其低成本、高頻寬和低延遲的特性，成為未來達成廣大通訊涵蓋率的關鍵。</a:t>
            </a:r>
          </a:p>
        </p:txBody>
      </p:sp>
    </p:spTree>
    <p:extLst>
      <p:ext uri="{BB962C8B-B14F-4D97-AF65-F5344CB8AC3E}">
        <p14:creationId xmlns:p14="http://schemas.microsoft.com/office/powerpoint/2010/main" val="42731221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3DB2C-1AF4-118D-A3C2-D99C1E4C5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13504DEA-A02A-F51C-FED5-EBA3BF876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當代科技趨勢總覽─網路連結與全球化應用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DBA86DD-6FA0-DC28-6E05-FD5E4D2C4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元宇宙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2021</a:t>
            </a:r>
            <a:r>
              <a:rPr lang="zh-TW" altLang="en-US" dirty="0"/>
              <a:t>年，臉書改名</a:t>
            </a:r>
            <a:r>
              <a:rPr lang="en-US" altLang="zh-TW" dirty="0"/>
              <a:t>Meta</a:t>
            </a:r>
            <a:r>
              <a:rPr lang="zh-TW" altLang="en-US" dirty="0"/>
              <a:t>，宣示元宇宙（</a:t>
            </a:r>
            <a:r>
              <a:rPr lang="en-US" altLang="zh-TW" dirty="0"/>
              <a:t>Metaverse</a:t>
            </a:r>
            <a:r>
              <a:rPr lang="zh-TW" altLang="en-US" dirty="0"/>
              <a:t>）的願景，讓世人透過數位科技進入「擬真宇宙」。</a:t>
            </a:r>
            <a:endParaRPr lang="en-US" altLang="zh-TW" dirty="0"/>
          </a:p>
          <a:p>
            <a:r>
              <a:rPr lang="zh-TW" altLang="en-US" dirty="0"/>
              <a:t>自動駕駛</a:t>
            </a:r>
            <a:endParaRPr lang="en-US" altLang="zh-TW" dirty="0"/>
          </a:p>
          <a:p>
            <a:pPr lvl="1"/>
            <a:r>
              <a:rPr lang="zh-TW" altLang="en-US" dirty="0"/>
              <a:t>隨著電腦視覺與光學雷達技術漸趨成熟，自動駕駛機制愈來愈成熟。</a:t>
            </a:r>
          </a:p>
        </p:txBody>
      </p:sp>
    </p:spTree>
    <p:extLst>
      <p:ext uri="{BB962C8B-B14F-4D97-AF65-F5344CB8AC3E}">
        <p14:creationId xmlns:p14="http://schemas.microsoft.com/office/powerpoint/2010/main" val="12087404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7942B-0EAC-FDBC-E979-755DF9C1B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ED09CBE7-6B0F-5370-A974-5EB82BDAB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當代科技趨勢總覽─數位倫理與法規監管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1E8656FA-32F0-8E54-1910-E796D11B2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8"/>
            <a:ext cx="8730969" cy="3071591"/>
          </a:xfrm>
        </p:spPr>
        <p:txBody>
          <a:bodyPr>
            <a:normAutofit lnSpcReduction="10000"/>
          </a:bodyPr>
          <a:lstStyle/>
          <a:p>
            <a:r>
              <a:rPr lang="zh-TW" altLang="en-US" dirty="0"/>
              <a:t>隨著數位革命浪潮持續推進，法規監管與倫理議題的重要性同步提升。</a:t>
            </a:r>
          </a:p>
          <a:p>
            <a:r>
              <a:rPr lang="zh-TW" altLang="en-US" dirty="0"/>
              <a:t>法規里程碑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2018</a:t>
            </a:r>
            <a:r>
              <a:rPr lang="zh-TW" altLang="en-US" dirty="0"/>
              <a:t>年，歐盟</a:t>
            </a:r>
            <a:r>
              <a:rPr lang="en-US" altLang="zh-TW" dirty="0">
                <a:solidFill>
                  <a:srgbClr val="C00000"/>
                </a:solidFill>
              </a:rPr>
              <a:t>GDPR</a:t>
            </a:r>
            <a:r>
              <a:rPr lang="zh-TW" altLang="en-US" dirty="0"/>
              <a:t>（通用資料保護規則）正式生效。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2024</a:t>
            </a:r>
            <a:r>
              <a:rPr lang="zh-TW" altLang="en-US" dirty="0"/>
              <a:t>年</a:t>
            </a:r>
            <a:r>
              <a:rPr lang="en-US" altLang="zh-TW" dirty="0"/>
              <a:t>8</a:t>
            </a:r>
            <a:r>
              <a:rPr lang="zh-TW" altLang="en-US" dirty="0"/>
              <a:t>月，歐盟的</a:t>
            </a:r>
            <a:r>
              <a:rPr lang="zh-TW" altLang="en-US" dirty="0">
                <a:solidFill>
                  <a:srgbClr val="C00000"/>
                </a:solidFill>
              </a:rPr>
              <a:t>人工智慧法</a:t>
            </a:r>
            <a:r>
              <a:rPr lang="zh-TW" altLang="en-US" dirty="0"/>
              <a:t>生效。</a:t>
            </a:r>
          </a:p>
        </p:txBody>
      </p:sp>
    </p:spTree>
    <p:extLst>
      <p:ext uri="{BB962C8B-B14F-4D97-AF65-F5344CB8AC3E}">
        <p14:creationId xmlns:p14="http://schemas.microsoft.com/office/powerpoint/2010/main" val="34282456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A1637-1638-DE05-E093-A2CC00BA9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F005D59A-79AF-DBA2-311F-74176C537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當代科技趨勢總覽─數位倫理與法規監管</a:t>
            </a:r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AA1F1507-B5B4-F220-F3F4-288D16687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60399"/>
            <a:ext cx="8730969" cy="2934224"/>
          </a:xfrm>
        </p:spPr>
        <p:txBody>
          <a:bodyPr>
            <a:normAutofit/>
          </a:bodyPr>
          <a:lstStyle/>
          <a:p>
            <a:r>
              <a:rPr lang="zh-TW" altLang="en-US" dirty="0"/>
              <a:t>金融風險： </a:t>
            </a:r>
            <a:endParaRPr lang="en-US" altLang="zh-TW" dirty="0"/>
          </a:p>
          <a:p>
            <a:pPr lvl="1"/>
            <a:r>
              <a:rPr lang="zh-TW" altLang="en-US" dirty="0"/>
              <a:t>西元</a:t>
            </a:r>
            <a:r>
              <a:rPr lang="en-US" altLang="zh-TW" dirty="0"/>
              <a:t>2022</a:t>
            </a:r>
            <a:r>
              <a:rPr lang="zh-TW" altLang="en-US" dirty="0"/>
              <a:t>年，全球交易量第二大的加密貨幣交易所</a:t>
            </a:r>
            <a:r>
              <a:rPr lang="en-US" altLang="zh-TW" dirty="0"/>
              <a:t>FTX</a:t>
            </a:r>
            <a:r>
              <a:rPr lang="zh-TW" altLang="en-US" dirty="0"/>
              <a:t>申請破產保護。</a:t>
            </a:r>
          </a:p>
        </p:txBody>
      </p:sp>
    </p:spTree>
    <p:extLst>
      <p:ext uri="{BB962C8B-B14F-4D97-AF65-F5344CB8AC3E}">
        <p14:creationId xmlns:p14="http://schemas.microsoft.com/office/powerpoint/2010/main" val="1098466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dirty="0">
                <a:solidFill>
                  <a:srgbClr val="C00000"/>
                </a:solidFill>
              </a:rPr>
              <a:t>左右人生抉擇的人工智慧工具</a:t>
            </a:r>
            <a:endParaRPr lang="en-US" altLang="zh-TW" dirty="0">
              <a:solidFill>
                <a:srgbClr val="C00000"/>
              </a:solidFill>
            </a:endParaRPr>
          </a:p>
          <a:p>
            <a:r>
              <a:rPr lang="zh-TW" altLang="en-US" dirty="0"/>
              <a:t>最可行的模式似乎是協作夥伴關係，善用人工智慧工具來跳脫框架思索，針砭我們設想的種種方案，並讓它代為處理導致決策疲勞的例行事務。</a:t>
            </a:r>
            <a:endParaRPr lang="en-US" altLang="zh-TW" dirty="0"/>
          </a:p>
          <a:p>
            <a:r>
              <a:rPr lang="zh-TW" altLang="en-US" dirty="0"/>
              <a:t>重點並不是讓人工智慧工具替我們做決定，而是讓它幫助我們輕鬆做出更好的決定，同時又保有自己獨特的直覺、人情味和道德判斷等。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75461287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1-2 </a:t>
            </a:r>
            <a:r>
              <a:rPr lang="zh-TW" altLang="en-US" dirty="0"/>
              <a:t>當代計算機的通用架構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當今計算機的通用架構，是基於</a:t>
            </a:r>
            <a:r>
              <a:rPr lang="zh-TW" altLang="en-US" dirty="0">
                <a:solidFill>
                  <a:srgbClr val="C00000"/>
                </a:solidFill>
              </a:rPr>
              <a:t>馮紐曼模式</a:t>
            </a:r>
            <a:r>
              <a:rPr lang="en-US" altLang="zh-TW" dirty="0"/>
              <a:t>(von Neumann Model)</a:t>
            </a:r>
            <a:r>
              <a:rPr lang="zh-TW" altLang="en-US" dirty="0"/>
              <a:t>架構，此架構的主要精神在於</a:t>
            </a:r>
            <a:r>
              <a:rPr lang="zh-TW" altLang="en-US" dirty="0">
                <a:solidFill>
                  <a:srgbClr val="C00000"/>
                </a:solidFill>
              </a:rPr>
              <a:t>儲存程式</a:t>
            </a:r>
            <a:r>
              <a:rPr lang="en-US" altLang="zh-TW" dirty="0"/>
              <a:t>(stored program)</a:t>
            </a:r>
            <a:r>
              <a:rPr lang="zh-TW" altLang="en-US" dirty="0"/>
              <a:t>的概念。</a:t>
            </a:r>
          </a:p>
        </p:txBody>
      </p:sp>
    </p:spTree>
    <p:extLst>
      <p:ext uri="{BB962C8B-B14F-4D97-AF65-F5344CB8AC3E}">
        <p14:creationId xmlns:p14="http://schemas.microsoft.com/office/powerpoint/2010/main" val="15587123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1-2 </a:t>
            </a:r>
            <a:r>
              <a:rPr lang="zh-TW" altLang="en-US" dirty="0"/>
              <a:t>當代計算機的通用架構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馮紐曼在</a:t>
            </a:r>
            <a:r>
              <a:rPr lang="en-US" altLang="zh-TW"/>
              <a:t>1945</a:t>
            </a:r>
            <a:r>
              <a:rPr lang="zh-TW" altLang="en-US"/>
              <a:t>年提出這種儲存程式概念及可行架構的論文。</a:t>
            </a:r>
            <a:endParaRPr lang="en-US" altLang="zh-TW"/>
          </a:p>
          <a:p>
            <a:r>
              <a:rPr lang="zh-TW" altLang="en-US"/>
              <a:t>據此設計出</a:t>
            </a:r>
            <a:r>
              <a:rPr lang="en-US" altLang="zh-TW"/>
              <a:t>1952</a:t>
            </a:r>
            <a:r>
              <a:rPr lang="zh-TW" altLang="en-US"/>
              <a:t>年出品的</a:t>
            </a:r>
            <a:r>
              <a:rPr lang="en-US" altLang="zh-TW"/>
              <a:t>EDVAC</a:t>
            </a:r>
            <a:r>
              <a:rPr lang="zh-TW" altLang="en-US"/>
              <a:t>，但這類型最早的電腦卻是</a:t>
            </a:r>
            <a:r>
              <a:rPr lang="en-US" altLang="zh-TW"/>
              <a:t>1948</a:t>
            </a:r>
            <a:r>
              <a:rPr lang="zh-TW" altLang="en-US"/>
              <a:t>年英國的曼徹斯特馬克一號</a:t>
            </a:r>
            <a:r>
              <a:rPr lang="en-US" altLang="zh-TW"/>
              <a:t>(Manchester Mark I)</a:t>
            </a:r>
            <a:r>
              <a:rPr lang="zh-TW" altLang="en-US"/>
              <a:t>。</a:t>
            </a:r>
          </a:p>
          <a:p>
            <a:endParaRPr lang="zh-TW" altLang="en-US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5556386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1-2 </a:t>
            </a:r>
            <a:r>
              <a:rPr lang="zh-TW" altLang="en-US" dirty="0"/>
              <a:t>當代計算機的通用架構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馮紐曼模式主要有四大子系統：</a:t>
            </a:r>
            <a:endParaRPr lang="en-US" altLang="zh-TW" dirty="0"/>
          </a:p>
          <a:p>
            <a:pPr lvl="1"/>
            <a:r>
              <a:rPr lang="zh-TW" altLang="en-US" dirty="0"/>
              <a:t>記憶體</a:t>
            </a:r>
            <a:r>
              <a:rPr lang="en-US" altLang="zh-TW" dirty="0"/>
              <a:t>(Memory)</a:t>
            </a:r>
          </a:p>
          <a:p>
            <a:pPr lvl="1"/>
            <a:r>
              <a:rPr lang="zh-TW" altLang="en-US" dirty="0"/>
              <a:t>算術邏輯單元</a:t>
            </a:r>
            <a:r>
              <a:rPr lang="en-US" altLang="zh-TW" dirty="0"/>
              <a:t>(Arithmetic Logic Unit</a:t>
            </a:r>
            <a:r>
              <a:rPr lang="zh-TW" altLang="en-US" dirty="0"/>
              <a:t>；</a:t>
            </a:r>
            <a:r>
              <a:rPr lang="en-US" altLang="zh-TW" dirty="0" err="1"/>
              <a:t>ALU</a:t>
            </a:r>
            <a:r>
              <a:rPr lang="en-US" altLang="zh-TW" dirty="0"/>
              <a:t>)</a:t>
            </a:r>
          </a:p>
          <a:p>
            <a:pPr lvl="1"/>
            <a:r>
              <a:rPr lang="zh-TW" altLang="en-US" dirty="0"/>
              <a:t>控制單元</a:t>
            </a:r>
            <a:r>
              <a:rPr lang="en-US" altLang="zh-TW" dirty="0"/>
              <a:t>(Control Unit)</a:t>
            </a:r>
          </a:p>
          <a:p>
            <a:pPr lvl="1"/>
            <a:r>
              <a:rPr lang="zh-TW" altLang="en-US" dirty="0"/>
              <a:t>輸入／輸出</a:t>
            </a:r>
            <a:r>
              <a:rPr lang="en-US" altLang="zh-TW" dirty="0"/>
              <a:t>(Input</a:t>
            </a:r>
            <a:r>
              <a:rPr lang="zh-TW" altLang="en-US" dirty="0"/>
              <a:t>／</a:t>
            </a:r>
            <a:r>
              <a:rPr lang="en-US" altLang="zh-TW" dirty="0"/>
              <a:t>Output)</a:t>
            </a:r>
          </a:p>
        </p:txBody>
      </p:sp>
    </p:spTree>
    <p:extLst>
      <p:ext uri="{BB962C8B-B14F-4D97-AF65-F5344CB8AC3E}">
        <p14:creationId xmlns:p14="http://schemas.microsoft.com/office/powerpoint/2010/main" val="20949442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1-2 </a:t>
            </a:r>
            <a:r>
              <a:rPr lang="zh-TW" altLang="en-US" dirty="0"/>
              <a:t>當代計算機的通用架構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算術邏輯單元和控制單元合起來稱為</a:t>
            </a:r>
            <a:r>
              <a:rPr lang="zh-TW" altLang="en-US" dirty="0">
                <a:solidFill>
                  <a:srgbClr val="C00000"/>
                </a:solidFill>
              </a:rPr>
              <a:t>中央處理器</a:t>
            </a:r>
            <a:r>
              <a:rPr lang="en-US" altLang="zh-TW" dirty="0"/>
              <a:t>(Central Processing Unit</a:t>
            </a:r>
            <a:r>
              <a:rPr lang="zh-TW" altLang="en-US" dirty="0"/>
              <a:t>；</a:t>
            </a:r>
            <a:r>
              <a:rPr lang="en-US" altLang="zh-TW" dirty="0"/>
              <a:t>CPU)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387155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896"/>
          <a:stretch/>
        </p:blipFill>
        <p:spPr bwMode="auto">
          <a:xfrm>
            <a:off x="1466655" y="1216136"/>
            <a:ext cx="5580620" cy="31120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群組 4"/>
          <p:cNvGrpSpPr/>
          <p:nvPr/>
        </p:nvGrpSpPr>
        <p:grpSpPr>
          <a:xfrm rot="21449515">
            <a:off x="521550" y="812343"/>
            <a:ext cx="2722152" cy="439438"/>
            <a:chOff x="4599954" y="5187677"/>
            <a:chExt cx="2722152" cy="585917"/>
          </a:xfrm>
          <a:solidFill>
            <a:schemeClr val="accent5">
              <a:lumMod val="75000"/>
            </a:schemeClr>
          </a:solidFill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</p:grpSpPr>
        <p:grpSp>
          <p:nvGrpSpPr>
            <p:cNvPr id="6" name="群組 5"/>
            <p:cNvGrpSpPr/>
            <p:nvPr/>
          </p:nvGrpSpPr>
          <p:grpSpPr>
            <a:xfrm rot="21265917">
              <a:off x="4599954" y="5187677"/>
              <a:ext cx="2722152" cy="585917"/>
              <a:chOff x="358965" y="1088740"/>
              <a:chExt cx="2722152" cy="585917"/>
            </a:xfrm>
            <a:grpFill/>
          </p:grpSpPr>
          <p:sp>
            <p:nvSpPr>
              <p:cNvPr id="8" name="矩形 7"/>
              <p:cNvSpPr/>
              <p:nvPr/>
            </p:nvSpPr>
            <p:spPr>
              <a:xfrm>
                <a:off x="358966" y="1088740"/>
                <a:ext cx="2722151" cy="585917"/>
              </a:xfrm>
              <a:prstGeom prst="rect">
                <a:avLst/>
              </a:prstGeom>
              <a:grpFill/>
              <a:ln>
                <a:noFill/>
              </a:ln>
              <a:effectLst>
                <a:outerShdw blurRad="107950" dist="12700" dir="5400000" algn="ctr">
                  <a:srgbClr val="000000"/>
                </a:outerShdw>
              </a:effectLst>
              <a:sp3d contourW="44450" prstMaterial="matte">
                <a:bevelT w="63500" h="63500" prst="artDeco"/>
                <a:contourClr>
                  <a:srgbClr val="FFFFFF"/>
                </a:contourClr>
              </a:sp3d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pic>
            <p:nvPicPr>
              <p:cNvPr id="9" name="Picture 3" descr="D:\製作中\02再版書\0558909\標籤.png"/>
              <p:cNvPicPr>
                <a:picLocks noChangeAspect="1" noChangeArrowheads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8965" y="1088740"/>
                <a:ext cx="398424" cy="585917"/>
              </a:xfrm>
              <a:prstGeom prst="rect">
                <a:avLst/>
              </a:prstGeom>
              <a:grpFill/>
              <a:ln>
                <a:noFill/>
              </a:ln>
              <a:effectLst>
                <a:outerShdw blurRad="107950" dist="12700" dir="5400000" algn="ctr">
                  <a:srgbClr val="000000"/>
                </a:outerShdw>
              </a:effectLst>
              <a:sp3d contourW="44450" prstMaterial="matte">
                <a:bevelT w="63500" h="63500" prst="artDeco"/>
                <a:contourClr>
                  <a:srgbClr val="FFFFFF"/>
                </a:contourClr>
              </a:sp3d>
            </p:spPr>
          </p:pic>
        </p:grpSp>
        <p:sp>
          <p:nvSpPr>
            <p:cNvPr id="7" name="矩形 6"/>
            <p:cNvSpPr/>
            <p:nvPr/>
          </p:nvSpPr>
          <p:spPr>
            <a:xfrm rot="21265917">
              <a:off x="5439441" y="5234413"/>
              <a:ext cx="1338828" cy="492442"/>
            </a:xfrm>
            <a:prstGeom prst="rect">
              <a:avLst/>
            </a:prstGeom>
            <a:grpFill/>
            <a:ln>
              <a:noFill/>
            </a:ln>
            <a:effectLst>
              <a:outerShdw blurRad="107950" dist="12700" dir="5400000" algn="ctr">
                <a:srgbClr val="000000"/>
              </a:outerShdw>
            </a:effectLst>
            <a:sp3d contourW="44450" prstMaterial="matte">
              <a:bevelT w="63500" h="63500" prst="artDeco"/>
              <a:contourClr>
                <a:srgbClr val="FFFFFF"/>
              </a:contourClr>
            </a:sp3d>
          </p:spPr>
          <p:txBody>
            <a:bodyPr wrap="none">
              <a:spAutoFit/>
            </a:bodyPr>
            <a:lstStyle/>
            <a:p>
              <a:r>
                <a:rPr lang="zh-TW" altLang="en-US" dirty="0">
                  <a:solidFill>
                    <a:srgbClr val="FFFFFF"/>
                  </a:solidFill>
                  <a:latin typeface="微軟正黑體" pitchFamily="34" charset="-120"/>
                  <a:ea typeface="微軟正黑體" pitchFamily="34" charset="-120"/>
                </a:rPr>
                <a:t>馮紐曼模式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70555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記憶體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在馮紐曼模式裡，記憶體除了用來儲存數位資料以及運算後的結果，同時也用來儲存程式。</a:t>
            </a:r>
            <a:endParaRPr lang="en-US" altLang="zh-TW" dirty="0"/>
          </a:p>
          <a:p>
            <a:r>
              <a:rPr lang="zh-TW" altLang="en-US" dirty="0"/>
              <a:t>記憶體同時儲存</a:t>
            </a:r>
            <a:r>
              <a:rPr lang="zh-TW" altLang="en-US" dirty="0">
                <a:solidFill>
                  <a:srgbClr val="C00000"/>
                </a:solidFill>
              </a:rPr>
              <a:t>程式及資料</a:t>
            </a:r>
            <a:r>
              <a:rPr lang="zh-TW" altLang="en-US" dirty="0"/>
              <a:t>，當操作不同程序時，只要載入相對應的程式即可，不必另外改變硬體。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72472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算術邏輯單元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負責資料的運算處理，包括加、減、乘、除等運算及邏輯上的處理</a:t>
            </a:r>
            <a:r>
              <a:rPr lang="en-US" altLang="zh-TW" dirty="0"/>
              <a:t>(</a:t>
            </a:r>
            <a:r>
              <a:rPr lang="zh-TW" altLang="en-US" dirty="0"/>
              <a:t>例如：比較兩個數的大小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  <a:p>
            <a:endParaRPr lang="zh-TW" altLang="en-US" dirty="0"/>
          </a:p>
        </p:txBody>
      </p:sp>
      <p:sp>
        <p:nvSpPr>
          <p:cNvPr id="5" name="標題 2"/>
          <p:cNvSpPr txBox="1">
            <a:spLocks/>
          </p:cNvSpPr>
          <p:nvPr/>
        </p:nvSpPr>
        <p:spPr>
          <a:xfrm>
            <a:off x="468751" y="2626075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微軟正黑體" pitchFamily="34" charset="-120"/>
                <a:ea typeface="微軟正黑體" pitchFamily="34" charset="-120"/>
                <a:cs typeface="+mj-cs"/>
              </a:defRPr>
            </a:lvl1pPr>
          </a:lstStyle>
          <a:p>
            <a:endParaRPr lang="zh-TW" altLang="en-US" sz="3600" dirty="0"/>
          </a:p>
        </p:txBody>
      </p:sp>
      <p:sp>
        <p:nvSpPr>
          <p:cNvPr id="6" name="內容版面配置區 3"/>
          <p:cNvSpPr txBox="1">
            <a:spLocks/>
          </p:cNvSpPr>
          <p:nvPr/>
        </p:nvSpPr>
        <p:spPr>
          <a:xfrm>
            <a:off x="468751" y="3651870"/>
            <a:ext cx="8229600" cy="8775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457200" algn="l" defTabSz="914400" rtl="0" eaLnBrk="1" latinLnBrk="0" hangingPunct="1">
              <a:spcBef>
                <a:spcPct val="20000"/>
              </a:spcBef>
              <a:buFontTx/>
              <a:buBlip>
                <a:blip r:embed="rId2"/>
              </a:buBlip>
              <a:defRPr lang="zh-TW" altLang="en-US" sz="28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1pPr>
            <a:lvl2pPr marL="914400" indent="-4572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Wingdings 3" panose="05040102010807070707" pitchFamily="18" charset="2"/>
              <a:buChar char=""/>
              <a:defRPr lang="zh-TW" altLang="en-US" sz="26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2pPr>
            <a:lvl3pPr marL="1257300" indent="-34290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微軟正黑體" panose="020B0604030504040204" pitchFamily="34" charset="-120"/>
              <a:buChar char="■"/>
              <a:defRPr lang="zh-TW" altLang="en-US" sz="24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3pPr>
            <a:lvl4pPr marL="1371600" indent="0" algn="l" defTabSz="914400" rtl="0" eaLnBrk="1" latinLnBrk="0" hangingPunct="1">
              <a:spcBef>
                <a:spcPct val="20000"/>
              </a:spcBef>
              <a:buFont typeface="Wingdings" pitchFamily="2" charset="2"/>
              <a:buNone/>
              <a:defRPr lang="zh-TW" altLang="en-US" sz="2000" b="1" kern="1200" dirty="0" smtClean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Font typeface="Wingdings" pitchFamily="2" charset="2"/>
              <a:buNone/>
              <a:defRPr lang="zh-TW" altLang="en-US" sz="1800" b="1" kern="12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066580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控制單元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/>
              <a:t>控制記憶體、輸出入及算術邏輯單元的運作，相當於大腦的中樞神經。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032122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輸入／輸出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輸入子系統：負責將程式及資料放入電腦裡，例如：鍵盤、滑鼠及掃描器等。</a:t>
            </a:r>
            <a:endParaRPr lang="en-US" altLang="zh-TW" dirty="0"/>
          </a:p>
          <a:p>
            <a:r>
              <a:rPr lang="zh-TW" altLang="en-US" dirty="0"/>
              <a:t>輸出子系統：負責將處理後的結果送出電腦，例如：螢幕及印表機等。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342286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輸入／輸出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廣義的輸出入子系統還包括</a:t>
            </a:r>
            <a:r>
              <a:rPr lang="zh-TW" altLang="en-US" dirty="0">
                <a:solidFill>
                  <a:srgbClr val="C00000"/>
                </a:solidFill>
              </a:rPr>
              <a:t>次要的儲存設備</a:t>
            </a:r>
            <a:r>
              <a:rPr lang="en-US" altLang="zh-TW" dirty="0"/>
              <a:t>(secondary storage device)</a:t>
            </a:r>
            <a:r>
              <a:rPr lang="zh-TW" altLang="en-US" dirty="0"/>
              <a:t>，例如：磁碟、光碟片及磁帶等。</a:t>
            </a:r>
          </a:p>
          <a:p>
            <a:endParaRPr lang="zh-TW" altLang="en-US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181244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4294967295"/>
          </p:nvPr>
        </p:nvSpPr>
        <p:spPr>
          <a:xfrm>
            <a:off x="2546775" y="1526522"/>
            <a:ext cx="6088921" cy="2834177"/>
          </a:xfrm>
        </p:spPr>
        <p:txBody>
          <a:bodyPr>
            <a:normAutofit/>
          </a:bodyPr>
          <a:lstStyle/>
          <a:p>
            <a:r>
              <a:rPr lang="zh-TW" altLang="en-US" sz="2400" b="1" dirty="0"/>
              <a:t>馮紐曼（</a:t>
            </a:r>
            <a:r>
              <a:rPr lang="en-US" altLang="zh-TW" sz="2400" b="1" dirty="0"/>
              <a:t>John Louis von Neumann</a:t>
            </a:r>
            <a:r>
              <a:rPr lang="zh-TW" altLang="en-US" sz="2400" b="1" dirty="0"/>
              <a:t>，</a:t>
            </a:r>
            <a:r>
              <a:rPr lang="en-US" altLang="zh-TW" sz="2400" b="1" dirty="0"/>
              <a:t>1903- 1957</a:t>
            </a:r>
            <a:r>
              <a:rPr lang="zh-TW" altLang="en-US" sz="2400" b="1" dirty="0"/>
              <a:t>）是不是第一個提出「儲存程式」概念的人，仍有待商榷，但他毫無疑問地是大家公認絕頂聰明的偉大數學家。</a:t>
            </a:r>
          </a:p>
        </p:txBody>
      </p:sp>
      <p:sp>
        <p:nvSpPr>
          <p:cNvPr id="4" name="矩形 3"/>
          <p:cNvSpPr/>
          <p:nvPr/>
        </p:nvSpPr>
        <p:spPr>
          <a:xfrm>
            <a:off x="296525" y="3651870"/>
            <a:ext cx="2610290" cy="923330"/>
          </a:xfrm>
          <a:prstGeom prst="rect">
            <a:avLst/>
          </a:prstGeom>
          <a:solidFill>
            <a:schemeClr val="accent5"/>
          </a:solidFill>
        </p:spPr>
        <p:txBody>
          <a:bodyPr wrap="square">
            <a:spAutoFit/>
          </a:bodyPr>
          <a:lstStyle/>
          <a:p>
            <a:pPr algn="ctr"/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馮紐曼</a:t>
            </a:r>
          </a:p>
          <a:p>
            <a:pPr algn="ctr"/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（</a:t>
            </a:r>
            <a:r>
              <a:rPr lang="en-US" altLang="zh-TW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John Louis von Neumann</a:t>
            </a:r>
            <a:r>
              <a:rPr lang="zh-TW" altLang="en-US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）</a:t>
            </a: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526522"/>
            <a:ext cx="1523535" cy="19868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8419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藍綠色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自訂 3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3174</TotalTime>
  <Words>2973</Words>
  <Application>Microsoft Office PowerPoint</Application>
  <PresentationFormat>如螢幕大小 (16:9)</PresentationFormat>
  <Paragraphs>209</Paragraphs>
  <Slides>59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59</vt:i4>
      </vt:variant>
    </vt:vector>
  </HeadingPairs>
  <TitlesOfParts>
    <vt:vector size="66" baseType="lpstr">
      <vt:lpstr>造字工房悦黑体验版常规体</vt:lpstr>
      <vt:lpstr>微軟正黑體</vt:lpstr>
      <vt:lpstr>Arial</vt:lpstr>
      <vt:lpstr>Calibri</vt:lpstr>
      <vt:lpstr>Wingdings</vt:lpstr>
      <vt:lpstr>Wingdings 3</vt:lpstr>
      <vt:lpstr>Office 佈景主題</vt:lpstr>
      <vt:lpstr>PowerPoint 簡報</vt:lpstr>
      <vt:lpstr>1-1 計算機科學大事記</vt:lpstr>
      <vt:lpstr>計算工具的誕生與理論奠基</vt:lpstr>
      <vt:lpstr>計算工具的誕生與理論奠基</vt:lpstr>
      <vt:lpstr>計算工具的誕生與理論奠基</vt:lpstr>
      <vt:lpstr>計算工具的誕生與理論奠基</vt:lpstr>
      <vt:lpstr>PowerPoint 簡報</vt:lpstr>
      <vt:lpstr>電腦世代的轉變</vt:lpstr>
      <vt:lpstr>電腦世代的轉變</vt:lpstr>
      <vt:lpstr>PowerPoint 簡報</vt:lpstr>
      <vt:lpstr>第一代電腦：真空管時期（1946年起）</vt:lpstr>
      <vt:lpstr>第一代電腦：真空管時期（1946年起）</vt:lpstr>
      <vt:lpstr>第二代電腦：電晶體時期（1959年起）</vt:lpstr>
      <vt:lpstr>第三代電腦：積體電路時期（1964年起）</vt:lpstr>
      <vt:lpstr>第三代電腦：積體電路時期（1964年起）</vt:lpstr>
      <vt:lpstr>第四代電腦：超大型積體電路時期 (1971年後)</vt:lpstr>
      <vt:lpstr>PowerPoint 簡報</vt:lpstr>
      <vt:lpstr>摩爾定律</vt:lpstr>
      <vt:lpstr>補充資料─儲存程式的概念</vt:lpstr>
      <vt:lpstr>補充資料─漢明碼</vt:lpstr>
      <vt:lpstr>PowerPoint 簡報</vt:lpstr>
      <vt:lpstr>PowerPoint 簡報</vt:lpstr>
      <vt:lpstr>補充資料─計算機科學研究體系</vt:lpstr>
      <vt:lpstr>個人電腦與全球網路</vt:lpstr>
      <vt:lpstr>個人電腦與全球網路</vt:lpstr>
      <vt:lpstr>個人電腦與全球網路</vt:lpstr>
      <vt:lpstr>個人電腦與全球網路</vt:lpstr>
      <vt:lpstr>個人電腦與全球網路</vt:lpstr>
      <vt:lpstr>個人電腦與全球網路</vt:lpstr>
      <vt:lpstr>當代科技趨勢總覽（2000年後）</vt:lpstr>
      <vt:lpstr>當代科技趨勢總覽（2000年後）</vt:lpstr>
      <vt:lpstr>當代科技趨勢總覽─人工智慧</vt:lpstr>
      <vt:lpstr>當代科技趨勢總覽─人工智慧</vt:lpstr>
      <vt:lpstr>當代科技趨勢總覽─人工智慧</vt:lpstr>
      <vt:lpstr>當代科技趨勢總覽─人工智慧</vt:lpstr>
      <vt:lpstr>當代科技趨勢總覽─人工智慧</vt:lpstr>
      <vt:lpstr>當代科技趨勢總覽─人工智慧</vt:lpstr>
      <vt:lpstr>PowerPoint 簡報</vt:lpstr>
      <vt:lpstr>PowerPoint 簡報</vt:lpstr>
      <vt:lpstr>PowerPoint 簡報</vt:lpstr>
      <vt:lpstr>當代科技趨勢總覽─硬體架構與量子突破</vt:lpstr>
      <vt:lpstr>當代科技趨勢總覽─硬體架構與量子突破</vt:lpstr>
      <vt:lpstr>當代科技趨勢總覽─網路連結與全球化應用</vt:lpstr>
      <vt:lpstr>當代科技趨勢總覽─網路連結與全球化應用</vt:lpstr>
      <vt:lpstr>當代科技趨勢總覽─網路連結與全球化應用</vt:lpstr>
      <vt:lpstr>當代科技趨勢總覽─數位倫理與法規監管</vt:lpstr>
      <vt:lpstr>當代科技趨勢總覽─數位倫理與法規監管</vt:lpstr>
      <vt:lpstr>PowerPoint 簡報</vt:lpstr>
      <vt:lpstr>1-2 當代計算機的通用架構</vt:lpstr>
      <vt:lpstr>1-2 當代計算機的通用架構</vt:lpstr>
      <vt:lpstr>1-2 當代計算機的通用架構</vt:lpstr>
      <vt:lpstr>1-2 當代計算機的通用架構</vt:lpstr>
      <vt:lpstr>PowerPoint 簡報</vt:lpstr>
      <vt:lpstr>記憶體</vt:lpstr>
      <vt:lpstr>算術邏輯單元</vt:lpstr>
      <vt:lpstr>控制單元</vt:lpstr>
      <vt:lpstr>輸入／輸出</vt:lpstr>
      <vt:lpstr>輸入／輸出</vt:lpstr>
      <vt:lpstr>PowerPoint 簡報</vt:lpstr>
    </vt:vector>
  </TitlesOfParts>
  <Company>FDZone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ox01ox01</dc:creator>
  <cp:lastModifiedBy>D2</cp:lastModifiedBy>
  <cp:revision>232</cp:revision>
  <dcterms:created xsi:type="dcterms:W3CDTF">2015-04-21T01:58:17Z</dcterms:created>
  <dcterms:modified xsi:type="dcterms:W3CDTF">2026-08-13T01:05:08Z</dcterms:modified>
</cp:coreProperties>
</file>