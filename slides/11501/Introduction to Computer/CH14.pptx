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508" r:id="rId3"/>
    <p:sldId id="509" r:id="rId4"/>
    <p:sldId id="510" r:id="rId5"/>
    <p:sldId id="511" r:id="rId6"/>
    <p:sldId id="512" r:id="rId7"/>
    <p:sldId id="513" r:id="rId8"/>
    <p:sldId id="514" r:id="rId9"/>
    <p:sldId id="515" r:id="rId10"/>
    <p:sldId id="516" r:id="rId11"/>
    <p:sldId id="517" r:id="rId12"/>
    <p:sldId id="518" r:id="rId13"/>
    <p:sldId id="520" r:id="rId14"/>
    <p:sldId id="521" r:id="rId15"/>
    <p:sldId id="522" r:id="rId16"/>
    <p:sldId id="438" r:id="rId17"/>
    <p:sldId id="470" r:id="rId18"/>
    <p:sldId id="523" r:id="rId19"/>
    <p:sldId id="524" r:id="rId20"/>
    <p:sldId id="525" r:id="rId21"/>
    <p:sldId id="526" r:id="rId22"/>
    <p:sldId id="527" r:id="rId23"/>
    <p:sldId id="528" r:id="rId24"/>
    <p:sldId id="441" r:id="rId25"/>
    <p:sldId id="496" r:id="rId26"/>
    <p:sldId id="455" r:id="rId27"/>
    <p:sldId id="529" r:id="rId28"/>
    <p:sldId id="456" r:id="rId29"/>
    <p:sldId id="442" r:id="rId30"/>
    <p:sldId id="443" r:id="rId31"/>
    <p:sldId id="444" r:id="rId32"/>
    <p:sldId id="445" r:id="rId33"/>
    <p:sldId id="457" r:id="rId34"/>
    <p:sldId id="458" r:id="rId35"/>
    <p:sldId id="459" r:id="rId36"/>
    <p:sldId id="460" r:id="rId37"/>
    <p:sldId id="461" r:id="rId38"/>
    <p:sldId id="462" r:id="rId39"/>
    <p:sldId id="463" r:id="rId40"/>
    <p:sldId id="495" r:id="rId41"/>
    <p:sldId id="464" r:id="rId42"/>
    <p:sldId id="497" r:id="rId43"/>
    <p:sldId id="465" r:id="rId44"/>
    <p:sldId id="466" r:id="rId45"/>
    <p:sldId id="499" r:id="rId46"/>
    <p:sldId id="530" r:id="rId47"/>
    <p:sldId id="531" r:id="rId48"/>
    <p:sldId id="532" r:id="rId49"/>
    <p:sldId id="500" r:id="rId50"/>
    <p:sldId id="533" r:id="rId51"/>
    <p:sldId id="534" r:id="rId52"/>
    <p:sldId id="535" r:id="rId53"/>
    <p:sldId id="502" r:id="rId54"/>
    <p:sldId id="536" r:id="rId55"/>
    <p:sldId id="537" r:id="rId56"/>
    <p:sldId id="503" r:id="rId57"/>
    <p:sldId id="504" r:id="rId58"/>
    <p:sldId id="505" r:id="rId59"/>
    <p:sldId id="506" r:id="rId60"/>
    <p:sldId id="507" r:id="rId61"/>
    <p:sldId id="538" r:id="rId62"/>
    <p:sldId id="539" r:id="rId63"/>
    <p:sldId id="540" r:id="rId64"/>
    <p:sldId id="467" r:id="rId65"/>
    <p:sldId id="501" r:id="rId66"/>
    <p:sldId id="447" r:id="rId67"/>
    <p:sldId id="449" r:id="rId68"/>
    <p:sldId id="482" r:id="rId69"/>
    <p:sldId id="450" r:id="rId70"/>
    <p:sldId id="365" r:id="rId71"/>
    <p:sldId id="483" r:id="rId72"/>
    <p:sldId id="366" r:id="rId73"/>
    <p:sldId id="368" r:id="rId74"/>
    <p:sldId id="369" r:id="rId75"/>
    <p:sldId id="370" r:id="rId76"/>
    <p:sldId id="371" r:id="rId77"/>
    <p:sldId id="484" r:id="rId78"/>
    <p:sldId id="373" r:id="rId79"/>
    <p:sldId id="452" r:id="rId80"/>
    <p:sldId id="485" r:id="rId81"/>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FFCC66"/>
    <a:srgbClr val="9BBB59"/>
    <a:srgbClr val="F2F2F2"/>
    <a:srgbClr val="99B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2017" autoAdjust="0"/>
    <p:restoredTop sz="94660"/>
  </p:normalViewPr>
  <p:slideViewPr>
    <p:cSldViewPr snapToObjects="1">
      <p:cViewPr varScale="1">
        <p:scale>
          <a:sx n="135" d="100"/>
          <a:sy n="135" d="100"/>
        </p:scale>
        <p:origin x="438" y="96"/>
      </p:cViewPr>
      <p:guideLst>
        <p:guide orient="horz" pos="2160"/>
        <p:guide pos="2880"/>
        <p:guide orient="horz" pos="162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77818A-6956-45EA-8F1C-15AC4F4FBBDC}" type="doc">
      <dgm:prSet loTypeId="urn:microsoft.com/office/officeart/2005/8/layout/hierarchy2" loCatId="hierarchy" qsTypeId="urn:microsoft.com/office/officeart/2005/8/quickstyle/3d3" qsCatId="3D" csTypeId="urn:microsoft.com/office/officeart/2005/8/colors/colorful2" csCatId="colorful" phldr="1"/>
      <dgm:spPr/>
      <dgm:t>
        <a:bodyPr/>
        <a:lstStyle/>
        <a:p>
          <a:endParaRPr lang="zh-TW" altLang="en-US"/>
        </a:p>
      </dgm:t>
    </dgm:pt>
    <dgm:pt modelId="{56FCE046-AFA3-4C44-8DD7-41BEA772254C}">
      <dgm:prSet phldrT="[文字]" custT="1"/>
      <dgm:spPr/>
      <dgm:t>
        <a:bodyPr/>
        <a:lstStyle/>
        <a:p>
          <a:r>
            <a:rPr lang="zh-TW" altLang="en-US" sz="2400" b="1" dirty="0">
              <a:latin typeface="微軟正黑體" panose="020B0604030504040204" pitchFamily="34" charset="-120"/>
              <a:ea typeface="微軟正黑體" panose="020B0604030504040204" pitchFamily="34" charset="-120"/>
            </a:rPr>
            <a:t>機器學習</a:t>
          </a:r>
        </a:p>
      </dgm:t>
    </dgm:pt>
    <dgm:pt modelId="{D4872649-3AC0-460A-90FF-E2793D396EC2}" type="parTrans" cxnId="{692F84B5-E347-4301-B7ED-CD309580933B}">
      <dgm:prSet/>
      <dgm:spPr/>
      <dgm:t>
        <a:bodyPr/>
        <a:lstStyle/>
        <a:p>
          <a:endParaRPr lang="zh-TW" altLang="en-US" b="1"/>
        </a:p>
      </dgm:t>
    </dgm:pt>
    <dgm:pt modelId="{0E5D1D50-C49F-4490-AE20-242BAFE5F299}" type="sibTrans" cxnId="{692F84B5-E347-4301-B7ED-CD309580933B}">
      <dgm:prSet/>
      <dgm:spPr/>
      <dgm:t>
        <a:bodyPr/>
        <a:lstStyle/>
        <a:p>
          <a:endParaRPr lang="zh-TW" altLang="en-US" b="1"/>
        </a:p>
      </dgm:t>
    </dgm:pt>
    <dgm:pt modelId="{3D99FC8C-3450-411F-969E-0FDA7E4B855B}">
      <dgm:prSet phldrT="[文字]" custT="1"/>
      <dgm:spPr/>
      <dgm:t>
        <a:bodyPr/>
        <a:lstStyle/>
        <a:p>
          <a:r>
            <a:rPr lang="zh-TW" altLang="en-US" sz="2200" b="1" dirty="0">
              <a:latin typeface="微軟正黑體" panose="020B0604030504040204" pitchFamily="34" charset="-120"/>
              <a:ea typeface="微軟正黑體" panose="020B0604030504040204" pitchFamily="34" charset="-120"/>
            </a:rPr>
            <a:t>監督式學習</a:t>
          </a:r>
          <a:br>
            <a:rPr lang="en-US" altLang="zh-TW" sz="2200" b="1" dirty="0">
              <a:latin typeface="微軟正黑體" panose="020B0604030504040204" pitchFamily="34" charset="-120"/>
              <a:ea typeface="微軟正黑體" panose="020B0604030504040204" pitchFamily="34" charset="-120"/>
            </a:rPr>
          </a:br>
          <a:r>
            <a:rPr lang="zh-TW" altLang="en-US" sz="2200" b="1" dirty="0">
              <a:latin typeface="微軟正黑體" panose="020B0604030504040204" pitchFamily="34" charset="-120"/>
              <a:ea typeface="微軟正黑體" panose="020B0604030504040204" pitchFamily="34" charset="-120"/>
            </a:rPr>
            <a:t>（</a:t>
          </a:r>
          <a:r>
            <a:rPr lang="en-US" altLang="en-US" sz="2200" b="1" dirty="0">
              <a:latin typeface="微軟正黑體" panose="020B0604030504040204" pitchFamily="34" charset="-120"/>
              <a:ea typeface="微軟正黑體" panose="020B0604030504040204" pitchFamily="34" charset="-120"/>
            </a:rPr>
            <a:t>supervised learning</a:t>
          </a:r>
          <a:r>
            <a:rPr lang="zh-TW" altLang="en-US" sz="2200" b="1" dirty="0">
              <a:latin typeface="微軟正黑體" panose="020B0604030504040204" pitchFamily="34" charset="-120"/>
              <a:ea typeface="微軟正黑體" panose="020B0604030504040204" pitchFamily="34" charset="-120"/>
            </a:rPr>
            <a:t>）</a:t>
          </a:r>
        </a:p>
      </dgm:t>
    </dgm:pt>
    <dgm:pt modelId="{4D8BDF27-315D-4B00-B4AF-23E414246BAB}" type="parTrans" cxnId="{87A158A4-7776-43F4-957D-29BF6C78CAAF}">
      <dgm:prSet/>
      <dgm:spPr/>
      <dgm:t>
        <a:bodyPr/>
        <a:lstStyle/>
        <a:p>
          <a:endParaRPr lang="zh-TW" altLang="en-US" b="1"/>
        </a:p>
      </dgm:t>
    </dgm:pt>
    <dgm:pt modelId="{E665E5C4-7886-4098-836D-7F526CC40F85}" type="sibTrans" cxnId="{87A158A4-7776-43F4-957D-29BF6C78CAAF}">
      <dgm:prSet/>
      <dgm:spPr/>
      <dgm:t>
        <a:bodyPr/>
        <a:lstStyle/>
        <a:p>
          <a:endParaRPr lang="zh-TW" altLang="en-US" b="1"/>
        </a:p>
      </dgm:t>
    </dgm:pt>
    <dgm:pt modelId="{025B5BD7-4972-4706-8E8F-ACC3665188D5}">
      <dgm:prSet phldrT="[文字]" custT="1"/>
      <dgm:spPr/>
      <dgm:t>
        <a:bodyPr/>
        <a:lstStyle/>
        <a:p>
          <a:r>
            <a:rPr lang="zh-TW" altLang="en-US" sz="2200" b="1" dirty="0">
              <a:latin typeface="微軟正黑體" panose="020B0604030504040204" pitchFamily="34" charset="-120"/>
              <a:ea typeface="微軟正黑體" panose="020B0604030504040204" pitchFamily="34" charset="-120"/>
            </a:rPr>
            <a:t>非監督式學習</a:t>
          </a:r>
          <a:br>
            <a:rPr lang="en-US" altLang="zh-TW" sz="2200" b="1" dirty="0">
              <a:latin typeface="微軟正黑體" panose="020B0604030504040204" pitchFamily="34" charset="-120"/>
              <a:ea typeface="微軟正黑體" panose="020B0604030504040204" pitchFamily="34" charset="-120"/>
            </a:rPr>
          </a:br>
          <a:r>
            <a:rPr lang="zh-TW" altLang="en-US" sz="2200" b="1" dirty="0">
              <a:latin typeface="微軟正黑體" panose="020B0604030504040204" pitchFamily="34" charset="-120"/>
              <a:ea typeface="微軟正黑體" panose="020B0604030504040204" pitchFamily="34" charset="-120"/>
            </a:rPr>
            <a:t>（</a:t>
          </a:r>
          <a:r>
            <a:rPr lang="en-US" altLang="en-US" sz="2200" b="1" dirty="0">
              <a:latin typeface="微軟正黑體" panose="020B0604030504040204" pitchFamily="34" charset="-120"/>
              <a:ea typeface="微軟正黑體" panose="020B0604030504040204" pitchFamily="34" charset="-120"/>
            </a:rPr>
            <a:t>unsupervised learning</a:t>
          </a:r>
          <a:r>
            <a:rPr lang="zh-TW" altLang="en-US" sz="2200" b="1" dirty="0">
              <a:latin typeface="微軟正黑體" panose="020B0604030504040204" pitchFamily="34" charset="-120"/>
              <a:ea typeface="微軟正黑體" panose="020B0604030504040204" pitchFamily="34" charset="-120"/>
            </a:rPr>
            <a:t>）</a:t>
          </a:r>
        </a:p>
      </dgm:t>
    </dgm:pt>
    <dgm:pt modelId="{A500AF94-FAD9-42C1-A9D1-5BD8E20C5020}" type="parTrans" cxnId="{7125DB43-F445-48FF-ADA5-1A26344DC9E4}">
      <dgm:prSet/>
      <dgm:spPr/>
      <dgm:t>
        <a:bodyPr/>
        <a:lstStyle/>
        <a:p>
          <a:endParaRPr lang="zh-TW" altLang="en-US" b="1"/>
        </a:p>
      </dgm:t>
    </dgm:pt>
    <dgm:pt modelId="{B4341748-F496-432C-A742-BBD0E31E7048}" type="sibTrans" cxnId="{7125DB43-F445-48FF-ADA5-1A26344DC9E4}">
      <dgm:prSet/>
      <dgm:spPr/>
      <dgm:t>
        <a:bodyPr/>
        <a:lstStyle/>
        <a:p>
          <a:endParaRPr lang="zh-TW" altLang="en-US" b="1"/>
        </a:p>
      </dgm:t>
    </dgm:pt>
    <dgm:pt modelId="{0077F8DA-D04C-4C4D-B0F8-8A626FF8B048}">
      <dgm:prSet phldrT="[文字]" custT="1"/>
      <dgm:spPr/>
      <dgm:t>
        <a:bodyPr/>
        <a:lstStyle/>
        <a:p>
          <a:r>
            <a:rPr lang="zh-TW" altLang="en-US" sz="2200" b="1" dirty="0">
              <a:latin typeface="微軟正黑體" panose="020B0604030504040204" pitchFamily="34" charset="-120"/>
              <a:ea typeface="微軟正黑體" panose="020B0604030504040204" pitchFamily="34" charset="-120"/>
            </a:rPr>
            <a:t>半監督式學習</a:t>
          </a:r>
          <a:br>
            <a:rPr lang="en-US" altLang="zh-TW" sz="1800" b="1" dirty="0">
              <a:latin typeface="微軟正黑體" panose="020B0604030504040204" pitchFamily="34" charset="-120"/>
              <a:ea typeface="微軟正黑體" panose="020B0604030504040204" pitchFamily="34" charset="-120"/>
            </a:rPr>
          </a:br>
          <a:r>
            <a:rPr lang="zh-TW" altLang="en-US" sz="1800" b="1" dirty="0">
              <a:latin typeface="微軟正黑體" panose="020B0604030504040204" pitchFamily="34" charset="-120"/>
              <a:ea typeface="微軟正黑體" panose="020B0604030504040204" pitchFamily="34" charset="-120"/>
            </a:rPr>
            <a:t>（</a:t>
          </a:r>
          <a:r>
            <a:rPr lang="en-US" altLang="zh-TW" sz="1800" b="1" dirty="0">
              <a:latin typeface="微軟正黑體" panose="020B0604030504040204" pitchFamily="34" charset="-120"/>
              <a:ea typeface="微軟正黑體" panose="020B0604030504040204" pitchFamily="34" charset="-120"/>
            </a:rPr>
            <a:t>semi-supervised</a:t>
          </a:r>
          <a:r>
            <a:rPr lang="en-US" altLang="en-US" sz="1800" b="1" dirty="0">
              <a:latin typeface="微軟正黑體" panose="020B0604030504040204" pitchFamily="34" charset="-120"/>
              <a:ea typeface="微軟正黑體" panose="020B0604030504040204" pitchFamily="34" charset="-120"/>
            </a:rPr>
            <a:t> </a:t>
          </a:r>
          <a:r>
            <a:rPr lang="en-US" altLang="en-US" sz="2000" b="1" dirty="0">
              <a:latin typeface="微軟正黑體" panose="020B0604030504040204" pitchFamily="34" charset="-120"/>
              <a:ea typeface="微軟正黑體" panose="020B0604030504040204" pitchFamily="34" charset="-120"/>
            </a:rPr>
            <a:t>learning</a:t>
          </a:r>
          <a:r>
            <a:rPr lang="zh-TW" altLang="en-US" sz="2000" b="1" dirty="0">
              <a:latin typeface="微軟正黑體" panose="020B0604030504040204" pitchFamily="34" charset="-120"/>
              <a:ea typeface="微軟正黑體" panose="020B0604030504040204" pitchFamily="34" charset="-120"/>
            </a:rPr>
            <a:t>）</a:t>
          </a:r>
        </a:p>
      </dgm:t>
    </dgm:pt>
    <dgm:pt modelId="{0EDE6134-A60E-452B-8547-7E3E506B9F72}" type="parTrans" cxnId="{78803850-C677-4162-8836-6B778594FD07}">
      <dgm:prSet/>
      <dgm:spPr/>
      <dgm:t>
        <a:bodyPr/>
        <a:lstStyle/>
        <a:p>
          <a:endParaRPr lang="zh-TW" altLang="en-US" b="1"/>
        </a:p>
      </dgm:t>
    </dgm:pt>
    <dgm:pt modelId="{48BA4C98-F386-4F90-9D7B-7AE1CA8EEF1D}" type="sibTrans" cxnId="{78803850-C677-4162-8836-6B778594FD07}">
      <dgm:prSet/>
      <dgm:spPr/>
      <dgm:t>
        <a:bodyPr/>
        <a:lstStyle/>
        <a:p>
          <a:endParaRPr lang="zh-TW" altLang="en-US" b="1"/>
        </a:p>
      </dgm:t>
    </dgm:pt>
    <dgm:pt modelId="{B3C5FE57-0C86-4534-B671-F830DA7D46F2}">
      <dgm:prSet phldrT="[文字]" custT="1"/>
      <dgm:spPr/>
      <dgm:t>
        <a:bodyPr/>
        <a:lstStyle/>
        <a:p>
          <a:r>
            <a:rPr lang="zh-TW" altLang="en-US" sz="2200" b="1" dirty="0">
              <a:latin typeface="微軟正黑體" panose="020B0604030504040204" pitchFamily="34" charset="-120"/>
              <a:ea typeface="微軟正黑體" panose="020B0604030504040204" pitchFamily="34" charset="-120"/>
            </a:rPr>
            <a:t>增強式學習</a:t>
          </a:r>
          <a:br>
            <a:rPr lang="en-US" altLang="zh-TW" sz="1700" b="1" dirty="0">
              <a:latin typeface="微軟正黑體" panose="020B0604030504040204" pitchFamily="34" charset="-120"/>
              <a:ea typeface="微軟正黑體" panose="020B0604030504040204" pitchFamily="34" charset="-120"/>
            </a:rPr>
          </a:br>
          <a:r>
            <a:rPr lang="zh-TW" altLang="en-US" sz="1700" b="1" dirty="0">
              <a:latin typeface="微軟正黑體" panose="020B0604030504040204" pitchFamily="34" charset="-120"/>
              <a:ea typeface="微軟正黑體" panose="020B0604030504040204" pitchFamily="34" charset="-120"/>
            </a:rPr>
            <a:t>（</a:t>
          </a:r>
          <a:r>
            <a:rPr lang="en-US" altLang="en-US" sz="1700" b="1" dirty="0">
              <a:latin typeface="微軟正黑體" panose="020B0604030504040204" pitchFamily="34" charset="-120"/>
              <a:ea typeface="微軟正黑體" panose="020B0604030504040204" pitchFamily="34" charset="-120"/>
            </a:rPr>
            <a:t>reinforcement learning</a:t>
          </a:r>
          <a:r>
            <a:rPr lang="zh-TW" altLang="en-US" sz="1700" b="1" dirty="0">
              <a:latin typeface="微軟正黑體" panose="020B0604030504040204" pitchFamily="34" charset="-120"/>
              <a:ea typeface="微軟正黑體" panose="020B0604030504040204" pitchFamily="34" charset="-120"/>
            </a:rPr>
            <a:t>）</a:t>
          </a:r>
        </a:p>
      </dgm:t>
    </dgm:pt>
    <dgm:pt modelId="{6F0F3AB7-951E-4450-ACDE-F0A967502CA9}" type="parTrans" cxnId="{B8E29DA0-9697-4C66-948E-F955FA53C39B}">
      <dgm:prSet/>
      <dgm:spPr/>
      <dgm:t>
        <a:bodyPr/>
        <a:lstStyle/>
        <a:p>
          <a:endParaRPr lang="zh-TW" altLang="en-US"/>
        </a:p>
      </dgm:t>
    </dgm:pt>
    <dgm:pt modelId="{8969595F-6215-4B15-9465-9E7A7767080D}" type="sibTrans" cxnId="{B8E29DA0-9697-4C66-948E-F955FA53C39B}">
      <dgm:prSet/>
      <dgm:spPr/>
      <dgm:t>
        <a:bodyPr/>
        <a:lstStyle/>
        <a:p>
          <a:endParaRPr lang="zh-TW" altLang="en-US"/>
        </a:p>
      </dgm:t>
    </dgm:pt>
    <dgm:pt modelId="{5E4C4CDE-797F-4EA9-940F-396C378F5B15}" type="pres">
      <dgm:prSet presAssocID="{B077818A-6956-45EA-8F1C-15AC4F4FBBDC}" presName="diagram" presStyleCnt="0">
        <dgm:presLayoutVars>
          <dgm:chPref val="1"/>
          <dgm:dir/>
          <dgm:animOne val="branch"/>
          <dgm:animLvl val="lvl"/>
          <dgm:resizeHandles val="exact"/>
        </dgm:presLayoutVars>
      </dgm:prSet>
      <dgm:spPr/>
    </dgm:pt>
    <dgm:pt modelId="{1E82E264-A7BD-496B-8899-42D6A535A3B9}" type="pres">
      <dgm:prSet presAssocID="{56FCE046-AFA3-4C44-8DD7-41BEA772254C}" presName="root1" presStyleCnt="0"/>
      <dgm:spPr/>
    </dgm:pt>
    <dgm:pt modelId="{16259B27-BB8C-4CBF-9A74-E51C18D9D953}" type="pres">
      <dgm:prSet presAssocID="{56FCE046-AFA3-4C44-8DD7-41BEA772254C}" presName="LevelOneTextNode" presStyleLbl="node0" presStyleIdx="0" presStyleCnt="1">
        <dgm:presLayoutVars>
          <dgm:chPref val="3"/>
        </dgm:presLayoutVars>
      </dgm:prSet>
      <dgm:spPr/>
    </dgm:pt>
    <dgm:pt modelId="{D30F3B1C-4839-42DB-A82F-98709B40A100}" type="pres">
      <dgm:prSet presAssocID="{56FCE046-AFA3-4C44-8DD7-41BEA772254C}" presName="level2hierChild" presStyleCnt="0"/>
      <dgm:spPr/>
    </dgm:pt>
    <dgm:pt modelId="{2749FE85-FB05-432F-B84F-6C3121CD6DB3}" type="pres">
      <dgm:prSet presAssocID="{4D8BDF27-315D-4B00-B4AF-23E414246BAB}" presName="conn2-1" presStyleLbl="parChTrans1D2" presStyleIdx="0" presStyleCnt="4"/>
      <dgm:spPr/>
    </dgm:pt>
    <dgm:pt modelId="{81B5082E-2930-4CE6-BA4E-F47CAECA033A}" type="pres">
      <dgm:prSet presAssocID="{4D8BDF27-315D-4B00-B4AF-23E414246BAB}" presName="connTx" presStyleLbl="parChTrans1D2" presStyleIdx="0" presStyleCnt="4"/>
      <dgm:spPr/>
    </dgm:pt>
    <dgm:pt modelId="{63C53EC6-ABF6-434F-A8A3-0C95417F5F4E}" type="pres">
      <dgm:prSet presAssocID="{3D99FC8C-3450-411F-969E-0FDA7E4B855B}" presName="root2" presStyleCnt="0"/>
      <dgm:spPr/>
    </dgm:pt>
    <dgm:pt modelId="{D84E247C-63F2-4473-A187-080CD10D7213}" type="pres">
      <dgm:prSet presAssocID="{3D99FC8C-3450-411F-969E-0FDA7E4B855B}" presName="LevelTwoTextNode" presStyleLbl="node2" presStyleIdx="0" presStyleCnt="4" custScaleX="223788" custLinFactNeighborX="3657" custLinFactNeighborY="2886">
        <dgm:presLayoutVars>
          <dgm:chPref val="3"/>
        </dgm:presLayoutVars>
      </dgm:prSet>
      <dgm:spPr/>
    </dgm:pt>
    <dgm:pt modelId="{3F7EF9B3-52EB-45C6-90A0-515BC7F79E35}" type="pres">
      <dgm:prSet presAssocID="{3D99FC8C-3450-411F-969E-0FDA7E4B855B}" presName="level3hierChild" presStyleCnt="0"/>
      <dgm:spPr/>
    </dgm:pt>
    <dgm:pt modelId="{B9E96A90-62E9-4A11-AF93-673B0B2E51D0}" type="pres">
      <dgm:prSet presAssocID="{A500AF94-FAD9-42C1-A9D1-5BD8E20C5020}" presName="conn2-1" presStyleLbl="parChTrans1D2" presStyleIdx="1" presStyleCnt="4"/>
      <dgm:spPr/>
    </dgm:pt>
    <dgm:pt modelId="{DB4F14BC-604D-420E-BCA9-04C714F25E0B}" type="pres">
      <dgm:prSet presAssocID="{A500AF94-FAD9-42C1-A9D1-5BD8E20C5020}" presName="connTx" presStyleLbl="parChTrans1D2" presStyleIdx="1" presStyleCnt="4"/>
      <dgm:spPr/>
    </dgm:pt>
    <dgm:pt modelId="{8F42EDD3-33D3-43C3-B05E-C237565470F5}" type="pres">
      <dgm:prSet presAssocID="{025B5BD7-4972-4706-8E8F-ACC3665188D5}" presName="root2" presStyleCnt="0"/>
      <dgm:spPr/>
    </dgm:pt>
    <dgm:pt modelId="{6E7BB900-9AD2-460F-99FE-BF3D52E6CA3B}" type="pres">
      <dgm:prSet presAssocID="{025B5BD7-4972-4706-8E8F-ACC3665188D5}" presName="LevelTwoTextNode" presStyleLbl="node2" presStyleIdx="1" presStyleCnt="4" custScaleX="227145" custLinFactNeighborX="536" custLinFactNeighborY="1104">
        <dgm:presLayoutVars>
          <dgm:chPref val="3"/>
        </dgm:presLayoutVars>
      </dgm:prSet>
      <dgm:spPr/>
    </dgm:pt>
    <dgm:pt modelId="{5E467E5D-C299-43AF-9ECE-6B2849A8DC3E}" type="pres">
      <dgm:prSet presAssocID="{025B5BD7-4972-4706-8E8F-ACC3665188D5}" presName="level3hierChild" presStyleCnt="0"/>
      <dgm:spPr/>
    </dgm:pt>
    <dgm:pt modelId="{09844C7C-003C-4DD2-83A7-77997A98E37A}" type="pres">
      <dgm:prSet presAssocID="{0EDE6134-A60E-452B-8547-7E3E506B9F72}" presName="conn2-1" presStyleLbl="parChTrans1D2" presStyleIdx="2" presStyleCnt="4"/>
      <dgm:spPr/>
    </dgm:pt>
    <dgm:pt modelId="{00F3EB78-5C9A-42D0-B7B5-297EE4A43B82}" type="pres">
      <dgm:prSet presAssocID="{0EDE6134-A60E-452B-8547-7E3E506B9F72}" presName="connTx" presStyleLbl="parChTrans1D2" presStyleIdx="2" presStyleCnt="4"/>
      <dgm:spPr/>
    </dgm:pt>
    <dgm:pt modelId="{D15D9915-154E-48CF-8723-2FA4A672C227}" type="pres">
      <dgm:prSet presAssocID="{0077F8DA-D04C-4C4D-B0F8-8A626FF8B048}" presName="root2" presStyleCnt="0"/>
      <dgm:spPr/>
    </dgm:pt>
    <dgm:pt modelId="{58990552-32BB-4F71-9005-DFCE3E881D7C}" type="pres">
      <dgm:prSet presAssocID="{0077F8DA-D04C-4C4D-B0F8-8A626FF8B048}" presName="LevelTwoTextNode" presStyleLbl="node2" presStyleIdx="2" presStyleCnt="4" custScaleX="227402" custLinFactNeighborX="279" custLinFactNeighborY="-677">
        <dgm:presLayoutVars>
          <dgm:chPref val="3"/>
        </dgm:presLayoutVars>
      </dgm:prSet>
      <dgm:spPr/>
    </dgm:pt>
    <dgm:pt modelId="{70CC6C0B-ABC4-44FA-95F0-2963B349E68E}" type="pres">
      <dgm:prSet presAssocID="{0077F8DA-D04C-4C4D-B0F8-8A626FF8B048}" presName="level3hierChild" presStyleCnt="0"/>
      <dgm:spPr/>
    </dgm:pt>
    <dgm:pt modelId="{866977A0-2307-4FD3-BC02-F73709E42074}" type="pres">
      <dgm:prSet presAssocID="{6F0F3AB7-951E-4450-ACDE-F0A967502CA9}" presName="conn2-1" presStyleLbl="parChTrans1D2" presStyleIdx="3" presStyleCnt="4"/>
      <dgm:spPr/>
    </dgm:pt>
    <dgm:pt modelId="{1E77228C-06AC-4786-9452-A1D4EF0541AD}" type="pres">
      <dgm:prSet presAssocID="{6F0F3AB7-951E-4450-ACDE-F0A967502CA9}" presName="connTx" presStyleLbl="parChTrans1D2" presStyleIdx="3" presStyleCnt="4"/>
      <dgm:spPr/>
    </dgm:pt>
    <dgm:pt modelId="{A16FF9D7-FF66-4819-AC2C-C9A963122270}" type="pres">
      <dgm:prSet presAssocID="{B3C5FE57-0C86-4534-B671-F830DA7D46F2}" presName="root2" presStyleCnt="0"/>
      <dgm:spPr/>
    </dgm:pt>
    <dgm:pt modelId="{9FC40064-5450-4F4A-817D-2E1F23E77AC1}" type="pres">
      <dgm:prSet presAssocID="{B3C5FE57-0C86-4534-B671-F830DA7D46F2}" presName="LevelTwoTextNode" presStyleLbl="node2" presStyleIdx="3" presStyleCnt="4" custScaleX="227402" custLinFactNeighborX="279" custLinFactNeighborY="2775">
        <dgm:presLayoutVars>
          <dgm:chPref val="3"/>
        </dgm:presLayoutVars>
      </dgm:prSet>
      <dgm:spPr/>
    </dgm:pt>
    <dgm:pt modelId="{5424DFC9-74E0-42DC-BEBE-0B1ADAF2ADCF}" type="pres">
      <dgm:prSet presAssocID="{B3C5FE57-0C86-4534-B671-F830DA7D46F2}" presName="level3hierChild" presStyleCnt="0"/>
      <dgm:spPr/>
    </dgm:pt>
  </dgm:ptLst>
  <dgm:cxnLst>
    <dgm:cxn modelId="{46B8C908-D663-41FA-AC68-D3AE8269EB07}" type="presOf" srcId="{0EDE6134-A60E-452B-8547-7E3E506B9F72}" destId="{09844C7C-003C-4DD2-83A7-77997A98E37A}" srcOrd="0" destOrd="0" presId="urn:microsoft.com/office/officeart/2005/8/layout/hierarchy2"/>
    <dgm:cxn modelId="{A12EDD17-7CD0-475D-8EDE-BC097B8BB2E8}" type="presOf" srcId="{6F0F3AB7-951E-4450-ACDE-F0A967502CA9}" destId="{866977A0-2307-4FD3-BC02-F73709E42074}" srcOrd="0" destOrd="0" presId="urn:microsoft.com/office/officeart/2005/8/layout/hierarchy2"/>
    <dgm:cxn modelId="{EE987422-5E55-4D72-BCFF-07445638F5C2}" type="presOf" srcId="{B3C5FE57-0C86-4534-B671-F830DA7D46F2}" destId="{9FC40064-5450-4F4A-817D-2E1F23E77AC1}" srcOrd="0" destOrd="0" presId="urn:microsoft.com/office/officeart/2005/8/layout/hierarchy2"/>
    <dgm:cxn modelId="{F35D7F24-2F0E-4AD6-979D-93FF37222929}" type="presOf" srcId="{6F0F3AB7-951E-4450-ACDE-F0A967502CA9}" destId="{1E77228C-06AC-4786-9452-A1D4EF0541AD}" srcOrd="1" destOrd="0" presId="urn:microsoft.com/office/officeart/2005/8/layout/hierarchy2"/>
    <dgm:cxn modelId="{D9BEDB33-FDCF-49DE-9A34-97F74B39EB1F}" type="presOf" srcId="{4D8BDF27-315D-4B00-B4AF-23E414246BAB}" destId="{81B5082E-2930-4CE6-BA4E-F47CAECA033A}" srcOrd="1" destOrd="0" presId="urn:microsoft.com/office/officeart/2005/8/layout/hierarchy2"/>
    <dgm:cxn modelId="{7125DB43-F445-48FF-ADA5-1A26344DC9E4}" srcId="{56FCE046-AFA3-4C44-8DD7-41BEA772254C}" destId="{025B5BD7-4972-4706-8E8F-ACC3665188D5}" srcOrd="1" destOrd="0" parTransId="{A500AF94-FAD9-42C1-A9D1-5BD8E20C5020}" sibTransId="{B4341748-F496-432C-A742-BBD0E31E7048}"/>
    <dgm:cxn modelId="{78803850-C677-4162-8836-6B778594FD07}" srcId="{56FCE046-AFA3-4C44-8DD7-41BEA772254C}" destId="{0077F8DA-D04C-4C4D-B0F8-8A626FF8B048}" srcOrd="2" destOrd="0" parTransId="{0EDE6134-A60E-452B-8547-7E3E506B9F72}" sibTransId="{48BA4C98-F386-4F90-9D7B-7AE1CA8EEF1D}"/>
    <dgm:cxn modelId="{D020A755-EDA1-4475-BB7D-39B456E7E985}" type="presOf" srcId="{A500AF94-FAD9-42C1-A9D1-5BD8E20C5020}" destId="{B9E96A90-62E9-4A11-AF93-673B0B2E51D0}" srcOrd="0" destOrd="0" presId="urn:microsoft.com/office/officeart/2005/8/layout/hierarchy2"/>
    <dgm:cxn modelId="{1A9FB778-4A1E-4FD0-B7AC-C686E05E8818}" type="presOf" srcId="{025B5BD7-4972-4706-8E8F-ACC3665188D5}" destId="{6E7BB900-9AD2-460F-99FE-BF3D52E6CA3B}" srcOrd="0" destOrd="0" presId="urn:microsoft.com/office/officeart/2005/8/layout/hierarchy2"/>
    <dgm:cxn modelId="{D2B3DF81-6A7F-4D76-BD20-AB6622B423E8}" type="presOf" srcId="{0077F8DA-D04C-4C4D-B0F8-8A626FF8B048}" destId="{58990552-32BB-4F71-9005-DFCE3E881D7C}" srcOrd="0" destOrd="0" presId="urn:microsoft.com/office/officeart/2005/8/layout/hierarchy2"/>
    <dgm:cxn modelId="{0D2A1882-7D8F-4BD0-BEB5-E1AF7401E4E9}" type="presOf" srcId="{56FCE046-AFA3-4C44-8DD7-41BEA772254C}" destId="{16259B27-BB8C-4CBF-9A74-E51C18D9D953}" srcOrd="0" destOrd="0" presId="urn:microsoft.com/office/officeart/2005/8/layout/hierarchy2"/>
    <dgm:cxn modelId="{BBC10A90-8BD7-4F0E-B2D5-EED7EA2D7BD9}" type="presOf" srcId="{B077818A-6956-45EA-8F1C-15AC4F4FBBDC}" destId="{5E4C4CDE-797F-4EA9-940F-396C378F5B15}" srcOrd="0" destOrd="0" presId="urn:microsoft.com/office/officeart/2005/8/layout/hierarchy2"/>
    <dgm:cxn modelId="{B8E29DA0-9697-4C66-948E-F955FA53C39B}" srcId="{56FCE046-AFA3-4C44-8DD7-41BEA772254C}" destId="{B3C5FE57-0C86-4534-B671-F830DA7D46F2}" srcOrd="3" destOrd="0" parTransId="{6F0F3AB7-951E-4450-ACDE-F0A967502CA9}" sibTransId="{8969595F-6215-4B15-9465-9E7A7767080D}"/>
    <dgm:cxn modelId="{87A158A4-7776-43F4-957D-29BF6C78CAAF}" srcId="{56FCE046-AFA3-4C44-8DD7-41BEA772254C}" destId="{3D99FC8C-3450-411F-969E-0FDA7E4B855B}" srcOrd="0" destOrd="0" parTransId="{4D8BDF27-315D-4B00-B4AF-23E414246BAB}" sibTransId="{E665E5C4-7886-4098-836D-7F526CC40F85}"/>
    <dgm:cxn modelId="{994DCFA8-3988-4AE1-AB6A-5FF6D0287CBC}" type="presOf" srcId="{0EDE6134-A60E-452B-8547-7E3E506B9F72}" destId="{00F3EB78-5C9A-42D0-B7B5-297EE4A43B82}" srcOrd="1" destOrd="0" presId="urn:microsoft.com/office/officeart/2005/8/layout/hierarchy2"/>
    <dgm:cxn modelId="{E95BDBB1-D46B-4440-84B2-6CC0DAA72480}" type="presOf" srcId="{4D8BDF27-315D-4B00-B4AF-23E414246BAB}" destId="{2749FE85-FB05-432F-B84F-6C3121CD6DB3}" srcOrd="0" destOrd="0" presId="urn:microsoft.com/office/officeart/2005/8/layout/hierarchy2"/>
    <dgm:cxn modelId="{692F84B5-E347-4301-B7ED-CD309580933B}" srcId="{B077818A-6956-45EA-8F1C-15AC4F4FBBDC}" destId="{56FCE046-AFA3-4C44-8DD7-41BEA772254C}" srcOrd="0" destOrd="0" parTransId="{D4872649-3AC0-460A-90FF-E2793D396EC2}" sibTransId="{0E5D1D50-C49F-4490-AE20-242BAFE5F299}"/>
    <dgm:cxn modelId="{ECC885CB-1D68-436A-B8BD-080243176846}" type="presOf" srcId="{A500AF94-FAD9-42C1-A9D1-5BD8E20C5020}" destId="{DB4F14BC-604D-420E-BCA9-04C714F25E0B}" srcOrd="1" destOrd="0" presId="urn:microsoft.com/office/officeart/2005/8/layout/hierarchy2"/>
    <dgm:cxn modelId="{DD6405E3-A2E4-416A-87C4-28164CA039AB}" type="presOf" srcId="{3D99FC8C-3450-411F-969E-0FDA7E4B855B}" destId="{D84E247C-63F2-4473-A187-080CD10D7213}" srcOrd="0" destOrd="0" presId="urn:microsoft.com/office/officeart/2005/8/layout/hierarchy2"/>
    <dgm:cxn modelId="{5A0ABB2F-2BE6-4C4E-B85A-88AA5BCE4ECA}" type="presParOf" srcId="{5E4C4CDE-797F-4EA9-940F-396C378F5B15}" destId="{1E82E264-A7BD-496B-8899-42D6A535A3B9}" srcOrd="0" destOrd="0" presId="urn:microsoft.com/office/officeart/2005/8/layout/hierarchy2"/>
    <dgm:cxn modelId="{01B64C4F-6831-4426-89D5-6AB05FBE0AB1}" type="presParOf" srcId="{1E82E264-A7BD-496B-8899-42D6A535A3B9}" destId="{16259B27-BB8C-4CBF-9A74-E51C18D9D953}" srcOrd="0" destOrd="0" presId="urn:microsoft.com/office/officeart/2005/8/layout/hierarchy2"/>
    <dgm:cxn modelId="{6F84D846-C7AC-41B3-96E3-DF7B74929E94}" type="presParOf" srcId="{1E82E264-A7BD-496B-8899-42D6A535A3B9}" destId="{D30F3B1C-4839-42DB-A82F-98709B40A100}" srcOrd="1" destOrd="0" presId="urn:microsoft.com/office/officeart/2005/8/layout/hierarchy2"/>
    <dgm:cxn modelId="{11CECEF8-61D5-409D-8F57-931BCF519DB6}" type="presParOf" srcId="{D30F3B1C-4839-42DB-A82F-98709B40A100}" destId="{2749FE85-FB05-432F-B84F-6C3121CD6DB3}" srcOrd="0" destOrd="0" presId="urn:microsoft.com/office/officeart/2005/8/layout/hierarchy2"/>
    <dgm:cxn modelId="{249F9933-7758-4337-9419-FBA9B9686E1D}" type="presParOf" srcId="{2749FE85-FB05-432F-B84F-6C3121CD6DB3}" destId="{81B5082E-2930-4CE6-BA4E-F47CAECA033A}" srcOrd="0" destOrd="0" presId="urn:microsoft.com/office/officeart/2005/8/layout/hierarchy2"/>
    <dgm:cxn modelId="{EF238C9E-70E7-415C-92DE-30F5ABB6E952}" type="presParOf" srcId="{D30F3B1C-4839-42DB-A82F-98709B40A100}" destId="{63C53EC6-ABF6-434F-A8A3-0C95417F5F4E}" srcOrd="1" destOrd="0" presId="urn:microsoft.com/office/officeart/2005/8/layout/hierarchy2"/>
    <dgm:cxn modelId="{93131FAF-C678-4BC5-9C96-C82FBEE76712}" type="presParOf" srcId="{63C53EC6-ABF6-434F-A8A3-0C95417F5F4E}" destId="{D84E247C-63F2-4473-A187-080CD10D7213}" srcOrd="0" destOrd="0" presId="urn:microsoft.com/office/officeart/2005/8/layout/hierarchy2"/>
    <dgm:cxn modelId="{2994FE1D-0D14-49DB-9C37-8D57B99F323E}" type="presParOf" srcId="{63C53EC6-ABF6-434F-A8A3-0C95417F5F4E}" destId="{3F7EF9B3-52EB-45C6-90A0-515BC7F79E35}" srcOrd="1" destOrd="0" presId="urn:microsoft.com/office/officeart/2005/8/layout/hierarchy2"/>
    <dgm:cxn modelId="{E968B744-49F5-4472-9426-125B7684222D}" type="presParOf" srcId="{D30F3B1C-4839-42DB-A82F-98709B40A100}" destId="{B9E96A90-62E9-4A11-AF93-673B0B2E51D0}" srcOrd="2" destOrd="0" presId="urn:microsoft.com/office/officeart/2005/8/layout/hierarchy2"/>
    <dgm:cxn modelId="{B3B0C83E-40B8-4345-80F1-A5676179BE01}" type="presParOf" srcId="{B9E96A90-62E9-4A11-AF93-673B0B2E51D0}" destId="{DB4F14BC-604D-420E-BCA9-04C714F25E0B}" srcOrd="0" destOrd="0" presId="urn:microsoft.com/office/officeart/2005/8/layout/hierarchy2"/>
    <dgm:cxn modelId="{40750351-682C-460B-A001-B73106B8FE32}" type="presParOf" srcId="{D30F3B1C-4839-42DB-A82F-98709B40A100}" destId="{8F42EDD3-33D3-43C3-B05E-C237565470F5}" srcOrd="3" destOrd="0" presId="urn:microsoft.com/office/officeart/2005/8/layout/hierarchy2"/>
    <dgm:cxn modelId="{0B7E2F95-0424-4BCD-9412-5D91AC1DDDD6}" type="presParOf" srcId="{8F42EDD3-33D3-43C3-B05E-C237565470F5}" destId="{6E7BB900-9AD2-460F-99FE-BF3D52E6CA3B}" srcOrd="0" destOrd="0" presId="urn:microsoft.com/office/officeart/2005/8/layout/hierarchy2"/>
    <dgm:cxn modelId="{8FB839AF-3770-4A3E-8FC4-885654D01595}" type="presParOf" srcId="{8F42EDD3-33D3-43C3-B05E-C237565470F5}" destId="{5E467E5D-C299-43AF-9ECE-6B2849A8DC3E}" srcOrd="1" destOrd="0" presId="urn:microsoft.com/office/officeart/2005/8/layout/hierarchy2"/>
    <dgm:cxn modelId="{2ADB2030-C0DD-4541-B5BC-4E6FDDDD8588}" type="presParOf" srcId="{D30F3B1C-4839-42DB-A82F-98709B40A100}" destId="{09844C7C-003C-4DD2-83A7-77997A98E37A}" srcOrd="4" destOrd="0" presId="urn:microsoft.com/office/officeart/2005/8/layout/hierarchy2"/>
    <dgm:cxn modelId="{01DDC270-4F6C-42E4-AEEC-FDE6723E0BE8}" type="presParOf" srcId="{09844C7C-003C-4DD2-83A7-77997A98E37A}" destId="{00F3EB78-5C9A-42D0-B7B5-297EE4A43B82}" srcOrd="0" destOrd="0" presId="urn:microsoft.com/office/officeart/2005/8/layout/hierarchy2"/>
    <dgm:cxn modelId="{4F2734DF-953F-4EFF-A0E2-F8D90FFD0A63}" type="presParOf" srcId="{D30F3B1C-4839-42DB-A82F-98709B40A100}" destId="{D15D9915-154E-48CF-8723-2FA4A672C227}" srcOrd="5" destOrd="0" presId="urn:microsoft.com/office/officeart/2005/8/layout/hierarchy2"/>
    <dgm:cxn modelId="{FAFF270D-0B30-47CD-911D-C40C1DD30808}" type="presParOf" srcId="{D15D9915-154E-48CF-8723-2FA4A672C227}" destId="{58990552-32BB-4F71-9005-DFCE3E881D7C}" srcOrd="0" destOrd="0" presId="urn:microsoft.com/office/officeart/2005/8/layout/hierarchy2"/>
    <dgm:cxn modelId="{E10BF70E-B866-4C7A-A70D-ABEBE9247C07}" type="presParOf" srcId="{D15D9915-154E-48CF-8723-2FA4A672C227}" destId="{70CC6C0B-ABC4-44FA-95F0-2963B349E68E}" srcOrd="1" destOrd="0" presId="urn:microsoft.com/office/officeart/2005/8/layout/hierarchy2"/>
    <dgm:cxn modelId="{09F86E65-9C57-45E9-B235-6B7CD82E85A7}" type="presParOf" srcId="{D30F3B1C-4839-42DB-A82F-98709B40A100}" destId="{866977A0-2307-4FD3-BC02-F73709E42074}" srcOrd="6" destOrd="0" presId="urn:microsoft.com/office/officeart/2005/8/layout/hierarchy2"/>
    <dgm:cxn modelId="{7DCEBCE9-4247-4649-AB4B-295DCCD2C64E}" type="presParOf" srcId="{866977A0-2307-4FD3-BC02-F73709E42074}" destId="{1E77228C-06AC-4786-9452-A1D4EF0541AD}" srcOrd="0" destOrd="0" presId="urn:microsoft.com/office/officeart/2005/8/layout/hierarchy2"/>
    <dgm:cxn modelId="{6BCB67BC-3F3D-42AB-8097-FB1577DF7100}" type="presParOf" srcId="{D30F3B1C-4839-42DB-A82F-98709B40A100}" destId="{A16FF9D7-FF66-4819-AC2C-C9A963122270}" srcOrd="7" destOrd="0" presId="urn:microsoft.com/office/officeart/2005/8/layout/hierarchy2"/>
    <dgm:cxn modelId="{642748E3-637C-42C2-8648-97E445775F7A}" type="presParOf" srcId="{A16FF9D7-FF66-4819-AC2C-C9A963122270}" destId="{9FC40064-5450-4F4A-817D-2E1F23E77AC1}" srcOrd="0" destOrd="0" presId="urn:microsoft.com/office/officeart/2005/8/layout/hierarchy2"/>
    <dgm:cxn modelId="{BB8816F1-A34C-484B-B835-7C75B19BB698}" type="presParOf" srcId="{A16FF9D7-FF66-4819-AC2C-C9A963122270}" destId="{5424DFC9-74E0-42DC-BEBE-0B1ADAF2ADCF}"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567218-CE4B-46FD-BC89-56975E7524D5}" type="doc">
      <dgm:prSet loTypeId="urn:microsoft.com/office/officeart/2005/8/layout/chevron1" loCatId="process" qsTypeId="urn:microsoft.com/office/officeart/2005/8/quickstyle/simple1" qsCatId="simple" csTypeId="urn:microsoft.com/office/officeart/2005/8/colors/colorful3" csCatId="colorful" phldr="1"/>
      <dgm:spPr/>
      <dgm:t>
        <a:bodyPr/>
        <a:lstStyle/>
        <a:p>
          <a:endParaRPr lang="zh-TW" altLang="en-US"/>
        </a:p>
      </dgm:t>
    </dgm:pt>
    <dgm:pt modelId="{1E1E1D7E-5A00-45E5-86BE-34384361F10D}">
      <dgm:prSet/>
      <dgm:spPr/>
      <dgm:t>
        <a:bodyPr/>
        <a:lstStyle/>
        <a:p>
          <a:pPr rtl="0"/>
          <a:r>
            <a:rPr lang="zh-TW" b="1" dirty="0">
              <a:latin typeface="微軟正黑體" panose="020B0604030504040204" pitchFamily="34" charset="-120"/>
              <a:ea typeface="微軟正黑體" panose="020B0604030504040204" pitchFamily="34" charset="-120"/>
            </a:rPr>
            <a:t>感應器</a:t>
          </a:r>
          <a:br>
            <a:rPr lang="en-US" altLang="zh-TW" b="1" dirty="0">
              <a:latin typeface="微軟正黑體" panose="020B0604030504040204" pitchFamily="34" charset="-120"/>
              <a:ea typeface="微軟正黑體" panose="020B0604030504040204" pitchFamily="34" charset="-120"/>
            </a:rPr>
          </a:br>
          <a:r>
            <a:rPr lang="zh-TW" b="1" dirty="0">
              <a:latin typeface="微軟正黑體" panose="020B0604030504040204" pitchFamily="34" charset="-120"/>
              <a:ea typeface="微軟正黑體" panose="020B0604030504040204" pitchFamily="34" charset="-120"/>
            </a:rPr>
            <a:t>接收訊號</a:t>
          </a:r>
          <a:endParaRPr lang="zh-TW" dirty="0">
            <a:latin typeface="微軟正黑體" panose="020B0604030504040204" pitchFamily="34" charset="-120"/>
            <a:ea typeface="微軟正黑體" panose="020B0604030504040204" pitchFamily="34" charset="-120"/>
          </a:endParaRPr>
        </a:p>
      </dgm:t>
    </dgm:pt>
    <dgm:pt modelId="{678E61EB-A4EB-49C2-B512-C74AF882BEAF}" type="parTrans" cxnId="{66B02D85-89B2-45E8-B6F0-3BE29B0B6EEC}">
      <dgm:prSet/>
      <dgm:spPr/>
      <dgm:t>
        <a:bodyPr/>
        <a:lstStyle/>
        <a:p>
          <a:endParaRPr lang="zh-TW" altLang="en-US"/>
        </a:p>
      </dgm:t>
    </dgm:pt>
    <dgm:pt modelId="{AE55A700-D380-4B76-8E24-2A348F28FB0E}" type="sibTrans" cxnId="{66B02D85-89B2-45E8-B6F0-3BE29B0B6EEC}">
      <dgm:prSet/>
      <dgm:spPr/>
      <dgm:t>
        <a:bodyPr/>
        <a:lstStyle/>
        <a:p>
          <a:endParaRPr lang="zh-TW" altLang="en-US"/>
        </a:p>
      </dgm:t>
    </dgm:pt>
    <dgm:pt modelId="{E86036D7-C038-47E3-BD81-8C738991ACD1}">
      <dgm:prSet/>
      <dgm:spPr/>
      <dgm:t>
        <a:bodyPr/>
        <a:lstStyle/>
        <a:p>
          <a:pPr rtl="0"/>
          <a:r>
            <a:rPr lang="zh-TW" b="1" dirty="0">
              <a:latin typeface="微軟正黑體" panose="020B0604030504040204" pitchFamily="34" charset="-120"/>
              <a:ea typeface="微軟正黑體" panose="020B0604030504040204" pitchFamily="34" charset="-120"/>
            </a:rPr>
            <a:t>將訊號</a:t>
          </a:r>
          <a:br>
            <a:rPr lang="en-US" altLang="zh-TW" b="1" dirty="0">
              <a:latin typeface="微軟正黑體" panose="020B0604030504040204" pitchFamily="34" charset="-120"/>
              <a:ea typeface="微軟正黑體" panose="020B0604030504040204" pitchFamily="34" charset="-120"/>
            </a:rPr>
          </a:br>
          <a:r>
            <a:rPr lang="zh-TW" b="1" dirty="0">
              <a:latin typeface="微軟正黑體" panose="020B0604030504040204" pitchFamily="34" charset="-120"/>
              <a:ea typeface="微軟正黑體" panose="020B0604030504040204" pitchFamily="34" charset="-120"/>
            </a:rPr>
            <a:t>傳進電腦</a:t>
          </a:r>
          <a:endParaRPr lang="zh-TW" dirty="0">
            <a:latin typeface="微軟正黑體" panose="020B0604030504040204" pitchFamily="34" charset="-120"/>
            <a:ea typeface="微軟正黑體" panose="020B0604030504040204" pitchFamily="34" charset="-120"/>
          </a:endParaRPr>
        </a:p>
      </dgm:t>
    </dgm:pt>
    <dgm:pt modelId="{D778BF54-4DA3-4ED1-A20A-CEF14F0CD48D}" type="parTrans" cxnId="{FA1415CE-2E6B-4B88-A96D-78A56E4250A3}">
      <dgm:prSet/>
      <dgm:spPr/>
      <dgm:t>
        <a:bodyPr/>
        <a:lstStyle/>
        <a:p>
          <a:endParaRPr lang="zh-TW" altLang="en-US"/>
        </a:p>
      </dgm:t>
    </dgm:pt>
    <dgm:pt modelId="{6360F511-863D-4FFB-92E1-BB5CB45302F2}" type="sibTrans" cxnId="{FA1415CE-2E6B-4B88-A96D-78A56E4250A3}">
      <dgm:prSet/>
      <dgm:spPr/>
      <dgm:t>
        <a:bodyPr/>
        <a:lstStyle/>
        <a:p>
          <a:endParaRPr lang="zh-TW" altLang="en-US"/>
        </a:p>
      </dgm:t>
    </dgm:pt>
    <dgm:pt modelId="{1310F3AB-2B70-41DC-B50A-4FE3578A15FD}">
      <dgm:prSet/>
      <dgm:spPr/>
      <dgm:t>
        <a:bodyPr/>
        <a:lstStyle/>
        <a:p>
          <a:pPr rtl="0"/>
          <a:r>
            <a:rPr lang="zh-TW" b="1" dirty="0">
              <a:latin typeface="微軟正黑體" panose="020B0604030504040204" pitchFamily="34" charset="-120"/>
              <a:ea typeface="微軟正黑體" panose="020B0604030504040204" pitchFamily="34" charset="-120"/>
            </a:rPr>
            <a:t>程式進行</a:t>
          </a:r>
          <a:br>
            <a:rPr lang="en-US" altLang="zh-TW" b="1" dirty="0">
              <a:latin typeface="微軟正黑體" panose="020B0604030504040204" pitchFamily="34" charset="-120"/>
              <a:ea typeface="微軟正黑體" panose="020B0604030504040204" pitchFamily="34" charset="-120"/>
            </a:rPr>
          </a:br>
          <a:r>
            <a:rPr lang="zh-TW" b="1" dirty="0">
              <a:latin typeface="微軟正黑體" panose="020B0604030504040204" pitchFamily="34" charset="-120"/>
              <a:ea typeface="微軟正黑體" panose="020B0604030504040204" pitchFamily="34" charset="-120"/>
            </a:rPr>
            <a:t>分析判斷</a:t>
          </a:r>
          <a:endParaRPr lang="zh-TW" dirty="0">
            <a:latin typeface="微軟正黑體" panose="020B0604030504040204" pitchFamily="34" charset="-120"/>
            <a:ea typeface="微軟正黑體" panose="020B0604030504040204" pitchFamily="34" charset="-120"/>
          </a:endParaRPr>
        </a:p>
      </dgm:t>
    </dgm:pt>
    <dgm:pt modelId="{D5DA439C-3F42-4B8A-B63E-22F4FF90691F}" type="parTrans" cxnId="{8505DB1B-55A0-4B34-8581-3DDE9CC1977D}">
      <dgm:prSet/>
      <dgm:spPr/>
      <dgm:t>
        <a:bodyPr/>
        <a:lstStyle/>
        <a:p>
          <a:endParaRPr lang="zh-TW" altLang="en-US"/>
        </a:p>
      </dgm:t>
    </dgm:pt>
    <dgm:pt modelId="{ECDC0379-28DE-4168-9D92-B146B5E373A9}" type="sibTrans" cxnId="{8505DB1B-55A0-4B34-8581-3DDE9CC1977D}">
      <dgm:prSet/>
      <dgm:spPr/>
      <dgm:t>
        <a:bodyPr/>
        <a:lstStyle/>
        <a:p>
          <a:endParaRPr lang="zh-TW" altLang="en-US"/>
        </a:p>
      </dgm:t>
    </dgm:pt>
    <dgm:pt modelId="{11A44565-7765-4AC6-8B0E-DE8C288EF944}" type="pres">
      <dgm:prSet presAssocID="{38567218-CE4B-46FD-BC89-56975E7524D5}" presName="Name0" presStyleCnt="0">
        <dgm:presLayoutVars>
          <dgm:dir/>
          <dgm:animLvl val="lvl"/>
          <dgm:resizeHandles val="exact"/>
        </dgm:presLayoutVars>
      </dgm:prSet>
      <dgm:spPr/>
    </dgm:pt>
    <dgm:pt modelId="{FED42BFD-ED7D-490F-9C90-8F62CB7997AD}" type="pres">
      <dgm:prSet presAssocID="{1E1E1D7E-5A00-45E5-86BE-34384361F10D}" presName="parTxOnly" presStyleLbl="node1" presStyleIdx="0" presStyleCnt="3">
        <dgm:presLayoutVars>
          <dgm:chMax val="0"/>
          <dgm:chPref val="0"/>
          <dgm:bulletEnabled val="1"/>
        </dgm:presLayoutVars>
      </dgm:prSet>
      <dgm:spPr/>
    </dgm:pt>
    <dgm:pt modelId="{055FA3E5-00A4-46BC-8599-18BC34DDCBEB}" type="pres">
      <dgm:prSet presAssocID="{AE55A700-D380-4B76-8E24-2A348F28FB0E}" presName="parTxOnlySpace" presStyleCnt="0"/>
      <dgm:spPr/>
    </dgm:pt>
    <dgm:pt modelId="{3CE93C1A-7B3B-4A55-95FD-55787662A2C0}" type="pres">
      <dgm:prSet presAssocID="{E86036D7-C038-47E3-BD81-8C738991ACD1}" presName="parTxOnly" presStyleLbl="node1" presStyleIdx="1" presStyleCnt="3">
        <dgm:presLayoutVars>
          <dgm:chMax val="0"/>
          <dgm:chPref val="0"/>
          <dgm:bulletEnabled val="1"/>
        </dgm:presLayoutVars>
      </dgm:prSet>
      <dgm:spPr/>
    </dgm:pt>
    <dgm:pt modelId="{09A94003-D4FB-47ED-BCEF-56CEDCAE6346}" type="pres">
      <dgm:prSet presAssocID="{6360F511-863D-4FFB-92E1-BB5CB45302F2}" presName="parTxOnlySpace" presStyleCnt="0"/>
      <dgm:spPr/>
    </dgm:pt>
    <dgm:pt modelId="{61FE220D-12BE-449D-834F-05C9858C2B10}" type="pres">
      <dgm:prSet presAssocID="{1310F3AB-2B70-41DC-B50A-4FE3578A15FD}" presName="parTxOnly" presStyleLbl="node1" presStyleIdx="2" presStyleCnt="3">
        <dgm:presLayoutVars>
          <dgm:chMax val="0"/>
          <dgm:chPref val="0"/>
          <dgm:bulletEnabled val="1"/>
        </dgm:presLayoutVars>
      </dgm:prSet>
      <dgm:spPr/>
    </dgm:pt>
  </dgm:ptLst>
  <dgm:cxnLst>
    <dgm:cxn modelId="{8505DB1B-55A0-4B34-8581-3DDE9CC1977D}" srcId="{38567218-CE4B-46FD-BC89-56975E7524D5}" destId="{1310F3AB-2B70-41DC-B50A-4FE3578A15FD}" srcOrd="2" destOrd="0" parTransId="{D5DA439C-3F42-4B8A-B63E-22F4FF90691F}" sibTransId="{ECDC0379-28DE-4168-9D92-B146B5E373A9}"/>
    <dgm:cxn modelId="{A3A5B329-1C0B-4415-93AE-88B9F376A57B}" type="presOf" srcId="{1310F3AB-2B70-41DC-B50A-4FE3578A15FD}" destId="{61FE220D-12BE-449D-834F-05C9858C2B10}" srcOrd="0" destOrd="0" presId="urn:microsoft.com/office/officeart/2005/8/layout/chevron1"/>
    <dgm:cxn modelId="{1B27A949-A2A1-47F0-AD31-90191259B2CE}" type="presOf" srcId="{38567218-CE4B-46FD-BC89-56975E7524D5}" destId="{11A44565-7765-4AC6-8B0E-DE8C288EF944}" srcOrd="0" destOrd="0" presId="urn:microsoft.com/office/officeart/2005/8/layout/chevron1"/>
    <dgm:cxn modelId="{8412706A-F2F4-48C4-A501-E2F8E76C7B40}" type="presOf" srcId="{1E1E1D7E-5A00-45E5-86BE-34384361F10D}" destId="{FED42BFD-ED7D-490F-9C90-8F62CB7997AD}" srcOrd="0" destOrd="0" presId="urn:microsoft.com/office/officeart/2005/8/layout/chevron1"/>
    <dgm:cxn modelId="{66B02D85-89B2-45E8-B6F0-3BE29B0B6EEC}" srcId="{38567218-CE4B-46FD-BC89-56975E7524D5}" destId="{1E1E1D7E-5A00-45E5-86BE-34384361F10D}" srcOrd="0" destOrd="0" parTransId="{678E61EB-A4EB-49C2-B512-C74AF882BEAF}" sibTransId="{AE55A700-D380-4B76-8E24-2A348F28FB0E}"/>
    <dgm:cxn modelId="{8E0BF585-F0E0-442E-8462-0E915CED079A}" type="presOf" srcId="{E86036D7-C038-47E3-BD81-8C738991ACD1}" destId="{3CE93C1A-7B3B-4A55-95FD-55787662A2C0}" srcOrd="0" destOrd="0" presId="urn:microsoft.com/office/officeart/2005/8/layout/chevron1"/>
    <dgm:cxn modelId="{FA1415CE-2E6B-4B88-A96D-78A56E4250A3}" srcId="{38567218-CE4B-46FD-BC89-56975E7524D5}" destId="{E86036D7-C038-47E3-BD81-8C738991ACD1}" srcOrd="1" destOrd="0" parTransId="{D778BF54-4DA3-4ED1-A20A-CEF14F0CD48D}" sibTransId="{6360F511-863D-4FFB-92E1-BB5CB45302F2}"/>
    <dgm:cxn modelId="{277B030F-B8EF-400E-AE72-2515125E1B18}" type="presParOf" srcId="{11A44565-7765-4AC6-8B0E-DE8C288EF944}" destId="{FED42BFD-ED7D-490F-9C90-8F62CB7997AD}" srcOrd="0" destOrd="0" presId="urn:microsoft.com/office/officeart/2005/8/layout/chevron1"/>
    <dgm:cxn modelId="{AB4D2A16-AF20-400D-822F-D68DCB97124D}" type="presParOf" srcId="{11A44565-7765-4AC6-8B0E-DE8C288EF944}" destId="{055FA3E5-00A4-46BC-8599-18BC34DDCBEB}" srcOrd="1" destOrd="0" presId="urn:microsoft.com/office/officeart/2005/8/layout/chevron1"/>
    <dgm:cxn modelId="{14F714CA-F3E2-4BE0-A1E1-4CDA6F618F18}" type="presParOf" srcId="{11A44565-7765-4AC6-8B0E-DE8C288EF944}" destId="{3CE93C1A-7B3B-4A55-95FD-55787662A2C0}" srcOrd="2" destOrd="0" presId="urn:microsoft.com/office/officeart/2005/8/layout/chevron1"/>
    <dgm:cxn modelId="{7443CB18-D1B1-47D5-A547-8FE325348FFE}" type="presParOf" srcId="{11A44565-7765-4AC6-8B0E-DE8C288EF944}" destId="{09A94003-D4FB-47ED-BCEF-56CEDCAE6346}" srcOrd="3" destOrd="0" presId="urn:microsoft.com/office/officeart/2005/8/layout/chevron1"/>
    <dgm:cxn modelId="{4B98B700-8A5E-407D-AC6B-BE7AED9262E9}" type="presParOf" srcId="{11A44565-7765-4AC6-8B0E-DE8C288EF944}" destId="{61FE220D-12BE-449D-834F-05C9858C2B10}"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AEBFE66-AA60-473D-B6FE-64EA8EC81CC6}" type="doc">
      <dgm:prSet loTypeId="urn:microsoft.com/office/officeart/2005/8/layout/process1" loCatId="process" qsTypeId="urn:microsoft.com/office/officeart/2005/8/quickstyle/simple1" qsCatId="simple" csTypeId="urn:microsoft.com/office/officeart/2005/8/colors/colorful3" csCatId="colorful" phldr="1"/>
      <dgm:spPr/>
      <dgm:t>
        <a:bodyPr/>
        <a:lstStyle/>
        <a:p>
          <a:endParaRPr lang="zh-TW" altLang="en-US"/>
        </a:p>
      </dgm:t>
    </dgm:pt>
    <dgm:pt modelId="{27CD8E82-C66A-4B6C-A51D-C0935A74C0BE}">
      <dgm:prSet custT="1"/>
      <dgm:spPr/>
      <dgm:t>
        <a:bodyPr/>
        <a:lstStyle/>
        <a:p>
          <a:pPr rtl="0"/>
          <a:r>
            <a:rPr lang="zh-TW" sz="2000" b="1" dirty="0">
              <a:latin typeface="微軟正黑體" panose="020B0604030504040204" pitchFamily="34" charset="-120"/>
              <a:ea typeface="微軟正黑體" panose="020B0604030504040204" pitchFamily="34" charset="-120"/>
            </a:rPr>
            <a:t>潤飾</a:t>
          </a:r>
          <a:endParaRPr lang="zh-TW" sz="2000" dirty="0">
            <a:latin typeface="微軟正黑體" panose="020B0604030504040204" pitchFamily="34" charset="-120"/>
            <a:ea typeface="微軟正黑體" panose="020B0604030504040204" pitchFamily="34" charset="-120"/>
          </a:endParaRPr>
        </a:p>
      </dgm:t>
    </dgm:pt>
    <dgm:pt modelId="{933B122D-52E8-4F44-B0C9-21B27AACA3BB}" type="parTrans" cxnId="{592D2A76-D41C-4DA1-9133-758740233B1F}">
      <dgm:prSet/>
      <dgm:spPr/>
      <dgm:t>
        <a:bodyPr/>
        <a:lstStyle/>
        <a:p>
          <a:endParaRPr lang="zh-TW" altLang="en-US"/>
        </a:p>
      </dgm:t>
    </dgm:pt>
    <dgm:pt modelId="{595F1FC1-24B3-4FD2-846D-A3C7B441EDF8}" type="sibTrans" cxnId="{592D2A76-D41C-4DA1-9133-758740233B1F}">
      <dgm:prSet/>
      <dgm:spPr/>
      <dgm:t>
        <a:bodyPr/>
        <a:lstStyle/>
        <a:p>
          <a:endParaRPr lang="zh-TW" altLang="en-US"/>
        </a:p>
      </dgm:t>
    </dgm:pt>
    <dgm:pt modelId="{E82B532E-9054-42C0-A5DA-15311824F57A}">
      <dgm:prSet custT="1"/>
      <dgm:spPr/>
      <dgm:t>
        <a:bodyPr/>
        <a:lstStyle/>
        <a:p>
          <a:pPr rtl="0"/>
          <a:r>
            <a:rPr lang="zh-TW" sz="2000" b="1" dirty="0">
              <a:latin typeface="微軟正黑體" panose="020B0604030504040204" pitchFamily="34" charset="-120"/>
              <a:ea typeface="微軟正黑體" panose="020B0604030504040204" pitchFamily="34" charset="-120"/>
            </a:rPr>
            <a:t>下標籤</a:t>
          </a:r>
          <a:endParaRPr lang="zh-TW" sz="2000" dirty="0">
            <a:latin typeface="微軟正黑體" panose="020B0604030504040204" pitchFamily="34" charset="-120"/>
            <a:ea typeface="微軟正黑體" panose="020B0604030504040204" pitchFamily="34" charset="-120"/>
          </a:endParaRPr>
        </a:p>
      </dgm:t>
    </dgm:pt>
    <dgm:pt modelId="{7917B30B-BFA1-4F8A-BC13-FCF498AC8109}" type="parTrans" cxnId="{DBA173B3-D700-4ED4-98FB-9ED51C5DDC34}">
      <dgm:prSet/>
      <dgm:spPr/>
      <dgm:t>
        <a:bodyPr/>
        <a:lstStyle/>
        <a:p>
          <a:endParaRPr lang="zh-TW" altLang="en-US"/>
        </a:p>
      </dgm:t>
    </dgm:pt>
    <dgm:pt modelId="{ECFEC457-96AA-4BC0-B7ED-7C5E592B9E09}" type="sibTrans" cxnId="{DBA173B3-D700-4ED4-98FB-9ED51C5DDC34}">
      <dgm:prSet/>
      <dgm:spPr/>
      <dgm:t>
        <a:bodyPr/>
        <a:lstStyle/>
        <a:p>
          <a:endParaRPr lang="zh-TW" altLang="en-US"/>
        </a:p>
      </dgm:t>
    </dgm:pt>
    <dgm:pt modelId="{33A3A32B-95DA-4743-AFA7-D30D01411971}">
      <dgm:prSet custT="1"/>
      <dgm:spPr/>
      <dgm:t>
        <a:bodyPr/>
        <a:lstStyle/>
        <a:p>
          <a:pPr rtl="0"/>
          <a:r>
            <a:rPr lang="zh-TW" sz="2000" b="1" dirty="0">
              <a:latin typeface="微軟正黑體" panose="020B0604030504040204" pitchFamily="34" charset="-120"/>
              <a:ea typeface="微軟正黑體" panose="020B0604030504040204" pitchFamily="34" charset="-120"/>
            </a:rPr>
            <a:t>群組化</a:t>
          </a:r>
          <a:endParaRPr lang="zh-TW" sz="2000" dirty="0">
            <a:latin typeface="微軟正黑體" panose="020B0604030504040204" pitchFamily="34" charset="-120"/>
            <a:ea typeface="微軟正黑體" panose="020B0604030504040204" pitchFamily="34" charset="-120"/>
          </a:endParaRPr>
        </a:p>
      </dgm:t>
    </dgm:pt>
    <dgm:pt modelId="{2D820F90-0291-442C-8D53-BE453C85D054}" type="parTrans" cxnId="{73FAC851-8BA0-483E-A777-7C44BF761DFB}">
      <dgm:prSet/>
      <dgm:spPr/>
      <dgm:t>
        <a:bodyPr/>
        <a:lstStyle/>
        <a:p>
          <a:endParaRPr lang="zh-TW" altLang="en-US"/>
        </a:p>
      </dgm:t>
    </dgm:pt>
    <dgm:pt modelId="{B0898286-76EC-4A88-AB5B-8BC132C6C1F3}" type="sibTrans" cxnId="{73FAC851-8BA0-483E-A777-7C44BF761DFB}">
      <dgm:prSet/>
      <dgm:spPr/>
      <dgm:t>
        <a:bodyPr/>
        <a:lstStyle/>
        <a:p>
          <a:endParaRPr lang="zh-TW" altLang="en-US"/>
        </a:p>
      </dgm:t>
    </dgm:pt>
    <dgm:pt modelId="{94F9435D-5B03-461C-ABC5-803ABCB03382}">
      <dgm:prSet custT="1"/>
      <dgm:spPr/>
      <dgm:t>
        <a:bodyPr/>
        <a:lstStyle/>
        <a:p>
          <a:pPr rtl="0"/>
          <a:r>
            <a:rPr lang="zh-TW" sz="2000" b="1" dirty="0">
              <a:latin typeface="微軟正黑體" panose="020B0604030504040204" pitchFamily="34" charset="-120"/>
              <a:ea typeface="微軟正黑體" panose="020B0604030504040204" pitchFamily="34" charset="-120"/>
            </a:rPr>
            <a:t>解析</a:t>
          </a:r>
          <a:endParaRPr lang="zh-TW" sz="2000" dirty="0">
            <a:latin typeface="微軟正黑體" panose="020B0604030504040204" pitchFamily="34" charset="-120"/>
            <a:ea typeface="微軟正黑體" panose="020B0604030504040204" pitchFamily="34" charset="-120"/>
          </a:endParaRPr>
        </a:p>
      </dgm:t>
    </dgm:pt>
    <dgm:pt modelId="{7113B41E-8143-4DD6-A41A-0E4D63D2A162}" type="parTrans" cxnId="{1010F08C-11FE-4040-8745-77DB924C98AF}">
      <dgm:prSet/>
      <dgm:spPr/>
      <dgm:t>
        <a:bodyPr/>
        <a:lstStyle/>
        <a:p>
          <a:endParaRPr lang="zh-TW" altLang="en-US"/>
        </a:p>
      </dgm:t>
    </dgm:pt>
    <dgm:pt modelId="{2CFB3D3A-2CD7-41D2-AE92-5489D134C7CE}" type="sibTrans" cxnId="{1010F08C-11FE-4040-8745-77DB924C98AF}">
      <dgm:prSet/>
      <dgm:spPr/>
      <dgm:t>
        <a:bodyPr/>
        <a:lstStyle/>
        <a:p>
          <a:endParaRPr lang="zh-TW" altLang="en-US"/>
        </a:p>
      </dgm:t>
    </dgm:pt>
    <dgm:pt modelId="{8579200C-7A33-4AC0-B597-50327F0AFD09}">
      <dgm:prSet custT="1"/>
      <dgm:spPr/>
      <dgm:t>
        <a:bodyPr/>
        <a:lstStyle/>
        <a:p>
          <a:pPr rtl="0"/>
          <a:r>
            <a:rPr lang="zh-TW" sz="2000" b="1" dirty="0">
              <a:latin typeface="微軟正黑體" panose="020B0604030504040204" pitchFamily="34" charset="-120"/>
              <a:ea typeface="微軟正黑體" panose="020B0604030504040204" pitchFamily="34" charset="-120"/>
            </a:rPr>
            <a:t>比對</a:t>
          </a:r>
          <a:endParaRPr lang="zh-TW" sz="2000" dirty="0">
            <a:latin typeface="微軟正黑體" panose="020B0604030504040204" pitchFamily="34" charset="-120"/>
            <a:ea typeface="微軟正黑體" panose="020B0604030504040204" pitchFamily="34" charset="-120"/>
          </a:endParaRPr>
        </a:p>
      </dgm:t>
    </dgm:pt>
    <dgm:pt modelId="{7B965CBB-CC29-4125-BA78-EBF5B19C8601}" type="parTrans" cxnId="{57220431-0CCA-4D30-A06E-68722E8B80E4}">
      <dgm:prSet/>
      <dgm:spPr/>
      <dgm:t>
        <a:bodyPr/>
        <a:lstStyle/>
        <a:p>
          <a:endParaRPr lang="zh-TW" altLang="en-US"/>
        </a:p>
      </dgm:t>
    </dgm:pt>
    <dgm:pt modelId="{49A93C19-1D05-46DF-8BFB-349B92686BB0}" type="sibTrans" cxnId="{57220431-0CCA-4D30-A06E-68722E8B80E4}">
      <dgm:prSet/>
      <dgm:spPr/>
      <dgm:t>
        <a:bodyPr/>
        <a:lstStyle/>
        <a:p>
          <a:endParaRPr lang="zh-TW" altLang="en-US"/>
        </a:p>
      </dgm:t>
    </dgm:pt>
    <dgm:pt modelId="{4F3F4D58-3F7D-4DBE-8C1F-7B7A5D3ACFF6}" type="pres">
      <dgm:prSet presAssocID="{EAEBFE66-AA60-473D-B6FE-64EA8EC81CC6}" presName="Name0" presStyleCnt="0">
        <dgm:presLayoutVars>
          <dgm:dir/>
          <dgm:resizeHandles val="exact"/>
        </dgm:presLayoutVars>
      </dgm:prSet>
      <dgm:spPr/>
    </dgm:pt>
    <dgm:pt modelId="{33A15AB5-EC5B-488C-8957-5AAD82D61D1E}" type="pres">
      <dgm:prSet presAssocID="{27CD8E82-C66A-4B6C-A51D-C0935A74C0BE}" presName="node" presStyleLbl="node1" presStyleIdx="0" presStyleCnt="5" custScaleY="110000" custLinFactNeighborY="-83284">
        <dgm:presLayoutVars>
          <dgm:bulletEnabled val="1"/>
        </dgm:presLayoutVars>
      </dgm:prSet>
      <dgm:spPr/>
    </dgm:pt>
    <dgm:pt modelId="{66892187-32D6-49AD-93C5-90D0D38164D2}" type="pres">
      <dgm:prSet presAssocID="{595F1FC1-24B3-4FD2-846D-A3C7B441EDF8}" presName="sibTrans" presStyleLbl="sibTrans2D1" presStyleIdx="0" presStyleCnt="4"/>
      <dgm:spPr/>
    </dgm:pt>
    <dgm:pt modelId="{8FB8CB46-793F-42D1-A6E8-D38F8B65E6B1}" type="pres">
      <dgm:prSet presAssocID="{595F1FC1-24B3-4FD2-846D-A3C7B441EDF8}" presName="connectorText" presStyleLbl="sibTrans2D1" presStyleIdx="0" presStyleCnt="4"/>
      <dgm:spPr/>
    </dgm:pt>
    <dgm:pt modelId="{73832950-16BE-4E44-B020-808B5E4DE8F6}" type="pres">
      <dgm:prSet presAssocID="{E82B532E-9054-42C0-A5DA-15311824F57A}" presName="node" presStyleLbl="node1" presStyleIdx="1" presStyleCnt="5" custScaleY="110000" custLinFactNeighborY="-83284">
        <dgm:presLayoutVars>
          <dgm:bulletEnabled val="1"/>
        </dgm:presLayoutVars>
      </dgm:prSet>
      <dgm:spPr/>
    </dgm:pt>
    <dgm:pt modelId="{6514BE59-85A2-400C-95FE-8CCF192E19BA}" type="pres">
      <dgm:prSet presAssocID="{ECFEC457-96AA-4BC0-B7ED-7C5E592B9E09}" presName="sibTrans" presStyleLbl="sibTrans2D1" presStyleIdx="1" presStyleCnt="4"/>
      <dgm:spPr/>
    </dgm:pt>
    <dgm:pt modelId="{A9E4D3B0-E6DE-4DCB-BDA4-326EC25A87A3}" type="pres">
      <dgm:prSet presAssocID="{ECFEC457-96AA-4BC0-B7ED-7C5E592B9E09}" presName="connectorText" presStyleLbl="sibTrans2D1" presStyleIdx="1" presStyleCnt="4"/>
      <dgm:spPr/>
    </dgm:pt>
    <dgm:pt modelId="{E96A4C42-541E-4973-81B9-5B7993E18AF1}" type="pres">
      <dgm:prSet presAssocID="{33A3A32B-95DA-4743-AFA7-D30D01411971}" presName="node" presStyleLbl="node1" presStyleIdx="2" presStyleCnt="5" custScaleY="110000" custLinFactNeighborY="-86680">
        <dgm:presLayoutVars>
          <dgm:bulletEnabled val="1"/>
        </dgm:presLayoutVars>
      </dgm:prSet>
      <dgm:spPr/>
    </dgm:pt>
    <dgm:pt modelId="{5A4AF43D-F4CA-45D0-AB04-E4F53ED6F144}" type="pres">
      <dgm:prSet presAssocID="{B0898286-76EC-4A88-AB5B-8BC132C6C1F3}" presName="sibTrans" presStyleLbl="sibTrans2D1" presStyleIdx="2" presStyleCnt="4"/>
      <dgm:spPr/>
    </dgm:pt>
    <dgm:pt modelId="{E0E526C7-340A-43D4-82BB-55DAF0C17CB4}" type="pres">
      <dgm:prSet presAssocID="{B0898286-76EC-4A88-AB5B-8BC132C6C1F3}" presName="connectorText" presStyleLbl="sibTrans2D1" presStyleIdx="2" presStyleCnt="4"/>
      <dgm:spPr/>
    </dgm:pt>
    <dgm:pt modelId="{0587D1AC-BCC6-42F8-96C3-D2BFAEDFEC76}" type="pres">
      <dgm:prSet presAssocID="{94F9435D-5B03-461C-ABC5-803ABCB03382}" presName="node" presStyleLbl="node1" presStyleIdx="3" presStyleCnt="5" custLinFactX="-99398" custLinFactNeighborX="-100000" custLinFactNeighborY="78523">
        <dgm:presLayoutVars>
          <dgm:bulletEnabled val="1"/>
        </dgm:presLayoutVars>
      </dgm:prSet>
      <dgm:spPr/>
    </dgm:pt>
    <dgm:pt modelId="{ED979217-4C02-45DD-8684-086C90B17A45}" type="pres">
      <dgm:prSet presAssocID="{2CFB3D3A-2CD7-41D2-AE92-5489D134C7CE}" presName="sibTrans" presStyleLbl="sibTrans2D1" presStyleIdx="3" presStyleCnt="4"/>
      <dgm:spPr/>
    </dgm:pt>
    <dgm:pt modelId="{EECFEF4D-4AAF-4062-8139-8F99651F051B}" type="pres">
      <dgm:prSet presAssocID="{2CFB3D3A-2CD7-41D2-AE92-5489D134C7CE}" presName="connectorText" presStyleLbl="sibTrans2D1" presStyleIdx="3" presStyleCnt="4"/>
      <dgm:spPr/>
    </dgm:pt>
    <dgm:pt modelId="{681FFFA9-3EFE-4B18-87E4-019792FBEDB7}" type="pres">
      <dgm:prSet presAssocID="{8579200C-7A33-4AC0-B597-50327F0AFD09}" presName="node" presStyleLbl="node1" presStyleIdx="4" presStyleCnt="5" custLinFactX="-300000" custLinFactNeighborX="-307776" custLinFactNeighborY="78523">
        <dgm:presLayoutVars>
          <dgm:bulletEnabled val="1"/>
        </dgm:presLayoutVars>
      </dgm:prSet>
      <dgm:spPr/>
    </dgm:pt>
  </dgm:ptLst>
  <dgm:cxnLst>
    <dgm:cxn modelId="{F1C7B900-6A98-48C1-A7A2-676CB9B5F89C}" type="presOf" srcId="{E82B532E-9054-42C0-A5DA-15311824F57A}" destId="{73832950-16BE-4E44-B020-808B5E4DE8F6}" srcOrd="0" destOrd="0" presId="urn:microsoft.com/office/officeart/2005/8/layout/process1"/>
    <dgm:cxn modelId="{F9265105-6CA9-4D39-961C-1E7CD5938A65}" type="presOf" srcId="{2CFB3D3A-2CD7-41D2-AE92-5489D134C7CE}" destId="{EECFEF4D-4AAF-4062-8139-8F99651F051B}" srcOrd="1" destOrd="0" presId="urn:microsoft.com/office/officeart/2005/8/layout/process1"/>
    <dgm:cxn modelId="{88630920-D287-4981-9CD5-F8ABE84E7115}" type="presOf" srcId="{94F9435D-5B03-461C-ABC5-803ABCB03382}" destId="{0587D1AC-BCC6-42F8-96C3-D2BFAEDFEC76}" srcOrd="0" destOrd="0" presId="urn:microsoft.com/office/officeart/2005/8/layout/process1"/>
    <dgm:cxn modelId="{8D9ECE27-798B-45BB-86A0-0A4329DD8E02}" type="presOf" srcId="{EAEBFE66-AA60-473D-B6FE-64EA8EC81CC6}" destId="{4F3F4D58-3F7D-4DBE-8C1F-7B7A5D3ACFF6}" srcOrd="0" destOrd="0" presId="urn:microsoft.com/office/officeart/2005/8/layout/process1"/>
    <dgm:cxn modelId="{57220431-0CCA-4D30-A06E-68722E8B80E4}" srcId="{EAEBFE66-AA60-473D-B6FE-64EA8EC81CC6}" destId="{8579200C-7A33-4AC0-B597-50327F0AFD09}" srcOrd="4" destOrd="0" parTransId="{7B965CBB-CC29-4125-BA78-EBF5B19C8601}" sibTransId="{49A93C19-1D05-46DF-8BFB-349B92686BB0}"/>
    <dgm:cxn modelId="{8ED5A240-64BC-4C45-B6BB-DFB910D5E907}" type="presOf" srcId="{B0898286-76EC-4A88-AB5B-8BC132C6C1F3}" destId="{E0E526C7-340A-43D4-82BB-55DAF0C17CB4}" srcOrd="1" destOrd="0" presId="urn:microsoft.com/office/officeart/2005/8/layout/process1"/>
    <dgm:cxn modelId="{9E78736F-EBDE-43D9-B573-0EF07ED8949A}" type="presOf" srcId="{8579200C-7A33-4AC0-B597-50327F0AFD09}" destId="{681FFFA9-3EFE-4B18-87E4-019792FBEDB7}" srcOrd="0" destOrd="0" presId="urn:microsoft.com/office/officeart/2005/8/layout/process1"/>
    <dgm:cxn modelId="{73FAC851-8BA0-483E-A777-7C44BF761DFB}" srcId="{EAEBFE66-AA60-473D-B6FE-64EA8EC81CC6}" destId="{33A3A32B-95DA-4743-AFA7-D30D01411971}" srcOrd="2" destOrd="0" parTransId="{2D820F90-0291-442C-8D53-BE453C85D054}" sibTransId="{B0898286-76EC-4A88-AB5B-8BC132C6C1F3}"/>
    <dgm:cxn modelId="{592D2A76-D41C-4DA1-9133-758740233B1F}" srcId="{EAEBFE66-AA60-473D-B6FE-64EA8EC81CC6}" destId="{27CD8E82-C66A-4B6C-A51D-C0935A74C0BE}" srcOrd="0" destOrd="0" parTransId="{933B122D-52E8-4F44-B0C9-21B27AACA3BB}" sibTransId="{595F1FC1-24B3-4FD2-846D-A3C7B441EDF8}"/>
    <dgm:cxn modelId="{EDDD2077-3A56-47AA-866E-EA0A73E1B661}" type="presOf" srcId="{2CFB3D3A-2CD7-41D2-AE92-5489D134C7CE}" destId="{ED979217-4C02-45DD-8684-086C90B17A45}" srcOrd="0" destOrd="0" presId="urn:microsoft.com/office/officeart/2005/8/layout/process1"/>
    <dgm:cxn modelId="{9FB6707D-878D-4A49-9369-309464136B5E}" type="presOf" srcId="{33A3A32B-95DA-4743-AFA7-D30D01411971}" destId="{E96A4C42-541E-4973-81B9-5B7993E18AF1}" srcOrd="0" destOrd="0" presId="urn:microsoft.com/office/officeart/2005/8/layout/process1"/>
    <dgm:cxn modelId="{1010F08C-11FE-4040-8745-77DB924C98AF}" srcId="{EAEBFE66-AA60-473D-B6FE-64EA8EC81CC6}" destId="{94F9435D-5B03-461C-ABC5-803ABCB03382}" srcOrd="3" destOrd="0" parTransId="{7113B41E-8143-4DD6-A41A-0E4D63D2A162}" sibTransId="{2CFB3D3A-2CD7-41D2-AE92-5489D134C7CE}"/>
    <dgm:cxn modelId="{65395C9B-4213-4230-981A-E9CAFC91C83D}" type="presOf" srcId="{595F1FC1-24B3-4FD2-846D-A3C7B441EDF8}" destId="{66892187-32D6-49AD-93C5-90D0D38164D2}" srcOrd="0" destOrd="0" presId="urn:microsoft.com/office/officeart/2005/8/layout/process1"/>
    <dgm:cxn modelId="{A20E30B2-CBB7-49E5-A3E2-862902AA5A69}" type="presOf" srcId="{27CD8E82-C66A-4B6C-A51D-C0935A74C0BE}" destId="{33A15AB5-EC5B-488C-8957-5AAD82D61D1E}" srcOrd="0" destOrd="0" presId="urn:microsoft.com/office/officeart/2005/8/layout/process1"/>
    <dgm:cxn modelId="{DBA173B3-D700-4ED4-98FB-9ED51C5DDC34}" srcId="{EAEBFE66-AA60-473D-B6FE-64EA8EC81CC6}" destId="{E82B532E-9054-42C0-A5DA-15311824F57A}" srcOrd="1" destOrd="0" parTransId="{7917B30B-BFA1-4F8A-BC13-FCF498AC8109}" sibTransId="{ECFEC457-96AA-4BC0-B7ED-7C5E592B9E09}"/>
    <dgm:cxn modelId="{5A3059B8-B873-4992-B17F-AC4021283641}" type="presOf" srcId="{B0898286-76EC-4A88-AB5B-8BC132C6C1F3}" destId="{5A4AF43D-F4CA-45D0-AB04-E4F53ED6F144}" srcOrd="0" destOrd="0" presId="urn:microsoft.com/office/officeart/2005/8/layout/process1"/>
    <dgm:cxn modelId="{FDB079C7-9908-4445-AC9A-75EF573CED2F}" type="presOf" srcId="{ECFEC457-96AA-4BC0-B7ED-7C5E592B9E09}" destId="{6514BE59-85A2-400C-95FE-8CCF192E19BA}" srcOrd="0" destOrd="0" presId="urn:microsoft.com/office/officeart/2005/8/layout/process1"/>
    <dgm:cxn modelId="{E9741AE0-9DB3-4340-B7E9-56395D3CF9CB}" type="presOf" srcId="{ECFEC457-96AA-4BC0-B7ED-7C5E592B9E09}" destId="{A9E4D3B0-E6DE-4DCB-BDA4-326EC25A87A3}" srcOrd="1" destOrd="0" presId="urn:microsoft.com/office/officeart/2005/8/layout/process1"/>
    <dgm:cxn modelId="{6FF7AAEE-5B81-4BB7-AADD-F290FA777F86}" type="presOf" srcId="{595F1FC1-24B3-4FD2-846D-A3C7B441EDF8}" destId="{8FB8CB46-793F-42D1-A6E8-D38F8B65E6B1}" srcOrd="1" destOrd="0" presId="urn:microsoft.com/office/officeart/2005/8/layout/process1"/>
    <dgm:cxn modelId="{FDC487D0-0993-40B8-A4B5-100792378B94}" type="presParOf" srcId="{4F3F4D58-3F7D-4DBE-8C1F-7B7A5D3ACFF6}" destId="{33A15AB5-EC5B-488C-8957-5AAD82D61D1E}" srcOrd="0" destOrd="0" presId="urn:microsoft.com/office/officeart/2005/8/layout/process1"/>
    <dgm:cxn modelId="{49EE153E-BBC0-496C-B12C-9716FBFC4AFF}" type="presParOf" srcId="{4F3F4D58-3F7D-4DBE-8C1F-7B7A5D3ACFF6}" destId="{66892187-32D6-49AD-93C5-90D0D38164D2}" srcOrd="1" destOrd="0" presId="urn:microsoft.com/office/officeart/2005/8/layout/process1"/>
    <dgm:cxn modelId="{DA24EACE-1E3E-4B98-AA66-EB6302E831A1}" type="presParOf" srcId="{66892187-32D6-49AD-93C5-90D0D38164D2}" destId="{8FB8CB46-793F-42D1-A6E8-D38F8B65E6B1}" srcOrd="0" destOrd="0" presId="urn:microsoft.com/office/officeart/2005/8/layout/process1"/>
    <dgm:cxn modelId="{1438DA30-B142-4E0A-A455-305908153634}" type="presParOf" srcId="{4F3F4D58-3F7D-4DBE-8C1F-7B7A5D3ACFF6}" destId="{73832950-16BE-4E44-B020-808B5E4DE8F6}" srcOrd="2" destOrd="0" presId="urn:microsoft.com/office/officeart/2005/8/layout/process1"/>
    <dgm:cxn modelId="{C3E5DEB6-BC38-4ECD-8EDB-EFB0BD94533A}" type="presParOf" srcId="{4F3F4D58-3F7D-4DBE-8C1F-7B7A5D3ACFF6}" destId="{6514BE59-85A2-400C-95FE-8CCF192E19BA}" srcOrd="3" destOrd="0" presId="urn:microsoft.com/office/officeart/2005/8/layout/process1"/>
    <dgm:cxn modelId="{290BAE34-5489-4B0A-8BB0-0DA81AE9E204}" type="presParOf" srcId="{6514BE59-85A2-400C-95FE-8CCF192E19BA}" destId="{A9E4D3B0-E6DE-4DCB-BDA4-326EC25A87A3}" srcOrd="0" destOrd="0" presId="urn:microsoft.com/office/officeart/2005/8/layout/process1"/>
    <dgm:cxn modelId="{B1C7BA00-0EB3-4367-B40F-EED0C0B8D489}" type="presParOf" srcId="{4F3F4D58-3F7D-4DBE-8C1F-7B7A5D3ACFF6}" destId="{E96A4C42-541E-4973-81B9-5B7993E18AF1}" srcOrd="4" destOrd="0" presId="urn:microsoft.com/office/officeart/2005/8/layout/process1"/>
    <dgm:cxn modelId="{2D17C0F5-FE0D-4F85-8BDC-DF44E74EBA26}" type="presParOf" srcId="{4F3F4D58-3F7D-4DBE-8C1F-7B7A5D3ACFF6}" destId="{5A4AF43D-F4CA-45D0-AB04-E4F53ED6F144}" srcOrd="5" destOrd="0" presId="urn:microsoft.com/office/officeart/2005/8/layout/process1"/>
    <dgm:cxn modelId="{CB693FCA-BC53-40F8-90A0-7EDD186AFF14}" type="presParOf" srcId="{5A4AF43D-F4CA-45D0-AB04-E4F53ED6F144}" destId="{E0E526C7-340A-43D4-82BB-55DAF0C17CB4}" srcOrd="0" destOrd="0" presId="urn:microsoft.com/office/officeart/2005/8/layout/process1"/>
    <dgm:cxn modelId="{35510177-1507-416F-883F-29EA83E53F4D}" type="presParOf" srcId="{4F3F4D58-3F7D-4DBE-8C1F-7B7A5D3ACFF6}" destId="{0587D1AC-BCC6-42F8-96C3-D2BFAEDFEC76}" srcOrd="6" destOrd="0" presId="urn:microsoft.com/office/officeart/2005/8/layout/process1"/>
    <dgm:cxn modelId="{0A4E8E54-577E-4411-9E59-B46FD229593D}" type="presParOf" srcId="{4F3F4D58-3F7D-4DBE-8C1F-7B7A5D3ACFF6}" destId="{ED979217-4C02-45DD-8684-086C90B17A45}" srcOrd="7" destOrd="0" presId="urn:microsoft.com/office/officeart/2005/8/layout/process1"/>
    <dgm:cxn modelId="{7DB74E51-0D34-4624-95F3-A1F52ACA571D}" type="presParOf" srcId="{ED979217-4C02-45DD-8684-086C90B17A45}" destId="{EECFEF4D-4AAF-4062-8139-8F99651F051B}" srcOrd="0" destOrd="0" presId="urn:microsoft.com/office/officeart/2005/8/layout/process1"/>
    <dgm:cxn modelId="{65FF5C6C-A18A-4725-91E9-35C4D1A31F10}" type="presParOf" srcId="{4F3F4D58-3F7D-4DBE-8C1F-7B7A5D3ACFF6}" destId="{681FFFA9-3EFE-4B18-87E4-019792FBEDB7}"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259B27-BB8C-4CBF-9A74-E51C18D9D953}">
      <dsp:nvSpPr>
        <dsp:cNvPr id="0" name=""/>
        <dsp:cNvSpPr/>
      </dsp:nvSpPr>
      <dsp:spPr>
        <a:xfrm>
          <a:off x="4431" y="1393458"/>
          <a:ext cx="1590025" cy="795012"/>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zh-TW" altLang="en-US" sz="2400" b="1" kern="1200" dirty="0">
              <a:latin typeface="微軟正黑體" panose="020B0604030504040204" pitchFamily="34" charset="-120"/>
              <a:ea typeface="微軟正黑體" panose="020B0604030504040204" pitchFamily="34" charset="-120"/>
            </a:rPr>
            <a:t>機器學習</a:t>
          </a:r>
        </a:p>
      </dsp:txBody>
      <dsp:txXfrm>
        <a:off x="27716" y="1416743"/>
        <a:ext cx="1543455" cy="748442"/>
      </dsp:txXfrm>
    </dsp:sp>
    <dsp:sp modelId="{2749FE85-FB05-432F-B84F-6C3121CD6DB3}">
      <dsp:nvSpPr>
        <dsp:cNvPr id="0" name=""/>
        <dsp:cNvSpPr/>
      </dsp:nvSpPr>
      <dsp:spPr>
        <a:xfrm rot="17834312">
          <a:off x="1183218" y="1096762"/>
          <a:ext cx="1516634" cy="39951"/>
        </a:xfrm>
        <a:custGeom>
          <a:avLst/>
          <a:gdLst/>
          <a:ahLst/>
          <a:cxnLst/>
          <a:rect l="0" t="0" r="0" b="0"/>
          <a:pathLst>
            <a:path>
              <a:moveTo>
                <a:pt x="0" y="19975"/>
              </a:moveTo>
              <a:lnTo>
                <a:pt x="1516634" y="19975"/>
              </a:lnTo>
            </a:path>
          </a:pathLst>
        </a:custGeom>
        <a:noFill/>
        <a:ln w="25400" cap="flat" cmpd="sng" algn="ctr">
          <a:solidFill>
            <a:schemeClr val="accent3">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TW" altLang="en-US" sz="500" b="1" kern="1200"/>
        </a:p>
      </dsp:txBody>
      <dsp:txXfrm>
        <a:off x="1903620" y="1078822"/>
        <a:ext cx="75831" cy="75831"/>
      </dsp:txXfrm>
    </dsp:sp>
    <dsp:sp modelId="{D84E247C-63F2-4473-A187-080CD10D7213}">
      <dsp:nvSpPr>
        <dsp:cNvPr id="0" name=""/>
        <dsp:cNvSpPr/>
      </dsp:nvSpPr>
      <dsp:spPr>
        <a:xfrm>
          <a:off x="2288615" y="45005"/>
          <a:ext cx="3558287" cy="795012"/>
        </a:xfrm>
        <a:prstGeom prst="roundRect">
          <a:avLst>
            <a:gd name="adj" fmla="val 1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zh-TW" altLang="en-US" sz="2200" b="1" kern="1200" dirty="0">
              <a:latin typeface="微軟正黑體" panose="020B0604030504040204" pitchFamily="34" charset="-120"/>
              <a:ea typeface="微軟正黑體" panose="020B0604030504040204" pitchFamily="34" charset="-120"/>
            </a:rPr>
            <a:t>監督式學習</a:t>
          </a:r>
          <a:br>
            <a:rPr lang="en-US" altLang="zh-TW" sz="2200" b="1" kern="1200" dirty="0">
              <a:latin typeface="微軟正黑體" panose="020B0604030504040204" pitchFamily="34" charset="-120"/>
              <a:ea typeface="微軟正黑體" panose="020B0604030504040204" pitchFamily="34" charset="-120"/>
            </a:rPr>
          </a:br>
          <a:r>
            <a:rPr lang="zh-TW" altLang="en-US" sz="2200" b="1" kern="1200" dirty="0">
              <a:latin typeface="微軟正黑體" panose="020B0604030504040204" pitchFamily="34" charset="-120"/>
              <a:ea typeface="微軟正黑體" panose="020B0604030504040204" pitchFamily="34" charset="-120"/>
            </a:rPr>
            <a:t>（</a:t>
          </a:r>
          <a:r>
            <a:rPr lang="en-US" altLang="en-US" sz="2200" b="1" kern="1200" dirty="0">
              <a:latin typeface="微軟正黑體" panose="020B0604030504040204" pitchFamily="34" charset="-120"/>
              <a:ea typeface="微軟正黑體" panose="020B0604030504040204" pitchFamily="34" charset="-120"/>
            </a:rPr>
            <a:t>supervised learning</a:t>
          </a:r>
          <a:r>
            <a:rPr lang="zh-TW" altLang="en-US" sz="2200" b="1" kern="1200" dirty="0">
              <a:latin typeface="微軟正黑體" panose="020B0604030504040204" pitchFamily="34" charset="-120"/>
              <a:ea typeface="微軟正黑體" panose="020B0604030504040204" pitchFamily="34" charset="-120"/>
            </a:rPr>
            <a:t>）</a:t>
          </a:r>
        </a:p>
      </dsp:txBody>
      <dsp:txXfrm>
        <a:off x="2311900" y="68290"/>
        <a:ext cx="3511717" cy="748442"/>
      </dsp:txXfrm>
    </dsp:sp>
    <dsp:sp modelId="{B9E96A90-62E9-4A11-AF93-673B0B2E51D0}">
      <dsp:nvSpPr>
        <dsp:cNvPr id="0" name=""/>
        <dsp:cNvSpPr/>
      </dsp:nvSpPr>
      <dsp:spPr>
        <a:xfrm rot="19510573">
          <a:off x="1524153" y="1546811"/>
          <a:ext cx="785136" cy="39951"/>
        </a:xfrm>
        <a:custGeom>
          <a:avLst/>
          <a:gdLst/>
          <a:ahLst/>
          <a:cxnLst/>
          <a:rect l="0" t="0" r="0" b="0"/>
          <a:pathLst>
            <a:path>
              <a:moveTo>
                <a:pt x="0" y="19975"/>
              </a:moveTo>
              <a:lnTo>
                <a:pt x="785136" y="19975"/>
              </a:lnTo>
            </a:path>
          </a:pathLst>
        </a:custGeom>
        <a:noFill/>
        <a:ln w="25400" cap="flat" cmpd="sng" algn="ctr">
          <a:solidFill>
            <a:schemeClr val="accent3">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TW" altLang="en-US" sz="500" b="1" kern="1200"/>
        </a:p>
      </dsp:txBody>
      <dsp:txXfrm>
        <a:off x="1897093" y="1547158"/>
        <a:ext cx="39256" cy="39256"/>
      </dsp:txXfrm>
    </dsp:sp>
    <dsp:sp modelId="{6E7BB900-9AD2-460F-99FE-BF3D52E6CA3B}">
      <dsp:nvSpPr>
        <dsp:cNvPr id="0" name=""/>
        <dsp:cNvSpPr/>
      </dsp:nvSpPr>
      <dsp:spPr>
        <a:xfrm>
          <a:off x="2238985" y="945102"/>
          <a:ext cx="3611664" cy="795012"/>
        </a:xfrm>
        <a:prstGeom prst="roundRect">
          <a:avLst>
            <a:gd name="adj" fmla="val 1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zh-TW" altLang="en-US" sz="2200" b="1" kern="1200" dirty="0">
              <a:latin typeface="微軟正黑體" panose="020B0604030504040204" pitchFamily="34" charset="-120"/>
              <a:ea typeface="微軟正黑體" panose="020B0604030504040204" pitchFamily="34" charset="-120"/>
            </a:rPr>
            <a:t>非監督式學習</a:t>
          </a:r>
          <a:br>
            <a:rPr lang="en-US" altLang="zh-TW" sz="2200" b="1" kern="1200" dirty="0">
              <a:latin typeface="微軟正黑體" panose="020B0604030504040204" pitchFamily="34" charset="-120"/>
              <a:ea typeface="微軟正黑體" panose="020B0604030504040204" pitchFamily="34" charset="-120"/>
            </a:rPr>
          </a:br>
          <a:r>
            <a:rPr lang="zh-TW" altLang="en-US" sz="2200" b="1" kern="1200" dirty="0">
              <a:latin typeface="微軟正黑體" panose="020B0604030504040204" pitchFamily="34" charset="-120"/>
              <a:ea typeface="微軟正黑體" panose="020B0604030504040204" pitchFamily="34" charset="-120"/>
            </a:rPr>
            <a:t>（</a:t>
          </a:r>
          <a:r>
            <a:rPr lang="en-US" altLang="en-US" sz="2200" b="1" kern="1200" dirty="0">
              <a:latin typeface="微軟正黑體" panose="020B0604030504040204" pitchFamily="34" charset="-120"/>
              <a:ea typeface="微軟正黑體" panose="020B0604030504040204" pitchFamily="34" charset="-120"/>
            </a:rPr>
            <a:t>unsupervised learning</a:t>
          </a:r>
          <a:r>
            <a:rPr lang="zh-TW" altLang="en-US" sz="2200" b="1" kern="1200" dirty="0">
              <a:latin typeface="微軟正黑體" panose="020B0604030504040204" pitchFamily="34" charset="-120"/>
              <a:ea typeface="微軟正黑體" panose="020B0604030504040204" pitchFamily="34" charset="-120"/>
            </a:rPr>
            <a:t>）</a:t>
          </a:r>
        </a:p>
      </dsp:txBody>
      <dsp:txXfrm>
        <a:off x="2262270" y="968387"/>
        <a:ext cx="3565094" cy="748442"/>
      </dsp:txXfrm>
    </dsp:sp>
    <dsp:sp modelId="{09844C7C-003C-4DD2-83A7-77997A98E37A}">
      <dsp:nvSpPr>
        <dsp:cNvPr id="0" name=""/>
        <dsp:cNvSpPr/>
      </dsp:nvSpPr>
      <dsp:spPr>
        <a:xfrm rot="2111886">
          <a:off x="1522809" y="1996864"/>
          <a:ext cx="783737" cy="39951"/>
        </a:xfrm>
        <a:custGeom>
          <a:avLst/>
          <a:gdLst/>
          <a:ahLst/>
          <a:cxnLst/>
          <a:rect l="0" t="0" r="0" b="0"/>
          <a:pathLst>
            <a:path>
              <a:moveTo>
                <a:pt x="0" y="19975"/>
              </a:moveTo>
              <a:lnTo>
                <a:pt x="783737" y="19975"/>
              </a:lnTo>
            </a:path>
          </a:pathLst>
        </a:custGeom>
        <a:noFill/>
        <a:ln w="25400" cap="flat" cmpd="sng" algn="ctr">
          <a:solidFill>
            <a:schemeClr val="accent3">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TW" altLang="en-US" sz="500" b="1" kern="1200"/>
        </a:p>
      </dsp:txBody>
      <dsp:txXfrm>
        <a:off x="1895084" y="1997246"/>
        <a:ext cx="39186" cy="39186"/>
      </dsp:txXfrm>
    </dsp:sp>
    <dsp:sp modelId="{58990552-32BB-4F71-9005-DFCE3E881D7C}">
      <dsp:nvSpPr>
        <dsp:cNvPr id="0" name=""/>
        <dsp:cNvSpPr/>
      </dsp:nvSpPr>
      <dsp:spPr>
        <a:xfrm>
          <a:off x="2234899" y="1845208"/>
          <a:ext cx="3615750" cy="795012"/>
        </a:xfrm>
        <a:prstGeom prst="roundRect">
          <a:avLst>
            <a:gd name="adj" fmla="val 1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zh-TW" altLang="en-US" sz="2200" b="1" kern="1200" dirty="0">
              <a:latin typeface="微軟正黑體" panose="020B0604030504040204" pitchFamily="34" charset="-120"/>
              <a:ea typeface="微軟正黑體" panose="020B0604030504040204" pitchFamily="34" charset="-120"/>
            </a:rPr>
            <a:t>半監督式學習</a:t>
          </a:r>
          <a:br>
            <a:rPr lang="en-US" altLang="zh-TW" sz="1800" b="1" kern="1200" dirty="0">
              <a:latin typeface="微軟正黑體" panose="020B0604030504040204" pitchFamily="34" charset="-120"/>
              <a:ea typeface="微軟正黑體" panose="020B0604030504040204" pitchFamily="34" charset="-120"/>
            </a:rPr>
          </a:br>
          <a:r>
            <a:rPr lang="zh-TW" altLang="en-US" sz="1800" b="1" kern="1200" dirty="0">
              <a:latin typeface="微軟正黑體" panose="020B0604030504040204" pitchFamily="34" charset="-120"/>
              <a:ea typeface="微軟正黑體" panose="020B0604030504040204" pitchFamily="34" charset="-120"/>
            </a:rPr>
            <a:t>（</a:t>
          </a:r>
          <a:r>
            <a:rPr lang="en-US" altLang="zh-TW" sz="1800" b="1" kern="1200" dirty="0">
              <a:latin typeface="微軟正黑體" panose="020B0604030504040204" pitchFamily="34" charset="-120"/>
              <a:ea typeface="微軟正黑體" panose="020B0604030504040204" pitchFamily="34" charset="-120"/>
            </a:rPr>
            <a:t>semi-supervised</a:t>
          </a:r>
          <a:r>
            <a:rPr lang="en-US" altLang="en-US" sz="1800" b="1" kern="1200" dirty="0">
              <a:latin typeface="微軟正黑體" panose="020B0604030504040204" pitchFamily="34" charset="-120"/>
              <a:ea typeface="微軟正黑體" panose="020B0604030504040204" pitchFamily="34" charset="-120"/>
            </a:rPr>
            <a:t> </a:t>
          </a:r>
          <a:r>
            <a:rPr lang="en-US" altLang="en-US" sz="2000" b="1" kern="1200" dirty="0">
              <a:latin typeface="微軟正黑體" panose="020B0604030504040204" pitchFamily="34" charset="-120"/>
              <a:ea typeface="微軟正黑體" panose="020B0604030504040204" pitchFamily="34" charset="-120"/>
            </a:rPr>
            <a:t>learning</a:t>
          </a:r>
          <a:r>
            <a:rPr lang="zh-TW" altLang="en-US" sz="2000" b="1" kern="1200" dirty="0">
              <a:latin typeface="微軟正黑體" panose="020B0604030504040204" pitchFamily="34" charset="-120"/>
              <a:ea typeface="微軟正黑體" panose="020B0604030504040204" pitchFamily="34" charset="-120"/>
            </a:rPr>
            <a:t>）</a:t>
          </a:r>
        </a:p>
      </dsp:txBody>
      <dsp:txXfrm>
        <a:off x="2258184" y="1868493"/>
        <a:ext cx="3569180" cy="748442"/>
      </dsp:txXfrm>
    </dsp:sp>
    <dsp:sp modelId="{866977A0-2307-4FD3-BC02-F73709E42074}">
      <dsp:nvSpPr>
        <dsp:cNvPr id="0" name=""/>
        <dsp:cNvSpPr/>
      </dsp:nvSpPr>
      <dsp:spPr>
        <a:xfrm rot="3918972">
          <a:off x="1147884" y="2467718"/>
          <a:ext cx="1533588" cy="39951"/>
        </a:xfrm>
        <a:custGeom>
          <a:avLst/>
          <a:gdLst/>
          <a:ahLst/>
          <a:cxnLst/>
          <a:rect l="0" t="0" r="0" b="0"/>
          <a:pathLst>
            <a:path>
              <a:moveTo>
                <a:pt x="0" y="19975"/>
              </a:moveTo>
              <a:lnTo>
                <a:pt x="1533588" y="19975"/>
              </a:lnTo>
            </a:path>
          </a:pathLst>
        </a:custGeom>
        <a:noFill/>
        <a:ln w="25400" cap="flat" cmpd="sng" algn="ctr">
          <a:solidFill>
            <a:schemeClr val="accent3">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TW" altLang="en-US" sz="500" kern="1200"/>
        </a:p>
      </dsp:txBody>
      <dsp:txXfrm>
        <a:off x="1876338" y="2449354"/>
        <a:ext cx="76679" cy="76679"/>
      </dsp:txXfrm>
    </dsp:sp>
    <dsp:sp modelId="{9FC40064-5450-4F4A-817D-2E1F23E77AC1}">
      <dsp:nvSpPr>
        <dsp:cNvPr id="0" name=""/>
        <dsp:cNvSpPr/>
      </dsp:nvSpPr>
      <dsp:spPr>
        <a:xfrm>
          <a:off x="2234899" y="2786917"/>
          <a:ext cx="3615750" cy="795012"/>
        </a:xfrm>
        <a:prstGeom prst="roundRect">
          <a:avLst>
            <a:gd name="adj" fmla="val 1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zh-TW" altLang="en-US" sz="2200" b="1" kern="1200" dirty="0">
              <a:latin typeface="微軟正黑體" panose="020B0604030504040204" pitchFamily="34" charset="-120"/>
              <a:ea typeface="微軟正黑體" panose="020B0604030504040204" pitchFamily="34" charset="-120"/>
            </a:rPr>
            <a:t>增強式學習</a:t>
          </a:r>
          <a:br>
            <a:rPr lang="en-US" altLang="zh-TW" sz="1700" b="1" kern="1200" dirty="0">
              <a:latin typeface="微軟正黑體" panose="020B0604030504040204" pitchFamily="34" charset="-120"/>
              <a:ea typeface="微軟正黑體" panose="020B0604030504040204" pitchFamily="34" charset="-120"/>
            </a:rPr>
          </a:br>
          <a:r>
            <a:rPr lang="zh-TW" altLang="en-US" sz="1700" b="1" kern="1200" dirty="0">
              <a:latin typeface="微軟正黑體" panose="020B0604030504040204" pitchFamily="34" charset="-120"/>
              <a:ea typeface="微軟正黑體" panose="020B0604030504040204" pitchFamily="34" charset="-120"/>
            </a:rPr>
            <a:t>（</a:t>
          </a:r>
          <a:r>
            <a:rPr lang="en-US" altLang="en-US" sz="1700" b="1" kern="1200" dirty="0">
              <a:latin typeface="微軟正黑體" panose="020B0604030504040204" pitchFamily="34" charset="-120"/>
              <a:ea typeface="微軟正黑體" panose="020B0604030504040204" pitchFamily="34" charset="-120"/>
            </a:rPr>
            <a:t>reinforcement learning</a:t>
          </a:r>
          <a:r>
            <a:rPr lang="zh-TW" altLang="en-US" sz="1700" b="1" kern="1200" dirty="0">
              <a:latin typeface="微軟正黑體" panose="020B0604030504040204" pitchFamily="34" charset="-120"/>
              <a:ea typeface="微軟正黑體" panose="020B0604030504040204" pitchFamily="34" charset="-120"/>
            </a:rPr>
            <a:t>）</a:t>
          </a:r>
        </a:p>
      </dsp:txBody>
      <dsp:txXfrm>
        <a:off x="2258184" y="2810202"/>
        <a:ext cx="3569180" cy="7484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42BFD-ED7D-490F-9C90-8F62CB7997AD}">
      <dsp:nvSpPr>
        <dsp:cNvPr id="0" name=""/>
        <dsp:cNvSpPr/>
      </dsp:nvSpPr>
      <dsp:spPr>
        <a:xfrm>
          <a:off x="1832" y="252525"/>
          <a:ext cx="2232867" cy="893147"/>
        </a:xfrm>
        <a:prstGeom prst="chevron">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感應器</a:t>
          </a:r>
          <a:br>
            <a:rPr lang="en-US" altLang="zh-TW" sz="2000" b="1" kern="1200" dirty="0">
              <a:latin typeface="微軟正黑體" panose="020B0604030504040204" pitchFamily="34" charset="-120"/>
              <a:ea typeface="微軟正黑體" panose="020B0604030504040204" pitchFamily="34" charset="-120"/>
            </a:rPr>
          </a:br>
          <a:r>
            <a:rPr lang="zh-TW" sz="2000" b="1" kern="1200" dirty="0">
              <a:latin typeface="微軟正黑體" panose="020B0604030504040204" pitchFamily="34" charset="-120"/>
              <a:ea typeface="微軟正黑體" panose="020B0604030504040204" pitchFamily="34" charset="-120"/>
            </a:rPr>
            <a:t>接收訊號</a:t>
          </a:r>
          <a:endParaRPr lang="zh-TW" sz="2000" kern="1200" dirty="0">
            <a:latin typeface="微軟正黑體" panose="020B0604030504040204" pitchFamily="34" charset="-120"/>
            <a:ea typeface="微軟正黑體" panose="020B0604030504040204" pitchFamily="34" charset="-120"/>
          </a:endParaRPr>
        </a:p>
      </dsp:txBody>
      <dsp:txXfrm>
        <a:off x="448406" y="252525"/>
        <a:ext cx="1339720" cy="893147"/>
      </dsp:txXfrm>
    </dsp:sp>
    <dsp:sp modelId="{3CE93C1A-7B3B-4A55-95FD-55787662A2C0}">
      <dsp:nvSpPr>
        <dsp:cNvPr id="0" name=""/>
        <dsp:cNvSpPr/>
      </dsp:nvSpPr>
      <dsp:spPr>
        <a:xfrm>
          <a:off x="2011413" y="252525"/>
          <a:ext cx="2232867" cy="893147"/>
        </a:xfrm>
        <a:prstGeom prst="chevron">
          <a:avLst/>
        </a:prstGeom>
        <a:solidFill>
          <a:schemeClr val="accent3">
            <a:hueOff val="730060"/>
            <a:satOff val="-13582"/>
            <a:lumOff val="-4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將訊號</a:t>
          </a:r>
          <a:br>
            <a:rPr lang="en-US" altLang="zh-TW" sz="2000" b="1" kern="1200" dirty="0">
              <a:latin typeface="微軟正黑體" panose="020B0604030504040204" pitchFamily="34" charset="-120"/>
              <a:ea typeface="微軟正黑體" panose="020B0604030504040204" pitchFamily="34" charset="-120"/>
            </a:rPr>
          </a:br>
          <a:r>
            <a:rPr lang="zh-TW" sz="2000" b="1" kern="1200" dirty="0">
              <a:latin typeface="微軟正黑體" panose="020B0604030504040204" pitchFamily="34" charset="-120"/>
              <a:ea typeface="微軟正黑體" panose="020B0604030504040204" pitchFamily="34" charset="-120"/>
            </a:rPr>
            <a:t>傳進電腦</a:t>
          </a:r>
          <a:endParaRPr lang="zh-TW" sz="2000" kern="1200" dirty="0">
            <a:latin typeface="微軟正黑體" panose="020B0604030504040204" pitchFamily="34" charset="-120"/>
            <a:ea typeface="微軟正黑體" panose="020B0604030504040204" pitchFamily="34" charset="-120"/>
          </a:endParaRPr>
        </a:p>
      </dsp:txBody>
      <dsp:txXfrm>
        <a:off x="2457987" y="252525"/>
        <a:ext cx="1339720" cy="893147"/>
      </dsp:txXfrm>
    </dsp:sp>
    <dsp:sp modelId="{61FE220D-12BE-449D-834F-05C9858C2B10}">
      <dsp:nvSpPr>
        <dsp:cNvPr id="0" name=""/>
        <dsp:cNvSpPr/>
      </dsp:nvSpPr>
      <dsp:spPr>
        <a:xfrm>
          <a:off x="4020994" y="252525"/>
          <a:ext cx="2232867" cy="893147"/>
        </a:xfrm>
        <a:prstGeom prst="chevron">
          <a:avLst/>
        </a:prstGeom>
        <a:solidFill>
          <a:schemeClr val="accent3">
            <a:hueOff val="1460120"/>
            <a:satOff val="-27164"/>
            <a:lumOff val="-82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程式進行</a:t>
          </a:r>
          <a:br>
            <a:rPr lang="en-US" altLang="zh-TW" sz="2000" b="1" kern="1200" dirty="0">
              <a:latin typeface="微軟正黑體" panose="020B0604030504040204" pitchFamily="34" charset="-120"/>
              <a:ea typeface="微軟正黑體" panose="020B0604030504040204" pitchFamily="34" charset="-120"/>
            </a:rPr>
          </a:br>
          <a:r>
            <a:rPr lang="zh-TW" sz="2000" b="1" kern="1200" dirty="0">
              <a:latin typeface="微軟正黑體" panose="020B0604030504040204" pitchFamily="34" charset="-120"/>
              <a:ea typeface="微軟正黑體" panose="020B0604030504040204" pitchFamily="34" charset="-120"/>
            </a:rPr>
            <a:t>分析判斷</a:t>
          </a:r>
          <a:endParaRPr lang="zh-TW" sz="2000" kern="1200" dirty="0">
            <a:latin typeface="微軟正黑體" panose="020B0604030504040204" pitchFamily="34" charset="-120"/>
            <a:ea typeface="微軟正黑體" panose="020B0604030504040204" pitchFamily="34" charset="-120"/>
          </a:endParaRPr>
        </a:p>
      </dsp:txBody>
      <dsp:txXfrm>
        <a:off x="4467568" y="252525"/>
        <a:ext cx="1339720" cy="8931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A15AB5-EC5B-488C-8957-5AAD82D61D1E}">
      <dsp:nvSpPr>
        <dsp:cNvPr id="0" name=""/>
        <dsp:cNvSpPr/>
      </dsp:nvSpPr>
      <dsp:spPr>
        <a:xfrm>
          <a:off x="3581" y="517679"/>
          <a:ext cx="1110401" cy="73286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潤飾</a:t>
          </a:r>
          <a:endParaRPr lang="zh-TW" sz="2000" kern="1200" dirty="0">
            <a:latin typeface="微軟正黑體" panose="020B0604030504040204" pitchFamily="34" charset="-120"/>
            <a:ea typeface="微軟正黑體" panose="020B0604030504040204" pitchFamily="34" charset="-120"/>
          </a:endParaRPr>
        </a:p>
      </dsp:txBody>
      <dsp:txXfrm>
        <a:off x="25046" y="539144"/>
        <a:ext cx="1067471" cy="689935"/>
      </dsp:txXfrm>
    </dsp:sp>
    <dsp:sp modelId="{66892187-32D6-49AD-93C5-90D0D38164D2}">
      <dsp:nvSpPr>
        <dsp:cNvPr id="0" name=""/>
        <dsp:cNvSpPr/>
      </dsp:nvSpPr>
      <dsp:spPr>
        <a:xfrm>
          <a:off x="1225023" y="746422"/>
          <a:ext cx="235405" cy="275379"/>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a:off x="1225023" y="801498"/>
        <a:ext cx="164784" cy="165227"/>
      </dsp:txXfrm>
    </dsp:sp>
    <dsp:sp modelId="{73832950-16BE-4E44-B020-808B5E4DE8F6}">
      <dsp:nvSpPr>
        <dsp:cNvPr id="0" name=""/>
        <dsp:cNvSpPr/>
      </dsp:nvSpPr>
      <dsp:spPr>
        <a:xfrm>
          <a:off x="1558144" y="517679"/>
          <a:ext cx="1110401" cy="732865"/>
        </a:xfrm>
        <a:prstGeom prst="roundRect">
          <a:avLst>
            <a:gd name="adj" fmla="val 10000"/>
          </a:avLst>
        </a:prstGeom>
        <a:solidFill>
          <a:schemeClr val="accent3">
            <a:hueOff val="365030"/>
            <a:satOff val="-6791"/>
            <a:lumOff val="-2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下標籤</a:t>
          </a:r>
          <a:endParaRPr lang="zh-TW" sz="2000" kern="1200" dirty="0">
            <a:latin typeface="微軟正黑體" panose="020B0604030504040204" pitchFamily="34" charset="-120"/>
            <a:ea typeface="微軟正黑體" panose="020B0604030504040204" pitchFamily="34" charset="-120"/>
          </a:endParaRPr>
        </a:p>
      </dsp:txBody>
      <dsp:txXfrm>
        <a:off x="1579609" y="539144"/>
        <a:ext cx="1067471" cy="689935"/>
      </dsp:txXfrm>
    </dsp:sp>
    <dsp:sp modelId="{6514BE59-85A2-400C-95FE-8CCF192E19BA}">
      <dsp:nvSpPr>
        <dsp:cNvPr id="0" name=""/>
        <dsp:cNvSpPr/>
      </dsp:nvSpPr>
      <dsp:spPr>
        <a:xfrm rot="21549970">
          <a:off x="2779573" y="735012"/>
          <a:ext cx="235430" cy="275379"/>
        </a:xfrm>
        <a:prstGeom prst="rightArrow">
          <a:avLst>
            <a:gd name="adj1" fmla="val 60000"/>
            <a:gd name="adj2" fmla="val 50000"/>
          </a:avLst>
        </a:prstGeom>
        <a:solidFill>
          <a:schemeClr val="accent3">
            <a:hueOff val="486707"/>
            <a:satOff val="-9055"/>
            <a:lumOff val="-27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a:off x="2779577" y="790602"/>
        <a:ext cx="164801" cy="165227"/>
      </dsp:txXfrm>
    </dsp:sp>
    <dsp:sp modelId="{E96A4C42-541E-4973-81B9-5B7993E18AF1}">
      <dsp:nvSpPr>
        <dsp:cNvPr id="0" name=""/>
        <dsp:cNvSpPr/>
      </dsp:nvSpPr>
      <dsp:spPr>
        <a:xfrm>
          <a:off x="3112706" y="495053"/>
          <a:ext cx="1110401" cy="732865"/>
        </a:xfrm>
        <a:prstGeom prst="roundRect">
          <a:avLst>
            <a:gd name="adj" fmla="val 10000"/>
          </a:avLst>
        </a:prstGeom>
        <a:solidFill>
          <a:schemeClr val="accent3">
            <a:hueOff val="730060"/>
            <a:satOff val="-13582"/>
            <a:lumOff val="-4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群組化</a:t>
          </a:r>
          <a:endParaRPr lang="zh-TW" sz="2000" kern="1200" dirty="0">
            <a:latin typeface="微軟正黑體" panose="020B0604030504040204" pitchFamily="34" charset="-120"/>
            <a:ea typeface="微軟正黑體" panose="020B0604030504040204" pitchFamily="34" charset="-120"/>
          </a:endParaRPr>
        </a:p>
      </dsp:txBody>
      <dsp:txXfrm>
        <a:off x="3134171" y="516518"/>
        <a:ext cx="1067471" cy="689935"/>
      </dsp:txXfrm>
    </dsp:sp>
    <dsp:sp modelId="{5A4AF43D-F4CA-45D0-AB04-E4F53ED6F144}">
      <dsp:nvSpPr>
        <dsp:cNvPr id="0" name=""/>
        <dsp:cNvSpPr/>
      </dsp:nvSpPr>
      <dsp:spPr>
        <a:xfrm rot="5379122">
          <a:off x="3565094" y="1296794"/>
          <a:ext cx="212585" cy="275379"/>
        </a:xfrm>
        <a:prstGeom prst="rightArrow">
          <a:avLst>
            <a:gd name="adj1" fmla="val 60000"/>
            <a:gd name="adj2" fmla="val 50000"/>
          </a:avLst>
        </a:prstGeom>
        <a:solidFill>
          <a:schemeClr val="accent3">
            <a:hueOff val="973413"/>
            <a:satOff val="-18109"/>
            <a:lumOff val="-549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a:off x="3596788" y="1319983"/>
        <a:ext cx="148810" cy="165227"/>
      </dsp:txXfrm>
    </dsp:sp>
    <dsp:sp modelId="{0587D1AC-BCC6-42F8-96C3-D2BFAEDFEC76}">
      <dsp:nvSpPr>
        <dsp:cNvPr id="0" name=""/>
        <dsp:cNvSpPr/>
      </dsp:nvSpPr>
      <dsp:spPr>
        <a:xfrm>
          <a:off x="3119391" y="1629015"/>
          <a:ext cx="1110401" cy="666241"/>
        </a:xfrm>
        <a:prstGeom prst="roundRect">
          <a:avLst>
            <a:gd name="adj" fmla="val 10000"/>
          </a:avLst>
        </a:prstGeom>
        <a:solidFill>
          <a:schemeClr val="accent3">
            <a:hueOff val="1095090"/>
            <a:satOff val="-20373"/>
            <a:lumOff val="-61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解析</a:t>
          </a:r>
          <a:endParaRPr lang="zh-TW" sz="2000" kern="1200" dirty="0">
            <a:latin typeface="微軟正黑體" panose="020B0604030504040204" pitchFamily="34" charset="-120"/>
            <a:ea typeface="微軟正黑體" panose="020B0604030504040204" pitchFamily="34" charset="-120"/>
          </a:endParaRPr>
        </a:p>
      </dsp:txBody>
      <dsp:txXfrm>
        <a:off x="3138905" y="1648529"/>
        <a:ext cx="1071373" cy="627213"/>
      </dsp:txXfrm>
    </dsp:sp>
    <dsp:sp modelId="{ED979217-4C02-45DD-8684-086C90B17A45}">
      <dsp:nvSpPr>
        <dsp:cNvPr id="0" name=""/>
        <dsp:cNvSpPr/>
      </dsp:nvSpPr>
      <dsp:spPr>
        <a:xfrm rot="10800000">
          <a:off x="2740792" y="1824446"/>
          <a:ext cx="257253" cy="275379"/>
        </a:xfrm>
        <a:prstGeom prst="rightArrow">
          <a:avLst>
            <a:gd name="adj1" fmla="val 60000"/>
            <a:gd name="adj2" fmla="val 50000"/>
          </a:avLst>
        </a:prstGeom>
        <a:solidFill>
          <a:schemeClr val="accent3">
            <a:hueOff val="1460120"/>
            <a:satOff val="-27164"/>
            <a:lumOff val="-823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TW" altLang="en-US" sz="1100" kern="1200"/>
        </a:p>
      </dsp:txBody>
      <dsp:txXfrm rot="10800000">
        <a:off x="2817968" y="1879522"/>
        <a:ext cx="180077" cy="165227"/>
      </dsp:txXfrm>
    </dsp:sp>
    <dsp:sp modelId="{681FFFA9-3EFE-4B18-87E4-019792FBEDB7}">
      <dsp:nvSpPr>
        <dsp:cNvPr id="0" name=""/>
        <dsp:cNvSpPr/>
      </dsp:nvSpPr>
      <dsp:spPr>
        <a:xfrm>
          <a:off x="1523606" y="1629015"/>
          <a:ext cx="1110401" cy="666241"/>
        </a:xfrm>
        <a:prstGeom prst="roundRect">
          <a:avLst>
            <a:gd name="adj" fmla="val 10000"/>
          </a:avLst>
        </a:prstGeom>
        <a:solidFill>
          <a:schemeClr val="accent3">
            <a:hueOff val="1460120"/>
            <a:satOff val="-27164"/>
            <a:lumOff val="-82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zh-TW" sz="2000" b="1" kern="1200" dirty="0">
              <a:latin typeface="微軟正黑體" panose="020B0604030504040204" pitchFamily="34" charset="-120"/>
              <a:ea typeface="微軟正黑體" panose="020B0604030504040204" pitchFamily="34" charset="-120"/>
            </a:rPr>
            <a:t>比對</a:t>
          </a:r>
          <a:endParaRPr lang="zh-TW" sz="2000" kern="1200" dirty="0">
            <a:latin typeface="微軟正黑體" panose="020B0604030504040204" pitchFamily="34" charset="-120"/>
            <a:ea typeface="微軟正黑體" panose="020B0604030504040204" pitchFamily="34" charset="-120"/>
          </a:endParaRPr>
        </a:p>
      </dsp:txBody>
      <dsp:txXfrm>
        <a:off x="1543120" y="1648529"/>
        <a:ext cx="1071373" cy="62721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EB12AB-0481-4543-9448-EE76391C4D02}" type="datetimeFigureOut">
              <a:rPr lang="zh-TW" altLang="en-US" smtClean="0"/>
              <a:pPr/>
              <a:t>2026/7/2</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E245B1-C9B5-4CB2-8096-E56E4F101A5F}" type="slidenum">
              <a:rPr lang="zh-TW" altLang="en-US" smtClean="0"/>
              <a:pPr/>
              <a:t>‹#›</a:t>
            </a:fld>
            <a:endParaRPr lang="zh-TW" altLang="en-US"/>
          </a:p>
        </p:txBody>
      </p:sp>
    </p:spTree>
    <p:extLst>
      <p:ext uri="{BB962C8B-B14F-4D97-AF65-F5344CB8AC3E}">
        <p14:creationId xmlns:p14="http://schemas.microsoft.com/office/powerpoint/2010/main" val="35578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矩形 6"/>
          <p:cNvSpPr/>
          <p:nvPr userDrawn="1"/>
        </p:nvSpPr>
        <p:spPr>
          <a:xfrm>
            <a:off x="-26078" y="377109"/>
            <a:ext cx="9170078" cy="4764079"/>
          </a:xfrm>
          <a:prstGeom prst="rect">
            <a:avLst/>
          </a:prstGeom>
          <a:solidFill>
            <a:schemeClr val="accent5">
              <a:lumMod val="60000"/>
              <a:lumOff val="4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78" name="圓角矩形圖說文字 277"/>
          <p:cNvSpPr/>
          <p:nvPr userDrawn="1"/>
        </p:nvSpPr>
        <p:spPr>
          <a:xfrm>
            <a:off x="272957" y="715294"/>
            <a:ext cx="2737212" cy="742533"/>
          </a:xfrm>
          <a:prstGeom prst="wedgeRoundRectCallout">
            <a:avLst>
              <a:gd name="adj1" fmla="val 34844"/>
              <a:gd name="adj2" fmla="val 81478"/>
              <a:gd name="adj3" fmla="val 16667"/>
            </a:avLst>
          </a:prstGeom>
          <a:solidFill>
            <a:srgbClr val="F2F2F2">
              <a:alpha val="20000"/>
            </a:srgbClr>
          </a:solidFill>
          <a:ln w="28575">
            <a:solidFill>
              <a:srgbClr val="000000">
                <a:alpha val="2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ctrTitle" hasCustomPrompt="1"/>
          </p:nvPr>
        </p:nvSpPr>
        <p:spPr>
          <a:xfrm>
            <a:off x="3157954" y="782801"/>
            <a:ext cx="5476465" cy="725061"/>
          </a:xfrm>
        </p:spPr>
        <p:txBody>
          <a:bodyPr>
            <a:noAutofit/>
          </a:bodyPr>
          <a:lstStyle>
            <a:lvl1pPr algn="l">
              <a:defRPr sz="4800" b="1">
                <a:solidFill>
                  <a:schemeClr val="bg1"/>
                </a:solidFill>
                <a:latin typeface="微軟正黑體" pitchFamily="34" charset="-120"/>
                <a:ea typeface="微軟正黑體" pitchFamily="34" charset="-120"/>
              </a:defRPr>
            </a:lvl1pPr>
          </a:lstStyle>
          <a:p>
            <a:r>
              <a:rPr lang="zh-TW" altLang="en-US" dirty="0"/>
              <a:t>計算機簡介</a:t>
            </a:r>
          </a:p>
        </p:txBody>
      </p:sp>
      <p:sp>
        <p:nvSpPr>
          <p:cNvPr id="3" name="副標題 2"/>
          <p:cNvSpPr>
            <a:spLocks noGrp="1"/>
          </p:cNvSpPr>
          <p:nvPr>
            <p:ph type="subTitle" idx="1"/>
          </p:nvPr>
        </p:nvSpPr>
        <p:spPr>
          <a:xfrm>
            <a:off x="4622800" y="1795463"/>
            <a:ext cx="4194429" cy="2801541"/>
          </a:xfrm>
        </p:spPr>
        <p:txBody>
          <a:bodyPr/>
          <a:lstStyle>
            <a:lvl1pPr marL="0" indent="0" algn="l">
              <a:buNone/>
              <a:defRPr b="0">
                <a:solidFill>
                  <a:schemeClr val="tx1"/>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a:t>按一下以編輯母片副標題樣式</a:t>
            </a:r>
          </a:p>
        </p:txBody>
      </p:sp>
      <p:sp>
        <p:nvSpPr>
          <p:cNvPr id="29" name="矩形 28"/>
          <p:cNvSpPr/>
          <p:nvPr userDrawn="1"/>
        </p:nvSpPr>
        <p:spPr>
          <a:xfrm>
            <a:off x="11650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p:cNvSpPr/>
          <p:nvPr userDrawn="1"/>
        </p:nvSpPr>
        <p:spPr>
          <a:xfrm>
            <a:off x="389694"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p:cNvSpPr/>
          <p:nvPr userDrawn="1"/>
        </p:nvSpPr>
        <p:spPr>
          <a:xfrm>
            <a:off x="258071"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p:cNvSpPr/>
          <p:nvPr userDrawn="1"/>
        </p:nvSpPr>
        <p:spPr>
          <a:xfrm>
            <a:off x="542094"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694494"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89969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117288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p:cNvSpPr/>
          <p:nvPr userDrawn="1"/>
        </p:nvSpPr>
        <p:spPr>
          <a:xfrm>
            <a:off x="1041262"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userDrawn="1"/>
        </p:nvSpPr>
        <p:spPr>
          <a:xfrm>
            <a:off x="132528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userDrawn="1"/>
        </p:nvSpPr>
        <p:spPr>
          <a:xfrm>
            <a:off x="147768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userDrawn="1"/>
        </p:nvSpPr>
        <p:spPr>
          <a:xfrm>
            <a:off x="169875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userDrawn="1"/>
        </p:nvSpPr>
        <p:spPr>
          <a:xfrm>
            <a:off x="197194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p:cNvSpPr/>
          <p:nvPr userDrawn="1"/>
        </p:nvSpPr>
        <p:spPr>
          <a:xfrm>
            <a:off x="18403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p:cNvSpPr/>
          <p:nvPr userDrawn="1"/>
        </p:nvSpPr>
        <p:spPr>
          <a:xfrm>
            <a:off x="212434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p:cNvSpPr/>
          <p:nvPr userDrawn="1"/>
        </p:nvSpPr>
        <p:spPr>
          <a:xfrm>
            <a:off x="227674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62"/>
          <p:cNvSpPr/>
          <p:nvPr userDrawn="1"/>
        </p:nvSpPr>
        <p:spPr>
          <a:xfrm>
            <a:off x="2512459"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p:cNvSpPr/>
          <p:nvPr userDrawn="1"/>
        </p:nvSpPr>
        <p:spPr>
          <a:xfrm>
            <a:off x="278564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userDrawn="1"/>
        </p:nvSpPr>
        <p:spPr>
          <a:xfrm>
            <a:off x="2654024"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矩形 65"/>
          <p:cNvSpPr/>
          <p:nvPr userDrawn="1"/>
        </p:nvSpPr>
        <p:spPr>
          <a:xfrm>
            <a:off x="293804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p:cNvSpPr/>
          <p:nvPr userDrawn="1"/>
        </p:nvSpPr>
        <p:spPr>
          <a:xfrm>
            <a:off x="309044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矩形 67"/>
          <p:cNvSpPr/>
          <p:nvPr userDrawn="1"/>
        </p:nvSpPr>
        <p:spPr>
          <a:xfrm>
            <a:off x="3318938"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p:cNvSpPr/>
          <p:nvPr userDrawn="1"/>
        </p:nvSpPr>
        <p:spPr>
          <a:xfrm>
            <a:off x="359212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p:cNvSpPr/>
          <p:nvPr userDrawn="1"/>
        </p:nvSpPr>
        <p:spPr>
          <a:xfrm>
            <a:off x="346050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p:cNvSpPr/>
          <p:nvPr userDrawn="1"/>
        </p:nvSpPr>
        <p:spPr>
          <a:xfrm>
            <a:off x="374452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p:cNvSpPr/>
          <p:nvPr userDrawn="1"/>
        </p:nvSpPr>
        <p:spPr>
          <a:xfrm>
            <a:off x="389692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p:cNvSpPr/>
          <p:nvPr userDrawn="1"/>
        </p:nvSpPr>
        <p:spPr>
          <a:xfrm>
            <a:off x="4129028"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p:cNvSpPr/>
          <p:nvPr userDrawn="1"/>
        </p:nvSpPr>
        <p:spPr>
          <a:xfrm>
            <a:off x="440221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p:cNvSpPr/>
          <p:nvPr userDrawn="1"/>
        </p:nvSpPr>
        <p:spPr>
          <a:xfrm>
            <a:off x="427059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p:cNvSpPr/>
          <p:nvPr userDrawn="1"/>
        </p:nvSpPr>
        <p:spPr>
          <a:xfrm>
            <a:off x="455461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p:cNvSpPr/>
          <p:nvPr userDrawn="1"/>
        </p:nvSpPr>
        <p:spPr>
          <a:xfrm>
            <a:off x="470701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矩形 77"/>
          <p:cNvSpPr/>
          <p:nvPr userDrawn="1"/>
        </p:nvSpPr>
        <p:spPr>
          <a:xfrm>
            <a:off x="4939117"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p:cNvSpPr/>
          <p:nvPr userDrawn="1"/>
        </p:nvSpPr>
        <p:spPr>
          <a:xfrm>
            <a:off x="521230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p:cNvSpPr/>
          <p:nvPr userDrawn="1"/>
        </p:nvSpPr>
        <p:spPr>
          <a:xfrm>
            <a:off x="508068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p:cNvSpPr/>
          <p:nvPr userDrawn="1"/>
        </p:nvSpPr>
        <p:spPr>
          <a:xfrm>
            <a:off x="536470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矩形 81"/>
          <p:cNvSpPr/>
          <p:nvPr userDrawn="1"/>
        </p:nvSpPr>
        <p:spPr>
          <a:xfrm>
            <a:off x="5517106"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p:cNvSpPr/>
          <p:nvPr userDrawn="1"/>
        </p:nvSpPr>
        <p:spPr>
          <a:xfrm>
            <a:off x="5749208"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p:cNvSpPr/>
          <p:nvPr userDrawn="1"/>
        </p:nvSpPr>
        <p:spPr>
          <a:xfrm>
            <a:off x="602239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矩形 84"/>
          <p:cNvSpPr/>
          <p:nvPr userDrawn="1"/>
        </p:nvSpPr>
        <p:spPr>
          <a:xfrm>
            <a:off x="5890773"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p:cNvSpPr/>
          <p:nvPr userDrawn="1"/>
        </p:nvSpPr>
        <p:spPr>
          <a:xfrm>
            <a:off x="617479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p:cNvSpPr/>
          <p:nvPr userDrawn="1"/>
        </p:nvSpPr>
        <p:spPr>
          <a:xfrm>
            <a:off x="632719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矩形 87"/>
          <p:cNvSpPr/>
          <p:nvPr userDrawn="1"/>
        </p:nvSpPr>
        <p:spPr>
          <a:xfrm>
            <a:off x="6563897"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矩形 88"/>
          <p:cNvSpPr/>
          <p:nvPr userDrawn="1"/>
        </p:nvSpPr>
        <p:spPr>
          <a:xfrm>
            <a:off x="6837085"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p:cNvSpPr/>
          <p:nvPr userDrawn="1"/>
        </p:nvSpPr>
        <p:spPr>
          <a:xfrm>
            <a:off x="6705462"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90"/>
          <p:cNvSpPr/>
          <p:nvPr userDrawn="1"/>
        </p:nvSpPr>
        <p:spPr>
          <a:xfrm>
            <a:off x="6989485"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矩形 91"/>
          <p:cNvSpPr/>
          <p:nvPr userDrawn="1"/>
        </p:nvSpPr>
        <p:spPr>
          <a:xfrm>
            <a:off x="7141885"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userDrawn="1"/>
        </p:nvSpPr>
        <p:spPr>
          <a:xfrm>
            <a:off x="7369388"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p:cNvSpPr/>
          <p:nvPr userDrawn="1"/>
        </p:nvSpPr>
        <p:spPr>
          <a:xfrm>
            <a:off x="764257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p:cNvSpPr/>
          <p:nvPr userDrawn="1"/>
        </p:nvSpPr>
        <p:spPr>
          <a:xfrm>
            <a:off x="7510952"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p:cNvSpPr/>
          <p:nvPr userDrawn="1"/>
        </p:nvSpPr>
        <p:spPr>
          <a:xfrm>
            <a:off x="779497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p:cNvSpPr/>
          <p:nvPr userDrawn="1"/>
        </p:nvSpPr>
        <p:spPr>
          <a:xfrm>
            <a:off x="7947376" y="-789"/>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userDrawn="1"/>
        </p:nvSpPr>
        <p:spPr>
          <a:xfrm>
            <a:off x="8171735"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p:cNvSpPr/>
          <p:nvPr userDrawn="1"/>
        </p:nvSpPr>
        <p:spPr>
          <a:xfrm>
            <a:off x="84449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p:cNvSpPr/>
          <p:nvPr userDrawn="1"/>
        </p:nvSpPr>
        <p:spPr>
          <a:xfrm>
            <a:off x="8313300"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p:cNvSpPr/>
          <p:nvPr userDrawn="1"/>
        </p:nvSpPr>
        <p:spPr>
          <a:xfrm>
            <a:off x="85973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p:cNvSpPr/>
          <p:nvPr userDrawn="1"/>
        </p:nvSpPr>
        <p:spPr>
          <a:xfrm>
            <a:off x="8749723"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p:cNvSpPr/>
          <p:nvPr userDrawn="1"/>
        </p:nvSpPr>
        <p:spPr>
          <a:xfrm>
            <a:off x="8969630" y="0"/>
            <a:ext cx="67507" cy="472553"/>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5" name="圖片版面配置區 274"/>
          <p:cNvSpPr>
            <a:spLocks noGrp="1"/>
          </p:cNvSpPr>
          <p:nvPr>
            <p:ph type="pic" sz="quarter" idx="13"/>
          </p:nvPr>
        </p:nvSpPr>
        <p:spPr>
          <a:xfrm>
            <a:off x="0" y="1795463"/>
            <a:ext cx="4622800" cy="2801541"/>
          </a:xfrm>
        </p:spPr>
        <p:txBody>
          <a:bodyPr/>
          <a:lstStyle/>
          <a:p>
            <a:endParaRPr lang="zh-TW" altLang="en-US" dirty="0"/>
          </a:p>
        </p:txBody>
      </p:sp>
      <p:sp>
        <p:nvSpPr>
          <p:cNvPr id="276" name="文字方塊 275"/>
          <p:cNvSpPr txBox="1"/>
          <p:nvPr userDrawn="1"/>
        </p:nvSpPr>
        <p:spPr>
          <a:xfrm>
            <a:off x="264913" y="636535"/>
            <a:ext cx="2768260" cy="923330"/>
          </a:xfrm>
          <a:prstGeom prst="rect">
            <a:avLst/>
          </a:prstGeom>
          <a:noFill/>
        </p:spPr>
        <p:txBody>
          <a:bodyPr wrap="square" rtlCol="0">
            <a:spAutoFit/>
          </a:bodyPr>
          <a:lstStyle/>
          <a:p>
            <a:r>
              <a:rPr lang="en-US" altLang="zh-TW" sz="3600" b="1" dirty="0">
                <a:solidFill>
                  <a:schemeClr val="bg1"/>
                </a:solidFill>
              </a:rPr>
              <a:t>CHAPTER</a:t>
            </a:r>
            <a:r>
              <a:rPr lang="zh-TW" altLang="en-US" sz="3600" b="1" dirty="0">
                <a:solidFill>
                  <a:schemeClr val="bg1"/>
                </a:solidFill>
              </a:rPr>
              <a:t> </a:t>
            </a:r>
            <a:r>
              <a:rPr lang="en-US" altLang="zh-TW" sz="5400" b="1" dirty="0">
                <a:solidFill>
                  <a:schemeClr val="accent5">
                    <a:lumMod val="50000"/>
                  </a:schemeClr>
                </a:solidFill>
              </a:rPr>
              <a:t>14</a:t>
            </a:r>
            <a:endParaRPr lang="zh-TW" altLang="en-US" sz="5400" b="1" dirty="0">
              <a:solidFill>
                <a:schemeClr val="accent5">
                  <a:lumMod val="50000"/>
                </a:schemeClr>
              </a:solidFill>
            </a:endParaRPr>
          </a:p>
        </p:txBody>
      </p:sp>
    </p:spTree>
    <p:extLst>
      <p:ext uri="{BB962C8B-B14F-4D97-AF65-F5344CB8AC3E}">
        <p14:creationId xmlns:p14="http://schemas.microsoft.com/office/powerpoint/2010/main" val="1508819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634603"/>
            <a:ext cx="8229600" cy="722012"/>
          </a:xfrm>
        </p:spPr>
        <p:txBody>
          <a:bodyPr>
            <a:normAutofit/>
          </a:bodyPr>
          <a:lstStyle>
            <a:lvl1pPr>
              <a:defRPr sz="3200" b="1">
                <a:solidFill>
                  <a:srgbClr val="C00000"/>
                </a:solidFill>
                <a:latin typeface="微軟正黑體" pitchFamily="34" charset="-120"/>
                <a:ea typeface="微軟正黑體" pitchFamily="34" charset="-120"/>
              </a:defRPr>
            </a:lvl1pPr>
          </a:lstStyle>
          <a:p>
            <a:r>
              <a:rPr lang="zh-TW" altLang="en-US" dirty="0"/>
              <a:t>按一下以編輯母片標題樣式</a:t>
            </a:r>
          </a:p>
        </p:txBody>
      </p:sp>
      <p:sp>
        <p:nvSpPr>
          <p:cNvPr id="3" name="內容版面配置區 2"/>
          <p:cNvSpPr>
            <a:spLocks noGrp="1"/>
          </p:cNvSpPr>
          <p:nvPr>
            <p:ph idx="1"/>
          </p:nvPr>
        </p:nvSpPr>
        <p:spPr>
          <a:xfrm>
            <a:off x="457200" y="1525384"/>
            <a:ext cx="8229600" cy="3069239"/>
          </a:xfrm>
        </p:spPr>
        <p:txBody>
          <a:bodyPr/>
          <a:lstStyle>
            <a:lvl1pPr marL="457200" indent="-457200">
              <a:lnSpc>
                <a:spcPct val="120000"/>
              </a:lnSpc>
              <a:spcBef>
                <a:spcPts val="800"/>
              </a:spcBef>
              <a:buFontTx/>
              <a:buBlip>
                <a:blip r:embed="rId2"/>
              </a:buBlip>
              <a:defRPr sz="2800" b="1">
                <a:latin typeface="微軟正黑體" pitchFamily="34" charset="-120"/>
                <a:ea typeface="微軟正黑體" pitchFamily="34" charset="-120"/>
              </a:defRPr>
            </a:lvl1pPr>
            <a:lvl2pPr marL="914400" indent="-457200">
              <a:lnSpc>
                <a:spcPct val="120000"/>
              </a:lnSpc>
              <a:spcBef>
                <a:spcPts val="800"/>
              </a:spcBef>
              <a:buClr>
                <a:schemeClr val="tx2"/>
              </a:buClr>
              <a:buFont typeface="Wingdings 3" panose="05040102010807070707" pitchFamily="18" charset="2"/>
              <a:buChar char=""/>
              <a:defRPr sz="2400" b="1">
                <a:latin typeface="微軟正黑體" pitchFamily="34" charset="-120"/>
                <a:ea typeface="微軟正黑體" pitchFamily="34" charset="-120"/>
              </a:defRPr>
            </a:lvl2pPr>
            <a:lvl3pPr marL="1257300" indent="-342900">
              <a:lnSpc>
                <a:spcPct val="120000"/>
              </a:lnSpc>
              <a:spcBef>
                <a:spcPts val="800"/>
              </a:spcBef>
              <a:buClr>
                <a:schemeClr val="accent1"/>
              </a:buClr>
              <a:buFont typeface="微軟正黑體" panose="020B0604030504040204" pitchFamily="34" charset="-120"/>
              <a:buChar char="■"/>
              <a:defRPr sz="2000" b="1">
                <a:latin typeface="微軟正黑體" pitchFamily="34" charset="-120"/>
                <a:ea typeface="微軟正黑體" pitchFamily="34" charset="-120"/>
              </a:defRPr>
            </a:lvl3pPr>
            <a:lvl4pPr marL="1371600" indent="0">
              <a:lnSpc>
                <a:spcPct val="120000"/>
              </a:lnSpc>
              <a:spcBef>
                <a:spcPts val="800"/>
              </a:spcBef>
              <a:buNone/>
              <a:defRPr sz="2000" b="1">
                <a:latin typeface="微軟正黑體" pitchFamily="34" charset="-120"/>
                <a:ea typeface="微軟正黑體" pitchFamily="34" charset="-120"/>
              </a:defRPr>
            </a:lvl4pPr>
            <a:lvl5pPr marL="1828800" indent="0">
              <a:lnSpc>
                <a:spcPct val="120000"/>
              </a:lnSpc>
              <a:spcBef>
                <a:spcPts val="800"/>
              </a:spcBef>
              <a:buNone/>
              <a:defRPr sz="1800" b="1">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3"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p:cNvGrpSpPr/>
          <p:nvPr userDrawn="1"/>
        </p:nvGrpSpPr>
        <p:grpSpPr>
          <a:xfrm>
            <a:off x="0" y="0"/>
            <a:ext cx="9198259" cy="622018"/>
            <a:chOff x="0" y="0"/>
            <a:chExt cx="9198259" cy="622018"/>
          </a:xfrm>
        </p:grpSpPr>
        <p:grpSp>
          <p:nvGrpSpPr>
            <p:cNvPr id="14" name="群組 13"/>
            <p:cNvGrpSpPr/>
            <p:nvPr userDrawn="1"/>
          </p:nvGrpSpPr>
          <p:grpSpPr>
            <a:xfrm>
              <a:off x="0" y="0"/>
              <a:ext cx="9144001" cy="546525"/>
              <a:chOff x="0" y="0"/>
              <a:chExt cx="9144001" cy="546525"/>
            </a:xfrm>
          </p:grpSpPr>
          <p:sp>
            <p:nvSpPr>
              <p:cNvPr id="16" name="矩形 15"/>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sp>
            <p:nvSpPr>
              <p:cNvPr id="17" name="矩形 16"/>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8" name="矩形 17"/>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p:cNvSpPr/>
              <p:nvPr userDrawn="1"/>
            </p:nvSpPr>
            <p:spPr>
              <a:xfrm>
                <a:off x="7778146" y="291553"/>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userDrawn="1"/>
            </p:nvSpPr>
            <p:spPr>
              <a:xfrm>
                <a:off x="7677346" y="392814"/>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pic>
            <p:nvPicPr>
              <p:cNvPr id="21" name="Picture 4" descr="D:\製作中\02再版書\0558909\章首頁\computer.png"/>
              <p:cNvPicPr>
                <a:picLocks noChangeAspect="1" noChangeArrowheads="1"/>
              </p:cNvPicPr>
              <p:nvPr userDrawn="1"/>
            </p:nvPicPr>
            <p:blipFill>
              <a:blip r:embed="rId3"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1699"/>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5" name="文字方塊 14"/>
            <p:cNvSpPr txBox="1"/>
            <p:nvPr userDrawn="1"/>
          </p:nvSpPr>
          <p:spPr>
            <a:xfrm>
              <a:off x="8073134" y="6465"/>
              <a:ext cx="1125125" cy="615553"/>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200" dirty="0">
                  <a:solidFill>
                    <a:schemeClr val="accent5">
                      <a:lumMod val="20000"/>
                      <a:lumOff val="80000"/>
                    </a:schemeClr>
                  </a:solidFill>
                </a:rPr>
                <a:t>14</a:t>
              </a:r>
              <a:endParaRPr lang="zh-TW" altLang="en-US" sz="2200" dirty="0">
                <a:solidFill>
                  <a:schemeClr val="accent5">
                    <a:lumMod val="20000"/>
                    <a:lumOff val="80000"/>
                  </a:schemeClr>
                </a:solidFill>
              </a:endParaRPr>
            </a:p>
          </p:txBody>
        </p:sp>
      </p:grpSp>
    </p:spTree>
    <p:extLst>
      <p:ext uri="{BB962C8B-B14F-4D97-AF65-F5344CB8AC3E}">
        <p14:creationId xmlns:p14="http://schemas.microsoft.com/office/powerpoint/2010/main" val="1691305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884063"/>
            <a:ext cx="8229600" cy="3710560"/>
          </a:xfrm>
        </p:spPr>
        <p:txBody>
          <a:bodyPr/>
          <a:lstStyle>
            <a:lvl1pPr marL="0" indent="0">
              <a:buNone/>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12"/>
          <p:cNvGrpSpPr/>
          <p:nvPr userDrawn="1"/>
        </p:nvGrpSpPr>
        <p:grpSpPr>
          <a:xfrm>
            <a:off x="0" y="0"/>
            <a:ext cx="9198259" cy="622018"/>
            <a:chOff x="0" y="0"/>
            <a:chExt cx="9198259" cy="622018"/>
          </a:xfrm>
        </p:grpSpPr>
        <p:grpSp>
          <p:nvGrpSpPr>
            <p:cNvPr id="14" name="群組 13"/>
            <p:cNvGrpSpPr/>
            <p:nvPr userDrawn="1"/>
          </p:nvGrpSpPr>
          <p:grpSpPr>
            <a:xfrm>
              <a:off x="0" y="0"/>
              <a:ext cx="9144001" cy="546525"/>
              <a:chOff x="0" y="0"/>
              <a:chExt cx="9144001" cy="546525"/>
            </a:xfrm>
          </p:grpSpPr>
          <p:sp>
            <p:nvSpPr>
              <p:cNvPr id="16" name="矩形 15"/>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sp>
            <p:nvSpPr>
              <p:cNvPr id="17" name="矩形 16"/>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8" name="矩形 17"/>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p:cNvSpPr/>
              <p:nvPr userDrawn="1"/>
            </p:nvSpPr>
            <p:spPr>
              <a:xfrm>
                <a:off x="7778146" y="291553"/>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userDrawn="1"/>
            </p:nvSpPr>
            <p:spPr>
              <a:xfrm>
                <a:off x="7677346" y="392814"/>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pic>
            <p:nvPicPr>
              <p:cNvPr id="21" name="Picture 4" descr="D:\製作中\02再版書\0558909\章首頁\computer.png"/>
              <p:cNvPicPr>
                <a:picLocks noChangeAspect="1" noChangeArrowheads="1"/>
              </p:cNvPicPr>
              <p:nvPr userDrawn="1"/>
            </p:nvPicPr>
            <p:blipFill>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1699"/>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5" name="文字方塊 14"/>
            <p:cNvSpPr txBox="1"/>
            <p:nvPr userDrawn="1"/>
          </p:nvSpPr>
          <p:spPr>
            <a:xfrm>
              <a:off x="8073134" y="6465"/>
              <a:ext cx="1125125" cy="615553"/>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200" dirty="0">
                  <a:solidFill>
                    <a:schemeClr val="accent5">
                      <a:lumMod val="20000"/>
                      <a:lumOff val="80000"/>
                    </a:schemeClr>
                  </a:solidFill>
                </a:rPr>
                <a:t>14</a:t>
              </a:r>
              <a:endParaRPr lang="zh-TW" altLang="en-US" sz="2200" dirty="0">
                <a:solidFill>
                  <a:schemeClr val="accent5">
                    <a:lumMod val="20000"/>
                    <a:lumOff val="80000"/>
                  </a:schemeClr>
                </a:solidFill>
              </a:endParaRPr>
            </a:p>
          </p:txBody>
        </p:sp>
      </p:grpSp>
    </p:spTree>
    <p:extLst>
      <p:ext uri="{BB962C8B-B14F-4D97-AF65-F5344CB8AC3E}">
        <p14:creationId xmlns:p14="http://schemas.microsoft.com/office/powerpoint/2010/main" val="141575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028" name="Picture 4" descr="D:\製作中\02再版書\0558909\章首頁\computer.png"/>
          <p:cNvPicPr>
            <a:picLocks noChangeAspect="1" noChangeArrowheads="1"/>
          </p:cNvPicPr>
          <p:nvPr userDrawn="1"/>
        </p:nvPicPr>
        <p:blipFill>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內容版面配置區 2"/>
          <p:cNvSpPr>
            <a:spLocks noGrp="1"/>
          </p:cNvSpPr>
          <p:nvPr>
            <p:ph idx="1"/>
          </p:nvPr>
        </p:nvSpPr>
        <p:spPr>
          <a:xfrm>
            <a:off x="457200" y="850309"/>
            <a:ext cx="8229600" cy="3744314"/>
          </a:xfrm>
        </p:spPr>
        <p:txBody>
          <a:bodyPr/>
          <a:lstStyle>
            <a:lvl1pPr marL="457200" indent="-457200">
              <a:buFontTx/>
              <a:buBlip>
                <a:blip r:embed="rId4"/>
              </a:buBlip>
              <a:defRPr>
                <a:latin typeface="微軟正黑體" pitchFamily="34" charset="-120"/>
                <a:ea typeface="微軟正黑體" pitchFamily="34" charset="-120"/>
              </a:defRPr>
            </a:lvl1pPr>
            <a:lvl2pPr marL="457200" indent="0">
              <a:buNone/>
              <a:defRPr>
                <a:latin typeface="微軟正黑體" pitchFamily="34" charset="-120"/>
                <a:ea typeface="微軟正黑體" pitchFamily="34" charset="-120"/>
              </a:defRPr>
            </a:lvl2pPr>
            <a:lvl3pPr marL="914400" indent="0">
              <a:buNone/>
              <a:defRPr>
                <a:latin typeface="微軟正黑體" pitchFamily="34" charset="-120"/>
                <a:ea typeface="微軟正黑體" pitchFamily="34" charset="-120"/>
              </a:defRPr>
            </a:lvl3pPr>
            <a:lvl4pPr marL="1371600" indent="0">
              <a:buNone/>
              <a:defRPr>
                <a:latin typeface="微軟正黑體" pitchFamily="34" charset="-120"/>
                <a:ea typeface="微軟正黑體" pitchFamily="34" charset="-120"/>
              </a:defRPr>
            </a:lvl4pPr>
            <a:lvl5pPr marL="1828800" indent="0">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4" name="群組 13"/>
          <p:cNvGrpSpPr/>
          <p:nvPr userDrawn="1"/>
        </p:nvGrpSpPr>
        <p:grpSpPr>
          <a:xfrm>
            <a:off x="0" y="0"/>
            <a:ext cx="9198259" cy="622018"/>
            <a:chOff x="0" y="0"/>
            <a:chExt cx="9198259" cy="622018"/>
          </a:xfrm>
        </p:grpSpPr>
        <p:grpSp>
          <p:nvGrpSpPr>
            <p:cNvPr id="15" name="群組 14"/>
            <p:cNvGrpSpPr/>
            <p:nvPr userDrawn="1"/>
          </p:nvGrpSpPr>
          <p:grpSpPr>
            <a:xfrm>
              <a:off x="0" y="0"/>
              <a:ext cx="9144001" cy="546525"/>
              <a:chOff x="0" y="0"/>
              <a:chExt cx="9144001" cy="546525"/>
            </a:xfrm>
          </p:grpSpPr>
          <p:sp>
            <p:nvSpPr>
              <p:cNvPr id="17" name="矩形 1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sp>
            <p:nvSpPr>
              <p:cNvPr id="18" name="矩形 1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9" name="矩形 18"/>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p:cNvSpPr/>
              <p:nvPr userDrawn="1"/>
            </p:nvSpPr>
            <p:spPr>
              <a:xfrm>
                <a:off x="7778146" y="291553"/>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p:cNvSpPr/>
              <p:nvPr userDrawn="1"/>
            </p:nvSpPr>
            <p:spPr>
              <a:xfrm>
                <a:off x="7677346" y="392814"/>
                <a:ext cx="100800"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a:p>
              <a:p>
                <a:pPr algn="ctr"/>
                <a:endParaRPr lang="en-US" altLang="zh-TW" dirty="0"/>
              </a:p>
              <a:p>
                <a:pPr algn="ctr"/>
                <a:endParaRPr lang="en-US" altLang="zh-TW" dirty="0"/>
              </a:p>
              <a:p>
                <a:pPr algn="ctr"/>
                <a:endParaRPr lang="en-US" altLang="zh-TW" dirty="0"/>
              </a:p>
              <a:p>
                <a:pPr algn="ctr"/>
                <a:endParaRPr lang="zh-TW" altLang="en-US" dirty="0"/>
              </a:p>
            </p:txBody>
          </p:sp>
          <p:pic>
            <p:nvPicPr>
              <p:cNvPr id="22" name="Picture 4" descr="D:\製作中\02再版書\0558909\章首頁\computer.png"/>
              <p:cNvPicPr>
                <a:picLocks noChangeAspect="1" noChangeArrowheads="1"/>
              </p:cNvPicPr>
              <p:nvPr userDrawn="1"/>
            </p:nvPicPr>
            <p:blipFill>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1699"/>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6" name="文字方塊 15"/>
            <p:cNvSpPr txBox="1"/>
            <p:nvPr userDrawn="1"/>
          </p:nvSpPr>
          <p:spPr>
            <a:xfrm>
              <a:off x="8073134" y="6465"/>
              <a:ext cx="1125125" cy="615553"/>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200" dirty="0">
                  <a:solidFill>
                    <a:schemeClr val="accent5">
                      <a:lumMod val="20000"/>
                      <a:lumOff val="80000"/>
                    </a:schemeClr>
                  </a:solidFill>
                </a:rPr>
                <a:t>14</a:t>
              </a:r>
              <a:endParaRPr lang="zh-TW" altLang="en-US" sz="2200" dirty="0">
                <a:solidFill>
                  <a:schemeClr val="accent5">
                    <a:lumMod val="20000"/>
                    <a:lumOff val="80000"/>
                  </a:schemeClr>
                </a:solidFill>
              </a:endParaRPr>
            </a:p>
          </p:txBody>
        </p:sp>
      </p:grpSp>
    </p:spTree>
    <p:extLst>
      <p:ext uri="{BB962C8B-B14F-4D97-AF65-F5344CB8AC3E}">
        <p14:creationId xmlns:p14="http://schemas.microsoft.com/office/powerpoint/2010/main" val="2257201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Picture 15"/>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343616" y="722472"/>
            <a:ext cx="2456765" cy="634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3"/>
          <p:cNvPicPr>
            <a:picLocks noChangeAspect="1" noChangeArrowheads="1"/>
          </p:cNvPicPr>
          <p:nvPr userDrawn="1"/>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487232">
            <a:off x="7757944" y="802232"/>
            <a:ext cx="1038226" cy="800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群組 4"/>
          <p:cNvGrpSpPr/>
          <p:nvPr userDrawn="1"/>
        </p:nvGrpSpPr>
        <p:grpSpPr>
          <a:xfrm>
            <a:off x="683018" y="771550"/>
            <a:ext cx="1781968" cy="414607"/>
            <a:chOff x="683018" y="1178750"/>
            <a:chExt cx="1781968" cy="414607"/>
          </a:xfrm>
        </p:grpSpPr>
        <p:sp>
          <p:nvSpPr>
            <p:cNvPr id="24" name="橢圓 23"/>
            <p:cNvSpPr/>
            <p:nvPr userDrawn="1"/>
          </p:nvSpPr>
          <p:spPr>
            <a:xfrm>
              <a:off x="683018"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userDrawn="1"/>
          </p:nvSpPr>
          <p:spPr>
            <a:xfrm>
              <a:off x="115162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userDrawn="1"/>
          </p:nvSpPr>
          <p:spPr>
            <a:xfrm>
              <a:off x="160167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userDrawn="1"/>
          </p:nvSpPr>
          <p:spPr>
            <a:xfrm>
              <a:off x="2051720" y="1180091"/>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3" name="文字方塊 22"/>
          <p:cNvSpPr txBox="1"/>
          <p:nvPr userDrawn="1"/>
        </p:nvSpPr>
        <p:spPr>
          <a:xfrm>
            <a:off x="701570" y="789784"/>
            <a:ext cx="2221692" cy="369332"/>
          </a:xfrm>
          <a:prstGeom prst="rect">
            <a:avLst/>
          </a:prstGeom>
          <a:noFill/>
        </p:spPr>
        <p:txBody>
          <a:bodyPr wrap="square" rtlCol="0">
            <a:spAutoFit/>
          </a:bodyPr>
          <a:lstStyle/>
          <a:p>
            <a:r>
              <a:rPr lang="en-US" altLang="zh-TW" b="1" dirty="0">
                <a:solidFill>
                  <a:srgbClr val="C00000"/>
                </a:solidFill>
                <a:latin typeface="微軟正黑體" pitchFamily="34" charset="-120"/>
                <a:ea typeface="微軟正黑體" pitchFamily="34" charset="-120"/>
              </a:rPr>
              <a:t>IT</a:t>
            </a:r>
            <a:r>
              <a:rPr lang="zh-TW" altLang="en-US" b="1" dirty="0">
                <a:solidFill>
                  <a:srgbClr val="C00000"/>
                </a:solidFill>
                <a:latin typeface="微軟正黑體" pitchFamily="34" charset="-120"/>
                <a:ea typeface="微軟正黑體" pitchFamily="34" charset="-120"/>
              </a:rPr>
              <a:t>　專    家    </a:t>
            </a:r>
            <a:endParaRPr lang="en-US" altLang="zh-TW" b="1" dirty="0">
              <a:solidFill>
                <a:srgbClr val="C00000"/>
              </a:solidFill>
              <a:latin typeface="微軟正黑體" pitchFamily="34" charset="-120"/>
              <a:ea typeface="微軟正黑體" pitchFamily="34" charset="-120"/>
            </a:endParaRPr>
          </a:p>
        </p:txBody>
      </p:sp>
      <p:grpSp>
        <p:nvGrpSpPr>
          <p:cNvPr id="46" name="群組 45"/>
          <p:cNvGrpSpPr/>
          <p:nvPr userDrawn="1"/>
        </p:nvGrpSpPr>
        <p:grpSpPr>
          <a:xfrm>
            <a:off x="0" y="0"/>
            <a:ext cx="9198259" cy="591240"/>
            <a:chOff x="0" y="0"/>
            <a:chExt cx="9198259" cy="787347"/>
          </a:xfrm>
        </p:grpSpPr>
        <p:grpSp>
          <p:nvGrpSpPr>
            <p:cNvPr id="47" name="群組 46"/>
            <p:cNvGrpSpPr/>
            <p:nvPr userDrawn="1"/>
          </p:nvGrpSpPr>
          <p:grpSpPr>
            <a:xfrm>
              <a:off x="0" y="0"/>
              <a:ext cx="9144000" cy="728700"/>
              <a:chOff x="0" y="0"/>
              <a:chExt cx="9144000" cy="728700"/>
            </a:xfrm>
          </p:grpSpPr>
          <p:sp>
            <p:nvSpPr>
              <p:cNvPr id="49" name="矩形 48"/>
              <p:cNvSpPr/>
              <p:nvPr userDrawn="1"/>
            </p:nvSpPr>
            <p:spPr>
              <a:xfrm>
                <a:off x="0" y="0"/>
                <a:ext cx="9144000" cy="728700"/>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pic>
            <p:nvPicPr>
              <p:cNvPr id="50"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1" y="96475"/>
                <a:ext cx="323700" cy="4212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1" name="矩形 50"/>
              <p:cNvSpPr/>
              <p:nvPr userDrawn="1"/>
            </p:nvSpPr>
            <p:spPr>
              <a:xfrm>
                <a:off x="906573" y="179684"/>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52" name="矩形 51"/>
              <p:cNvSpPr/>
              <p:nvPr userDrawn="1"/>
            </p:nvSpPr>
            <p:spPr>
              <a:xfrm>
                <a:off x="8127395" y="0"/>
                <a:ext cx="1016605" cy="7287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7767355" y="388736"/>
                <a:ext cx="1008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7677345" y="517980"/>
                <a:ext cx="1044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8" name="文字方塊 47"/>
            <p:cNvSpPr txBox="1"/>
            <p:nvPr userDrawn="1"/>
          </p:nvSpPr>
          <p:spPr>
            <a:xfrm>
              <a:off x="8073134" y="8609"/>
              <a:ext cx="1125125" cy="778738"/>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000" dirty="0">
                  <a:solidFill>
                    <a:schemeClr val="accent5">
                      <a:lumMod val="20000"/>
                      <a:lumOff val="80000"/>
                    </a:schemeClr>
                  </a:solidFill>
                </a:rPr>
                <a:t>14</a:t>
              </a:r>
              <a:endParaRPr lang="zh-TW" altLang="en-US" sz="2000" dirty="0">
                <a:solidFill>
                  <a:schemeClr val="accent5">
                    <a:lumMod val="20000"/>
                    <a:lumOff val="80000"/>
                  </a:schemeClr>
                </a:solidFill>
              </a:endParaRPr>
            </a:p>
          </p:txBody>
        </p:sp>
      </p:grpSp>
    </p:spTree>
    <p:extLst>
      <p:ext uri="{BB962C8B-B14F-4D97-AF65-F5344CB8AC3E}">
        <p14:creationId xmlns:p14="http://schemas.microsoft.com/office/powerpoint/2010/main" val="3420031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userDrawn="1"/>
        </p:nvSpPr>
        <p:spPr>
          <a:xfrm>
            <a:off x="0" y="0"/>
            <a:ext cx="9144000" cy="546525"/>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accent5">
                  <a:lumMod val="60000"/>
                  <a:lumOff val="40000"/>
                </a:schemeClr>
              </a:solidFill>
            </a:endParaRPr>
          </a:p>
        </p:txBody>
      </p:sp>
      <p:pic>
        <p:nvPicPr>
          <p:cNvPr id="1028" name="Picture 4" descr="D:\製作中\02再版書\0558909\章首頁\computer.png"/>
          <p:cNvPicPr>
            <a:picLocks noChangeAspect="1" noChangeArrowheads="1"/>
          </p:cNvPicPr>
          <p:nvPr userDrawn="1"/>
        </p:nvPicPr>
        <p:blipFill>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2" y="65596"/>
            <a:ext cx="425589" cy="41533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906574" y="13476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10" name="矩形 9"/>
          <p:cNvSpPr/>
          <p:nvPr userDrawn="1"/>
        </p:nvSpPr>
        <p:spPr>
          <a:xfrm>
            <a:off x="8127396" y="0"/>
            <a:ext cx="1016605" cy="54652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7812361" y="291553"/>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userDrawn="1"/>
        </p:nvSpPr>
        <p:spPr>
          <a:xfrm>
            <a:off x="7677346" y="388486"/>
            <a:ext cx="135015" cy="10126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a:spLocks noGrp="1"/>
          </p:cNvSpPr>
          <p:nvPr>
            <p:ph idx="1"/>
          </p:nvPr>
        </p:nvSpPr>
        <p:spPr>
          <a:xfrm>
            <a:off x="406096" y="1692374"/>
            <a:ext cx="8229600" cy="2668325"/>
          </a:xfrm>
        </p:spPr>
        <p:txBody>
          <a:bodyPr>
            <a:normAutofit/>
          </a:bodyPr>
          <a:lstStyle>
            <a:lvl1pPr marL="0" indent="0">
              <a:lnSpc>
                <a:spcPct val="120000"/>
              </a:lnSpc>
              <a:spcBef>
                <a:spcPts val="800"/>
              </a:spcBef>
              <a:buNone/>
              <a:defRPr sz="2400">
                <a:latin typeface="微軟正黑體" pitchFamily="34" charset="-120"/>
                <a:ea typeface="微軟正黑體" pitchFamily="34" charset="-120"/>
              </a:defRPr>
            </a:lvl1pPr>
            <a:lvl2pPr marL="457200" indent="0">
              <a:lnSpc>
                <a:spcPct val="120000"/>
              </a:lnSpc>
              <a:spcBef>
                <a:spcPts val="800"/>
              </a:spcBef>
              <a:buNone/>
              <a:defRPr sz="2000">
                <a:latin typeface="微軟正黑體" pitchFamily="34" charset="-120"/>
                <a:ea typeface="微軟正黑體" pitchFamily="34" charset="-120"/>
              </a:defRPr>
            </a:lvl2pPr>
            <a:lvl3pPr marL="914400" indent="0">
              <a:lnSpc>
                <a:spcPct val="120000"/>
              </a:lnSpc>
              <a:spcBef>
                <a:spcPts val="800"/>
              </a:spcBef>
              <a:buNone/>
              <a:defRPr sz="1800">
                <a:latin typeface="微軟正黑體" pitchFamily="34" charset="-120"/>
                <a:ea typeface="微軟正黑體" pitchFamily="34" charset="-120"/>
              </a:defRPr>
            </a:lvl3pPr>
            <a:lvl4pPr marL="1371600" indent="0">
              <a:lnSpc>
                <a:spcPct val="120000"/>
              </a:lnSpc>
              <a:spcBef>
                <a:spcPts val="800"/>
              </a:spcBef>
              <a:buNone/>
              <a:defRPr sz="1600">
                <a:latin typeface="微軟正黑體" pitchFamily="34" charset="-120"/>
                <a:ea typeface="微軟正黑體" pitchFamily="34" charset="-120"/>
              </a:defRPr>
            </a:lvl4pPr>
            <a:lvl5pPr marL="1828800" indent="0">
              <a:lnSpc>
                <a:spcPct val="120000"/>
              </a:lnSpc>
              <a:spcBef>
                <a:spcPts val="800"/>
              </a:spcBef>
              <a:buNone/>
              <a:defRPr sz="1600">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6" name="群組 15"/>
          <p:cNvGrpSpPr/>
          <p:nvPr userDrawn="1"/>
        </p:nvGrpSpPr>
        <p:grpSpPr>
          <a:xfrm>
            <a:off x="0" y="0"/>
            <a:ext cx="9198259" cy="591240"/>
            <a:chOff x="0" y="0"/>
            <a:chExt cx="9198259" cy="787347"/>
          </a:xfrm>
        </p:grpSpPr>
        <p:grpSp>
          <p:nvGrpSpPr>
            <p:cNvPr id="17" name="群組 16"/>
            <p:cNvGrpSpPr/>
            <p:nvPr userDrawn="1"/>
          </p:nvGrpSpPr>
          <p:grpSpPr>
            <a:xfrm>
              <a:off x="0" y="0"/>
              <a:ext cx="9144000" cy="728700"/>
              <a:chOff x="0" y="0"/>
              <a:chExt cx="9144000" cy="728700"/>
            </a:xfrm>
          </p:grpSpPr>
          <p:sp>
            <p:nvSpPr>
              <p:cNvPr id="20" name="矩形 19"/>
              <p:cNvSpPr/>
              <p:nvPr userDrawn="1"/>
            </p:nvSpPr>
            <p:spPr>
              <a:xfrm>
                <a:off x="0" y="0"/>
                <a:ext cx="9144000" cy="728700"/>
              </a:xfrm>
              <a:prstGeom prst="rect">
                <a:avLst/>
              </a:prstGeom>
              <a:solidFill>
                <a:schemeClr val="accent5">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dirty="0"/>
              </a:p>
            </p:txBody>
          </p:sp>
          <p:pic>
            <p:nvPicPr>
              <p:cNvPr id="21" name="Picture 4" descr="D:\製作中\02再版書\0558909\章首頁\computer.png"/>
              <p:cNvPicPr>
                <a:picLocks noChangeAspect="1" noChangeArrowheads="1"/>
              </p:cNvPicPr>
              <p:nvPr userDrawn="1"/>
            </p:nvPicPr>
            <p:blipFill>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288211" y="96475"/>
                <a:ext cx="323700" cy="4212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2" name="矩形 21"/>
              <p:cNvSpPr/>
              <p:nvPr userDrawn="1"/>
            </p:nvSpPr>
            <p:spPr>
              <a:xfrm>
                <a:off x="906573" y="179683"/>
                <a:ext cx="3665427" cy="369332"/>
              </a:xfrm>
              <a:prstGeom prst="rect">
                <a:avLst/>
              </a:prstGeom>
            </p:spPr>
            <p:txBody>
              <a:bodyPr wrap="none">
                <a:spAutoFit/>
              </a:bodyPr>
              <a:lstStyle/>
              <a:p>
                <a:r>
                  <a:rPr lang="en-US" altLang="zh-TW" sz="1800" b="0" i="0" u="none" strike="noStrike" kern="1200" baseline="0" dirty="0">
                    <a:solidFill>
                      <a:schemeClr val="accent5">
                        <a:lumMod val="40000"/>
                        <a:lumOff val="60000"/>
                      </a:schemeClr>
                    </a:solidFill>
                    <a:latin typeface="+mn-lt"/>
                    <a:ea typeface="+mn-ea"/>
                    <a:cs typeface="+mn-cs"/>
                  </a:rPr>
                  <a:t>An Introduction to Computer Science</a:t>
                </a:r>
                <a:endParaRPr lang="zh-TW" altLang="en-US" dirty="0">
                  <a:solidFill>
                    <a:schemeClr val="accent5">
                      <a:lumMod val="40000"/>
                      <a:lumOff val="60000"/>
                    </a:schemeClr>
                  </a:solidFill>
                </a:endParaRPr>
              </a:p>
            </p:txBody>
          </p:sp>
          <p:sp>
            <p:nvSpPr>
              <p:cNvPr id="23" name="矩形 22"/>
              <p:cNvSpPr/>
              <p:nvPr userDrawn="1"/>
            </p:nvSpPr>
            <p:spPr>
              <a:xfrm>
                <a:off x="8127395" y="0"/>
                <a:ext cx="1016605" cy="7287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userDrawn="1"/>
            </p:nvSpPr>
            <p:spPr>
              <a:xfrm>
                <a:off x="7767355" y="388736"/>
                <a:ext cx="1008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p:cNvSpPr/>
              <p:nvPr userDrawn="1"/>
            </p:nvSpPr>
            <p:spPr>
              <a:xfrm>
                <a:off x="7677345" y="517980"/>
                <a:ext cx="104400" cy="13501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8073134" y="8609"/>
              <a:ext cx="1125125" cy="778738"/>
            </a:xfrm>
            <a:prstGeom prst="rect">
              <a:avLst/>
            </a:prstGeom>
            <a:noFill/>
          </p:spPr>
          <p:txBody>
            <a:bodyPr wrap="square" rtlCol="0">
              <a:spAutoFit/>
            </a:bodyPr>
            <a:lstStyle/>
            <a:p>
              <a:pPr algn="ctr"/>
              <a:r>
                <a:rPr lang="en-US" altLang="zh-TW" sz="1200" dirty="0">
                  <a:solidFill>
                    <a:schemeClr val="accent5">
                      <a:lumMod val="20000"/>
                      <a:lumOff val="80000"/>
                    </a:schemeClr>
                  </a:solidFill>
                </a:rPr>
                <a:t>Chapter</a:t>
              </a:r>
            </a:p>
            <a:p>
              <a:pPr algn="ctr"/>
              <a:r>
                <a:rPr lang="en-US" altLang="zh-TW" sz="2000" dirty="0">
                  <a:solidFill>
                    <a:schemeClr val="accent5">
                      <a:lumMod val="20000"/>
                      <a:lumOff val="80000"/>
                    </a:schemeClr>
                  </a:solidFill>
                </a:rPr>
                <a:t>14</a:t>
              </a:r>
              <a:endParaRPr lang="zh-TW" altLang="en-US" sz="2000" dirty="0">
                <a:solidFill>
                  <a:schemeClr val="accent5">
                    <a:lumMod val="20000"/>
                    <a:lumOff val="80000"/>
                  </a:schemeClr>
                </a:solidFill>
              </a:endParaRPr>
            </a:p>
          </p:txBody>
        </p:sp>
      </p:grpSp>
      <p:grpSp>
        <p:nvGrpSpPr>
          <p:cNvPr id="26" name="群組 25"/>
          <p:cNvGrpSpPr/>
          <p:nvPr userDrawn="1"/>
        </p:nvGrpSpPr>
        <p:grpSpPr>
          <a:xfrm>
            <a:off x="364973" y="636535"/>
            <a:ext cx="8347487" cy="1080120"/>
            <a:chOff x="364973" y="636535"/>
            <a:chExt cx="8347487" cy="1080120"/>
          </a:xfrm>
        </p:grpSpPr>
        <p:pic>
          <p:nvPicPr>
            <p:cNvPr id="27" name="Picture 14"/>
            <p:cNvPicPr>
              <a:picLocks noChangeAspect="1" noChangeArrowheads="1"/>
            </p:cNvPicPr>
            <p:nvPr userDrawn="1"/>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096036" y="851302"/>
              <a:ext cx="616424" cy="7655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descr="D:\製作中\02再版書\0558909\資訊小耳朵 圖.png"/>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64973" y="636535"/>
              <a:ext cx="3836948" cy="1080120"/>
            </a:xfrm>
            <a:prstGeom prst="rect">
              <a:avLst/>
            </a:prstGeom>
            <a:noFill/>
            <a:extLst>
              <a:ext uri="{909E8E84-426E-40DD-AFC4-6F175D3DCCD1}">
                <a14:hiddenFill xmlns:a14="http://schemas.microsoft.com/office/drawing/2010/main">
                  <a:solidFill>
                    <a:srgbClr val="FFFFFF"/>
                  </a:solidFill>
                </a14:hiddenFill>
              </a:ext>
            </a:extLst>
          </p:spPr>
        </p:pic>
        <p:sp>
          <p:nvSpPr>
            <p:cNvPr id="29" name="文字方塊 28"/>
            <p:cNvSpPr txBox="1"/>
            <p:nvPr userDrawn="1"/>
          </p:nvSpPr>
          <p:spPr>
            <a:xfrm>
              <a:off x="607663" y="1254990"/>
              <a:ext cx="2794207" cy="461665"/>
            </a:xfrm>
            <a:prstGeom prst="rect">
              <a:avLst/>
            </a:prstGeom>
            <a:noFill/>
          </p:spPr>
          <p:txBody>
            <a:bodyPr wrap="square" rtlCol="0">
              <a:spAutoFit/>
            </a:bodyPr>
            <a:lstStyle/>
            <a:p>
              <a:r>
                <a:rPr lang="zh-TW" altLang="en-US" sz="2400" b="1" dirty="0">
                  <a:solidFill>
                    <a:srgbClr val="C00000"/>
                  </a:solidFill>
                  <a:latin typeface="微軟正黑體" pitchFamily="34" charset="-120"/>
                  <a:ea typeface="微軟正黑體" pitchFamily="34" charset="-120"/>
                </a:rPr>
                <a:t>資    訊    專    欄</a:t>
              </a:r>
              <a:endParaRPr lang="en-US" altLang="zh-TW" sz="2400" b="1" dirty="0">
                <a:solidFill>
                  <a:srgbClr val="C00000"/>
                </a:solidFill>
                <a:latin typeface="微軟正黑體" pitchFamily="34" charset="-120"/>
                <a:ea typeface="微軟正黑體" pitchFamily="34" charset="-120"/>
              </a:endParaRPr>
            </a:p>
          </p:txBody>
        </p:sp>
      </p:grpSp>
    </p:spTree>
    <p:extLst>
      <p:ext uri="{BB962C8B-B14F-4D97-AF65-F5344CB8AC3E}">
        <p14:creationId xmlns:p14="http://schemas.microsoft.com/office/powerpoint/2010/main" val="154192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Tree>
    <p:extLst>
      <p:ext uri="{BB962C8B-B14F-4D97-AF65-F5344CB8AC3E}">
        <p14:creationId xmlns:p14="http://schemas.microsoft.com/office/powerpoint/2010/main" val="271875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14432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790587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125242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100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04787"/>
            <a:ext cx="3008313" cy="871538"/>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3248999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212208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5" name="頁尾版面配置區 4"/>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pPr/>
              <a:t>‹#›</a:t>
            </a:fld>
            <a:endParaRPr lang="zh-TW" altLang="en-US"/>
          </a:p>
        </p:txBody>
      </p:sp>
    </p:spTree>
    <p:extLst>
      <p:ext uri="{BB962C8B-B14F-4D97-AF65-F5344CB8AC3E}">
        <p14:creationId xmlns:p14="http://schemas.microsoft.com/office/powerpoint/2010/main" val="1466351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05979"/>
            <a:ext cx="2057400" cy="4388644"/>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05979"/>
            <a:ext cx="6019800" cy="4388644"/>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7528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11" name="群組 10"/>
          <p:cNvGrpSpPr/>
          <p:nvPr userDrawn="1"/>
        </p:nvGrpSpPr>
        <p:grpSpPr>
          <a:xfrm>
            <a:off x="161510" y="4641980"/>
            <a:ext cx="8691420" cy="450050"/>
            <a:chOff x="161510" y="4616387"/>
            <a:chExt cx="8691420" cy="450050"/>
          </a:xfrm>
        </p:grpSpPr>
        <p:sp>
          <p:nvSpPr>
            <p:cNvPr id="12" name="橢圓 11"/>
            <p:cNvSpPr/>
            <p:nvPr userDrawn="1"/>
          </p:nvSpPr>
          <p:spPr>
            <a:xfrm>
              <a:off x="161510" y="4616387"/>
              <a:ext cx="450050" cy="450050"/>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userDrawn="1"/>
          </p:nvSpPr>
          <p:spPr>
            <a:xfrm>
              <a:off x="296525" y="4616387"/>
              <a:ext cx="450050" cy="450050"/>
            </a:xfrm>
            <a:prstGeom prst="ellipse">
              <a:avLst/>
            </a:prstGeom>
            <a:solidFill>
              <a:schemeClr val="accent5">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Picture 2" descr="D:\桌面\logo.png"/>
            <p:cNvPicPr>
              <a:picLocks noChangeAspect="1" noChangeArrowheads="1"/>
            </p:cNvPicPr>
            <p:nvPr userDrawn="1"/>
          </p:nvPicPr>
          <p:blipFill>
            <a:blip r:embed="rId17" cstate="screen">
              <a:extLst>
                <a:ext uri="{28A0092B-C50C-407E-A947-70E740481C1C}">
                  <a14:useLocalDpi xmlns:a14="http://schemas.microsoft.com/office/drawing/2010/main"/>
                </a:ext>
              </a:extLst>
            </a:blip>
            <a:srcRect/>
            <a:stretch>
              <a:fillRect/>
            </a:stretch>
          </p:blipFill>
          <p:spPr bwMode="auto">
            <a:xfrm>
              <a:off x="926595" y="4777015"/>
              <a:ext cx="610257" cy="180000"/>
            </a:xfrm>
            <a:prstGeom prst="rect">
              <a:avLst/>
            </a:prstGeom>
            <a:noFill/>
            <a:extLst>
              <a:ext uri="{909E8E84-426E-40DD-AFC4-6F175D3DCCD1}">
                <a14:hiddenFill xmlns:a14="http://schemas.microsoft.com/office/drawing/2010/main">
                  <a:solidFill>
                    <a:srgbClr val="FFFFFF"/>
                  </a:solidFill>
                </a14:hiddenFill>
              </a:ext>
            </a:extLst>
          </p:spPr>
        </p:pic>
        <p:sp>
          <p:nvSpPr>
            <p:cNvPr id="15" name="動作按鈕: 上一項 14">
              <a:hlinkClick r:id="" action="ppaction://hlinkshowjump?jump=previousslide" highlightClick="1"/>
            </p:cNvPr>
            <p:cNvSpPr/>
            <p:nvPr userDrawn="1"/>
          </p:nvSpPr>
          <p:spPr>
            <a:xfrm>
              <a:off x="7452320" y="4642869"/>
              <a:ext cx="360000" cy="360000"/>
            </a:xfrm>
            <a:prstGeom prst="actionButtonBackPrevious">
              <a:avLst/>
            </a:prstGeom>
            <a:solidFill>
              <a:schemeClr val="accent5">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動作按鈕: 首頁 15">
              <a:hlinkClick r:id="" action="ppaction://hlinkshowjump?jump=firstslide" highlightClick="1"/>
            </p:cNvPr>
            <p:cNvSpPr/>
            <p:nvPr userDrawn="1"/>
          </p:nvSpPr>
          <p:spPr>
            <a:xfrm>
              <a:off x="7992380" y="4642869"/>
              <a:ext cx="360000" cy="360000"/>
            </a:xfrm>
            <a:prstGeom prst="actionButtonHome">
              <a:avLst/>
            </a:prstGeom>
            <a:solidFill>
              <a:schemeClr val="accent5">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動作按鈕: 下一項 16">
              <a:hlinkClick r:id="" action="ppaction://hlinkshowjump?jump=nextslide" highlightClick="1"/>
            </p:cNvPr>
            <p:cNvSpPr/>
            <p:nvPr userDrawn="1"/>
          </p:nvSpPr>
          <p:spPr>
            <a:xfrm>
              <a:off x="8492930" y="4641980"/>
              <a:ext cx="360000" cy="360000"/>
            </a:xfrm>
            <a:prstGeom prst="actionButtonForwardNext">
              <a:avLst/>
            </a:prstGeom>
            <a:solidFill>
              <a:schemeClr val="accent5">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文字方塊 17"/>
          <p:cNvSpPr txBox="1"/>
          <p:nvPr userDrawn="1"/>
        </p:nvSpPr>
        <p:spPr>
          <a:xfrm>
            <a:off x="251521" y="4694752"/>
            <a:ext cx="585065" cy="369332"/>
          </a:xfrm>
          <a:prstGeom prst="rect">
            <a:avLst/>
          </a:prstGeom>
          <a:noFill/>
        </p:spPr>
        <p:txBody>
          <a:bodyPr wrap="square" rtlCol="0">
            <a:spAutoFit/>
          </a:bodyPr>
          <a:lstStyle/>
          <a:p>
            <a:fld id="{8B089E88-AE65-4CA2-BA11-4B6DC14C3389}" type="slidenum">
              <a:rPr lang="zh-TW" altLang="en-US" smtClean="0">
                <a:solidFill>
                  <a:schemeClr val="bg1"/>
                </a:solidFill>
              </a:rPr>
              <a:pPr/>
              <a:t>‹#›</a:t>
            </a:fld>
            <a:endParaRPr lang="zh-TW" altLang="en-US" dirty="0">
              <a:solidFill>
                <a:schemeClr val="bg1"/>
              </a:solidFill>
            </a:endParaRPr>
          </a:p>
        </p:txBody>
      </p:sp>
    </p:spTree>
    <p:extLst>
      <p:ext uri="{BB962C8B-B14F-4D97-AF65-F5344CB8AC3E}">
        <p14:creationId xmlns:p14="http://schemas.microsoft.com/office/powerpoint/2010/main" val="1289035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3" r:id="rId4"/>
    <p:sldLayoutId id="2147483664" r:id="rId5"/>
    <p:sldLayoutId id="2147483662"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hdr="0" ftr="0" dt="0"/>
  <p:txStyles>
    <p:titleStyle>
      <a:lvl1pPr algn="ctr" defTabSz="914400" rtl="0" eaLnBrk="1" latinLnBrk="0" hangingPunct="1">
        <a:spcBef>
          <a:spcPct val="0"/>
        </a:spcBef>
        <a:buNone/>
        <a:defRPr sz="4400" b="1" kern="1200">
          <a:solidFill>
            <a:schemeClr val="tx1"/>
          </a:solidFill>
          <a:latin typeface="微軟正黑體" pitchFamily="34" charset="-120"/>
          <a:ea typeface="微軟正黑體" pitchFamily="34" charset="-120"/>
          <a:cs typeface="+mj-cs"/>
        </a:defRPr>
      </a:lvl1pPr>
    </p:titleStyle>
    <p:bodyStyle>
      <a:lvl1pPr marL="342900" indent="-342900" algn="l" defTabSz="914400" rtl="0" eaLnBrk="1" latinLnBrk="0" hangingPunct="1">
        <a:spcBef>
          <a:spcPct val="20000"/>
        </a:spcBef>
        <a:buFont typeface="Arial" pitchFamily="34" charset="0"/>
        <a:buChar char="•"/>
        <a:defRPr sz="3200" b="1" kern="1200">
          <a:solidFill>
            <a:schemeClr val="tx1"/>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Font typeface="Arial" pitchFamily="34" charset="0"/>
        <a:buChar char="–"/>
        <a:defRPr sz="2800" b="1" kern="1200">
          <a:solidFill>
            <a:schemeClr val="tx1"/>
          </a:solidFill>
          <a:latin typeface="微軟正黑體" pitchFamily="34" charset="-120"/>
          <a:ea typeface="微軟正黑體" pitchFamily="34" charset="-120"/>
          <a:cs typeface="+mn-cs"/>
        </a:defRPr>
      </a:lvl2pPr>
      <a:lvl3pPr marL="1143000" indent="-228600" algn="l" defTabSz="914400" rtl="0" eaLnBrk="1" latinLnBrk="0" hangingPunct="1">
        <a:spcBef>
          <a:spcPct val="20000"/>
        </a:spcBef>
        <a:buFont typeface="Arial" pitchFamily="34" charset="0"/>
        <a:buChar char="•"/>
        <a:defRPr sz="2400" b="1" kern="1200">
          <a:solidFill>
            <a:schemeClr val="tx1"/>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b="1" kern="1200">
          <a:solidFill>
            <a:schemeClr val="tx1"/>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b="1"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slide" Target="slide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3157953" y="1507862"/>
            <a:ext cx="5779532" cy="0"/>
          </a:xfrm>
          <a:prstGeom prst="line">
            <a:avLst/>
          </a:prstGeom>
          <a:ln w="76200">
            <a:solidFill>
              <a:schemeClr val="bg2">
                <a:lumMod val="25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2050" name="Picture 2" descr="D:\製作中\02再版書\0558909\章首頁\note.pn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093204" y="1487350"/>
            <a:ext cx="3790950" cy="3334940"/>
          </a:xfrm>
          <a:prstGeom prst="rect">
            <a:avLst/>
          </a:prstGeom>
          <a:noFill/>
          <a:extLst>
            <a:ext uri="{909E8E84-426E-40DD-AFC4-6F175D3DCCD1}">
              <a14:hiddenFill xmlns:a14="http://schemas.microsoft.com/office/drawing/2010/main">
                <a:solidFill>
                  <a:srgbClr val="FFFFFF"/>
                </a:solidFill>
              </a14:hiddenFill>
            </a:ext>
          </a:extLst>
        </p:spPr>
      </p:pic>
      <p:sp>
        <p:nvSpPr>
          <p:cNvPr id="7" name="標題 6"/>
          <p:cNvSpPr>
            <a:spLocks noGrp="1"/>
          </p:cNvSpPr>
          <p:nvPr>
            <p:ph type="ctrTitle"/>
          </p:nvPr>
        </p:nvSpPr>
        <p:spPr>
          <a:xfrm>
            <a:off x="3157954" y="782801"/>
            <a:ext cx="5476465" cy="704549"/>
          </a:xfrm>
        </p:spPr>
        <p:txBody>
          <a:bodyPr/>
          <a:lstStyle/>
          <a:p>
            <a:r>
              <a:rPr lang="zh-TW" altLang="en-US"/>
              <a:t>人工智慧</a:t>
            </a:r>
            <a:endParaRPr lang="zh-TW" altLang="en-US" dirty="0"/>
          </a:p>
        </p:txBody>
      </p:sp>
      <p:sp>
        <p:nvSpPr>
          <p:cNvPr id="3" name="矩形 2"/>
          <p:cNvSpPr/>
          <p:nvPr/>
        </p:nvSpPr>
        <p:spPr>
          <a:xfrm>
            <a:off x="5374296" y="1792831"/>
            <a:ext cx="3109305" cy="2805768"/>
          </a:xfrm>
          <a:prstGeom prst="rect">
            <a:avLst/>
          </a:prstGeom>
        </p:spPr>
        <p:txBody>
          <a:bodyPr wrap="square">
            <a:spAutoFit/>
          </a:bodyPr>
          <a:lstStyle/>
          <a:p>
            <a:pPr>
              <a:lnSpc>
                <a:spcPct val="150000"/>
              </a:lnSpc>
            </a:pPr>
            <a:r>
              <a:rPr lang="en-US" altLang="zh-TW" sz="2000" b="1" u="sng" dirty="0">
                <a:latin typeface="微軟正黑體" pitchFamily="34" charset="-120"/>
                <a:ea typeface="微軟正黑體" pitchFamily="34" charset="-120"/>
                <a:hlinkClick r:id="rId3" action="ppaction://hlinksldjump"/>
              </a:rPr>
              <a:t>14-1 </a:t>
            </a:r>
            <a:r>
              <a:rPr lang="zh-TW" altLang="en-US" sz="2000" b="1" u="sng" dirty="0">
                <a:latin typeface="微軟正黑體" pitchFamily="34" charset="-120"/>
                <a:ea typeface="微軟正黑體" pitchFamily="34" charset="-120"/>
                <a:hlinkClick r:id="rId3" action="ppaction://hlinksldjump"/>
              </a:rPr>
              <a:t>人工智慧的概念與沿革</a:t>
            </a:r>
            <a:endParaRPr lang="zh-TW" altLang="en-US" sz="2000" b="1" u="sng" dirty="0">
              <a:latin typeface="微軟正黑體" pitchFamily="34" charset="-120"/>
              <a:ea typeface="微軟正黑體" pitchFamily="34" charset="-120"/>
            </a:endParaRPr>
          </a:p>
          <a:p>
            <a:pPr>
              <a:lnSpc>
                <a:spcPct val="150000"/>
              </a:lnSpc>
            </a:pPr>
            <a:r>
              <a:rPr lang="en-US" altLang="zh-TW" sz="2000" b="1" dirty="0">
                <a:latin typeface="微軟正黑體" pitchFamily="34" charset="-120"/>
                <a:ea typeface="微軟正黑體" pitchFamily="34" charset="-120"/>
                <a:hlinkClick r:id="rId4" action="ppaction://hlinksldjump"/>
              </a:rPr>
              <a:t>14-2</a:t>
            </a:r>
            <a:r>
              <a:rPr lang="zh-TW" altLang="en-US" sz="2000" b="1" dirty="0">
                <a:latin typeface="微軟正黑體" pitchFamily="34" charset="-120"/>
                <a:ea typeface="微軟正黑體" pitchFamily="34" charset="-120"/>
                <a:hlinkClick r:id="rId4" action="ppaction://hlinksldjump"/>
              </a:rPr>
              <a:t> 機器學習和深度學習</a:t>
            </a:r>
            <a:endParaRPr lang="en-US" altLang="zh-TW" sz="2000" b="1" dirty="0">
              <a:latin typeface="微軟正黑體" pitchFamily="34" charset="-120"/>
              <a:ea typeface="微軟正黑體" pitchFamily="34" charset="-120"/>
            </a:endParaRPr>
          </a:p>
          <a:p>
            <a:pPr>
              <a:lnSpc>
                <a:spcPct val="150000"/>
              </a:lnSpc>
            </a:pPr>
            <a:r>
              <a:rPr lang="en-US" altLang="zh-TW" sz="2000" b="1" dirty="0">
                <a:latin typeface="微軟正黑體" pitchFamily="34" charset="-120"/>
                <a:ea typeface="微軟正黑體" pitchFamily="34" charset="-120"/>
                <a:hlinkClick r:id="" action="ppaction://noaction"/>
              </a:rPr>
              <a:t>14-3</a:t>
            </a:r>
            <a:r>
              <a:rPr lang="zh-TW" altLang="en-US" sz="2000" b="1" dirty="0">
                <a:latin typeface="微軟正黑體" pitchFamily="34" charset="-120"/>
                <a:ea typeface="微軟正黑體" pitchFamily="34" charset="-120"/>
                <a:hlinkClick r:id="" action="ppaction://noaction"/>
              </a:rPr>
              <a:t> 生成式</a:t>
            </a:r>
            <a:r>
              <a:rPr lang="en-US" altLang="zh-TW" sz="2000" b="1" dirty="0">
                <a:latin typeface="微軟正黑體" pitchFamily="34" charset="-120"/>
                <a:ea typeface="微軟正黑體" pitchFamily="34" charset="-120"/>
                <a:hlinkClick r:id="" action="ppaction://noaction"/>
              </a:rPr>
              <a:t>AI</a:t>
            </a:r>
          </a:p>
          <a:p>
            <a:pPr>
              <a:lnSpc>
                <a:spcPct val="150000"/>
              </a:lnSpc>
            </a:pPr>
            <a:r>
              <a:rPr lang="en-US" altLang="zh-TW" sz="2000" b="1" dirty="0">
                <a:latin typeface="微軟正黑體" pitchFamily="34" charset="-120"/>
                <a:ea typeface="微軟正黑體" pitchFamily="34" charset="-120"/>
                <a:hlinkClick r:id="" action="ppaction://noaction"/>
              </a:rPr>
              <a:t>14-4 </a:t>
            </a:r>
            <a:r>
              <a:rPr lang="zh-TW" altLang="en-US" sz="2000" b="1" dirty="0">
                <a:latin typeface="微軟正黑體" pitchFamily="34" charset="-120"/>
                <a:ea typeface="微軟正黑體" pitchFamily="34" charset="-120"/>
                <a:hlinkClick r:id="" action="ppaction://noaction"/>
              </a:rPr>
              <a:t>大型語言模型</a:t>
            </a:r>
            <a:endParaRPr lang="en-US" altLang="zh-TW" sz="2000" b="1" dirty="0">
              <a:latin typeface="微軟正黑體" pitchFamily="34" charset="-120"/>
              <a:ea typeface="微軟正黑體" pitchFamily="34" charset="-120"/>
              <a:hlinkClick r:id="" action="ppaction://noaction"/>
            </a:endParaRPr>
          </a:p>
          <a:p>
            <a:pPr>
              <a:lnSpc>
                <a:spcPct val="150000"/>
              </a:lnSpc>
            </a:pPr>
            <a:r>
              <a:rPr lang="en-US" altLang="zh-TW" sz="2000" b="1" dirty="0">
                <a:latin typeface="微軟正黑體" pitchFamily="34" charset="-120"/>
                <a:ea typeface="微軟正黑體" pitchFamily="34" charset="-120"/>
                <a:hlinkClick r:id="" action="ppaction://noaction"/>
              </a:rPr>
              <a:t>14-5 </a:t>
            </a:r>
            <a:r>
              <a:rPr lang="zh-TW" altLang="en-US" sz="2000" b="1" dirty="0">
                <a:latin typeface="微軟正黑體" pitchFamily="34" charset="-120"/>
                <a:ea typeface="微軟正黑體" pitchFamily="34" charset="-120"/>
                <a:hlinkClick r:id="" action="ppaction://noaction"/>
              </a:rPr>
              <a:t>電腦視覺及圖像識別</a:t>
            </a:r>
            <a:endParaRPr lang="en-US" altLang="zh-TW" sz="2000" b="1" dirty="0">
              <a:latin typeface="微軟正黑體" pitchFamily="34" charset="-120"/>
              <a:ea typeface="微軟正黑體" pitchFamily="34" charset="-120"/>
            </a:endParaRPr>
          </a:p>
        </p:txBody>
      </p:sp>
      <p:pic>
        <p:nvPicPr>
          <p:cNvPr id="10" name="Picture 4"/>
          <p:cNvPicPr>
            <a:picLocks noChangeAspect="1" noChangeArrowheads="1"/>
          </p:cNvPicPr>
          <p:nvPr/>
        </p:nvPicPr>
        <p:blipFill>
          <a:blip r:embed="rId5" cstate="screen">
            <a:extLst>
              <a:ext uri="{28A0092B-C50C-407E-A947-70E740481C1C}">
                <a14:useLocalDpi xmlns:a14="http://schemas.microsoft.com/office/drawing/2010/main"/>
              </a:ext>
            </a:extLst>
          </a:blip>
          <a:stretch>
            <a:fillRect/>
          </a:stretch>
        </p:blipFill>
        <p:spPr bwMode="auto">
          <a:xfrm>
            <a:off x="1292699" y="1987712"/>
            <a:ext cx="2353509" cy="2353509"/>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2" name="Picture 4"/>
          <p:cNvPicPr>
            <a:picLocks noChangeAspect="1" noChangeArrowheads="1"/>
          </p:cNvPicPr>
          <p:nvPr/>
        </p:nvPicPr>
        <p:blipFill>
          <a:blip r:embed="rId5" cstate="screen">
            <a:extLst>
              <a:ext uri="{28A0092B-C50C-407E-A947-70E740481C1C}">
                <a14:useLocalDpi xmlns:a14="http://schemas.microsoft.com/office/drawing/2010/main"/>
              </a:ext>
            </a:extLst>
          </a:blip>
          <a:stretch>
            <a:fillRect/>
          </a:stretch>
        </p:blipFill>
        <p:spPr bwMode="auto">
          <a:xfrm rot="21401888">
            <a:off x="1300333" y="2182486"/>
            <a:ext cx="2353509" cy="2353509"/>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3" name="Picture 4"/>
          <p:cNvPicPr>
            <a:picLocks noChangeAspect="1" noChangeArrowheads="1"/>
          </p:cNvPicPr>
          <p:nvPr/>
        </p:nvPicPr>
        <p:blipFill>
          <a:blip r:embed="rId5" cstate="screen">
            <a:extLst>
              <a:ext uri="{28A0092B-C50C-407E-A947-70E740481C1C}">
                <a14:useLocalDpi xmlns:a14="http://schemas.microsoft.com/office/drawing/2010/main"/>
              </a:ext>
            </a:extLst>
          </a:blip>
          <a:stretch>
            <a:fillRect/>
          </a:stretch>
        </p:blipFill>
        <p:spPr bwMode="auto">
          <a:xfrm rot="21077218">
            <a:off x="1451316" y="2421396"/>
            <a:ext cx="2353509" cy="2353509"/>
          </a:xfrm>
          <a:prstGeom prst="rect">
            <a:avLst/>
          </a:prstGeom>
          <a:noFill/>
          <a:ln w="57150">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43748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938A70-72AC-2267-9CF9-511C38FF0100}"/>
              </a:ext>
            </a:extLst>
          </p:cNvPr>
          <p:cNvSpPr>
            <a:spLocks noGrp="1"/>
          </p:cNvSpPr>
          <p:nvPr>
            <p:ph type="title"/>
          </p:nvPr>
        </p:nvSpPr>
        <p:spPr/>
        <p:txBody>
          <a:bodyPr/>
          <a:lstStyle/>
          <a:p>
            <a:r>
              <a:rPr lang="en-US" altLang="zh-TW" dirty="0"/>
              <a:t>14-1 </a:t>
            </a:r>
            <a:r>
              <a:rPr lang="zh-TW" altLang="en-US" dirty="0"/>
              <a:t>人工智慧的概念與沿革</a:t>
            </a:r>
          </a:p>
        </p:txBody>
      </p:sp>
      <p:sp>
        <p:nvSpPr>
          <p:cNvPr id="3" name="內容版面配置區 2">
            <a:extLst>
              <a:ext uri="{FF2B5EF4-FFF2-40B4-BE49-F238E27FC236}">
                <a16:creationId xmlns:a16="http://schemas.microsoft.com/office/drawing/2014/main" id="{C37FA816-52C4-FDE6-3493-50FB40538DC4}"/>
              </a:ext>
            </a:extLst>
          </p:cNvPr>
          <p:cNvSpPr>
            <a:spLocks noGrp="1"/>
          </p:cNvSpPr>
          <p:nvPr>
            <p:ph idx="1"/>
          </p:nvPr>
        </p:nvSpPr>
        <p:spPr/>
        <p:txBody>
          <a:bodyPr>
            <a:normAutofit/>
          </a:bodyPr>
          <a:lstStyle/>
          <a:p>
            <a:r>
              <a:rPr lang="zh-TW" altLang="en-US" dirty="0"/>
              <a:t>人工智慧（</a:t>
            </a:r>
            <a:r>
              <a:rPr lang="en-US" altLang="zh-TW" dirty="0"/>
              <a:t>Artificial Intelligence</a:t>
            </a:r>
            <a:r>
              <a:rPr lang="zh-TW" altLang="en-US" dirty="0"/>
              <a:t>；</a:t>
            </a:r>
            <a:r>
              <a:rPr lang="en-US" altLang="zh-TW" dirty="0"/>
              <a:t>AI</a:t>
            </a:r>
            <a:r>
              <a:rPr lang="zh-TW" altLang="en-US" dirty="0"/>
              <a:t>）</a:t>
            </a:r>
            <a:endParaRPr lang="en-US" altLang="zh-TW" dirty="0"/>
          </a:p>
          <a:p>
            <a:pPr lvl="1"/>
            <a:r>
              <a:rPr lang="zh-TW" altLang="en-US" dirty="0"/>
              <a:t>顧名思義，就是「人工」形成的「智慧」。</a:t>
            </a:r>
            <a:endParaRPr lang="en-US" altLang="zh-TW" dirty="0"/>
          </a:p>
          <a:p>
            <a:pPr lvl="1"/>
            <a:r>
              <a:rPr lang="zh-TW" altLang="en-US" dirty="0"/>
              <a:t>人工智慧的研究，是希望使電腦系統也具有人類的知識、學習、推理的能力，以便電腦可以自行判斷，解決不同的問題。</a:t>
            </a:r>
          </a:p>
        </p:txBody>
      </p:sp>
    </p:spTree>
    <p:extLst>
      <p:ext uri="{BB962C8B-B14F-4D97-AF65-F5344CB8AC3E}">
        <p14:creationId xmlns:p14="http://schemas.microsoft.com/office/powerpoint/2010/main" val="1516921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DF1C07-7E36-0CCD-8B66-BC3248E3E213}"/>
              </a:ext>
            </a:extLst>
          </p:cNvPr>
          <p:cNvSpPr>
            <a:spLocks noGrp="1"/>
          </p:cNvSpPr>
          <p:nvPr>
            <p:ph type="title"/>
          </p:nvPr>
        </p:nvSpPr>
        <p:spPr/>
        <p:txBody>
          <a:bodyPr/>
          <a:lstStyle/>
          <a:p>
            <a:r>
              <a:rPr lang="en-US" altLang="zh-TW" dirty="0"/>
              <a:t>14-1 </a:t>
            </a:r>
            <a:r>
              <a:rPr lang="zh-TW" altLang="en-US" dirty="0"/>
              <a:t>人工智慧的概念與沿革</a:t>
            </a:r>
          </a:p>
        </p:txBody>
      </p:sp>
      <p:sp>
        <p:nvSpPr>
          <p:cNvPr id="3" name="內容版面配置區 2">
            <a:extLst>
              <a:ext uri="{FF2B5EF4-FFF2-40B4-BE49-F238E27FC236}">
                <a16:creationId xmlns:a16="http://schemas.microsoft.com/office/drawing/2014/main" id="{984AF39A-B5EE-9C7E-D439-4617E44124F3}"/>
              </a:ext>
            </a:extLst>
          </p:cNvPr>
          <p:cNvSpPr>
            <a:spLocks noGrp="1"/>
          </p:cNvSpPr>
          <p:nvPr>
            <p:ph idx="1"/>
          </p:nvPr>
        </p:nvSpPr>
        <p:spPr/>
        <p:txBody>
          <a:bodyPr>
            <a:normAutofit fontScale="85000" lnSpcReduction="20000"/>
          </a:bodyPr>
          <a:lstStyle/>
          <a:p>
            <a:r>
              <a:rPr lang="zh-TW" altLang="en-US" dirty="0"/>
              <a:t>美國哲學家約翰瑟爾（</a:t>
            </a:r>
            <a:r>
              <a:rPr lang="en-US" altLang="zh-TW" dirty="0"/>
              <a:t>John Searle</a:t>
            </a:r>
            <a:r>
              <a:rPr lang="zh-TW" altLang="en-US" dirty="0"/>
              <a:t>）也於</a:t>
            </a:r>
            <a:r>
              <a:rPr lang="en-US" altLang="zh-TW" dirty="0"/>
              <a:t>1980 </a:t>
            </a:r>
            <a:r>
              <a:rPr lang="zh-TW" altLang="en-US" dirty="0"/>
              <a:t>年提出「弱人工智慧」與「強人工智慧」兩種概念：</a:t>
            </a:r>
            <a:endParaRPr lang="en-US" altLang="zh-TW" dirty="0"/>
          </a:p>
          <a:p>
            <a:pPr lvl="1"/>
            <a:r>
              <a:rPr lang="zh-TW" altLang="en-US" dirty="0">
                <a:solidFill>
                  <a:srgbClr val="C00000"/>
                </a:solidFill>
              </a:rPr>
              <a:t>弱人工智慧</a:t>
            </a:r>
            <a:r>
              <a:rPr lang="zh-TW" altLang="en-US" dirty="0"/>
              <a:t>（</a:t>
            </a:r>
            <a:r>
              <a:rPr lang="en-US" altLang="zh-TW" dirty="0"/>
              <a:t>weak AI</a:t>
            </a:r>
            <a:r>
              <a:rPr lang="zh-TW" altLang="en-US" dirty="0"/>
              <a:t>）： 此概念認為，電腦只是研究心靈的一種強大工具，它雖能夠模擬人類的認知能力，並解決特定問題，但機器本身並不具備真正的理解力或意識。</a:t>
            </a:r>
          </a:p>
          <a:p>
            <a:pPr lvl="1"/>
            <a:r>
              <a:rPr lang="zh-TW" altLang="en-US" dirty="0">
                <a:solidFill>
                  <a:srgbClr val="C00000"/>
                </a:solidFill>
              </a:rPr>
              <a:t>強人工智慧</a:t>
            </a:r>
            <a:r>
              <a:rPr lang="zh-TW" altLang="en-US" dirty="0"/>
              <a:t>（</a:t>
            </a:r>
            <a:r>
              <a:rPr lang="en-US" altLang="zh-TW" dirty="0"/>
              <a:t>strong AI</a:t>
            </a:r>
            <a:r>
              <a:rPr lang="zh-TW" altLang="en-US" dirty="0"/>
              <a:t>）： 此概念認為，一個性能非常強大的電腦，本身就是一個心靈，它不只是模擬，而是能像人類一樣具備真正的理解、意識與思考能力。</a:t>
            </a:r>
          </a:p>
        </p:txBody>
      </p:sp>
    </p:spTree>
    <p:extLst>
      <p:ext uri="{BB962C8B-B14F-4D97-AF65-F5344CB8AC3E}">
        <p14:creationId xmlns:p14="http://schemas.microsoft.com/office/powerpoint/2010/main" val="1341374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D1D0FB-D9DE-D919-98CF-3296066276DA}"/>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75657BED-D243-E36F-9066-BFB0F631AD10}"/>
              </a:ext>
            </a:extLst>
          </p:cNvPr>
          <p:cNvSpPr>
            <a:spLocks noGrp="1"/>
          </p:cNvSpPr>
          <p:nvPr>
            <p:ph idx="1"/>
          </p:nvPr>
        </p:nvSpPr>
        <p:spPr/>
        <p:txBody>
          <a:bodyPr/>
          <a:lstStyle/>
          <a:p>
            <a:r>
              <a:rPr lang="zh-TW" altLang="en-US" dirty="0"/>
              <a:t>啟蒙與誕生（</a:t>
            </a:r>
            <a:r>
              <a:rPr lang="en-US" altLang="zh-TW" dirty="0"/>
              <a:t>1950 – 1960</a:t>
            </a:r>
            <a:r>
              <a:rPr lang="zh-TW" altLang="en-US" dirty="0"/>
              <a:t>年代）</a:t>
            </a:r>
            <a:endParaRPr lang="en-US" altLang="zh-TW" dirty="0"/>
          </a:p>
          <a:p>
            <a:pPr lvl="1"/>
            <a:r>
              <a:rPr lang="zh-TW" altLang="en-US" dirty="0"/>
              <a:t>最早可以追溯到第二次世界大戰的末期。當時為了解決一些軍事和情報上的問題，科學家們開始研究發展具有智慧的機器。</a:t>
            </a:r>
            <a:endParaRPr lang="en-US" altLang="zh-TW" dirty="0"/>
          </a:p>
          <a:p>
            <a:pPr lvl="1"/>
            <a:r>
              <a:rPr lang="zh-TW" altLang="en-US" dirty="0"/>
              <a:t>到了</a:t>
            </a:r>
            <a:r>
              <a:rPr lang="en-US" altLang="zh-TW" dirty="0"/>
              <a:t>1960</a:t>
            </a:r>
            <a:r>
              <a:rPr lang="zh-TW" altLang="en-US" dirty="0"/>
              <a:t>年代，一些重要的理論和技術先後被提出來，才逐漸形成一股研究的熱潮。</a:t>
            </a:r>
          </a:p>
        </p:txBody>
      </p:sp>
    </p:spTree>
    <p:extLst>
      <p:ext uri="{BB962C8B-B14F-4D97-AF65-F5344CB8AC3E}">
        <p14:creationId xmlns:p14="http://schemas.microsoft.com/office/powerpoint/2010/main" val="2663482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49B72-D0D2-077A-02C4-4C879C1FF8A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C3B97B9-B303-5D13-DAD6-22A4521BD9AC}"/>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1C79B314-6BA7-80D6-8C8F-B1053E8D72C8}"/>
              </a:ext>
            </a:extLst>
          </p:cNvPr>
          <p:cNvSpPr>
            <a:spLocks noGrp="1"/>
          </p:cNvSpPr>
          <p:nvPr>
            <p:ph idx="1"/>
          </p:nvPr>
        </p:nvSpPr>
        <p:spPr>
          <a:xfrm>
            <a:off x="457201" y="1525384"/>
            <a:ext cx="5101370" cy="3069239"/>
          </a:xfrm>
        </p:spPr>
        <p:txBody>
          <a:bodyPr>
            <a:normAutofit fontScale="92500"/>
          </a:bodyPr>
          <a:lstStyle/>
          <a:p>
            <a:r>
              <a:rPr lang="zh-TW" altLang="en-US" sz="2600" dirty="0"/>
              <a:t>啟蒙與誕生（</a:t>
            </a:r>
            <a:r>
              <a:rPr lang="en-US" altLang="zh-TW" sz="2600" dirty="0"/>
              <a:t>1950 – 1960</a:t>
            </a:r>
            <a:r>
              <a:rPr lang="zh-TW" altLang="en-US" sz="2600" dirty="0"/>
              <a:t>年代）</a:t>
            </a:r>
            <a:endParaRPr lang="en-US" altLang="zh-TW" sz="2600" dirty="0"/>
          </a:p>
          <a:p>
            <a:pPr lvl="1"/>
            <a:r>
              <a:rPr lang="zh-TW" altLang="en-US" dirty="0"/>
              <a:t>英國學者圖靈曾於</a:t>
            </a:r>
            <a:r>
              <a:rPr lang="en-US" altLang="zh-TW" dirty="0"/>
              <a:t>1950 </a:t>
            </a:r>
            <a:r>
              <a:rPr lang="zh-TW" altLang="en-US" dirty="0"/>
              <a:t>年提出如何決定電腦是否會「思考」的方法。他跳脫哲學層次的說法，以模擬遊戲來進行研究。稱為圖靈試驗（</a:t>
            </a:r>
            <a:r>
              <a:rPr lang="en-US" altLang="zh-TW" dirty="0"/>
              <a:t>Turing test</a:t>
            </a:r>
            <a:r>
              <a:rPr lang="zh-TW" altLang="en-US" dirty="0"/>
              <a:t>） 。</a:t>
            </a:r>
            <a:endParaRPr lang="en-US" altLang="zh-TW" dirty="0"/>
          </a:p>
        </p:txBody>
      </p:sp>
      <p:pic>
        <p:nvPicPr>
          <p:cNvPr id="5" name="圖片 4">
            <a:extLst>
              <a:ext uri="{FF2B5EF4-FFF2-40B4-BE49-F238E27FC236}">
                <a16:creationId xmlns:a16="http://schemas.microsoft.com/office/drawing/2014/main" id="{547BB553-CC8D-0F51-E51C-F0091B0D3462}"/>
              </a:ext>
            </a:extLst>
          </p:cNvPr>
          <p:cNvPicPr>
            <a:picLocks noChangeAspect="1"/>
          </p:cNvPicPr>
          <p:nvPr/>
        </p:nvPicPr>
        <p:blipFill>
          <a:blip r:embed="rId2"/>
          <a:stretch>
            <a:fillRect/>
          </a:stretch>
        </p:blipFill>
        <p:spPr>
          <a:xfrm>
            <a:off x="5558570" y="1266605"/>
            <a:ext cx="3132552" cy="3137962"/>
          </a:xfrm>
          <a:prstGeom prst="rect">
            <a:avLst/>
          </a:prstGeom>
        </p:spPr>
      </p:pic>
    </p:spTree>
    <p:extLst>
      <p:ext uri="{BB962C8B-B14F-4D97-AF65-F5344CB8AC3E}">
        <p14:creationId xmlns:p14="http://schemas.microsoft.com/office/powerpoint/2010/main" val="1118817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56DA0-B375-62E1-2F3D-81EE98F58B9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4B70A55-699D-D250-FFE4-73A34D1F7B62}"/>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158B6744-AD38-31F2-C728-D7BB7AB6054F}"/>
              </a:ext>
            </a:extLst>
          </p:cNvPr>
          <p:cNvSpPr>
            <a:spLocks noGrp="1"/>
          </p:cNvSpPr>
          <p:nvPr>
            <p:ph idx="1"/>
          </p:nvPr>
        </p:nvSpPr>
        <p:spPr/>
        <p:txBody>
          <a:bodyPr>
            <a:normAutofit fontScale="92500" lnSpcReduction="10000"/>
          </a:bodyPr>
          <a:lstStyle/>
          <a:p>
            <a:r>
              <a:rPr lang="zh-TW" altLang="en-US" dirty="0"/>
              <a:t>啟蒙與誕生（</a:t>
            </a:r>
            <a:r>
              <a:rPr lang="en-US" altLang="zh-TW" dirty="0"/>
              <a:t>1950 – 1960</a:t>
            </a:r>
            <a:r>
              <a:rPr lang="zh-TW" altLang="en-US" dirty="0"/>
              <a:t>年代）</a:t>
            </a:r>
            <a:endParaRPr lang="en-US" altLang="zh-TW" dirty="0"/>
          </a:p>
          <a:p>
            <a:pPr lvl="1"/>
            <a:r>
              <a:rPr lang="zh-TW" altLang="en-US" dirty="0"/>
              <a:t>「人工智慧」這個名詞，則是於西元</a:t>
            </a:r>
            <a:r>
              <a:rPr lang="en-US" altLang="zh-TW" dirty="0"/>
              <a:t>1956</a:t>
            </a:r>
            <a:r>
              <a:rPr lang="zh-TW" altLang="en-US" dirty="0"/>
              <a:t>年，由當時任職麻省理工學院的約翰麥卡錫教授在達特茅斯會議（</a:t>
            </a:r>
            <a:r>
              <a:rPr lang="en-US" altLang="zh-TW" dirty="0"/>
              <a:t>Dartmouth workshop</a:t>
            </a:r>
            <a:r>
              <a:rPr lang="zh-TW" altLang="en-US" dirty="0"/>
              <a:t>）正式提出。</a:t>
            </a:r>
            <a:endParaRPr lang="en-US" altLang="zh-TW" dirty="0"/>
          </a:p>
          <a:p>
            <a:pPr lvl="1"/>
            <a:r>
              <a:rPr lang="zh-TW" altLang="en-US" dirty="0"/>
              <a:t>當時的人工智慧技術，主要是討論如何利用文字或符號來進行適用於電腦的知識表示和邏輯推理。</a:t>
            </a:r>
            <a:endParaRPr lang="en-US" altLang="zh-TW" dirty="0"/>
          </a:p>
          <a:p>
            <a:pPr lvl="1"/>
            <a:r>
              <a:rPr lang="zh-TW" altLang="en-US" dirty="0"/>
              <a:t>此時期的重要發展有約翰麥卡錫教授設計的</a:t>
            </a:r>
            <a:r>
              <a:rPr lang="en-US" altLang="zh-TW" dirty="0"/>
              <a:t>LISP</a:t>
            </a:r>
            <a:r>
              <a:rPr lang="zh-TW" altLang="en-US" dirty="0"/>
              <a:t>程式語言。</a:t>
            </a:r>
          </a:p>
        </p:txBody>
      </p:sp>
    </p:spTree>
    <p:extLst>
      <p:ext uri="{BB962C8B-B14F-4D97-AF65-F5344CB8AC3E}">
        <p14:creationId xmlns:p14="http://schemas.microsoft.com/office/powerpoint/2010/main" val="2897923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92B12-2439-9CA8-5F16-70898BE7E61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55E29B9-E324-1DB8-8A0A-4770C0841ADE}"/>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E2808A11-8F97-C9A5-A59B-4F63318C33AC}"/>
              </a:ext>
            </a:extLst>
          </p:cNvPr>
          <p:cNvSpPr>
            <a:spLocks noGrp="1"/>
          </p:cNvSpPr>
          <p:nvPr>
            <p:ph idx="1"/>
          </p:nvPr>
        </p:nvSpPr>
        <p:spPr>
          <a:xfrm>
            <a:off x="457200" y="1525384"/>
            <a:ext cx="8229600" cy="3161601"/>
          </a:xfrm>
        </p:spPr>
        <p:txBody>
          <a:bodyPr>
            <a:normAutofit fontScale="92500" lnSpcReduction="20000"/>
          </a:bodyPr>
          <a:lstStyle/>
          <a:p>
            <a:r>
              <a:rPr lang="zh-TW" altLang="en-US" dirty="0"/>
              <a:t>以手寫規則為主（</a:t>
            </a:r>
            <a:r>
              <a:rPr lang="en-US" altLang="zh-TW" dirty="0"/>
              <a:t>1970 – 1990</a:t>
            </a:r>
            <a:r>
              <a:rPr lang="zh-TW" altLang="en-US" dirty="0"/>
              <a:t>年代）</a:t>
            </a:r>
            <a:endParaRPr lang="en-US" altLang="zh-TW" dirty="0"/>
          </a:p>
          <a:p>
            <a:pPr lvl="1"/>
            <a:r>
              <a:rPr lang="zh-TW" altLang="en-US" dirty="0"/>
              <a:t>在接下來將近</a:t>
            </a:r>
            <a:r>
              <a:rPr lang="en-US" altLang="zh-TW" dirty="0"/>
              <a:t>30</a:t>
            </a:r>
            <a:r>
              <a:rPr lang="zh-TW" altLang="en-US" dirty="0"/>
              <a:t>年內，</a:t>
            </a:r>
            <a:r>
              <a:rPr lang="en-US" altLang="zh-TW" dirty="0"/>
              <a:t>AI</a:t>
            </a:r>
            <a:r>
              <a:rPr lang="zh-TW" altLang="en-US" dirty="0"/>
              <a:t>的主流技術仍然是</a:t>
            </a:r>
            <a:r>
              <a:rPr lang="en-US" altLang="zh-TW" dirty="0"/>
              <a:t>rule-based</a:t>
            </a:r>
            <a:r>
              <a:rPr lang="zh-TW" altLang="en-US" dirty="0"/>
              <a:t>演算法。</a:t>
            </a:r>
            <a:endParaRPr lang="en-US" altLang="zh-TW" dirty="0"/>
          </a:p>
          <a:p>
            <a:pPr lvl="1"/>
            <a:r>
              <a:rPr lang="zh-TW" altLang="en-US" dirty="0"/>
              <a:t>為了便於描述規則和進行推理，</a:t>
            </a:r>
            <a:r>
              <a:rPr lang="en-US" altLang="zh-TW" dirty="0"/>
              <a:t>1972</a:t>
            </a:r>
            <a:r>
              <a:rPr lang="zh-TW" altLang="en-US" dirty="0"/>
              <a:t>年，法國發展出</a:t>
            </a:r>
            <a:r>
              <a:rPr lang="en-US" altLang="zh-TW" dirty="0"/>
              <a:t>PROLOG</a:t>
            </a:r>
            <a:r>
              <a:rPr lang="zh-TW" altLang="en-US" dirty="0"/>
              <a:t>程式語言。</a:t>
            </a:r>
            <a:endParaRPr lang="en-US" altLang="zh-TW" dirty="0"/>
          </a:p>
          <a:p>
            <a:pPr lvl="1"/>
            <a:r>
              <a:rPr lang="zh-TW" altLang="en-US" dirty="0"/>
              <a:t>所謂的「專家系統」（</a:t>
            </a:r>
            <a:r>
              <a:rPr lang="en-US" altLang="zh-TW" dirty="0"/>
              <a:t>expert system</a:t>
            </a:r>
            <a:r>
              <a:rPr lang="zh-TW" altLang="en-US" dirty="0"/>
              <a:t>），嘗試將人類專家的知識編寫成規則讓電腦執行，也在某些領域上有所應用。</a:t>
            </a:r>
            <a:endParaRPr lang="en-US" altLang="zh-TW" dirty="0"/>
          </a:p>
        </p:txBody>
      </p:sp>
    </p:spTree>
    <p:extLst>
      <p:ext uri="{BB962C8B-B14F-4D97-AF65-F5344CB8AC3E}">
        <p14:creationId xmlns:p14="http://schemas.microsoft.com/office/powerpoint/2010/main" val="1478269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CAB48-9960-DF6A-92C5-1119B7E5498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85A70E7-58D7-80AB-18A9-3BE29BB43D0C}"/>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FAF44987-6C7B-F3A5-2BD0-D03FCD4BF678}"/>
              </a:ext>
            </a:extLst>
          </p:cNvPr>
          <p:cNvSpPr>
            <a:spLocks noGrp="1"/>
          </p:cNvSpPr>
          <p:nvPr>
            <p:ph idx="1"/>
          </p:nvPr>
        </p:nvSpPr>
        <p:spPr>
          <a:xfrm>
            <a:off x="457200" y="1525385"/>
            <a:ext cx="8229600" cy="3026586"/>
          </a:xfrm>
        </p:spPr>
        <p:txBody>
          <a:bodyPr>
            <a:normAutofit/>
          </a:bodyPr>
          <a:lstStyle/>
          <a:p>
            <a:r>
              <a:rPr lang="zh-TW" altLang="en-US" dirty="0"/>
              <a:t>以手寫規則為主（</a:t>
            </a:r>
            <a:r>
              <a:rPr lang="en-US" altLang="zh-TW" dirty="0"/>
              <a:t>1970 – 1990</a:t>
            </a:r>
            <a:r>
              <a:rPr lang="zh-TW" altLang="en-US" dirty="0"/>
              <a:t>年代）</a:t>
            </a:r>
            <a:endParaRPr lang="en-US" altLang="zh-TW" dirty="0"/>
          </a:p>
          <a:p>
            <a:pPr lvl="1"/>
            <a:r>
              <a:rPr lang="en-US" altLang="zh-TW" dirty="0"/>
              <a:t>rule-based</a:t>
            </a:r>
            <a:r>
              <a:rPr lang="zh-TW" altLang="en-US" dirty="0"/>
              <a:t>演算法有以下兩個問題：</a:t>
            </a:r>
          </a:p>
          <a:p>
            <a:pPr lvl="2"/>
            <a:r>
              <a:rPr lang="zh-TW" altLang="en-US" dirty="0"/>
              <a:t>系統仰賴事先寫好的規則，缺乏彈性和應變能力。</a:t>
            </a:r>
          </a:p>
          <a:p>
            <a:pPr lvl="2"/>
            <a:r>
              <a:rPr lang="zh-TW" altLang="en-US" dirty="0"/>
              <a:t>大系統需要大量的規則，處理和推論往往超過電腦的運算能力，導致此類系統無法解決複雜的現實問題。</a:t>
            </a:r>
            <a:endParaRPr lang="en-US" altLang="zh-TW" dirty="0"/>
          </a:p>
        </p:txBody>
      </p:sp>
    </p:spTree>
    <p:extLst>
      <p:ext uri="{BB962C8B-B14F-4D97-AF65-F5344CB8AC3E}">
        <p14:creationId xmlns:p14="http://schemas.microsoft.com/office/powerpoint/2010/main" val="25471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79ED9-BC88-0AA4-23EA-5C0DE650C58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6963421-A764-ABF3-AF4E-49DE94A0507D}"/>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82FDA76A-4F4D-521E-EA9D-F117F7B3763D}"/>
              </a:ext>
            </a:extLst>
          </p:cNvPr>
          <p:cNvSpPr>
            <a:spLocks noGrp="1"/>
          </p:cNvSpPr>
          <p:nvPr>
            <p:ph idx="1"/>
          </p:nvPr>
        </p:nvSpPr>
        <p:spPr>
          <a:xfrm>
            <a:off x="457200" y="1525385"/>
            <a:ext cx="8229600" cy="3026586"/>
          </a:xfrm>
        </p:spPr>
        <p:txBody>
          <a:bodyPr>
            <a:normAutofit/>
          </a:bodyPr>
          <a:lstStyle/>
          <a:p>
            <a:r>
              <a:rPr lang="zh-TW" altLang="en-US" dirty="0"/>
              <a:t>機器學習與深度學習大爆發（</a:t>
            </a:r>
            <a:r>
              <a:rPr lang="en-US" altLang="zh-TW" dirty="0"/>
              <a:t>2000 – 2020</a:t>
            </a:r>
            <a:r>
              <a:rPr lang="zh-TW" altLang="en-US" dirty="0"/>
              <a:t>年代）</a:t>
            </a:r>
            <a:endParaRPr lang="en-US" altLang="zh-TW" dirty="0"/>
          </a:p>
          <a:p>
            <a:pPr lvl="1"/>
            <a:r>
              <a:rPr lang="zh-TW" altLang="en-US" dirty="0"/>
              <a:t>機器學習（</a:t>
            </a:r>
            <a:r>
              <a:rPr lang="en-US" altLang="zh-TW" dirty="0"/>
              <a:t>machine learning</a:t>
            </a:r>
            <a:r>
              <a:rPr lang="zh-TW" altLang="en-US" dirty="0"/>
              <a:t>）的概念，其實也很早就被提出來。</a:t>
            </a:r>
            <a:endParaRPr lang="en-US" altLang="zh-TW" dirty="0"/>
          </a:p>
          <a:p>
            <a:pPr lvl="1"/>
            <a:r>
              <a:rPr lang="zh-TW" altLang="en-US" dirty="0"/>
              <a:t>在</a:t>
            </a:r>
            <a:r>
              <a:rPr lang="en-US" altLang="zh-TW" dirty="0"/>
              <a:t>1990</a:t>
            </a:r>
            <a:r>
              <a:rPr lang="zh-TW" altLang="en-US" dirty="0"/>
              <a:t>年代改為</a:t>
            </a:r>
            <a:r>
              <a:rPr lang="zh-TW" altLang="en-US" dirty="0">
                <a:solidFill>
                  <a:srgbClr val="C00000"/>
                </a:solidFill>
              </a:rPr>
              <a:t>以資料驅動</a:t>
            </a:r>
            <a:r>
              <a:rPr lang="zh-TW" altLang="en-US" dirty="0"/>
              <a:t>（</a:t>
            </a:r>
            <a:r>
              <a:rPr lang="en-US" altLang="zh-TW" dirty="0"/>
              <a:t>data-driven</a:t>
            </a:r>
            <a:r>
              <a:rPr lang="zh-TW" altLang="en-US" dirty="0"/>
              <a:t>）的統計學作法之後，開始有不錯的進展。</a:t>
            </a:r>
          </a:p>
        </p:txBody>
      </p:sp>
    </p:spTree>
    <p:extLst>
      <p:ext uri="{BB962C8B-B14F-4D97-AF65-F5344CB8AC3E}">
        <p14:creationId xmlns:p14="http://schemas.microsoft.com/office/powerpoint/2010/main" val="1718169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7984E-155B-E909-D2C4-6C499F063FD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4E0B60E-0C65-DCA1-CFC7-5AACA256A25F}"/>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2140FACF-E6E5-DF64-5905-091274EFC9B4}"/>
              </a:ext>
            </a:extLst>
          </p:cNvPr>
          <p:cNvSpPr>
            <a:spLocks noGrp="1"/>
          </p:cNvSpPr>
          <p:nvPr>
            <p:ph idx="1"/>
          </p:nvPr>
        </p:nvSpPr>
        <p:spPr>
          <a:xfrm>
            <a:off x="457200" y="1525385"/>
            <a:ext cx="8229600" cy="3026586"/>
          </a:xfrm>
        </p:spPr>
        <p:txBody>
          <a:bodyPr>
            <a:normAutofit/>
          </a:bodyPr>
          <a:lstStyle/>
          <a:p>
            <a:r>
              <a:rPr lang="zh-TW" altLang="en-US" dirty="0"/>
              <a:t>機器學習與深度學習大爆發（</a:t>
            </a:r>
            <a:r>
              <a:rPr lang="en-US" altLang="zh-TW" dirty="0"/>
              <a:t>2000 – 2020</a:t>
            </a:r>
            <a:r>
              <a:rPr lang="zh-TW" altLang="en-US" dirty="0"/>
              <a:t>年代）</a:t>
            </a:r>
            <a:endParaRPr lang="en-US" altLang="zh-TW" dirty="0"/>
          </a:p>
          <a:p>
            <a:pPr lvl="1"/>
            <a:r>
              <a:rPr lang="en-US" altLang="zh-TW" dirty="0"/>
              <a:t>21</a:t>
            </a:r>
            <a:r>
              <a:rPr lang="zh-TW" altLang="en-US" dirty="0"/>
              <a:t>世紀受益於硬體的進步，特別是</a:t>
            </a:r>
            <a:r>
              <a:rPr lang="zh-TW" altLang="en-US" dirty="0">
                <a:solidFill>
                  <a:srgbClr val="C00000"/>
                </a:solidFill>
              </a:rPr>
              <a:t>圖形處理單元</a:t>
            </a:r>
            <a:r>
              <a:rPr lang="zh-TW" altLang="en-US" dirty="0"/>
              <a:t>（</a:t>
            </a:r>
            <a:r>
              <a:rPr lang="en-US" altLang="zh-TW" dirty="0"/>
              <a:t>Graphics Processing Unit</a:t>
            </a:r>
            <a:r>
              <a:rPr lang="zh-TW" altLang="en-US" dirty="0"/>
              <a:t>；</a:t>
            </a:r>
            <a:r>
              <a:rPr lang="en-US" altLang="zh-TW" dirty="0"/>
              <a:t>GPU</a:t>
            </a:r>
            <a:r>
              <a:rPr lang="zh-TW" altLang="en-US" dirty="0"/>
              <a:t>）強大的平行處理能力，以及</a:t>
            </a:r>
            <a:r>
              <a:rPr lang="zh-TW" altLang="en-US" dirty="0">
                <a:solidFill>
                  <a:srgbClr val="C00000"/>
                </a:solidFill>
              </a:rPr>
              <a:t>大數據</a:t>
            </a:r>
            <a:r>
              <a:rPr lang="zh-TW" altLang="en-US" dirty="0"/>
              <a:t>的存在，基於機器學習的深度學習技術突飛猛進。</a:t>
            </a:r>
          </a:p>
        </p:txBody>
      </p:sp>
    </p:spTree>
    <p:extLst>
      <p:ext uri="{BB962C8B-B14F-4D97-AF65-F5344CB8AC3E}">
        <p14:creationId xmlns:p14="http://schemas.microsoft.com/office/powerpoint/2010/main" val="3581914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E4436-06C4-239B-0D77-5B04B42CF6B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0AEDF0C-1A65-BF6B-77C6-01E2B123AF38}"/>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99061A5C-5A43-E9FD-FF31-072D0E274EB2}"/>
              </a:ext>
            </a:extLst>
          </p:cNvPr>
          <p:cNvSpPr>
            <a:spLocks noGrp="1"/>
          </p:cNvSpPr>
          <p:nvPr>
            <p:ph idx="1"/>
          </p:nvPr>
        </p:nvSpPr>
        <p:spPr>
          <a:xfrm>
            <a:off x="457200" y="1525385"/>
            <a:ext cx="8229600" cy="3026586"/>
          </a:xfrm>
        </p:spPr>
        <p:txBody>
          <a:bodyPr>
            <a:normAutofit/>
          </a:bodyPr>
          <a:lstStyle/>
          <a:p>
            <a:r>
              <a:rPr lang="zh-TW" altLang="en-US" dirty="0"/>
              <a:t>機器學習與深度學習大爆發（</a:t>
            </a:r>
            <a:r>
              <a:rPr lang="en-US" altLang="zh-TW" dirty="0"/>
              <a:t>2000 – 2020</a:t>
            </a:r>
            <a:r>
              <a:rPr lang="zh-TW" altLang="en-US" dirty="0"/>
              <a:t>年代）</a:t>
            </a:r>
            <a:endParaRPr lang="en-US" altLang="zh-TW" dirty="0"/>
          </a:p>
          <a:p>
            <a:pPr lvl="1"/>
            <a:r>
              <a:rPr lang="zh-TW" altLang="en-US" dirty="0"/>
              <a:t>一般認為，深度學習模型</a:t>
            </a:r>
            <a:r>
              <a:rPr lang="en-US" altLang="zh-TW" dirty="0" err="1"/>
              <a:t>AlexNet</a:t>
            </a:r>
            <a:r>
              <a:rPr lang="zh-TW" altLang="en-US" dirty="0"/>
              <a:t>於</a:t>
            </a:r>
            <a:r>
              <a:rPr lang="en-US" altLang="zh-TW" dirty="0"/>
              <a:t>2012</a:t>
            </a:r>
            <a:r>
              <a:rPr lang="zh-TW" altLang="en-US" dirty="0"/>
              <a:t>年在影像識別大賽中奪冠，正式開啟</a:t>
            </a:r>
            <a:r>
              <a:rPr lang="zh-TW" altLang="en-US" dirty="0">
                <a:solidFill>
                  <a:srgbClr val="C00000"/>
                </a:solidFill>
              </a:rPr>
              <a:t>深度學習</a:t>
            </a:r>
            <a:r>
              <a:rPr lang="zh-TW" altLang="en-US" dirty="0"/>
              <a:t>（</a:t>
            </a:r>
            <a:r>
              <a:rPr lang="en-US" altLang="zh-TW" dirty="0"/>
              <a:t>deep learning</a:t>
            </a:r>
            <a:r>
              <a:rPr lang="zh-TW" altLang="en-US" dirty="0"/>
              <a:t>）時代，而</a:t>
            </a:r>
            <a:r>
              <a:rPr lang="en-US" altLang="zh-TW" dirty="0"/>
              <a:t>AI</a:t>
            </a:r>
            <a:r>
              <a:rPr lang="zh-TW" altLang="en-US" dirty="0"/>
              <a:t>的技術主流，也自此從「手寫規則」轉向「機器學習」。</a:t>
            </a:r>
          </a:p>
        </p:txBody>
      </p:sp>
    </p:spTree>
    <p:extLst>
      <p:ext uri="{BB962C8B-B14F-4D97-AF65-F5344CB8AC3E}">
        <p14:creationId xmlns:p14="http://schemas.microsoft.com/office/powerpoint/2010/main" val="19409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483D0-0D0C-01B7-1259-23A22336676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CC507B8-A283-B5EC-2BE1-55AA5494EEC8}"/>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DB6CB792-15FA-9E5E-56E9-C1BBF2A8DEF2}"/>
              </a:ext>
            </a:extLst>
          </p:cNvPr>
          <p:cNvSpPr>
            <a:spLocks noGrp="1"/>
          </p:cNvSpPr>
          <p:nvPr>
            <p:ph idx="1"/>
          </p:nvPr>
        </p:nvSpPr>
        <p:spPr>
          <a:xfrm>
            <a:off x="457200" y="1525385"/>
            <a:ext cx="8229600" cy="3026586"/>
          </a:xfrm>
        </p:spPr>
        <p:txBody>
          <a:bodyPr>
            <a:normAutofit/>
          </a:bodyPr>
          <a:lstStyle/>
          <a:p>
            <a:r>
              <a:rPr lang="zh-TW" altLang="en-US" dirty="0"/>
              <a:t>機器學習與深度學習大爆發（</a:t>
            </a:r>
            <a:r>
              <a:rPr lang="en-US" altLang="zh-TW" dirty="0"/>
              <a:t>2000 – 2020</a:t>
            </a:r>
            <a:r>
              <a:rPr lang="zh-TW" altLang="en-US" dirty="0"/>
              <a:t>年代）</a:t>
            </a:r>
            <a:endParaRPr lang="en-US" altLang="zh-TW" dirty="0"/>
          </a:p>
          <a:p>
            <a:pPr lvl="1"/>
            <a:r>
              <a:rPr lang="zh-TW" altLang="en-US" dirty="0"/>
              <a:t>撰寫機器學習程式，經常被使用的程式語言，包含</a:t>
            </a:r>
            <a:r>
              <a:rPr lang="en-US" altLang="zh-TW" dirty="0"/>
              <a:t>Python</a:t>
            </a:r>
            <a:r>
              <a:rPr lang="zh-TW" altLang="en-US" dirty="0"/>
              <a:t>、</a:t>
            </a:r>
            <a:r>
              <a:rPr lang="en-US" altLang="zh-TW" dirty="0"/>
              <a:t>R</a:t>
            </a:r>
            <a:r>
              <a:rPr lang="zh-TW" altLang="en-US" dirty="0"/>
              <a:t>等。</a:t>
            </a:r>
            <a:endParaRPr lang="en-US" altLang="zh-TW" dirty="0"/>
          </a:p>
          <a:p>
            <a:pPr lvl="2"/>
            <a:r>
              <a:rPr lang="zh-TW" altLang="en-US" dirty="0"/>
              <a:t>利用</a:t>
            </a:r>
            <a:r>
              <a:rPr lang="en-US" altLang="zh-TW" dirty="0"/>
              <a:t>Python</a:t>
            </a:r>
            <a:r>
              <a:rPr lang="zh-TW" altLang="en-US" dirty="0"/>
              <a:t>語言配合</a:t>
            </a:r>
            <a:r>
              <a:rPr lang="en-US" altLang="zh-TW" dirty="0"/>
              <a:t>Google</a:t>
            </a:r>
            <a:r>
              <a:rPr lang="zh-TW" altLang="en-US" dirty="0"/>
              <a:t>公司開發的</a:t>
            </a:r>
            <a:r>
              <a:rPr lang="en-US" altLang="zh-TW" dirty="0"/>
              <a:t>TensorFlow</a:t>
            </a:r>
            <a:r>
              <a:rPr lang="zh-TW" altLang="en-US" dirty="0"/>
              <a:t>軟體庫，或者使用</a:t>
            </a:r>
            <a:r>
              <a:rPr lang="en-US" altLang="zh-TW" dirty="0" err="1"/>
              <a:t>PyTorch</a:t>
            </a:r>
            <a:r>
              <a:rPr lang="zh-TW" altLang="en-US" dirty="0"/>
              <a:t>等框架，也受到許多程式開發者擁護。</a:t>
            </a:r>
          </a:p>
        </p:txBody>
      </p:sp>
    </p:spTree>
    <p:extLst>
      <p:ext uri="{BB962C8B-B14F-4D97-AF65-F5344CB8AC3E}">
        <p14:creationId xmlns:p14="http://schemas.microsoft.com/office/powerpoint/2010/main" val="2952984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4D868-1514-4CC1-5710-8AEEA6768B5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AB9E776-4A9F-47DF-B7D5-E01DDB6DB2B1}"/>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149CDE89-0A8E-BD52-A59D-69FC5B986DA8}"/>
              </a:ext>
            </a:extLst>
          </p:cNvPr>
          <p:cNvSpPr>
            <a:spLocks noGrp="1"/>
          </p:cNvSpPr>
          <p:nvPr>
            <p:ph idx="1"/>
          </p:nvPr>
        </p:nvSpPr>
        <p:spPr>
          <a:xfrm>
            <a:off x="457200" y="1525385"/>
            <a:ext cx="8229600" cy="3026586"/>
          </a:xfrm>
        </p:spPr>
        <p:txBody>
          <a:bodyPr>
            <a:normAutofit/>
          </a:bodyPr>
          <a:lstStyle/>
          <a:p>
            <a:r>
              <a:rPr lang="zh-TW" altLang="en-US" dirty="0"/>
              <a:t>生成式</a:t>
            </a:r>
            <a:r>
              <a:rPr lang="en-US" altLang="zh-TW" dirty="0"/>
              <a:t>AI</a:t>
            </a:r>
            <a:r>
              <a:rPr lang="zh-TW" altLang="en-US" dirty="0"/>
              <a:t>與實體</a:t>
            </a:r>
            <a:r>
              <a:rPr lang="en-US" altLang="zh-TW" dirty="0"/>
              <a:t>AI</a:t>
            </a:r>
            <a:r>
              <a:rPr lang="zh-TW" altLang="en-US" dirty="0"/>
              <a:t>時代（</a:t>
            </a:r>
            <a:r>
              <a:rPr lang="en-US" altLang="zh-TW" dirty="0"/>
              <a:t>2021</a:t>
            </a:r>
            <a:r>
              <a:rPr lang="zh-TW" altLang="en-US" dirty="0"/>
              <a:t>年至今）</a:t>
            </a:r>
            <a:endParaRPr lang="en-US" altLang="zh-TW" dirty="0"/>
          </a:p>
          <a:p>
            <a:pPr lvl="1"/>
            <a:r>
              <a:rPr lang="zh-TW" altLang="en-US" dirty="0"/>
              <a:t>自從以</a:t>
            </a:r>
            <a:r>
              <a:rPr lang="en-US" altLang="zh-TW" dirty="0"/>
              <a:t>ChatGPT</a:t>
            </a:r>
            <a:r>
              <a:rPr lang="zh-TW" altLang="en-US" dirty="0"/>
              <a:t>為代表的</a:t>
            </a:r>
            <a:r>
              <a:rPr lang="zh-TW" altLang="en-US" dirty="0">
                <a:solidFill>
                  <a:srgbClr val="C00000"/>
                </a:solidFill>
              </a:rPr>
              <a:t>大型語言模型</a:t>
            </a:r>
            <a:r>
              <a:rPr lang="zh-TW" altLang="en-US" dirty="0"/>
              <a:t>（</a:t>
            </a:r>
            <a:r>
              <a:rPr lang="en-US" altLang="zh-TW" dirty="0"/>
              <a:t>Large Language Model</a:t>
            </a:r>
            <a:r>
              <a:rPr lang="zh-TW" altLang="en-US" dirty="0"/>
              <a:t>；</a:t>
            </a:r>
            <a:r>
              <a:rPr lang="en-US" altLang="zh-TW" dirty="0"/>
              <a:t>LLM</a:t>
            </a:r>
            <a:r>
              <a:rPr lang="zh-TW" altLang="en-US" dirty="0"/>
              <a:t>）開始普及以來，人們開始使用</a:t>
            </a:r>
            <a:r>
              <a:rPr lang="en-US" altLang="zh-TW" dirty="0"/>
              <a:t>AI</a:t>
            </a:r>
            <a:r>
              <a:rPr lang="zh-TW" altLang="en-US" dirty="0"/>
              <a:t>模型生成各式各樣的文字內容、圖片、影片等。</a:t>
            </a:r>
            <a:endParaRPr lang="en-US" altLang="zh-TW" dirty="0"/>
          </a:p>
          <a:p>
            <a:pPr lvl="1"/>
            <a:endParaRPr lang="zh-TW" altLang="en-US" dirty="0"/>
          </a:p>
        </p:txBody>
      </p:sp>
    </p:spTree>
    <p:extLst>
      <p:ext uri="{BB962C8B-B14F-4D97-AF65-F5344CB8AC3E}">
        <p14:creationId xmlns:p14="http://schemas.microsoft.com/office/powerpoint/2010/main" val="4080681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FF8A6-8FE2-F470-739F-DC277EA156D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A1EE9C4-FB72-CCFB-9EA1-D8AC0096BBF5}"/>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B15289AE-D95D-28DC-573F-A3566D632D02}"/>
              </a:ext>
            </a:extLst>
          </p:cNvPr>
          <p:cNvSpPr>
            <a:spLocks noGrp="1"/>
          </p:cNvSpPr>
          <p:nvPr>
            <p:ph idx="1"/>
          </p:nvPr>
        </p:nvSpPr>
        <p:spPr>
          <a:xfrm>
            <a:off x="457200" y="1525385"/>
            <a:ext cx="8229600" cy="3026586"/>
          </a:xfrm>
        </p:spPr>
        <p:txBody>
          <a:bodyPr>
            <a:normAutofit lnSpcReduction="10000"/>
          </a:bodyPr>
          <a:lstStyle/>
          <a:p>
            <a:r>
              <a:rPr lang="zh-TW" altLang="en-US" dirty="0"/>
              <a:t>生成式</a:t>
            </a:r>
            <a:r>
              <a:rPr lang="en-US" altLang="zh-TW" dirty="0"/>
              <a:t>AI</a:t>
            </a:r>
            <a:r>
              <a:rPr lang="zh-TW" altLang="en-US" dirty="0"/>
              <a:t>與實體</a:t>
            </a:r>
            <a:r>
              <a:rPr lang="en-US" altLang="zh-TW" dirty="0"/>
              <a:t>AI</a:t>
            </a:r>
            <a:r>
              <a:rPr lang="zh-TW" altLang="en-US" dirty="0"/>
              <a:t>時代（</a:t>
            </a:r>
            <a:r>
              <a:rPr lang="en-US" altLang="zh-TW" dirty="0"/>
              <a:t>2021</a:t>
            </a:r>
            <a:r>
              <a:rPr lang="zh-TW" altLang="en-US" dirty="0"/>
              <a:t>年至今）</a:t>
            </a:r>
            <a:endParaRPr lang="en-US" altLang="zh-TW" dirty="0"/>
          </a:p>
          <a:p>
            <a:pPr lvl="1"/>
            <a:r>
              <a:rPr lang="zh-TW" altLang="en-US" dirty="0"/>
              <a:t>除了</a:t>
            </a:r>
            <a:r>
              <a:rPr lang="en-US" altLang="zh-TW" dirty="0"/>
              <a:t>LLM</a:t>
            </a:r>
            <a:r>
              <a:rPr lang="zh-TW" altLang="en-US" dirty="0"/>
              <a:t>技術，目前</a:t>
            </a:r>
            <a:r>
              <a:rPr lang="en-US" altLang="zh-TW" dirty="0">
                <a:solidFill>
                  <a:srgbClr val="C00000"/>
                </a:solidFill>
              </a:rPr>
              <a:t>Physical AI</a:t>
            </a:r>
            <a:r>
              <a:rPr lang="zh-TW" altLang="en-US" dirty="0"/>
              <a:t>（物理人工智慧，亦稱「實體</a:t>
            </a:r>
            <a:r>
              <a:rPr lang="en-US" altLang="zh-TW" dirty="0"/>
              <a:t>AI</a:t>
            </a:r>
            <a:r>
              <a:rPr lang="zh-TW" altLang="en-US" dirty="0"/>
              <a:t>」）也是世界各國的發展重點。</a:t>
            </a:r>
            <a:endParaRPr lang="en-US" altLang="zh-TW" dirty="0"/>
          </a:p>
          <a:p>
            <a:pPr lvl="2"/>
            <a:r>
              <a:rPr lang="zh-TW" altLang="en-US" dirty="0"/>
              <a:t>傳統</a:t>
            </a:r>
            <a:r>
              <a:rPr lang="en-US" altLang="zh-TW" dirty="0"/>
              <a:t>AI</a:t>
            </a:r>
            <a:r>
              <a:rPr lang="zh-TW" altLang="en-US" dirty="0"/>
              <a:t>主要在數位環境中處理文字與影像。</a:t>
            </a:r>
            <a:endParaRPr lang="en-US" altLang="zh-TW" dirty="0"/>
          </a:p>
          <a:p>
            <a:pPr lvl="2"/>
            <a:r>
              <a:rPr lang="zh-TW" altLang="en-US" dirty="0"/>
              <a:t>實體</a:t>
            </a:r>
            <a:r>
              <a:rPr lang="en-US" altLang="zh-TW" dirty="0"/>
              <a:t>AI</a:t>
            </a:r>
            <a:r>
              <a:rPr lang="zh-TW" altLang="en-US" dirty="0"/>
              <a:t>核心目標是讓機器具備身體，從螢幕走進現實，所以它也被定義為能理解物理定律、感知現實世界並與之進行互動的模型體系。</a:t>
            </a:r>
          </a:p>
        </p:txBody>
      </p:sp>
    </p:spTree>
    <p:extLst>
      <p:ext uri="{BB962C8B-B14F-4D97-AF65-F5344CB8AC3E}">
        <p14:creationId xmlns:p14="http://schemas.microsoft.com/office/powerpoint/2010/main" val="998208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E4CBD-7DFD-8901-0072-E96F502913A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EAE0A8D-DEE3-6B26-5506-65215B3CC070}"/>
              </a:ext>
            </a:extLst>
          </p:cNvPr>
          <p:cNvSpPr>
            <a:spLocks noGrp="1"/>
          </p:cNvSpPr>
          <p:nvPr>
            <p:ph type="title"/>
          </p:nvPr>
        </p:nvSpPr>
        <p:spPr/>
        <p:txBody>
          <a:bodyPr/>
          <a:lstStyle/>
          <a:p>
            <a:r>
              <a:rPr lang="zh-TW" altLang="en-US" dirty="0"/>
              <a:t>人工智慧的發展</a:t>
            </a:r>
          </a:p>
        </p:txBody>
      </p:sp>
      <p:sp>
        <p:nvSpPr>
          <p:cNvPr id="3" name="內容版面配置區 2">
            <a:extLst>
              <a:ext uri="{FF2B5EF4-FFF2-40B4-BE49-F238E27FC236}">
                <a16:creationId xmlns:a16="http://schemas.microsoft.com/office/drawing/2014/main" id="{8EBFECD8-9F14-832A-EFA6-D5E4D2B07CAF}"/>
              </a:ext>
            </a:extLst>
          </p:cNvPr>
          <p:cNvSpPr>
            <a:spLocks noGrp="1"/>
          </p:cNvSpPr>
          <p:nvPr>
            <p:ph idx="1"/>
          </p:nvPr>
        </p:nvSpPr>
        <p:spPr>
          <a:xfrm>
            <a:off x="457200" y="1525385"/>
            <a:ext cx="8229600" cy="3026586"/>
          </a:xfrm>
        </p:spPr>
        <p:txBody>
          <a:bodyPr>
            <a:normAutofit fontScale="92500" lnSpcReduction="20000"/>
          </a:bodyPr>
          <a:lstStyle/>
          <a:p>
            <a:r>
              <a:rPr lang="zh-TW" altLang="en-US" dirty="0"/>
              <a:t>生成式</a:t>
            </a:r>
            <a:r>
              <a:rPr lang="en-US" altLang="zh-TW" dirty="0"/>
              <a:t>AI</a:t>
            </a:r>
            <a:r>
              <a:rPr lang="zh-TW" altLang="en-US" dirty="0"/>
              <a:t>與實體</a:t>
            </a:r>
            <a:r>
              <a:rPr lang="en-US" altLang="zh-TW" dirty="0"/>
              <a:t>AI</a:t>
            </a:r>
            <a:r>
              <a:rPr lang="zh-TW" altLang="en-US" dirty="0"/>
              <a:t>時代（</a:t>
            </a:r>
            <a:r>
              <a:rPr lang="en-US" altLang="zh-TW" dirty="0"/>
              <a:t>2021</a:t>
            </a:r>
            <a:r>
              <a:rPr lang="zh-TW" altLang="en-US" dirty="0"/>
              <a:t>年至今）</a:t>
            </a:r>
            <a:endParaRPr lang="en-US" altLang="zh-TW" dirty="0"/>
          </a:p>
          <a:p>
            <a:pPr lvl="1"/>
            <a:r>
              <a:rPr lang="zh-TW" altLang="en-US" dirty="0"/>
              <a:t>目前實體</a:t>
            </a:r>
            <a:r>
              <a:rPr lang="en-US" altLang="zh-TW" dirty="0"/>
              <a:t>AI</a:t>
            </a:r>
            <a:r>
              <a:rPr lang="zh-TW" altLang="en-US" dirty="0"/>
              <a:t>的應用有以下幾類：</a:t>
            </a:r>
          </a:p>
          <a:p>
            <a:pPr lvl="2"/>
            <a:r>
              <a:rPr lang="zh-TW" altLang="en-US" dirty="0">
                <a:solidFill>
                  <a:srgbClr val="C00000"/>
                </a:solidFill>
              </a:rPr>
              <a:t>自主移動機器人</a:t>
            </a:r>
            <a:r>
              <a:rPr lang="zh-TW" altLang="en-US" dirty="0"/>
              <a:t>（</a:t>
            </a:r>
            <a:r>
              <a:rPr lang="en-US" altLang="zh-TW" dirty="0"/>
              <a:t>Autonomous Mobile Robot</a:t>
            </a:r>
            <a:r>
              <a:rPr lang="zh-TW" altLang="en-US" dirty="0"/>
              <a:t>；</a:t>
            </a:r>
            <a:r>
              <a:rPr lang="en-US" altLang="zh-TW" dirty="0"/>
              <a:t>AMR</a:t>
            </a:r>
            <a:r>
              <a:rPr lang="zh-TW" altLang="en-US" dirty="0"/>
              <a:t>）： </a:t>
            </a:r>
            <a:r>
              <a:rPr lang="en-US" altLang="zh-TW" dirty="0"/>
              <a:t>AMR</a:t>
            </a:r>
            <a:r>
              <a:rPr lang="zh-TW" altLang="en-US" dirty="0"/>
              <a:t>會在倉庫中穿梭，自動避開障礙物，並與人類協作。</a:t>
            </a:r>
          </a:p>
          <a:p>
            <a:pPr lvl="2"/>
            <a:r>
              <a:rPr lang="zh-TW" altLang="en-US" dirty="0">
                <a:solidFill>
                  <a:srgbClr val="C00000"/>
                </a:solidFill>
              </a:rPr>
              <a:t>人形機器人</a:t>
            </a:r>
            <a:r>
              <a:rPr lang="zh-TW" altLang="en-US" dirty="0"/>
              <a:t>： 此類機器人具有如同人類般強健的雙腿和精巧的手指，能執行複雜的任務。</a:t>
            </a:r>
          </a:p>
          <a:p>
            <a:pPr lvl="2"/>
            <a:r>
              <a:rPr lang="zh-TW" altLang="en-US" dirty="0">
                <a:solidFill>
                  <a:srgbClr val="C00000"/>
                </a:solidFill>
              </a:rPr>
              <a:t>自駕車與無人機</a:t>
            </a:r>
            <a:r>
              <a:rPr lang="zh-TW" altLang="en-US" dirty="0"/>
              <a:t>：此類工具的目標，是希望可以在複雜的交通中進行即時決策與空間預測，安全地自行抵達目的地。</a:t>
            </a:r>
          </a:p>
        </p:txBody>
      </p:sp>
    </p:spTree>
    <p:extLst>
      <p:ext uri="{BB962C8B-B14F-4D97-AF65-F5344CB8AC3E}">
        <p14:creationId xmlns:p14="http://schemas.microsoft.com/office/powerpoint/2010/main" val="2921845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dirty="0">
                <a:solidFill>
                  <a:srgbClr val="C00000"/>
                </a:solidFill>
              </a:rPr>
              <a:t>AI </a:t>
            </a:r>
            <a:r>
              <a:rPr lang="zh-TW" altLang="en-US" dirty="0">
                <a:solidFill>
                  <a:srgbClr val="C00000"/>
                </a:solidFill>
              </a:rPr>
              <a:t>成為年度熱門字詞</a:t>
            </a:r>
            <a:endParaRPr lang="en-US" altLang="zh-TW" dirty="0">
              <a:solidFill>
                <a:srgbClr val="C00000"/>
              </a:solidFill>
            </a:endParaRPr>
          </a:p>
          <a:p>
            <a:pPr marL="457200" indent="-457200">
              <a:buFont typeface="Arial" panose="020B0604020202020204" pitchFamily="34" charset="0"/>
              <a:buChar char="•"/>
            </a:pPr>
            <a:r>
              <a:rPr lang="zh-TW" altLang="en-US" dirty="0"/>
              <a:t>劍橋詞典選出的年度字詞為</a:t>
            </a:r>
            <a:r>
              <a:rPr lang="en-US" altLang="zh-TW" dirty="0">
                <a:solidFill>
                  <a:srgbClr val="C00000"/>
                </a:solidFill>
              </a:rPr>
              <a:t>hallucinate</a:t>
            </a:r>
            <a:r>
              <a:rPr lang="zh-TW" altLang="en-US" dirty="0"/>
              <a:t>（產生幻覺）。幻覺不再為人類和動物所專有，機器人的聯想力有時也會有秀逗的時刻。</a:t>
            </a:r>
            <a:endParaRPr lang="en-US" altLang="zh-TW" dirty="0"/>
          </a:p>
          <a:p>
            <a:pPr marL="457200" indent="-457200">
              <a:buFont typeface="Arial" panose="020B0604020202020204" pitchFamily="34" charset="0"/>
              <a:buChar char="•"/>
            </a:pPr>
            <a:r>
              <a:rPr lang="zh-TW" altLang="en-US" dirty="0"/>
              <a:t>柯林斯詞典選出的年度字詞為</a:t>
            </a:r>
            <a:r>
              <a:rPr lang="en-US" altLang="zh-TW" dirty="0"/>
              <a:t>AI</a:t>
            </a:r>
            <a:r>
              <a:rPr lang="zh-TW" altLang="en-US" dirty="0"/>
              <a:t>（人工智慧）。</a:t>
            </a:r>
            <a:endParaRPr lang="en-US" altLang="zh-TW" dirty="0"/>
          </a:p>
        </p:txBody>
      </p:sp>
    </p:spTree>
    <p:extLst>
      <p:ext uri="{BB962C8B-B14F-4D97-AF65-F5344CB8AC3E}">
        <p14:creationId xmlns:p14="http://schemas.microsoft.com/office/powerpoint/2010/main" val="589179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457200" indent="-457200">
              <a:buFont typeface="Arial" panose="020B0604020202020204" pitchFamily="34" charset="0"/>
              <a:buChar char="•"/>
            </a:pPr>
            <a:r>
              <a:rPr lang="zh-TW" altLang="en-US" dirty="0"/>
              <a:t>韋氏詞典選出的年度字詞為</a:t>
            </a:r>
            <a:r>
              <a:rPr lang="en-US" altLang="zh-TW" dirty="0"/>
              <a:t>authentic</a:t>
            </a:r>
            <a:r>
              <a:rPr lang="zh-TW" altLang="en-US" dirty="0"/>
              <a:t>（真正的），該字詞有非假冒或非仿造的意涵，反映了</a:t>
            </a:r>
            <a:r>
              <a:rPr lang="en-US" altLang="zh-TW" dirty="0"/>
              <a:t>AI</a:t>
            </a:r>
            <a:r>
              <a:rPr lang="zh-TW" altLang="en-US" dirty="0"/>
              <a:t>似已模糊了真實與虛假的界線。</a:t>
            </a:r>
            <a:endParaRPr lang="en-US" altLang="zh-TW" dirty="0"/>
          </a:p>
          <a:p>
            <a:pPr marL="457200" indent="-457200">
              <a:buFont typeface="Arial" panose="020B0604020202020204" pitchFamily="34" charset="0"/>
              <a:buChar char="•"/>
            </a:pPr>
            <a:r>
              <a:rPr lang="zh-TW" altLang="en-US" dirty="0"/>
              <a:t>經濟日報選出的「</a:t>
            </a:r>
            <a:r>
              <a:rPr lang="en-US" altLang="zh-TW" dirty="0"/>
              <a:t>2024</a:t>
            </a:r>
            <a:r>
              <a:rPr lang="zh-TW" altLang="en-US" dirty="0"/>
              <a:t>經濟關鍵字」為「智」。</a:t>
            </a:r>
            <a:endParaRPr lang="en-US" altLang="zh-TW" dirty="0"/>
          </a:p>
          <a:p>
            <a:endParaRPr lang="zh-TW" altLang="en-US" dirty="0"/>
          </a:p>
        </p:txBody>
      </p:sp>
    </p:spTree>
    <p:extLst>
      <p:ext uri="{BB962C8B-B14F-4D97-AF65-F5344CB8AC3E}">
        <p14:creationId xmlns:p14="http://schemas.microsoft.com/office/powerpoint/2010/main" val="2137034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7117EC-3DE2-6FB3-F418-8C635190CE39}"/>
              </a:ext>
            </a:extLst>
          </p:cNvPr>
          <p:cNvSpPr>
            <a:spLocks noGrp="1"/>
          </p:cNvSpPr>
          <p:nvPr>
            <p:ph type="title"/>
          </p:nvPr>
        </p:nvSpPr>
        <p:spPr/>
        <p:txBody>
          <a:bodyPr/>
          <a:lstStyle/>
          <a:p>
            <a:r>
              <a:rPr lang="zh-TW" altLang="en-US" dirty="0"/>
              <a:t>人工智慧的重要技術與應用</a:t>
            </a:r>
          </a:p>
        </p:txBody>
      </p:sp>
      <p:sp>
        <p:nvSpPr>
          <p:cNvPr id="3" name="內容版面配置區 2">
            <a:extLst>
              <a:ext uri="{FF2B5EF4-FFF2-40B4-BE49-F238E27FC236}">
                <a16:creationId xmlns:a16="http://schemas.microsoft.com/office/drawing/2014/main" id="{B5A32789-57E3-4885-97CA-39A3107A903B}"/>
              </a:ext>
            </a:extLst>
          </p:cNvPr>
          <p:cNvSpPr>
            <a:spLocks noGrp="1"/>
          </p:cNvSpPr>
          <p:nvPr>
            <p:ph idx="1"/>
          </p:nvPr>
        </p:nvSpPr>
        <p:spPr/>
        <p:txBody>
          <a:bodyPr>
            <a:normAutofit fontScale="92500" lnSpcReduction="10000"/>
          </a:bodyPr>
          <a:lstStyle/>
          <a:p>
            <a:r>
              <a:rPr lang="zh-TW" altLang="en-US" dirty="0"/>
              <a:t>語意網和知識圖譜</a:t>
            </a:r>
            <a:endParaRPr lang="en-US" altLang="zh-TW" dirty="0"/>
          </a:p>
          <a:p>
            <a:pPr lvl="1"/>
            <a:r>
              <a:rPr lang="zh-TW" altLang="en-US" dirty="0"/>
              <a:t>要使電腦具有人類的行為能力，就必須把知識適當地表示在電腦裡。</a:t>
            </a:r>
            <a:endParaRPr lang="en-US" altLang="zh-TW" dirty="0"/>
          </a:p>
          <a:p>
            <a:pPr lvl="1"/>
            <a:r>
              <a:rPr lang="zh-TW" altLang="en-US" dirty="0"/>
              <a:t>早期比較著名的表示法是「語意網」（</a:t>
            </a:r>
            <a:r>
              <a:rPr lang="en-US" altLang="zh-TW" dirty="0"/>
              <a:t>semantic network</a:t>
            </a:r>
            <a:r>
              <a:rPr lang="zh-TW" altLang="en-US" dirty="0"/>
              <a:t>）。語意網基本上是一個圖形的架構，把知識或概念（</a:t>
            </a:r>
            <a:r>
              <a:rPr lang="en-US" altLang="zh-TW" dirty="0"/>
              <a:t>concept</a:t>
            </a:r>
            <a:r>
              <a:rPr lang="zh-TW" altLang="en-US" dirty="0"/>
              <a:t>）表示為點，而兩點之間互相連結的線，則用來表示其關係（</a:t>
            </a:r>
            <a:r>
              <a:rPr lang="en-US" altLang="zh-TW" dirty="0"/>
              <a:t>semantic relation</a:t>
            </a:r>
            <a:r>
              <a:rPr lang="zh-TW" altLang="en-US" dirty="0"/>
              <a:t>）。</a:t>
            </a:r>
          </a:p>
        </p:txBody>
      </p:sp>
    </p:spTree>
    <p:extLst>
      <p:ext uri="{BB962C8B-B14F-4D97-AF65-F5344CB8AC3E}">
        <p14:creationId xmlns:p14="http://schemas.microsoft.com/office/powerpoint/2010/main" val="2452635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286E2-64D8-E8ED-3BB2-F8285E86AA5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0B0548B-BAE1-761D-BF93-B4D91030354B}"/>
              </a:ext>
            </a:extLst>
          </p:cNvPr>
          <p:cNvSpPr>
            <a:spLocks noGrp="1"/>
          </p:cNvSpPr>
          <p:nvPr>
            <p:ph type="title"/>
          </p:nvPr>
        </p:nvSpPr>
        <p:spPr/>
        <p:txBody>
          <a:bodyPr/>
          <a:lstStyle/>
          <a:p>
            <a:r>
              <a:rPr lang="zh-TW" altLang="en-US" dirty="0"/>
              <a:t>人工智慧的重要技術與應用</a:t>
            </a:r>
          </a:p>
        </p:txBody>
      </p:sp>
      <p:sp>
        <p:nvSpPr>
          <p:cNvPr id="3" name="內容版面配置區 2">
            <a:extLst>
              <a:ext uri="{FF2B5EF4-FFF2-40B4-BE49-F238E27FC236}">
                <a16:creationId xmlns:a16="http://schemas.microsoft.com/office/drawing/2014/main" id="{958183C6-788C-ABEB-868E-C6384BA64125}"/>
              </a:ext>
            </a:extLst>
          </p:cNvPr>
          <p:cNvSpPr>
            <a:spLocks noGrp="1"/>
          </p:cNvSpPr>
          <p:nvPr>
            <p:ph idx="1"/>
          </p:nvPr>
        </p:nvSpPr>
        <p:spPr/>
        <p:txBody>
          <a:bodyPr>
            <a:normAutofit/>
          </a:bodyPr>
          <a:lstStyle/>
          <a:p>
            <a:r>
              <a:rPr lang="zh-TW" altLang="en-US" dirty="0"/>
              <a:t>語意網和知識圖譜</a:t>
            </a:r>
            <a:endParaRPr lang="en-US" altLang="zh-TW" dirty="0"/>
          </a:p>
          <a:p>
            <a:pPr lvl="1"/>
            <a:r>
              <a:rPr lang="en-US" altLang="zh-TW" dirty="0"/>
              <a:t>Google</a:t>
            </a:r>
            <a:r>
              <a:rPr lang="zh-TW" altLang="en-US" dirty="0"/>
              <a:t>於</a:t>
            </a:r>
            <a:r>
              <a:rPr lang="en-US" altLang="zh-TW" dirty="0"/>
              <a:t>2012</a:t>
            </a:r>
            <a:r>
              <a:rPr lang="zh-TW" altLang="en-US" dirty="0"/>
              <a:t>年提出</a:t>
            </a:r>
            <a:r>
              <a:rPr lang="zh-TW" altLang="en-US" dirty="0">
                <a:solidFill>
                  <a:srgbClr val="C00000"/>
                </a:solidFill>
              </a:rPr>
              <a:t>知識圖譜</a:t>
            </a:r>
            <a:r>
              <a:rPr lang="zh-TW" altLang="en-US" dirty="0"/>
              <a:t>（</a:t>
            </a:r>
            <a:r>
              <a:rPr lang="en-US" altLang="zh-TW" dirty="0"/>
              <a:t>knowledge graph</a:t>
            </a:r>
            <a:r>
              <a:rPr lang="zh-TW" altLang="en-US" dirty="0"/>
              <a:t>）。其技術根基可以說是於</a:t>
            </a:r>
            <a:r>
              <a:rPr lang="en-US" altLang="zh-TW" dirty="0"/>
              <a:t>2006</a:t>
            </a:r>
            <a:r>
              <a:rPr lang="zh-TW" altLang="en-US" dirty="0"/>
              <a:t>年所提出的</a:t>
            </a:r>
            <a:r>
              <a:rPr lang="zh-TW" altLang="en-US" dirty="0">
                <a:solidFill>
                  <a:srgbClr val="C00000"/>
                </a:solidFill>
              </a:rPr>
              <a:t>資源描述架構</a:t>
            </a:r>
            <a:r>
              <a:rPr lang="zh-TW" altLang="en-US" dirty="0"/>
              <a:t>（</a:t>
            </a:r>
            <a:r>
              <a:rPr lang="en-US" altLang="zh-TW" dirty="0"/>
              <a:t>Resource Description Framework</a:t>
            </a:r>
            <a:r>
              <a:rPr lang="zh-TW" altLang="en-US" dirty="0"/>
              <a:t>；</a:t>
            </a:r>
            <a:r>
              <a:rPr lang="en-US" altLang="zh-TW" dirty="0"/>
              <a:t>RDF</a:t>
            </a:r>
            <a:r>
              <a:rPr lang="zh-TW" altLang="en-US" dirty="0"/>
              <a:t>）。</a:t>
            </a:r>
          </a:p>
        </p:txBody>
      </p:sp>
    </p:spTree>
    <p:extLst>
      <p:ext uri="{BB962C8B-B14F-4D97-AF65-F5344CB8AC3E}">
        <p14:creationId xmlns:p14="http://schemas.microsoft.com/office/powerpoint/2010/main" val="1882960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06480-C704-DA89-4A73-AA50B43FE6E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8C8B4F9-DF3C-7822-E45A-ED8DD1EE3693}"/>
              </a:ext>
            </a:extLst>
          </p:cNvPr>
          <p:cNvSpPr>
            <a:spLocks noGrp="1"/>
          </p:cNvSpPr>
          <p:nvPr>
            <p:ph type="title"/>
          </p:nvPr>
        </p:nvSpPr>
        <p:spPr/>
        <p:txBody>
          <a:bodyPr/>
          <a:lstStyle/>
          <a:p>
            <a:r>
              <a:rPr lang="zh-TW" altLang="en-US" dirty="0"/>
              <a:t>人工智慧的重要技術與應用</a:t>
            </a:r>
          </a:p>
        </p:txBody>
      </p:sp>
      <p:sp>
        <p:nvSpPr>
          <p:cNvPr id="3" name="內容版面配置區 2">
            <a:extLst>
              <a:ext uri="{FF2B5EF4-FFF2-40B4-BE49-F238E27FC236}">
                <a16:creationId xmlns:a16="http://schemas.microsoft.com/office/drawing/2014/main" id="{19438212-EB0E-64AD-6E3C-712CBC7127C0}"/>
              </a:ext>
            </a:extLst>
          </p:cNvPr>
          <p:cNvSpPr>
            <a:spLocks noGrp="1"/>
          </p:cNvSpPr>
          <p:nvPr>
            <p:ph idx="1"/>
          </p:nvPr>
        </p:nvSpPr>
        <p:spPr>
          <a:xfrm>
            <a:off x="457200" y="1525384"/>
            <a:ext cx="5374940" cy="3069239"/>
          </a:xfrm>
        </p:spPr>
        <p:txBody>
          <a:bodyPr>
            <a:normAutofit fontScale="92500"/>
          </a:bodyPr>
          <a:lstStyle/>
          <a:p>
            <a:r>
              <a:rPr lang="zh-TW" altLang="en-US"/>
              <a:t>語意網和知識圖譜</a:t>
            </a:r>
            <a:endParaRPr lang="en-US" altLang="zh-TW"/>
          </a:p>
          <a:p>
            <a:pPr lvl="1"/>
            <a:r>
              <a:rPr lang="en-US" altLang="zh-TW"/>
              <a:t>RDF</a:t>
            </a:r>
            <a:r>
              <a:rPr lang="zh-TW" altLang="en-US"/>
              <a:t>一開始是為了表示全球資訊網上特有的，透過超連結而形成的連結資料（</a:t>
            </a:r>
            <a:r>
              <a:rPr lang="en-US" altLang="zh-TW"/>
              <a:t>linked data</a:t>
            </a:r>
            <a:r>
              <a:rPr lang="zh-TW" altLang="en-US"/>
              <a:t>），其基本概念是將知識表示成一個個三元組，如（實體</a:t>
            </a:r>
            <a:r>
              <a:rPr lang="en-US" altLang="zh-TW"/>
              <a:t>1</a:t>
            </a:r>
            <a:r>
              <a:rPr lang="zh-TW" altLang="en-US"/>
              <a:t>，關係，實體</a:t>
            </a:r>
            <a:r>
              <a:rPr lang="en-US" altLang="zh-TW"/>
              <a:t>2</a:t>
            </a:r>
            <a:r>
              <a:rPr lang="zh-TW" altLang="en-US"/>
              <a:t>）或（概念，屬性，屬性值）等。</a:t>
            </a:r>
            <a:endParaRPr lang="zh-TW" altLang="en-US" dirty="0"/>
          </a:p>
        </p:txBody>
      </p:sp>
      <p:pic>
        <p:nvPicPr>
          <p:cNvPr id="5" name="圖片 4">
            <a:extLst>
              <a:ext uri="{FF2B5EF4-FFF2-40B4-BE49-F238E27FC236}">
                <a16:creationId xmlns:a16="http://schemas.microsoft.com/office/drawing/2014/main" id="{C6761567-E6BB-3C42-85DD-5D93DBCAB23A}"/>
              </a:ext>
            </a:extLst>
          </p:cNvPr>
          <p:cNvPicPr>
            <a:picLocks noChangeAspect="1"/>
          </p:cNvPicPr>
          <p:nvPr/>
        </p:nvPicPr>
        <p:blipFill>
          <a:blip r:embed="rId2"/>
          <a:stretch>
            <a:fillRect/>
          </a:stretch>
        </p:blipFill>
        <p:spPr>
          <a:xfrm>
            <a:off x="5834181" y="1846790"/>
            <a:ext cx="3019366" cy="2426426"/>
          </a:xfrm>
          <a:prstGeom prst="rect">
            <a:avLst/>
          </a:prstGeom>
        </p:spPr>
      </p:pic>
    </p:spTree>
    <p:extLst>
      <p:ext uri="{BB962C8B-B14F-4D97-AF65-F5344CB8AC3E}">
        <p14:creationId xmlns:p14="http://schemas.microsoft.com/office/powerpoint/2010/main" val="3225887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72D382-EB28-9CAA-A0D0-16926B98C670}"/>
              </a:ext>
            </a:extLst>
          </p:cNvPr>
          <p:cNvSpPr>
            <a:spLocks noGrp="1"/>
          </p:cNvSpPr>
          <p:nvPr>
            <p:ph type="title"/>
          </p:nvPr>
        </p:nvSpPr>
        <p:spPr/>
        <p:txBody>
          <a:bodyPr/>
          <a:lstStyle/>
          <a:p>
            <a:r>
              <a:rPr lang="zh-TW" altLang="en-US" dirty="0"/>
              <a:t>人工智慧的重要技術與應用</a:t>
            </a:r>
          </a:p>
        </p:txBody>
      </p:sp>
      <p:sp>
        <p:nvSpPr>
          <p:cNvPr id="3" name="內容版面配置區 2">
            <a:extLst>
              <a:ext uri="{FF2B5EF4-FFF2-40B4-BE49-F238E27FC236}">
                <a16:creationId xmlns:a16="http://schemas.microsoft.com/office/drawing/2014/main" id="{1228C1FE-881C-F97D-A351-3A3D3F2F0EC3}"/>
              </a:ext>
            </a:extLst>
          </p:cNvPr>
          <p:cNvSpPr>
            <a:spLocks noGrp="1"/>
          </p:cNvSpPr>
          <p:nvPr>
            <p:ph idx="1"/>
          </p:nvPr>
        </p:nvSpPr>
        <p:spPr/>
        <p:txBody>
          <a:bodyPr>
            <a:normAutofit/>
          </a:bodyPr>
          <a:lstStyle/>
          <a:p>
            <a:r>
              <a:rPr lang="zh-TW" altLang="en-US" dirty="0"/>
              <a:t>邏輯系統（</a:t>
            </a:r>
            <a:r>
              <a:rPr lang="en-US" altLang="zh-TW" dirty="0"/>
              <a:t>Logic-based System</a:t>
            </a:r>
            <a:r>
              <a:rPr lang="zh-TW" altLang="en-US" dirty="0"/>
              <a:t>）和經驗法則搜尋</a:t>
            </a:r>
            <a:endParaRPr lang="en-US" altLang="zh-TW" dirty="0"/>
          </a:p>
          <a:p>
            <a:pPr lvl="1"/>
            <a:r>
              <a:rPr lang="zh-TW" altLang="en-US" dirty="0"/>
              <a:t>人類進行複雜事實的歸納及推理等活動，經常可被描述成一條條的</a:t>
            </a:r>
            <a:r>
              <a:rPr lang="zh-TW" altLang="en-US" dirty="0">
                <a:solidFill>
                  <a:srgbClr val="C00000"/>
                </a:solidFill>
              </a:rPr>
              <a:t>規則</a:t>
            </a:r>
            <a:r>
              <a:rPr lang="zh-TW" altLang="en-US" dirty="0"/>
              <a:t>，而</a:t>
            </a:r>
            <a:r>
              <a:rPr lang="zh-TW" altLang="en-US" dirty="0">
                <a:solidFill>
                  <a:srgbClr val="C00000"/>
                </a:solidFill>
              </a:rPr>
              <a:t>邏輯</a:t>
            </a:r>
            <a:r>
              <a:rPr lang="zh-TW" altLang="en-US" dirty="0"/>
              <a:t>（</a:t>
            </a:r>
            <a:r>
              <a:rPr lang="en-US" altLang="zh-TW" dirty="0"/>
              <a:t>logic</a:t>
            </a:r>
            <a:r>
              <a:rPr lang="zh-TW" altLang="en-US" dirty="0"/>
              <a:t>）是一個常被使用的技巧。</a:t>
            </a:r>
            <a:endParaRPr lang="en-US" altLang="zh-TW" dirty="0"/>
          </a:p>
          <a:p>
            <a:pPr lvl="1"/>
            <a:r>
              <a:rPr lang="zh-TW" altLang="en-US" dirty="0"/>
              <a:t>邏輯可以很清楚地表示因果關係。</a:t>
            </a:r>
            <a:endParaRPr lang="en-US" altLang="zh-TW" dirty="0"/>
          </a:p>
        </p:txBody>
      </p:sp>
    </p:spTree>
    <p:extLst>
      <p:ext uri="{BB962C8B-B14F-4D97-AF65-F5344CB8AC3E}">
        <p14:creationId xmlns:p14="http://schemas.microsoft.com/office/powerpoint/2010/main" val="1385924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72D5-E457-5E75-3C38-A59597E0C01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DFCD084-6702-33FA-E94A-4DBDC6B9D965}"/>
              </a:ext>
            </a:extLst>
          </p:cNvPr>
          <p:cNvSpPr>
            <a:spLocks noGrp="1"/>
          </p:cNvSpPr>
          <p:nvPr>
            <p:ph type="title"/>
          </p:nvPr>
        </p:nvSpPr>
        <p:spPr/>
        <p:txBody>
          <a:bodyPr/>
          <a:lstStyle/>
          <a:p>
            <a:r>
              <a:rPr lang="zh-TW" altLang="en-US" dirty="0"/>
              <a:t>人工智慧的重要技術與應用</a:t>
            </a:r>
          </a:p>
        </p:txBody>
      </p:sp>
      <p:sp>
        <p:nvSpPr>
          <p:cNvPr id="3" name="內容版面配置區 2">
            <a:extLst>
              <a:ext uri="{FF2B5EF4-FFF2-40B4-BE49-F238E27FC236}">
                <a16:creationId xmlns:a16="http://schemas.microsoft.com/office/drawing/2014/main" id="{AB308810-26FE-1A78-922F-4F9DC92B5366}"/>
              </a:ext>
            </a:extLst>
          </p:cNvPr>
          <p:cNvSpPr>
            <a:spLocks noGrp="1"/>
          </p:cNvSpPr>
          <p:nvPr>
            <p:ph idx="1"/>
          </p:nvPr>
        </p:nvSpPr>
        <p:spPr/>
        <p:txBody>
          <a:bodyPr>
            <a:normAutofit fontScale="92500" lnSpcReduction="10000"/>
          </a:bodyPr>
          <a:lstStyle/>
          <a:p>
            <a:r>
              <a:rPr lang="zh-TW" altLang="en-US" dirty="0"/>
              <a:t>邏輯系統（</a:t>
            </a:r>
            <a:r>
              <a:rPr lang="en-US" altLang="zh-TW" dirty="0"/>
              <a:t>Logic-based System</a:t>
            </a:r>
            <a:r>
              <a:rPr lang="zh-TW" altLang="en-US" dirty="0"/>
              <a:t>）和經驗法則搜尋</a:t>
            </a:r>
            <a:endParaRPr lang="en-US" altLang="zh-TW" dirty="0"/>
          </a:p>
          <a:p>
            <a:pPr lvl="1"/>
            <a:r>
              <a:rPr lang="zh-TW" altLang="en-US" dirty="0"/>
              <a:t>當電腦系統裡的邏輯規則很多時，要找尋一條合乎限制的規則，往往會花費很多時間。</a:t>
            </a:r>
            <a:endParaRPr lang="en-US" altLang="zh-TW" dirty="0"/>
          </a:p>
          <a:p>
            <a:pPr lvl="1"/>
            <a:r>
              <a:rPr lang="zh-TW" altLang="en-US" dirty="0"/>
              <a:t>一個常見技巧是運用</a:t>
            </a:r>
            <a:r>
              <a:rPr lang="zh-TW" altLang="en-US" dirty="0">
                <a:solidFill>
                  <a:srgbClr val="C00000"/>
                </a:solidFill>
              </a:rPr>
              <a:t>經驗法則</a:t>
            </a:r>
            <a:r>
              <a:rPr lang="zh-TW" altLang="en-US" dirty="0"/>
              <a:t>（</a:t>
            </a:r>
            <a:r>
              <a:rPr lang="en-US" altLang="zh-TW" dirty="0"/>
              <a:t>heuristic</a:t>
            </a:r>
            <a:r>
              <a:rPr lang="zh-TW" altLang="en-US" dirty="0"/>
              <a:t>）來加快搜尋的速度。</a:t>
            </a:r>
            <a:endParaRPr lang="en-US" altLang="zh-TW" dirty="0"/>
          </a:p>
          <a:p>
            <a:pPr lvl="1"/>
            <a:r>
              <a:rPr lang="zh-TW" altLang="en-US" dirty="0"/>
              <a:t>所謂的經驗法則，就是「</a:t>
            </a:r>
            <a:r>
              <a:rPr lang="zh-TW" altLang="en-US" dirty="0">
                <a:solidFill>
                  <a:srgbClr val="0070C0"/>
                </a:solidFill>
              </a:rPr>
              <a:t>並不是永遠成立，但是在絕大部分情況下都是成立的</a:t>
            </a:r>
            <a:r>
              <a:rPr lang="zh-TW" altLang="en-US" dirty="0"/>
              <a:t>」。</a:t>
            </a:r>
          </a:p>
        </p:txBody>
      </p:sp>
    </p:spTree>
    <p:extLst>
      <p:ext uri="{BB962C8B-B14F-4D97-AF65-F5344CB8AC3E}">
        <p14:creationId xmlns:p14="http://schemas.microsoft.com/office/powerpoint/2010/main" val="3956368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32208D-5194-B169-FBF7-37554FC19F81}"/>
              </a:ext>
            </a:extLst>
          </p:cNvPr>
          <p:cNvSpPr>
            <a:spLocks noGrp="1"/>
          </p:cNvSpPr>
          <p:nvPr>
            <p:ph type="title"/>
          </p:nvPr>
        </p:nvSpPr>
        <p:spPr/>
        <p:txBody>
          <a:bodyPr/>
          <a:lstStyle/>
          <a:p>
            <a:r>
              <a:rPr lang="zh-TW" altLang="en-US" dirty="0"/>
              <a:t>人工智慧的重要技術與應用</a:t>
            </a:r>
          </a:p>
        </p:txBody>
      </p:sp>
      <p:sp>
        <p:nvSpPr>
          <p:cNvPr id="3" name="內容版面配置區 2">
            <a:extLst>
              <a:ext uri="{FF2B5EF4-FFF2-40B4-BE49-F238E27FC236}">
                <a16:creationId xmlns:a16="http://schemas.microsoft.com/office/drawing/2014/main" id="{B90C562F-46A1-0DB8-4E25-5E6664476BCF}"/>
              </a:ext>
            </a:extLst>
          </p:cNvPr>
          <p:cNvSpPr>
            <a:spLocks noGrp="1"/>
          </p:cNvSpPr>
          <p:nvPr>
            <p:ph idx="1"/>
          </p:nvPr>
        </p:nvSpPr>
        <p:spPr/>
        <p:txBody>
          <a:bodyPr>
            <a:normAutofit fontScale="85000" lnSpcReduction="20000"/>
          </a:bodyPr>
          <a:lstStyle/>
          <a:p>
            <a:r>
              <a:rPr lang="zh-TW" altLang="en-US" dirty="0"/>
              <a:t>智慧型系統和專家系統</a:t>
            </a:r>
            <a:endParaRPr lang="en-US" altLang="zh-TW" dirty="0"/>
          </a:p>
          <a:p>
            <a:pPr lvl="1"/>
            <a:r>
              <a:rPr lang="zh-TW" altLang="en-US" dirty="0"/>
              <a:t>實作人工智慧的理論所建立出具有推理判斷能力的電腦系統，通稱為</a:t>
            </a:r>
            <a:r>
              <a:rPr lang="zh-TW" altLang="en-US" dirty="0">
                <a:solidFill>
                  <a:srgbClr val="C00000"/>
                </a:solidFill>
              </a:rPr>
              <a:t>智慧型系統</a:t>
            </a:r>
            <a:r>
              <a:rPr lang="zh-TW" altLang="en-US" dirty="0"/>
              <a:t>（</a:t>
            </a:r>
            <a:r>
              <a:rPr lang="en-US" altLang="zh-TW" dirty="0"/>
              <a:t>intelligent system</a:t>
            </a:r>
            <a:r>
              <a:rPr lang="zh-TW" altLang="en-US" dirty="0"/>
              <a:t>）。</a:t>
            </a:r>
            <a:endParaRPr lang="en-US" altLang="zh-TW" dirty="0"/>
          </a:p>
          <a:p>
            <a:pPr lvl="1"/>
            <a:r>
              <a:rPr lang="zh-TW" altLang="en-US" dirty="0">
                <a:solidFill>
                  <a:srgbClr val="C00000"/>
                </a:solidFill>
              </a:rPr>
              <a:t>專家系統</a:t>
            </a:r>
            <a:r>
              <a:rPr lang="zh-TW" altLang="en-US" dirty="0"/>
              <a:t>（</a:t>
            </a:r>
            <a:r>
              <a:rPr lang="en-US" altLang="zh-TW" dirty="0"/>
              <a:t>expert system</a:t>
            </a:r>
            <a:r>
              <a:rPr lang="zh-TW" altLang="en-US" dirty="0"/>
              <a:t>）所謂的專家，就是</a:t>
            </a:r>
            <a:r>
              <a:rPr lang="zh-TW" altLang="en-US" dirty="0">
                <a:solidFill>
                  <a:srgbClr val="0070C0"/>
                </a:solidFill>
              </a:rPr>
              <a:t>具有處理特定問題能力的人</a:t>
            </a:r>
            <a:r>
              <a:rPr lang="zh-TW" altLang="en-US" dirty="0"/>
              <a:t>，例如醫生。</a:t>
            </a:r>
            <a:endParaRPr lang="en-US" altLang="zh-TW" dirty="0"/>
          </a:p>
          <a:p>
            <a:pPr lvl="1"/>
            <a:r>
              <a:rPr lang="zh-TW" altLang="en-US" dirty="0"/>
              <a:t>傳統上，建立專家系統的做法，是將醫生判斷的過程寫成一條條的規則（</a:t>
            </a:r>
            <a:r>
              <a:rPr lang="en-US" altLang="zh-TW" dirty="0"/>
              <a:t>rule</a:t>
            </a:r>
            <a:r>
              <a:rPr lang="zh-TW" altLang="en-US" dirty="0"/>
              <a:t>），再輔以龐大的知識庫，以進行推理。目前深度學習的技術則是被廣泛利用於此領域。</a:t>
            </a:r>
          </a:p>
        </p:txBody>
      </p:sp>
    </p:spTree>
    <p:extLst>
      <p:ext uri="{BB962C8B-B14F-4D97-AF65-F5344CB8AC3E}">
        <p14:creationId xmlns:p14="http://schemas.microsoft.com/office/powerpoint/2010/main" val="2132744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14-2</a:t>
            </a:r>
            <a:r>
              <a:rPr lang="zh-TW" altLang="en-US" dirty="0"/>
              <a:t>機器學習和深度學習</a:t>
            </a:r>
          </a:p>
        </p:txBody>
      </p:sp>
      <p:graphicFrame>
        <p:nvGraphicFramePr>
          <p:cNvPr id="9" name="資料庫圖表 8"/>
          <p:cNvGraphicFramePr/>
          <p:nvPr>
            <p:extLst>
              <p:ext uri="{D42A27DB-BD31-4B8C-83A1-F6EECF244321}">
                <p14:modId xmlns:p14="http://schemas.microsoft.com/office/powerpoint/2010/main" val="1589048944"/>
              </p:ext>
            </p:extLst>
          </p:nvPr>
        </p:nvGraphicFramePr>
        <p:xfrm>
          <a:off x="1646675" y="1335947"/>
          <a:ext cx="5850650" cy="35819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2908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14-2</a:t>
            </a:r>
            <a:r>
              <a:rPr lang="zh-TW" altLang="en-US" dirty="0"/>
              <a:t>機器學習和深度學習</a:t>
            </a:r>
          </a:p>
        </p:txBody>
      </p:sp>
      <p:sp>
        <p:nvSpPr>
          <p:cNvPr id="3" name="內容版面配置區 2"/>
          <p:cNvSpPr>
            <a:spLocks noGrp="1"/>
          </p:cNvSpPr>
          <p:nvPr>
            <p:ph idx="1"/>
          </p:nvPr>
        </p:nvSpPr>
        <p:spPr/>
        <p:txBody>
          <a:bodyPr>
            <a:normAutofit lnSpcReduction="10000"/>
          </a:bodyPr>
          <a:lstStyle/>
          <a:p>
            <a:r>
              <a:rPr lang="zh-TW" altLang="en-US" dirty="0"/>
              <a:t>機器學習（</a:t>
            </a:r>
            <a:r>
              <a:rPr lang="en-US" altLang="zh-TW" dirty="0"/>
              <a:t>Machine Learning</a:t>
            </a:r>
            <a:r>
              <a:rPr lang="zh-TW" altLang="en-US" dirty="0"/>
              <a:t>）分為：</a:t>
            </a:r>
          </a:p>
          <a:p>
            <a:pPr marL="715963" lvl="1" indent="-258763" algn="just">
              <a:buNone/>
            </a:pPr>
            <a:r>
              <a:rPr lang="en-US" altLang="zh-TW" dirty="0"/>
              <a:t>1.</a:t>
            </a:r>
            <a:r>
              <a:rPr lang="zh-TW" altLang="en-US" dirty="0"/>
              <a:t>監督式學習（</a:t>
            </a:r>
            <a:r>
              <a:rPr lang="en-US" altLang="zh-TW" dirty="0"/>
              <a:t>supervised learning</a:t>
            </a:r>
            <a:r>
              <a:rPr lang="zh-TW" altLang="en-US" dirty="0"/>
              <a:t>）：必須針對每一筆輸入資料給予正確的答案或標籤（</a:t>
            </a:r>
            <a:r>
              <a:rPr lang="en-US" altLang="zh-TW" dirty="0"/>
              <a:t>label</a:t>
            </a:r>
            <a:r>
              <a:rPr lang="zh-TW" altLang="en-US" dirty="0"/>
              <a:t>），以便機器在學習的過程中能判斷誤差並進一步改善之。</a:t>
            </a:r>
            <a:endParaRPr lang="en-US" altLang="zh-TW" dirty="0"/>
          </a:p>
          <a:p>
            <a:pPr lvl="2"/>
            <a:r>
              <a:rPr lang="zh-TW" altLang="en-US" dirty="0"/>
              <a:t>信用卡等級「分類」，輸入的訓練資料除了申請者的收入等特徵，還必須同時輸入該申請者的類別標籤為極佳或普通等，所以屬於監督式學習。</a:t>
            </a:r>
          </a:p>
        </p:txBody>
      </p:sp>
    </p:spTree>
    <p:extLst>
      <p:ext uri="{BB962C8B-B14F-4D97-AF65-F5344CB8AC3E}">
        <p14:creationId xmlns:p14="http://schemas.microsoft.com/office/powerpoint/2010/main" val="4234960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normAutofit/>
          </a:bodyPr>
          <a:lstStyle/>
          <a:p>
            <a:r>
              <a:rPr lang="zh-TW" altLang="en-US" dirty="0"/>
              <a:t>機器學習</a:t>
            </a:r>
          </a:p>
        </p:txBody>
      </p:sp>
      <p:sp>
        <p:nvSpPr>
          <p:cNvPr id="3" name="內容版面配置區 2"/>
          <p:cNvSpPr>
            <a:spLocks noGrp="1"/>
          </p:cNvSpPr>
          <p:nvPr>
            <p:ph idx="1"/>
          </p:nvPr>
        </p:nvSpPr>
        <p:spPr>
          <a:xfrm>
            <a:off x="457200" y="1525384"/>
            <a:ext cx="8229600" cy="3296616"/>
          </a:xfrm>
        </p:spPr>
        <p:txBody>
          <a:bodyPr>
            <a:normAutofit/>
          </a:bodyPr>
          <a:lstStyle/>
          <a:p>
            <a:r>
              <a:rPr lang="zh-TW" altLang="en-US" dirty="0"/>
              <a:t>機器學習（</a:t>
            </a:r>
            <a:r>
              <a:rPr lang="en-US" altLang="zh-TW" dirty="0"/>
              <a:t>Machine Learning</a:t>
            </a:r>
            <a:r>
              <a:rPr lang="zh-TW" altLang="en-US" dirty="0"/>
              <a:t>）分為：</a:t>
            </a:r>
          </a:p>
          <a:p>
            <a:pPr marL="808038" lvl="1" indent="-350838">
              <a:buNone/>
            </a:pPr>
            <a:r>
              <a:rPr lang="zh-TW" altLang="en-US" dirty="0"/>
              <a:t>２</a:t>
            </a:r>
            <a:r>
              <a:rPr lang="en-US" altLang="zh-TW" dirty="0"/>
              <a:t>.</a:t>
            </a:r>
            <a:r>
              <a:rPr lang="zh-TW" altLang="en-US" dirty="0"/>
              <a:t>非監督式學習（</a:t>
            </a:r>
            <a:r>
              <a:rPr lang="en-US" altLang="zh-TW" dirty="0"/>
              <a:t>unsupervised learning</a:t>
            </a:r>
            <a:r>
              <a:rPr lang="zh-TW" altLang="en-US" dirty="0"/>
              <a:t>）： 沒有事先給予正確答案，而是設計特定的演算法來判斷程式何時應該終止，並嘗試擷取有用的資訊。</a:t>
            </a:r>
            <a:endParaRPr lang="en-US" altLang="zh-TW" dirty="0"/>
          </a:p>
          <a:p>
            <a:pPr lvl="2"/>
            <a:r>
              <a:rPr lang="zh-TW" altLang="en-US" dirty="0"/>
              <a:t>以「分群」為例，並不需要事先將所輸入的資料指定為哪一群，而是根據所採用的演算法，譬如</a:t>
            </a:r>
            <a:r>
              <a:rPr lang="en-US" altLang="zh-TW" dirty="0"/>
              <a:t>k-means</a:t>
            </a:r>
            <a:r>
              <a:rPr lang="zh-TW" altLang="en-US" dirty="0"/>
              <a:t>演算法，將具有類似特徵的資料分成數群，所以屬於非監督式學習。</a:t>
            </a:r>
          </a:p>
        </p:txBody>
      </p:sp>
    </p:spTree>
    <p:extLst>
      <p:ext uri="{BB962C8B-B14F-4D97-AF65-F5344CB8AC3E}">
        <p14:creationId xmlns:p14="http://schemas.microsoft.com/office/powerpoint/2010/main" val="1415487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15732-9691-3550-0003-F8C6868DD2C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62EB0FF-FF2A-AC5A-3344-A0CB374E3A0A}"/>
              </a:ext>
            </a:extLst>
          </p:cNvPr>
          <p:cNvSpPr>
            <a:spLocks noGrp="1"/>
          </p:cNvSpPr>
          <p:nvPr>
            <p:ph type="title"/>
          </p:nvPr>
        </p:nvSpPr>
        <p:spPr/>
        <p:txBody>
          <a:bodyPr>
            <a:normAutofit/>
          </a:bodyPr>
          <a:lstStyle/>
          <a:p>
            <a:r>
              <a:rPr lang="en-US" altLang="zh-TW" dirty="0"/>
              <a:t>14-2</a:t>
            </a:r>
            <a:r>
              <a:rPr lang="zh-TW" altLang="en-US" dirty="0"/>
              <a:t>機器學習和深度學習</a:t>
            </a:r>
          </a:p>
        </p:txBody>
      </p:sp>
      <p:sp>
        <p:nvSpPr>
          <p:cNvPr id="3" name="內容版面配置區 2">
            <a:extLst>
              <a:ext uri="{FF2B5EF4-FFF2-40B4-BE49-F238E27FC236}">
                <a16:creationId xmlns:a16="http://schemas.microsoft.com/office/drawing/2014/main" id="{61580E9B-D692-655B-BD07-12710E111CB8}"/>
              </a:ext>
            </a:extLst>
          </p:cNvPr>
          <p:cNvSpPr>
            <a:spLocks noGrp="1"/>
          </p:cNvSpPr>
          <p:nvPr>
            <p:ph idx="1"/>
          </p:nvPr>
        </p:nvSpPr>
        <p:spPr/>
        <p:txBody>
          <a:bodyPr>
            <a:normAutofit fontScale="92500" lnSpcReduction="10000"/>
          </a:bodyPr>
          <a:lstStyle/>
          <a:p>
            <a:r>
              <a:rPr lang="zh-TW" altLang="en-US" dirty="0"/>
              <a:t>機器學習（</a:t>
            </a:r>
            <a:r>
              <a:rPr lang="en-US" altLang="zh-TW" dirty="0"/>
              <a:t>Machine Learning</a:t>
            </a:r>
            <a:r>
              <a:rPr lang="zh-TW" altLang="en-US" dirty="0"/>
              <a:t>）分為：</a:t>
            </a:r>
          </a:p>
          <a:p>
            <a:pPr marL="808038" lvl="1" indent="-350838" algn="just">
              <a:buNone/>
            </a:pPr>
            <a:r>
              <a:rPr lang="zh-TW" altLang="en-US" dirty="0"/>
              <a:t>３</a:t>
            </a:r>
            <a:r>
              <a:rPr lang="en-US" altLang="zh-TW" dirty="0"/>
              <a:t>.</a:t>
            </a:r>
            <a:r>
              <a:rPr lang="zh-TW" altLang="en-US" dirty="0"/>
              <a:t>半監督式學習（</a:t>
            </a:r>
            <a:r>
              <a:rPr lang="en-US" altLang="zh-TW" dirty="0"/>
              <a:t>semi-supervised learning</a:t>
            </a:r>
            <a:r>
              <a:rPr lang="zh-TW" altLang="en-US" dirty="0"/>
              <a:t>）： 是一種介於監督式學習與非監督式學習之間的機器學習技術。</a:t>
            </a:r>
            <a:endParaRPr lang="en-US" altLang="zh-TW" dirty="0"/>
          </a:p>
          <a:p>
            <a:pPr marL="1143000" lvl="2" algn="just"/>
            <a:r>
              <a:rPr lang="zh-TW" altLang="en-US" dirty="0"/>
              <a:t>其運作原理為：首先使用少量已標記資料，訓練出一個初步的模型。其次利用該初步模型，對大量未標記資料進行預測，為其加上「偽標籤」（</a:t>
            </a:r>
            <a:r>
              <a:rPr lang="en-US" altLang="zh-TW" dirty="0"/>
              <a:t>pseudo-labels</a:t>
            </a:r>
            <a:r>
              <a:rPr lang="zh-TW" altLang="en-US" dirty="0"/>
              <a:t>）。最後將帶有偽標籤的資料與原始標記資料合併，重新訓練模型，以透過未標記資料中隱藏的結構或模式，來提升模型的準確度與泛化能力。</a:t>
            </a:r>
          </a:p>
        </p:txBody>
      </p:sp>
    </p:spTree>
    <p:extLst>
      <p:ext uri="{BB962C8B-B14F-4D97-AF65-F5344CB8AC3E}">
        <p14:creationId xmlns:p14="http://schemas.microsoft.com/office/powerpoint/2010/main" val="1632642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t>機器學習</a:t>
            </a:r>
          </a:p>
        </p:txBody>
      </p:sp>
      <p:sp>
        <p:nvSpPr>
          <p:cNvPr id="3" name="內容版面配置區 2"/>
          <p:cNvSpPr>
            <a:spLocks noGrp="1"/>
          </p:cNvSpPr>
          <p:nvPr>
            <p:ph idx="1"/>
          </p:nvPr>
        </p:nvSpPr>
        <p:spPr/>
        <p:txBody>
          <a:bodyPr>
            <a:normAutofit lnSpcReduction="10000"/>
          </a:bodyPr>
          <a:lstStyle/>
          <a:p>
            <a:r>
              <a:rPr lang="zh-TW" altLang="en-US" dirty="0"/>
              <a:t>機器學習（</a:t>
            </a:r>
            <a:r>
              <a:rPr lang="en-US" altLang="zh-TW" dirty="0"/>
              <a:t>Machine Learning</a:t>
            </a:r>
            <a:r>
              <a:rPr lang="zh-TW" altLang="en-US" dirty="0"/>
              <a:t>）分為：</a:t>
            </a:r>
          </a:p>
          <a:p>
            <a:pPr marL="715963" lvl="1" indent="-258763">
              <a:buNone/>
            </a:pPr>
            <a:r>
              <a:rPr lang="en-US" altLang="zh-TW" dirty="0"/>
              <a:t>4.</a:t>
            </a:r>
            <a:r>
              <a:rPr lang="zh-TW" altLang="en-US" dirty="0"/>
              <a:t>增強式學習（</a:t>
            </a:r>
            <a:r>
              <a:rPr lang="en-US" altLang="zh-TW" dirty="0"/>
              <a:t>reinforcement learning</a:t>
            </a:r>
            <a:r>
              <a:rPr lang="zh-TW" altLang="en-US" dirty="0"/>
              <a:t>）： 當機器做出良好的判斷時，訓練模型的人會給予獎勵或正向回饋，下次機器面臨同樣的狀況時，就傾向於做出同樣的判斷或反應。</a:t>
            </a:r>
            <a:endParaRPr lang="en-US" altLang="zh-TW" dirty="0"/>
          </a:p>
          <a:p>
            <a:pPr lvl="2"/>
            <a:r>
              <a:rPr lang="zh-TW" altLang="en-US" dirty="0"/>
              <a:t>例如，當海豚做出正確完美的跳躍動作後，訓練師會給予食物獎勵。</a:t>
            </a:r>
          </a:p>
        </p:txBody>
      </p:sp>
    </p:spTree>
    <p:extLst>
      <p:ext uri="{BB962C8B-B14F-4D97-AF65-F5344CB8AC3E}">
        <p14:creationId xmlns:p14="http://schemas.microsoft.com/office/powerpoint/2010/main" val="1442367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機器學習</a:t>
            </a:r>
          </a:p>
        </p:txBody>
      </p:sp>
      <p:sp>
        <p:nvSpPr>
          <p:cNvPr id="3" name="內容版面配置區 2"/>
          <p:cNvSpPr>
            <a:spLocks noGrp="1"/>
          </p:cNvSpPr>
          <p:nvPr>
            <p:ph idx="1"/>
          </p:nvPr>
        </p:nvSpPr>
        <p:spPr/>
        <p:txBody>
          <a:bodyPr/>
          <a:lstStyle/>
          <a:p>
            <a:r>
              <a:rPr lang="zh-TW" altLang="en-US" dirty="0"/>
              <a:t>在機器學習中，最為人知的架構，為仿照人類神經系統的類神經網路（</a:t>
            </a:r>
            <a:r>
              <a:rPr lang="en-US" altLang="zh-TW" dirty="0"/>
              <a:t>Artificial Neural Network</a:t>
            </a:r>
            <a:r>
              <a:rPr lang="zh-TW" altLang="en-US" dirty="0"/>
              <a:t>），如圖</a:t>
            </a:r>
            <a:r>
              <a:rPr lang="en-US" altLang="zh-TW" dirty="0"/>
              <a:t>14-3</a:t>
            </a:r>
            <a:r>
              <a:rPr lang="zh-TW" altLang="en-US" dirty="0"/>
              <a:t>中之左圖所示。</a:t>
            </a:r>
          </a:p>
          <a:p>
            <a:r>
              <a:rPr lang="zh-TW" altLang="en-US" dirty="0"/>
              <a:t>在該圖中，圓圈對應到人類神經系統中的神經元，而圓圈中的連線則對應到傳遞訊號的突觸。</a:t>
            </a:r>
          </a:p>
          <a:p>
            <a:pPr marL="0" indent="0">
              <a:buNone/>
            </a:pPr>
            <a:endParaRPr lang="zh-TW" altLang="en-US" dirty="0"/>
          </a:p>
        </p:txBody>
      </p:sp>
    </p:spTree>
    <p:extLst>
      <p:ext uri="{BB962C8B-B14F-4D97-AF65-F5344CB8AC3E}">
        <p14:creationId xmlns:p14="http://schemas.microsoft.com/office/powerpoint/2010/main" val="2220808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5577" b="15944"/>
          <a:stretch/>
        </p:blipFill>
        <p:spPr bwMode="auto">
          <a:xfrm>
            <a:off x="926595" y="1525383"/>
            <a:ext cx="7048098" cy="2354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字方塊 5"/>
          <p:cNvSpPr txBox="1"/>
          <p:nvPr/>
        </p:nvSpPr>
        <p:spPr>
          <a:xfrm>
            <a:off x="1328985" y="4047623"/>
            <a:ext cx="1890210" cy="369332"/>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zh-TW" altLang="en-US" b="1" dirty="0">
                <a:latin typeface="微軟正黑體" panose="020B0604030504040204" pitchFamily="34" charset="-120"/>
                <a:ea typeface="微軟正黑體" panose="020B0604030504040204" pitchFamily="34" charset="-120"/>
              </a:rPr>
              <a:t>傳統類神經網路</a:t>
            </a:r>
          </a:p>
        </p:txBody>
      </p:sp>
      <p:sp>
        <p:nvSpPr>
          <p:cNvPr id="7" name="矩形 6"/>
          <p:cNvSpPr/>
          <p:nvPr/>
        </p:nvSpPr>
        <p:spPr>
          <a:xfrm>
            <a:off x="5022050" y="4056915"/>
            <a:ext cx="2262158" cy="369332"/>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r>
              <a:rPr lang="zh-TW" altLang="en-US" b="1" dirty="0">
                <a:latin typeface="微軟正黑體" panose="020B0604030504040204" pitchFamily="34" charset="-120"/>
                <a:ea typeface="微軟正黑體" panose="020B0604030504040204" pitchFamily="34" charset="-120"/>
              </a:rPr>
              <a:t>深度學習類神經網路</a:t>
            </a:r>
          </a:p>
        </p:txBody>
      </p:sp>
    </p:spTree>
    <p:extLst>
      <p:ext uri="{BB962C8B-B14F-4D97-AF65-F5344CB8AC3E}">
        <p14:creationId xmlns:p14="http://schemas.microsoft.com/office/powerpoint/2010/main" val="765537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endParaRPr lang="zh-TW" altLang="en-US" dirty="0"/>
          </a:p>
        </p:txBody>
      </p:sp>
      <p:sp>
        <p:nvSpPr>
          <p:cNvPr id="3" name="內容版面配置區 2"/>
          <p:cNvSpPr>
            <a:spLocks noGrp="1"/>
          </p:cNvSpPr>
          <p:nvPr>
            <p:ph idx="1"/>
          </p:nvPr>
        </p:nvSpPr>
        <p:spPr/>
        <p:txBody>
          <a:bodyPr>
            <a:normAutofit/>
          </a:bodyPr>
          <a:lstStyle/>
          <a:p>
            <a:r>
              <a:rPr lang="zh-TW" altLang="en-US" dirty="0"/>
              <a:t>神經網路架構中還有一個很特殊的成分，稱作</a:t>
            </a:r>
            <a:r>
              <a:rPr lang="zh-TW" altLang="en-US" dirty="0">
                <a:solidFill>
                  <a:srgbClr val="C00000"/>
                </a:solidFill>
              </a:rPr>
              <a:t>激發函數</a:t>
            </a:r>
            <a:r>
              <a:rPr lang="zh-TW" altLang="en-US" dirty="0"/>
              <a:t>（</a:t>
            </a:r>
            <a:r>
              <a:rPr lang="en-US" altLang="zh-TW" dirty="0"/>
              <a:t>activation function</a:t>
            </a:r>
            <a:r>
              <a:rPr lang="zh-TW" altLang="en-US" dirty="0"/>
              <a:t>）。</a:t>
            </a:r>
          </a:p>
          <a:p>
            <a:pPr lvl="1"/>
            <a:r>
              <a:rPr lang="zh-TW" altLang="en-US" dirty="0"/>
              <a:t>作用是在決定是否讓某個神經元將訊號傳遞下去時，不只根據前一層的神經元和權重所計算出來的總數值，還必須將該值和特定的門檻值比較，才能決定輸出為何。</a:t>
            </a:r>
          </a:p>
        </p:txBody>
      </p:sp>
    </p:spTree>
    <p:extLst>
      <p:ext uri="{BB962C8B-B14F-4D97-AF65-F5344CB8AC3E}">
        <p14:creationId xmlns:p14="http://schemas.microsoft.com/office/powerpoint/2010/main" val="2898250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深度學習</a:t>
            </a:r>
          </a:p>
        </p:txBody>
      </p:sp>
      <p:sp>
        <p:nvSpPr>
          <p:cNvPr id="3" name="內容版面配置區 2"/>
          <p:cNvSpPr>
            <a:spLocks noGrp="1"/>
          </p:cNvSpPr>
          <p:nvPr>
            <p:ph idx="1"/>
          </p:nvPr>
        </p:nvSpPr>
        <p:spPr/>
        <p:txBody>
          <a:bodyPr>
            <a:normAutofit lnSpcReduction="10000"/>
          </a:bodyPr>
          <a:lstStyle/>
          <a:p>
            <a:r>
              <a:rPr lang="zh-TW" altLang="en-US" dirty="0"/>
              <a:t>深度學習（</a:t>
            </a:r>
            <a:r>
              <a:rPr lang="en-US" altLang="zh-TW" dirty="0"/>
              <a:t>deep learning</a:t>
            </a:r>
            <a:r>
              <a:rPr lang="zh-TW" altLang="en-US" dirty="0"/>
              <a:t>）指的是類神經網路中間有相當多的隱藏層，如圖</a:t>
            </a:r>
            <a:r>
              <a:rPr lang="en-US" altLang="zh-TW" dirty="0"/>
              <a:t>14-3</a:t>
            </a:r>
            <a:r>
              <a:rPr lang="zh-TW" altLang="en-US" dirty="0"/>
              <a:t>中之右圖所示。</a:t>
            </a:r>
            <a:endParaRPr lang="en-US" altLang="zh-TW" dirty="0"/>
          </a:p>
          <a:p>
            <a:r>
              <a:rPr lang="zh-TW" altLang="en-US" dirty="0"/>
              <a:t>加入更多隱藏層需要更複雜的運算，但此難題適時地被具有快速平行計算能力的</a:t>
            </a:r>
            <a:r>
              <a:rPr lang="en-US" altLang="zh-TW" dirty="0"/>
              <a:t>GPU</a:t>
            </a:r>
            <a:r>
              <a:rPr lang="zh-TW" altLang="en-US" dirty="0"/>
              <a:t>（</a:t>
            </a:r>
            <a:r>
              <a:rPr lang="en-US" altLang="zh-TW" dirty="0"/>
              <a:t>Graphics Processing Unit</a:t>
            </a:r>
            <a:r>
              <a:rPr lang="zh-TW" altLang="en-US" dirty="0"/>
              <a:t>；圖形處理器）所解決。</a:t>
            </a:r>
          </a:p>
          <a:p>
            <a:pPr marL="0" indent="0">
              <a:buNone/>
            </a:pPr>
            <a:endParaRPr lang="zh-TW" altLang="en-US" dirty="0"/>
          </a:p>
        </p:txBody>
      </p:sp>
    </p:spTree>
    <p:extLst>
      <p:ext uri="{BB962C8B-B14F-4D97-AF65-F5344CB8AC3E}">
        <p14:creationId xmlns:p14="http://schemas.microsoft.com/office/powerpoint/2010/main" val="643566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CNN-</a:t>
            </a:r>
            <a:r>
              <a:rPr lang="zh-TW" altLang="en-US" dirty="0"/>
              <a:t>卷積神經網路</a:t>
            </a:r>
          </a:p>
        </p:txBody>
      </p:sp>
      <p:sp>
        <p:nvSpPr>
          <p:cNvPr id="3" name="內容版面配置區 2"/>
          <p:cNvSpPr>
            <a:spLocks noGrp="1"/>
          </p:cNvSpPr>
          <p:nvPr>
            <p:ph idx="1"/>
          </p:nvPr>
        </p:nvSpPr>
        <p:spPr/>
        <p:txBody>
          <a:bodyPr/>
          <a:lstStyle/>
          <a:p>
            <a:r>
              <a:rPr lang="zh-TW" altLang="en-US" dirty="0"/>
              <a:t>卷積神經網路（</a:t>
            </a:r>
            <a:r>
              <a:rPr lang="en-US" altLang="zh-TW" dirty="0"/>
              <a:t>Convolutional Neural Network</a:t>
            </a:r>
            <a:r>
              <a:rPr lang="zh-TW" altLang="en-US" dirty="0"/>
              <a:t>；</a:t>
            </a:r>
            <a:r>
              <a:rPr lang="en-US" altLang="zh-TW" dirty="0"/>
              <a:t>CNN</a:t>
            </a:r>
            <a:r>
              <a:rPr lang="zh-TW" altLang="en-US" dirty="0"/>
              <a:t>）。</a:t>
            </a:r>
            <a:endParaRPr lang="en-US" altLang="zh-TW" dirty="0"/>
          </a:p>
          <a:p>
            <a:r>
              <a:rPr lang="en-US" altLang="zh-TW" dirty="0"/>
              <a:t>CNN</a:t>
            </a:r>
            <a:r>
              <a:rPr lang="zh-TW" altLang="en-US" dirty="0"/>
              <a:t>中的兩個重要模組</a:t>
            </a:r>
            <a:endParaRPr lang="en-US" altLang="zh-TW" dirty="0"/>
          </a:p>
          <a:p>
            <a:pPr lvl="1"/>
            <a:r>
              <a:rPr lang="zh-TW" altLang="en-US" dirty="0"/>
              <a:t>卷積層（</a:t>
            </a:r>
            <a:r>
              <a:rPr lang="en-US" altLang="zh-TW" dirty="0"/>
              <a:t>convolutional layer</a:t>
            </a:r>
            <a:r>
              <a:rPr lang="zh-TW" altLang="en-US" dirty="0"/>
              <a:t>）</a:t>
            </a:r>
            <a:endParaRPr lang="en-US" altLang="zh-TW" dirty="0"/>
          </a:p>
          <a:p>
            <a:pPr lvl="1"/>
            <a:r>
              <a:rPr lang="zh-TW" altLang="en-US" dirty="0"/>
              <a:t>池化層（</a:t>
            </a:r>
            <a:r>
              <a:rPr lang="en-US" altLang="zh-TW" dirty="0"/>
              <a:t>pooling layer</a:t>
            </a:r>
            <a:r>
              <a:rPr lang="zh-TW" altLang="en-US" dirty="0"/>
              <a:t>）</a:t>
            </a:r>
          </a:p>
        </p:txBody>
      </p:sp>
    </p:spTree>
    <p:extLst>
      <p:ext uri="{BB962C8B-B14F-4D97-AF65-F5344CB8AC3E}">
        <p14:creationId xmlns:p14="http://schemas.microsoft.com/office/powerpoint/2010/main" val="754988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卷積運算範例</a:t>
            </a:r>
          </a:p>
        </p:txBody>
      </p:sp>
      <p:sp>
        <p:nvSpPr>
          <p:cNvPr id="5" name="內容版面配置區 4"/>
          <p:cNvSpPr>
            <a:spLocks noGrp="1"/>
          </p:cNvSpPr>
          <p:nvPr>
            <p:ph idx="1"/>
          </p:nvPr>
        </p:nvSpPr>
        <p:spPr/>
        <p:txBody>
          <a:bodyPr/>
          <a:lstStyle/>
          <a:p>
            <a:endParaRPr lang="zh-TW"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6725" y="1588106"/>
            <a:ext cx="5412563" cy="3026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8740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卷積運算範例</a:t>
            </a:r>
          </a:p>
        </p:txBody>
      </p:sp>
      <p:sp>
        <p:nvSpPr>
          <p:cNvPr id="5" name="內容版面配置區 4"/>
          <p:cNvSpPr>
            <a:spLocks noGrp="1"/>
          </p:cNvSpPr>
          <p:nvPr>
            <p:ph idx="1"/>
          </p:nvPr>
        </p:nvSpPr>
        <p:spPr/>
        <p:txBody>
          <a:bodyPr/>
          <a:lstStyle/>
          <a:p>
            <a:endParaRPr lang="zh-TW"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6735" y="1366901"/>
            <a:ext cx="4588573" cy="3411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19036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a:t>池化層</a:t>
            </a:r>
            <a:endParaRPr lang="zh-TW" altLang="en-US" dirty="0"/>
          </a:p>
        </p:txBody>
      </p:sp>
      <p:sp>
        <p:nvSpPr>
          <p:cNvPr id="3" name="內容版面配置區 2"/>
          <p:cNvSpPr>
            <a:spLocks noGrp="1"/>
          </p:cNvSpPr>
          <p:nvPr>
            <p:ph idx="1"/>
          </p:nvPr>
        </p:nvSpPr>
        <p:spPr/>
        <p:txBody>
          <a:bodyPr/>
          <a:lstStyle/>
          <a:p>
            <a:r>
              <a:rPr lang="zh-TW" altLang="en-US" dirty="0"/>
              <a:t>常見的做法為</a:t>
            </a:r>
            <a:r>
              <a:rPr lang="zh-TW" altLang="en-US" dirty="0">
                <a:solidFill>
                  <a:srgbClr val="C00000"/>
                </a:solidFill>
              </a:rPr>
              <a:t>平均池化</a:t>
            </a:r>
            <a:r>
              <a:rPr lang="zh-TW" altLang="en-US" dirty="0"/>
              <a:t>（</a:t>
            </a:r>
            <a:r>
              <a:rPr lang="en-US" altLang="zh-TW" dirty="0"/>
              <a:t>average pooling</a:t>
            </a:r>
            <a:r>
              <a:rPr lang="zh-TW" altLang="en-US" dirty="0"/>
              <a:t>）和</a:t>
            </a:r>
            <a:r>
              <a:rPr lang="zh-TW" altLang="en-US" dirty="0">
                <a:solidFill>
                  <a:srgbClr val="C00000"/>
                </a:solidFill>
              </a:rPr>
              <a:t>最大池化</a:t>
            </a:r>
            <a:r>
              <a:rPr lang="zh-TW" altLang="en-US" dirty="0"/>
              <a:t>（</a:t>
            </a:r>
            <a:r>
              <a:rPr lang="en-US" altLang="zh-TW" dirty="0"/>
              <a:t>maximum</a:t>
            </a:r>
            <a:r>
              <a:rPr lang="zh-TW" altLang="en-US" dirty="0"/>
              <a:t> </a:t>
            </a:r>
            <a:r>
              <a:rPr lang="en-US" altLang="zh-TW" dirty="0"/>
              <a:t>pooling</a:t>
            </a:r>
            <a:r>
              <a:rPr lang="zh-TW" altLang="en-US" dirty="0"/>
              <a:t>）。</a:t>
            </a:r>
            <a:endParaRPr lang="en-US" altLang="zh-TW" dirty="0"/>
          </a:p>
          <a:p>
            <a:r>
              <a:rPr lang="zh-TW" altLang="en-US" dirty="0"/>
              <a:t>池化運算範例：</a:t>
            </a:r>
            <a:endParaRPr lang="en-US" altLang="zh-TW" dirty="0"/>
          </a:p>
          <a:p>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1870" y="2526745"/>
            <a:ext cx="5389873" cy="18571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93418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完整的</a:t>
            </a:r>
            <a:r>
              <a:rPr lang="en-US" altLang="zh-TW" dirty="0"/>
              <a:t>CNN</a:t>
            </a:r>
            <a:r>
              <a:rPr lang="zh-TW" altLang="en-US" dirty="0"/>
              <a:t>架構範例</a:t>
            </a:r>
          </a:p>
        </p:txBody>
      </p:sp>
      <p:sp>
        <p:nvSpPr>
          <p:cNvPr id="5" name="內容版面配置區 4"/>
          <p:cNvSpPr>
            <a:spLocks noGrp="1"/>
          </p:cNvSpPr>
          <p:nvPr>
            <p:ph idx="1"/>
          </p:nvPr>
        </p:nvSpPr>
        <p:spPr/>
        <p:txBody>
          <a:bodyPr>
            <a:normAutofit lnSpcReduction="10000"/>
          </a:bodyPr>
          <a:lstStyle/>
          <a:p>
            <a:r>
              <a:rPr lang="zh-TW" altLang="en-US" dirty="0"/>
              <a:t>將輸入的矩陣視需要進行多次的卷積和池化運算，若要保留全部數值，也可以只卷積不池化。</a:t>
            </a:r>
            <a:endParaRPr lang="en-US" altLang="zh-TW" dirty="0"/>
          </a:p>
          <a:p>
            <a:r>
              <a:rPr lang="zh-TW" altLang="en-US" dirty="0"/>
              <a:t>最後通常會接上一層或者多層的</a:t>
            </a:r>
            <a:r>
              <a:rPr lang="zh-TW" altLang="en-US" dirty="0">
                <a:solidFill>
                  <a:srgbClr val="C00000"/>
                </a:solidFill>
              </a:rPr>
              <a:t>全連接層</a:t>
            </a:r>
            <a:r>
              <a:rPr lang="zh-TW" altLang="en-US" dirty="0"/>
              <a:t>（</a:t>
            </a:r>
            <a:r>
              <a:rPr lang="en-US" altLang="zh-TW" dirty="0"/>
              <a:t>fully-connected layer</a:t>
            </a:r>
            <a:r>
              <a:rPr lang="zh-TW" altLang="en-US" dirty="0"/>
              <a:t>），利用彼此互相連接的神經元，進行最後的權重學習，然後輸出成所需要的格式，譬如分類結果或預測數值等。</a:t>
            </a:r>
          </a:p>
        </p:txBody>
      </p:sp>
    </p:spTree>
    <p:extLst>
      <p:ext uri="{BB962C8B-B14F-4D97-AF65-F5344CB8AC3E}">
        <p14:creationId xmlns:p14="http://schemas.microsoft.com/office/powerpoint/2010/main" val="2965996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完整的</a:t>
            </a:r>
            <a:r>
              <a:rPr lang="en-US" altLang="zh-TW" dirty="0"/>
              <a:t>CNN</a:t>
            </a:r>
            <a:r>
              <a:rPr lang="zh-TW" altLang="en-US" dirty="0"/>
              <a:t>架構範例</a:t>
            </a:r>
          </a:p>
        </p:txBody>
      </p:sp>
      <p:sp>
        <p:nvSpPr>
          <p:cNvPr id="3" name="內容版面配置區 2"/>
          <p:cNvSpPr>
            <a:spLocks noGrp="1"/>
          </p:cNvSpPr>
          <p:nvPr>
            <p:ph idx="1"/>
          </p:nvPr>
        </p:nvSpPr>
        <p:spPr/>
        <p:txBody>
          <a:bodyPr/>
          <a:lstStyle/>
          <a:p>
            <a:endParaRPr lang="zh-TW" altLang="en-US"/>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515" y="2031690"/>
            <a:ext cx="8577445" cy="11361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977386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RNN</a:t>
            </a:r>
            <a:endParaRPr lang="zh-TW" altLang="en-US" dirty="0"/>
          </a:p>
        </p:txBody>
      </p:sp>
      <p:sp>
        <p:nvSpPr>
          <p:cNvPr id="3" name="內容版面配置區 2"/>
          <p:cNvSpPr>
            <a:spLocks noGrp="1"/>
          </p:cNvSpPr>
          <p:nvPr>
            <p:ph idx="1"/>
          </p:nvPr>
        </p:nvSpPr>
        <p:spPr/>
        <p:txBody>
          <a:bodyPr>
            <a:normAutofit/>
          </a:bodyPr>
          <a:lstStyle/>
          <a:p>
            <a:r>
              <a:rPr lang="en-US" altLang="zh-TW" dirty="0"/>
              <a:t>CNN</a:t>
            </a:r>
            <a:r>
              <a:rPr lang="zh-TW" altLang="en-US" dirty="0"/>
              <a:t>針對單一圖片的辨識獲得極佳的成果，但是，有時候人類會根據過去的經驗和記憶進行判斷，也就是決策過程具有連續性。</a:t>
            </a:r>
            <a:endParaRPr lang="en-US" altLang="zh-TW" dirty="0"/>
          </a:p>
        </p:txBody>
      </p:sp>
    </p:spTree>
    <p:extLst>
      <p:ext uri="{BB962C8B-B14F-4D97-AF65-F5344CB8AC3E}">
        <p14:creationId xmlns:p14="http://schemas.microsoft.com/office/powerpoint/2010/main" val="4102525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RNN</a:t>
            </a:r>
            <a:endParaRPr lang="zh-TW" altLang="en-US" dirty="0"/>
          </a:p>
        </p:txBody>
      </p:sp>
      <p:sp>
        <p:nvSpPr>
          <p:cNvPr id="3" name="內容版面配置區 2"/>
          <p:cNvSpPr>
            <a:spLocks noGrp="1"/>
          </p:cNvSpPr>
          <p:nvPr>
            <p:ph idx="1"/>
          </p:nvPr>
        </p:nvSpPr>
        <p:spPr/>
        <p:txBody>
          <a:bodyPr/>
          <a:lstStyle/>
          <a:p>
            <a:r>
              <a:rPr lang="zh-TW" altLang="en-US" dirty="0"/>
              <a:t>對應此人類行為的設計則為</a:t>
            </a:r>
            <a:r>
              <a:rPr lang="zh-TW" altLang="en-US" dirty="0">
                <a:solidFill>
                  <a:srgbClr val="C00000"/>
                </a:solidFill>
              </a:rPr>
              <a:t>遞歸神經網路</a:t>
            </a:r>
            <a:r>
              <a:rPr lang="zh-TW" altLang="en-US" dirty="0"/>
              <a:t>（</a:t>
            </a:r>
            <a:r>
              <a:rPr lang="en-US" altLang="zh-TW" dirty="0"/>
              <a:t>Recurrent</a:t>
            </a:r>
            <a:r>
              <a:rPr lang="zh-TW" altLang="en-US" dirty="0"/>
              <a:t> </a:t>
            </a:r>
            <a:r>
              <a:rPr lang="en-US" altLang="zh-TW" dirty="0"/>
              <a:t>Neural Network</a:t>
            </a:r>
            <a:r>
              <a:rPr lang="zh-TW" altLang="en-US" dirty="0"/>
              <a:t>；</a:t>
            </a:r>
            <a:r>
              <a:rPr lang="en-US" altLang="zh-TW" dirty="0"/>
              <a:t>RNN</a:t>
            </a:r>
            <a:r>
              <a:rPr lang="zh-TW" altLang="en-US" dirty="0"/>
              <a:t>），也被稱作是一種具有記憶功能的網路。</a:t>
            </a:r>
          </a:p>
          <a:p>
            <a:endParaRPr lang="zh-TW" altLang="en-US" dirty="0"/>
          </a:p>
        </p:txBody>
      </p:sp>
    </p:spTree>
    <p:extLst>
      <p:ext uri="{BB962C8B-B14F-4D97-AF65-F5344CB8AC3E}">
        <p14:creationId xmlns:p14="http://schemas.microsoft.com/office/powerpoint/2010/main" val="3718751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RNN </a:t>
            </a:r>
            <a:r>
              <a:rPr lang="zh-TW" altLang="en-US" dirty="0"/>
              <a:t>架構</a:t>
            </a:r>
          </a:p>
        </p:txBody>
      </p:sp>
      <p:sp>
        <p:nvSpPr>
          <p:cNvPr id="5" name="內容版面配置區 4"/>
          <p:cNvSpPr>
            <a:spLocks noGrp="1"/>
          </p:cNvSpPr>
          <p:nvPr>
            <p:ph idx="1"/>
          </p:nvPr>
        </p:nvSpPr>
        <p:spPr/>
        <p:txBody>
          <a:bodyPr/>
          <a:lstStyle/>
          <a:p>
            <a:endParaRPr lang="zh-TW"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580" y="1716655"/>
            <a:ext cx="7962785" cy="2523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97558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lnSpcReduction="10000"/>
          </a:bodyPr>
          <a:lstStyle/>
          <a:p>
            <a:r>
              <a:rPr lang="en-US" altLang="zh-TW" dirty="0"/>
              <a:t>RNN</a:t>
            </a:r>
            <a:r>
              <a:rPr lang="zh-TW" altLang="en-US" dirty="0"/>
              <a:t>的架構特色就是每一次執行時都會考慮前面的狀況，所以常被用於處理時間序列，或是自然語言處理。</a:t>
            </a:r>
            <a:endParaRPr lang="en-US" altLang="zh-TW" dirty="0"/>
          </a:p>
          <a:p>
            <a:r>
              <a:rPr lang="zh-TW" altLang="en-US" dirty="0"/>
              <a:t>利用更多的控制閥（</a:t>
            </a:r>
            <a:r>
              <a:rPr lang="en-US" altLang="zh-TW" dirty="0"/>
              <a:t>gate</a:t>
            </a:r>
            <a:r>
              <a:rPr lang="zh-TW" altLang="en-US" dirty="0"/>
              <a:t>），來決定記憶的儲存和使用，可改善</a:t>
            </a:r>
            <a:r>
              <a:rPr lang="en-US" altLang="zh-TW" dirty="0"/>
              <a:t>RNN</a:t>
            </a:r>
            <a:r>
              <a:rPr lang="zh-TW" altLang="en-US" dirty="0"/>
              <a:t>的記憶儲存問題或加快執行速度，是目前較多人使用的模式。</a:t>
            </a:r>
          </a:p>
        </p:txBody>
      </p:sp>
    </p:spTree>
    <p:extLst>
      <p:ext uri="{BB962C8B-B14F-4D97-AF65-F5344CB8AC3E}">
        <p14:creationId xmlns:p14="http://schemas.microsoft.com/office/powerpoint/2010/main" val="24333031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14-3</a:t>
            </a:r>
            <a:r>
              <a:rPr lang="zh-TW" altLang="en-US" dirty="0"/>
              <a:t> 生成式</a:t>
            </a:r>
            <a:r>
              <a:rPr lang="en-US" altLang="zh-TW" dirty="0"/>
              <a:t>AI</a:t>
            </a:r>
            <a:endParaRPr lang="zh-TW" altLang="en-US" dirty="0"/>
          </a:p>
        </p:txBody>
      </p:sp>
      <p:sp>
        <p:nvSpPr>
          <p:cNvPr id="3" name="內容版面配置區 2"/>
          <p:cNvSpPr>
            <a:spLocks noGrp="1"/>
          </p:cNvSpPr>
          <p:nvPr>
            <p:ph idx="1"/>
          </p:nvPr>
        </p:nvSpPr>
        <p:spPr/>
        <p:txBody>
          <a:bodyPr>
            <a:normAutofit fontScale="85000" lnSpcReduction="10000"/>
          </a:bodyPr>
          <a:lstStyle/>
          <a:p>
            <a:r>
              <a:rPr lang="zh-TW" altLang="en-US" dirty="0"/>
              <a:t>第一個頗受注意的架構為</a:t>
            </a:r>
            <a:r>
              <a:rPr lang="zh-TW" altLang="en-US" dirty="0">
                <a:solidFill>
                  <a:srgbClr val="C00000"/>
                </a:solidFill>
              </a:rPr>
              <a:t>生成對抗網路</a:t>
            </a:r>
            <a:r>
              <a:rPr lang="zh-TW" altLang="en-US" dirty="0"/>
              <a:t>（</a:t>
            </a:r>
            <a:r>
              <a:rPr lang="en-US" altLang="zh-TW" dirty="0"/>
              <a:t>Generative Adversarial Network</a:t>
            </a:r>
            <a:r>
              <a:rPr lang="zh-TW" altLang="en-US" dirty="0"/>
              <a:t>；</a:t>
            </a:r>
            <a:r>
              <a:rPr lang="en-US" altLang="zh-TW" dirty="0"/>
              <a:t>GAN</a:t>
            </a:r>
            <a:r>
              <a:rPr lang="zh-TW" altLang="en-US" dirty="0"/>
              <a:t>），其最吸睛的應用，就是可用來產生精美的圖片，如漫畫中的美少女。</a:t>
            </a:r>
            <a:endParaRPr lang="en-US" altLang="zh-TW" dirty="0"/>
          </a:p>
          <a:p>
            <a:r>
              <a:rPr lang="zh-TW" altLang="en-US" dirty="0"/>
              <a:t>生成對抗網路主要包含兩個部分：</a:t>
            </a:r>
            <a:endParaRPr lang="en-US" altLang="zh-TW" dirty="0"/>
          </a:p>
          <a:p>
            <a:pPr lvl="1"/>
            <a:r>
              <a:rPr lang="zh-TW" altLang="en-US" dirty="0"/>
              <a:t>生成網路（</a:t>
            </a:r>
            <a:r>
              <a:rPr lang="en-US" altLang="zh-TW" dirty="0"/>
              <a:t>generative network</a:t>
            </a:r>
            <a:r>
              <a:rPr lang="zh-TW" altLang="en-US" dirty="0"/>
              <a:t>）或稱生成器（</a:t>
            </a:r>
            <a:r>
              <a:rPr lang="en-US" altLang="zh-TW" dirty="0"/>
              <a:t>generator</a:t>
            </a:r>
            <a:r>
              <a:rPr lang="zh-TW" altLang="en-US" dirty="0"/>
              <a:t>）。</a:t>
            </a:r>
            <a:endParaRPr lang="en-US" altLang="zh-TW" dirty="0"/>
          </a:p>
          <a:p>
            <a:pPr lvl="1"/>
            <a:r>
              <a:rPr lang="zh-TW" altLang="en-US" dirty="0"/>
              <a:t>判別網路（</a:t>
            </a:r>
            <a:r>
              <a:rPr lang="en-US" altLang="zh-TW" dirty="0"/>
              <a:t>discriminating network</a:t>
            </a:r>
            <a:r>
              <a:rPr lang="zh-TW" altLang="en-US" dirty="0"/>
              <a:t>）或稱判別器（</a:t>
            </a:r>
            <a:r>
              <a:rPr lang="en-US" altLang="zh-TW" dirty="0"/>
              <a:t>discriminator</a:t>
            </a:r>
            <a:r>
              <a:rPr lang="zh-TW" altLang="en-US" dirty="0"/>
              <a:t>）。</a:t>
            </a:r>
          </a:p>
        </p:txBody>
      </p:sp>
    </p:spTree>
    <p:extLst>
      <p:ext uri="{BB962C8B-B14F-4D97-AF65-F5344CB8AC3E}">
        <p14:creationId xmlns:p14="http://schemas.microsoft.com/office/powerpoint/2010/main" val="37883204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906565"/>
            <a:ext cx="8229600" cy="722012"/>
          </a:xfrm>
        </p:spPr>
        <p:txBody>
          <a:bodyPr>
            <a:normAutofit fontScale="90000"/>
          </a:bodyPr>
          <a:lstStyle/>
          <a:p>
            <a:r>
              <a:rPr lang="zh-TW" altLang="en-US" dirty="0"/>
              <a:t>利用生成對抗網路</a:t>
            </a:r>
            <a:br>
              <a:rPr lang="en-US" altLang="zh-TW" dirty="0"/>
            </a:br>
            <a:r>
              <a:rPr lang="zh-TW" altLang="en-US" dirty="0"/>
              <a:t>產生圖片的示意圖</a:t>
            </a:r>
          </a:p>
        </p:txBody>
      </p:sp>
      <p:sp>
        <p:nvSpPr>
          <p:cNvPr id="5" name="內容版面配置區 4"/>
          <p:cNvSpPr>
            <a:spLocks noGrp="1"/>
          </p:cNvSpPr>
          <p:nvPr>
            <p:ph idx="1"/>
          </p:nvPr>
        </p:nvSpPr>
        <p:spPr/>
        <p:txBody>
          <a:bodyPr/>
          <a:lstStyle/>
          <a:p>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2473" y="1896675"/>
            <a:ext cx="6480720" cy="24341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431439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634603"/>
            <a:ext cx="7220145" cy="722012"/>
          </a:xfrm>
        </p:spPr>
        <p:txBody>
          <a:bodyPr>
            <a:normAutofit/>
          </a:bodyPr>
          <a:lstStyle/>
          <a:p>
            <a:r>
              <a:rPr lang="zh-TW" altLang="en-US" dirty="0"/>
              <a:t>注意力機制和變換器模型</a:t>
            </a:r>
          </a:p>
        </p:txBody>
      </p:sp>
      <p:sp>
        <p:nvSpPr>
          <p:cNvPr id="3" name="內容版面配置區 2"/>
          <p:cNvSpPr>
            <a:spLocks noGrp="1"/>
          </p:cNvSpPr>
          <p:nvPr>
            <p:ph idx="1"/>
          </p:nvPr>
        </p:nvSpPr>
        <p:spPr>
          <a:xfrm>
            <a:off x="457200" y="1525384"/>
            <a:ext cx="5869995" cy="3069239"/>
          </a:xfrm>
        </p:spPr>
        <p:txBody>
          <a:bodyPr>
            <a:normAutofit/>
          </a:bodyPr>
          <a:lstStyle/>
          <a:p>
            <a:r>
              <a:rPr lang="en-US" altLang="zh-TW" dirty="0"/>
              <a:t>GAN</a:t>
            </a:r>
            <a:r>
              <a:rPr lang="zh-TW" altLang="en-US" dirty="0"/>
              <a:t>模型主要應用於生成圖片，而廣泛使用於大型語言模型中，用來產生文字的則是</a:t>
            </a:r>
            <a:r>
              <a:rPr lang="zh-TW" altLang="en-US" dirty="0">
                <a:solidFill>
                  <a:srgbClr val="C00000"/>
                </a:solidFill>
              </a:rPr>
              <a:t>變換器</a:t>
            </a:r>
            <a:r>
              <a:rPr lang="zh-TW" altLang="en-US" dirty="0"/>
              <a:t>（</a:t>
            </a:r>
            <a:r>
              <a:rPr lang="en-US" altLang="zh-TW" dirty="0"/>
              <a:t>Transformer</a:t>
            </a:r>
            <a:r>
              <a:rPr lang="zh-TW" altLang="en-US" dirty="0"/>
              <a:t>）模型，其架構如圖</a:t>
            </a:r>
            <a:r>
              <a:rPr lang="en-US" altLang="zh-TW" dirty="0"/>
              <a:t>14-9</a:t>
            </a:r>
            <a:r>
              <a:rPr lang="zh-TW" altLang="en-US" dirty="0"/>
              <a:t>所示。</a:t>
            </a:r>
          </a:p>
        </p:txBody>
      </p:sp>
      <p:pic>
        <p:nvPicPr>
          <p:cNvPr id="5" name="圖片 4">
            <a:extLst>
              <a:ext uri="{FF2B5EF4-FFF2-40B4-BE49-F238E27FC236}">
                <a16:creationId xmlns:a16="http://schemas.microsoft.com/office/drawing/2014/main" id="{FDF3F1A2-6FF7-BDAE-F9D8-7FFA5EC43B73}"/>
              </a:ext>
            </a:extLst>
          </p:cNvPr>
          <p:cNvPicPr>
            <a:picLocks noChangeAspect="1"/>
          </p:cNvPicPr>
          <p:nvPr/>
        </p:nvPicPr>
        <p:blipFill>
          <a:blip r:embed="rId2"/>
          <a:stretch>
            <a:fillRect/>
          </a:stretch>
        </p:blipFill>
        <p:spPr>
          <a:xfrm>
            <a:off x="6642230" y="889150"/>
            <a:ext cx="2169742" cy="3630915"/>
          </a:xfrm>
          <a:prstGeom prst="rect">
            <a:avLst/>
          </a:prstGeom>
        </p:spPr>
      </p:pic>
    </p:spTree>
    <p:extLst>
      <p:ext uri="{BB962C8B-B14F-4D97-AF65-F5344CB8AC3E}">
        <p14:creationId xmlns:p14="http://schemas.microsoft.com/office/powerpoint/2010/main" val="3505074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83B09B-CA7F-6FE0-2A38-35AC44973AB5}"/>
              </a:ext>
            </a:extLst>
          </p:cNvPr>
          <p:cNvSpPr>
            <a:spLocks noGrp="1"/>
          </p:cNvSpPr>
          <p:nvPr>
            <p:ph type="title"/>
          </p:nvPr>
        </p:nvSpPr>
        <p:spPr/>
        <p:txBody>
          <a:bodyPr/>
          <a:lstStyle/>
          <a:p>
            <a:r>
              <a:rPr lang="zh-TW" altLang="en-US" dirty="0"/>
              <a:t>注意力機制和變換器模型</a:t>
            </a:r>
          </a:p>
        </p:txBody>
      </p:sp>
      <p:sp>
        <p:nvSpPr>
          <p:cNvPr id="3" name="內容版面配置區 2">
            <a:extLst>
              <a:ext uri="{FF2B5EF4-FFF2-40B4-BE49-F238E27FC236}">
                <a16:creationId xmlns:a16="http://schemas.microsoft.com/office/drawing/2014/main" id="{355719A1-E2CA-F153-94C0-2AF6AEA1CB62}"/>
              </a:ext>
            </a:extLst>
          </p:cNvPr>
          <p:cNvSpPr>
            <a:spLocks noGrp="1"/>
          </p:cNvSpPr>
          <p:nvPr>
            <p:ph idx="1"/>
          </p:nvPr>
        </p:nvSpPr>
        <p:spPr/>
        <p:txBody>
          <a:bodyPr>
            <a:normAutofit fontScale="85000" lnSpcReduction="20000"/>
          </a:bodyPr>
          <a:lstStyle/>
          <a:p>
            <a:r>
              <a:rPr lang="en-US" altLang="zh-TW" dirty="0"/>
              <a:t>Transformer </a:t>
            </a:r>
            <a:r>
              <a:rPr lang="zh-TW" altLang="en-US" dirty="0"/>
              <a:t>的模型精神來自於</a:t>
            </a:r>
            <a:r>
              <a:rPr lang="en-US" altLang="zh-TW" dirty="0">
                <a:solidFill>
                  <a:srgbClr val="C00000"/>
                </a:solidFill>
              </a:rPr>
              <a:t>Seq2Seq</a:t>
            </a:r>
            <a:r>
              <a:rPr lang="zh-TW" altLang="en-US" dirty="0"/>
              <a:t>（</a:t>
            </a:r>
            <a:r>
              <a:rPr lang="en-US" altLang="zh-TW" dirty="0"/>
              <a:t>sequence-to-sequence</a:t>
            </a:r>
            <a:r>
              <a:rPr lang="zh-TW" altLang="en-US" dirty="0"/>
              <a:t>）。</a:t>
            </a:r>
            <a:endParaRPr lang="en-US" altLang="zh-TW" dirty="0"/>
          </a:p>
          <a:p>
            <a:r>
              <a:rPr lang="en-US" altLang="zh-TW" dirty="0"/>
              <a:t>RNN</a:t>
            </a:r>
            <a:r>
              <a:rPr lang="zh-TW" altLang="en-US" dirty="0"/>
              <a:t>的輸入也是一個序列，但其輸出基本上為一個值，或者可修正為固定長度的序列。</a:t>
            </a:r>
            <a:endParaRPr lang="en-US" altLang="zh-TW" dirty="0"/>
          </a:p>
          <a:p>
            <a:r>
              <a:rPr lang="en-US" altLang="zh-TW" dirty="0"/>
              <a:t>Seq2Seq</a:t>
            </a:r>
            <a:r>
              <a:rPr lang="zh-TW" altLang="en-US" dirty="0"/>
              <a:t>強調的是，輸入為一串序列，輸出亦為一串序列，且長度不等長，所以特別適合用於自然語言處理，如機器翻譯。</a:t>
            </a:r>
          </a:p>
        </p:txBody>
      </p:sp>
    </p:spTree>
    <p:extLst>
      <p:ext uri="{BB962C8B-B14F-4D97-AF65-F5344CB8AC3E}">
        <p14:creationId xmlns:p14="http://schemas.microsoft.com/office/powerpoint/2010/main" val="2023155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679175-DEFB-30A2-AF08-2300E5186D3F}"/>
              </a:ext>
            </a:extLst>
          </p:cNvPr>
          <p:cNvSpPr>
            <a:spLocks noGrp="1"/>
          </p:cNvSpPr>
          <p:nvPr>
            <p:ph type="title"/>
          </p:nvPr>
        </p:nvSpPr>
        <p:spPr/>
        <p:txBody>
          <a:bodyPr/>
          <a:lstStyle/>
          <a:p>
            <a:r>
              <a:rPr lang="zh-TW" altLang="en-US" dirty="0"/>
              <a:t>注意力機制和變換器模型</a:t>
            </a:r>
          </a:p>
        </p:txBody>
      </p:sp>
      <p:sp>
        <p:nvSpPr>
          <p:cNvPr id="3" name="內容版面配置區 2">
            <a:extLst>
              <a:ext uri="{FF2B5EF4-FFF2-40B4-BE49-F238E27FC236}">
                <a16:creationId xmlns:a16="http://schemas.microsoft.com/office/drawing/2014/main" id="{DDCA8AE9-6F74-2CE6-F1DC-CC65F74E4A76}"/>
              </a:ext>
            </a:extLst>
          </p:cNvPr>
          <p:cNvSpPr>
            <a:spLocks noGrp="1"/>
          </p:cNvSpPr>
          <p:nvPr>
            <p:ph idx="1"/>
          </p:nvPr>
        </p:nvSpPr>
        <p:spPr/>
        <p:txBody>
          <a:bodyPr>
            <a:normAutofit fontScale="92500"/>
          </a:bodyPr>
          <a:lstStyle/>
          <a:p>
            <a:r>
              <a:rPr lang="en-US" altLang="zh-TW" dirty="0"/>
              <a:t>Seq2Seq</a:t>
            </a:r>
            <a:r>
              <a:rPr lang="zh-TW" altLang="en-US" dirty="0"/>
              <a:t>架構設計由兩個網路組成：</a:t>
            </a:r>
            <a:endParaRPr lang="en-US" altLang="zh-TW" dirty="0"/>
          </a:p>
          <a:p>
            <a:pPr lvl="1"/>
            <a:r>
              <a:rPr lang="zh-TW" altLang="en-US" dirty="0"/>
              <a:t>第一個網路，也稱為編碼器（</a:t>
            </a:r>
            <a:r>
              <a:rPr lang="en-US" altLang="zh-TW" dirty="0"/>
              <a:t>encoder</a:t>
            </a:r>
            <a:r>
              <a:rPr lang="zh-TW" altLang="en-US" dirty="0"/>
              <a:t>），會先處理輸入序列，將其資訊壓縮成一個固定長度的向量，稱為語境向量（</a:t>
            </a:r>
            <a:r>
              <a:rPr lang="en-US" altLang="zh-TW" dirty="0"/>
              <a:t>context vector</a:t>
            </a:r>
            <a:r>
              <a:rPr lang="zh-TW" altLang="en-US" dirty="0"/>
              <a:t>），以代表整個輸入的語意精華。</a:t>
            </a:r>
            <a:endParaRPr lang="en-US" altLang="zh-TW" dirty="0"/>
          </a:p>
          <a:p>
            <a:pPr lvl="1"/>
            <a:r>
              <a:rPr lang="zh-TW" altLang="en-US" dirty="0"/>
              <a:t>第二個網路，也稱為解碼器（</a:t>
            </a:r>
            <a:r>
              <a:rPr lang="en-US" altLang="zh-TW" dirty="0"/>
              <a:t>decoder</a:t>
            </a:r>
            <a:r>
              <a:rPr lang="zh-TW" altLang="en-US" dirty="0"/>
              <a:t>），再接收語境向量，並逐字生成輸出序列。</a:t>
            </a:r>
          </a:p>
        </p:txBody>
      </p:sp>
    </p:spTree>
    <p:extLst>
      <p:ext uri="{BB962C8B-B14F-4D97-AF65-F5344CB8AC3E}">
        <p14:creationId xmlns:p14="http://schemas.microsoft.com/office/powerpoint/2010/main" val="24324694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A2E62F-24DF-B302-09E0-E48BB9BE0576}"/>
              </a:ext>
            </a:extLst>
          </p:cNvPr>
          <p:cNvSpPr>
            <a:spLocks noGrp="1"/>
          </p:cNvSpPr>
          <p:nvPr>
            <p:ph type="title"/>
          </p:nvPr>
        </p:nvSpPr>
        <p:spPr/>
        <p:txBody>
          <a:bodyPr/>
          <a:lstStyle/>
          <a:p>
            <a:r>
              <a:rPr lang="zh-TW" altLang="en-US" dirty="0"/>
              <a:t>注意力機制和變換器模型</a:t>
            </a:r>
          </a:p>
        </p:txBody>
      </p:sp>
      <p:sp>
        <p:nvSpPr>
          <p:cNvPr id="3" name="內容版面配置區 2">
            <a:extLst>
              <a:ext uri="{FF2B5EF4-FFF2-40B4-BE49-F238E27FC236}">
                <a16:creationId xmlns:a16="http://schemas.microsoft.com/office/drawing/2014/main" id="{1B7BB01A-4D83-0D0D-6BC4-FF9670DDF2BD}"/>
              </a:ext>
            </a:extLst>
          </p:cNvPr>
          <p:cNvSpPr>
            <a:spLocks noGrp="1"/>
          </p:cNvSpPr>
          <p:nvPr>
            <p:ph idx="1"/>
          </p:nvPr>
        </p:nvSpPr>
        <p:spPr/>
        <p:txBody>
          <a:bodyPr>
            <a:normAutofit/>
          </a:bodyPr>
          <a:lstStyle/>
          <a:p>
            <a:r>
              <a:rPr lang="zh-TW" altLang="en-US" dirty="0"/>
              <a:t>圖</a:t>
            </a:r>
            <a:r>
              <a:rPr lang="en-US" altLang="zh-TW" dirty="0"/>
              <a:t>14-9</a:t>
            </a:r>
            <a:r>
              <a:rPr lang="zh-TW" altLang="en-US" dirty="0"/>
              <a:t>的</a:t>
            </a:r>
            <a:r>
              <a:rPr lang="en-US" altLang="zh-TW" dirty="0"/>
              <a:t>Transformer</a:t>
            </a:r>
            <a:r>
              <a:rPr lang="zh-TW" altLang="en-US" dirty="0"/>
              <a:t>架構，左半部是編碼器，右半部是解碼器。</a:t>
            </a:r>
            <a:endParaRPr lang="en-US" altLang="zh-TW" dirty="0"/>
          </a:p>
          <a:p>
            <a:r>
              <a:rPr lang="zh-TW" altLang="en-US" dirty="0"/>
              <a:t>為了改善</a:t>
            </a:r>
            <a:r>
              <a:rPr lang="en-US" altLang="zh-TW" dirty="0"/>
              <a:t>Seq2Seq</a:t>
            </a:r>
            <a:r>
              <a:rPr lang="zh-TW" altLang="en-US" dirty="0"/>
              <a:t>架構中，當句子過長，模型會忘記開頭資訊的缺點，所以特別引入</a:t>
            </a:r>
            <a:r>
              <a:rPr lang="zh-TW" altLang="en-US" dirty="0">
                <a:solidFill>
                  <a:srgbClr val="C00000"/>
                </a:solidFill>
              </a:rPr>
              <a:t>自注意力機制</a:t>
            </a:r>
            <a:r>
              <a:rPr lang="zh-TW" altLang="en-US" dirty="0"/>
              <a:t>（</a:t>
            </a:r>
            <a:r>
              <a:rPr lang="en-US" altLang="zh-TW" dirty="0"/>
              <a:t>self-attention mechanism</a:t>
            </a:r>
            <a:r>
              <a:rPr lang="zh-TW" altLang="en-US" dirty="0"/>
              <a:t>）。</a:t>
            </a:r>
          </a:p>
        </p:txBody>
      </p:sp>
    </p:spTree>
    <p:extLst>
      <p:ext uri="{BB962C8B-B14F-4D97-AF65-F5344CB8AC3E}">
        <p14:creationId xmlns:p14="http://schemas.microsoft.com/office/powerpoint/2010/main" val="24310890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擴散模型</a:t>
            </a:r>
          </a:p>
        </p:txBody>
      </p:sp>
      <p:sp>
        <p:nvSpPr>
          <p:cNvPr id="3" name="內容版面配置區 2"/>
          <p:cNvSpPr>
            <a:spLocks noGrp="1"/>
          </p:cNvSpPr>
          <p:nvPr>
            <p:ph idx="1"/>
          </p:nvPr>
        </p:nvSpPr>
        <p:spPr/>
        <p:txBody>
          <a:bodyPr>
            <a:normAutofit/>
          </a:bodyPr>
          <a:lstStyle/>
          <a:p>
            <a:r>
              <a:rPr lang="zh-TW" altLang="en-US" dirty="0"/>
              <a:t>大型語言模型（</a:t>
            </a:r>
            <a:r>
              <a:rPr lang="en-US" altLang="zh-TW" dirty="0"/>
              <a:t>LLM</a:t>
            </a:r>
            <a:r>
              <a:rPr lang="zh-TW" altLang="en-US" dirty="0"/>
              <a:t>）是處理序列資料。</a:t>
            </a:r>
            <a:endParaRPr lang="en-US" altLang="zh-TW" dirty="0"/>
          </a:p>
          <a:p>
            <a:r>
              <a:rPr lang="zh-TW" altLang="en-US" dirty="0"/>
              <a:t>在連續訊號（如影像、音訊）的生成領域，擴散模型（</a:t>
            </a:r>
            <a:r>
              <a:rPr lang="en-US" altLang="zh-TW" dirty="0"/>
              <a:t>Diffusion model</a:t>
            </a:r>
            <a:r>
              <a:rPr lang="zh-TW" altLang="en-US" dirty="0"/>
              <a:t>）是目前的主流做法。</a:t>
            </a:r>
            <a:endParaRPr lang="en-US" altLang="zh-TW" dirty="0"/>
          </a:p>
        </p:txBody>
      </p:sp>
    </p:spTree>
    <p:extLst>
      <p:ext uri="{BB962C8B-B14F-4D97-AF65-F5344CB8AC3E}">
        <p14:creationId xmlns:p14="http://schemas.microsoft.com/office/powerpoint/2010/main" val="26945506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B88CB7-303B-E7F2-21AE-9BABD56904C7}"/>
              </a:ext>
            </a:extLst>
          </p:cNvPr>
          <p:cNvSpPr>
            <a:spLocks noGrp="1"/>
          </p:cNvSpPr>
          <p:nvPr>
            <p:ph type="title"/>
          </p:nvPr>
        </p:nvSpPr>
        <p:spPr/>
        <p:txBody>
          <a:bodyPr/>
          <a:lstStyle/>
          <a:p>
            <a:r>
              <a:rPr lang="zh-TW" altLang="en-US" dirty="0"/>
              <a:t>擴散模型</a:t>
            </a:r>
          </a:p>
        </p:txBody>
      </p:sp>
      <p:sp>
        <p:nvSpPr>
          <p:cNvPr id="3" name="內容版面配置區 2">
            <a:extLst>
              <a:ext uri="{FF2B5EF4-FFF2-40B4-BE49-F238E27FC236}">
                <a16:creationId xmlns:a16="http://schemas.microsoft.com/office/drawing/2014/main" id="{792546CC-FD13-B83C-1525-5F6ED1D338A6}"/>
              </a:ext>
            </a:extLst>
          </p:cNvPr>
          <p:cNvSpPr>
            <a:spLocks noGrp="1"/>
          </p:cNvSpPr>
          <p:nvPr>
            <p:ph idx="1"/>
          </p:nvPr>
        </p:nvSpPr>
        <p:spPr/>
        <p:txBody>
          <a:bodyPr/>
          <a:lstStyle/>
          <a:p>
            <a:r>
              <a:rPr lang="zh-TW" altLang="en-US" dirty="0"/>
              <a:t>擴散模型包含以下兩個核心過程：</a:t>
            </a:r>
            <a:endParaRPr lang="en-US" altLang="zh-TW" dirty="0"/>
          </a:p>
          <a:p>
            <a:pPr lvl="1"/>
            <a:r>
              <a:rPr lang="zh-TW" altLang="en-US" dirty="0"/>
              <a:t>前向過程（</a:t>
            </a:r>
            <a:r>
              <a:rPr lang="en-US" altLang="zh-TW" dirty="0"/>
              <a:t>forward process</a:t>
            </a:r>
            <a:r>
              <a:rPr lang="zh-TW" altLang="en-US" dirty="0"/>
              <a:t>）： 想像將一滴墨水滴入清水中，墨水會逐漸擴散（</a:t>
            </a:r>
            <a:r>
              <a:rPr lang="en-US" altLang="zh-TW" dirty="0"/>
              <a:t>diffusion</a:t>
            </a:r>
            <a:r>
              <a:rPr lang="zh-TW" altLang="en-US" dirty="0"/>
              <a:t>），直到整杯水變成均勻的顏色。在影像處理中，這相當於我們逐步對一張清晰的照片加入高斯雜訊（</a:t>
            </a:r>
            <a:r>
              <a:rPr lang="en-US" altLang="zh-TW" dirty="0"/>
              <a:t>Gaussian noise</a:t>
            </a:r>
            <a:r>
              <a:rPr lang="zh-TW" altLang="en-US" dirty="0"/>
              <a:t>），直到它變成完全隨機的白雜訊。</a:t>
            </a:r>
          </a:p>
        </p:txBody>
      </p:sp>
    </p:spTree>
    <p:extLst>
      <p:ext uri="{BB962C8B-B14F-4D97-AF65-F5344CB8AC3E}">
        <p14:creationId xmlns:p14="http://schemas.microsoft.com/office/powerpoint/2010/main" val="3896330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77CB5-8FBE-C31C-C478-5CFCC2F3715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FA5A6C3-BFD9-4366-020F-979950FD70CA}"/>
              </a:ext>
            </a:extLst>
          </p:cNvPr>
          <p:cNvSpPr>
            <a:spLocks noGrp="1"/>
          </p:cNvSpPr>
          <p:nvPr>
            <p:ph type="title"/>
          </p:nvPr>
        </p:nvSpPr>
        <p:spPr/>
        <p:txBody>
          <a:bodyPr/>
          <a:lstStyle/>
          <a:p>
            <a:r>
              <a:rPr lang="zh-TW" altLang="en-US" dirty="0"/>
              <a:t>擴散模型</a:t>
            </a:r>
          </a:p>
        </p:txBody>
      </p:sp>
      <p:sp>
        <p:nvSpPr>
          <p:cNvPr id="3" name="內容版面配置區 2">
            <a:extLst>
              <a:ext uri="{FF2B5EF4-FFF2-40B4-BE49-F238E27FC236}">
                <a16:creationId xmlns:a16="http://schemas.microsoft.com/office/drawing/2014/main" id="{D3D8B8F4-6B3A-98B9-AF24-108D705A7C90}"/>
              </a:ext>
            </a:extLst>
          </p:cNvPr>
          <p:cNvSpPr>
            <a:spLocks noGrp="1"/>
          </p:cNvSpPr>
          <p:nvPr>
            <p:ph idx="1"/>
          </p:nvPr>
        </p:nvSpPr>
        <p:spPr/>
        <p:txBody>
          <a:bodyPr/>
          <a:lstStyle/>
          <a:p>
            <a:r>
              <a:rPr lang="zh-TW" altLang="en-US" dirty="0"/>
              <a:t>擴散模型包含以下兩個核心過程：</a:t>
            </a:r>
            <a:endParaRPr lang="en-US" altLang="zh-TW" dirty="0"/>
          </a:p>
          <a:p>
            <a:pPr lvl="1"/>
            <a:r>
              <a:rPr lang="zh-TW" altLang="en-US" dirty="0"/>
              <a:t>逆向過程（</a:t>
            </a:r>
            <a:r>
              <a:rPr lang="en-US" altLang="zh-TW" dirty="0"/>
              <a:t>reverse process</a:t>
            </a:r>
            <a:r>
              <a:rPr lang="zh-TW" altLang="en-US" dirty="0"/>
              <a:t>）： </a:t>
            </a:r>
            <a:r>
              <a:rPr lang="en-US" altLang="zh-TW" dirty="0"/>
              <a:t>AI</a:t>
            </a:r>
            <a:r>
              <a:rPr lang="zh-TW" altLang="en-US" dirty="0"/>
              <a:t>的任務，就是學習前向過程的逆運算。具體來說，給定一團毫無意義的雜訊，模型若知道這團雜訊一開始是由某張圖片轉變而來，那它想要嘗試預測的，是上一刻的樣子應該是什麼？也就是所謂的去噪（</a:t>
            </a:r>
            <a:r>
              <a:rPr lang="en-US" altLang="zh-TW" dirty="0"/>
              <a:t>denoising</a:t>
            </a:r>
            <a:r>
              <a:rPr lang="zh-TW" altLang="en-US" dirty="0"/>
              <a:t>）。</a:t>
            </a:r>
          </a:p>
        </p:txBody>
      </p:sp>
    </p:spTree>
    <p:extLst>
      <p:ext uri="{BB962C8B-B14F-4D97-AF65-F5344CB8AC3E}">
        <p14:creationId xmlns:p14="http://schemas.microsoft.com/office/powerpoint/2010/main" val="42579898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EE8A96-1B1B-5229-15E8-793F1603365B}"/>
              </a:ext>
            </a:extLst>
          </p:cNvPr>
          <p:cNvSpPr>
            <a:spLocks noGrp="1"/>
          </p:cNvSpPr>
          <p:nvPr>
            <p:ph type="title"/>
          </p:nvPr>
        </p:nvSpPr>
        <p:spPr>
          <a:xfrm>
            <a:off x="457200" y="634603"/>
            <a:ext cx="8229600" cy="722012"/>
          </a:xfrm>
        </p:spPr>
        <p:txBody>
          <a:bodyPr anchor="ctr">
            <a:normAutofit/>
          </a:bodyPr>
          <a:lstStyle/>
          <a:p>
            <a:r>
              <a:rPr lang="zh-TW" altLang="en-US" dirty="0"/>
              <a:t>擴散模型</a:t>
            </a:r>
          </a:p>
        </p:txBody>
      </p:sp>
      <p:pic>
        <p:nvPicPr>
          <p:cNvPr id="5" name="圖片 4">
            <a:extLst>
              <a:ext uri="{FF2B5EF4-FFF2-40B4-BE49-F238E27FC236}">
                <a16:creationId xmlns:a16="http://schemas.microsoft.com/office/drawing/2014/main" id="{DC226927-56A7-317F-603F-E65C78A2F1C7}"/>
              </a:ext>
            </a:extLst>
          </p:cNvPr>
          <p:cNvPicPr>
            <a:picLocks noChangeAspect="1"/>
          </p:cNvPicPr>
          <p:nvPr/>
        </p:nvPicPr>
        <p:blipFill>
          <a:blip r:embed="rId2"/>
          <a:stretch>
            <a:fillRect/>
          </a:stretch>
        </p:blipFill>
        <p:spPr>
          <a:xfrm>
            <a:off x="1831608" y="1525384"/>
            <a:ext cx="5480783" cy="3069239"/>
          </a:xfrm>
          <a:prstGeom prst="rect">
            <a:avLst/>
          </a:prstGeom>
          <a:noFill/>
        </p:spPr>
      </p:pic>
    </p:spTree>
    <p:extLst>
      <p:ext uri="{BB962C8B-B14F-4D97-AF65-F5344CB8AC3E}">
        <p14:creationId xmlns:p14="http://schemas.microsoft.com/office/powerpoint/2010/main" val="11994007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14-4</a:t>
            </a:r>
            <a:r>
              <a:rPr lang="zh-TW" altLang="en-US" dirty="0"/>
              <a:t> 大型語言模型</a:t>
            </a:r>
          </a:p>
        </p:txBody>
      </p:sp>
      <p:sp>
        <p:nvSpPr>
          <p:cNvPr id="3" name="內容版面配置區 2"/>
          <p:cNvSpPr>
            <a:spLocks noGrp="1"/>
          </p:cNvSpPr>
          <p:nvPr>
            <p:ph idx="1"/>
          </p:nvPr>
        </p:nvSpPr>
        <p:spPr/>
        <p:txBody>
          <a:bodyPr>
            <a:normAutofit fontScale="92500" lnSpcReduction="20000"/>
          </a:bodyPr>
          <a:lstStyle/>
          <a:p>
            <a:r>
              <a:rPr lang="zh-TW" altLang="en-US" dirty="0"/>
              <a:t>當我們將</a:t>
            </a:r>
            <a:r>
              <a:rPr lang="en-US" altLang="zh-TW" dirty="0"/>
              <a:t>Transformer</a:t>
            </a:r>
            <a:r>
              <a:rPr lang="zh-TW" altLang="en-US" dirty="0"/>
              <a:t>架構堆疊得非常深，並使用人類已經產生的大量文本進行訓練後，大型語言模型（</a:t>
            </a:r>
            <a:r>
              <a:rPr lang="en-US" altLang="zh-TW" dirty="0"/>
              <a:t>large language model</a:t>
            </a:r>
            <a:r>
              <a:rPr lang="zh-TW" altLang="en-US" dirty="0"/>
              <a:t>；</a:t>
            </a:r>
            <a:r>
              <a:rPr lang="en-US" altLang="zh-TW" dirty="0"/>
              <a:t>LLM</a:t>
            </a:r>
            <a:r>
              <a:rPr lang="zh-TW" altLang="en-US" dirty="0"/>
              <a:t>）就此誕生。</a:t>
            </a:r>
            <a:endParaRPr lang="en-US" altLang="zh-TW" dirty="0"/>
          </a:p>
          <a:p>
            <a:r>
              <a:rPr lang="zh-TW" altLang="en-US" dirty="0"/>
              <a:t>根據</a:t>
            </a:r>
            <a:r>
              <a:rPr lang="en-US" altLang="zh-TW" dirty="0"/>
              <a:t>Transformer</a:t>
            </a:r>
            <a:r>
              <a:rPr lang="zh-TW" altLang="en-US" dirty="0"/>
              <a:t>的模型特性，</a:t>
            </a:r>
            <a:r>
              <a:rPr lang="en-US" altLang="zh-TW" dirty="0"/>
              <a:t>LLM</a:t>
            </a:r>
            <a:r>
              <a:rPr lang="zh-TW" altLang="en-US" dirty="0"/>
              <a:t>本質上是一個巨大的「機率預測機」。也就是，當你問它問題時，它原則上就是根據前面的字串，計算下一個最可能出現的字是什麼。</a:t>
            </a:r>
            <a:endParaRPr lang="en-US" altLang="zh-TW" dirty="0"/>
          </a:p>
        </p:txBody>
      </p:sp>
    </p:spTree>
    <p:extLst>
      <p:ext uri="{BB962C8B-B14F-4D97-AF65-F5344CB8AC3E}">
        <p14:creationId xmlns:p14="http://schemas.microsoft.com/office/powerpoint/2010/main" val="23459499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96B41-0DFF-0189-5B9B-465D7D9A137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139146B-A778-1EB2-4C91-FBB75A7CCD54}"/>
              </a:ext>
            </a:extLst>
          </p:cNvPr>
          <p:cNvSpPr>
            <a:spLocks noGrp="1"/>
          </p:cNvSpPr>
          <p:nvPr>
            <p:ph type="title"/>
          </p:nvPr>
        </p:nvSpPr>
        <p:spPr/>
        <p:txBody>
          <a:bodyPr>
            <a:normAutofit/>
          </a:bodyPr>
          <a:lstStyle/>
          <a:p>
            <a:r>
              <a:rPr lang="en-US" altLang="zh-TW" dirty="0"/>
              <a:t>14-4</a:t>
            </a:r>
            <a:r>
              <a:rPr lang="zh-TW" altLang="en-US" dirty="0"/>
              <a:t> 大型語言模型</a:t>
            </a:r>
          </a:p>
        </p:txBody>
      </p:sp>
      <p:sp>
        <p:nvSpPr>
          <p:cNvPr id="3" name="內容版面配置區 2">
            <a:extLst>
              <a:ext uri="{FF2B5EF4-FFF2-40B4-BE49-F238E27FC236}">
                <a16:creationId xmlns:a16="http://schemas.microsoft.com/office/drawing/2014/main" id="{16A28D13-7AD1-5A4B-2B4E-209D9FC77878}"/>
              </a:ext>
            </a:extLst>
          </p:cNvPr>
          <p:cNvSpPr>
            <a:spLocks noGrp="1"/>
          </p:cNvSpPr>
          <p:nvPr>
            <p:ph idx="1"/>
          </p:nvPr>
        </p:nvSpPr>
        <p:spPr/>
        <p:txBody>
          <a:bodyPr>
            <a:normAutofit fontScale="92500" lnSpcReduction="20000"/>
          </a:bodyPr>
          <a:lstStyle/>
          <a:p>
            <a:r>
              <a:rPr lang="en-US" altLang="zh-TW" dirty="0"/>
              <a:t>LLM</a:t>
            </a:r>
            <a:r>
              <a:rPr lang="zh-TW" altLang="en-US" dirty="0"/>
              <a:t>看似簡單的「文字接龍」，在模型參數達到數千億（如</a:t>
            </a:r>
            <a:r>
              <a:rPr lang="en-US" altLang="zh-TW" dirty="0"/>
              <a:t>GPT-4</a:t>
            </a:r>
            <a:r>
              <a:rPr lang="zh-TW" altLang="en-US" dirty="0"/>
              <a:t>）的規模時，突然具備了「湧現能力」（</a:t>
            </a:r>
            <a:r>
              <a:rPr lang="en-US" altLang="zh-TW" dirty="0"/>
              <a:t>emergent abilities</a:t>
            </a:r>
            <a:r>
              <a:rPr lang="zh-TW" altLang="en-US" dirty="0"/>
              <a:t>）。</a:t>
            </a:r>
            <a:endParaRPr lang="en-US" altLang="zh-TW" dirty="0"/>
          </a:p>
          <a:p>
            <a:pPr lvl="1"/>
            <a:r>
              <a:rPr lang="zh-TW" altLang="en-US" dirty="0"/>
              <a:t>此能力是指，當模型規模突破某個臨界點時，會突然具備小模型所沒有的能力，也就是為了精準預測下一個字，被迫「學會」了語法結構、邏輯推理、程式碼的執行邏輯等。此種現象可以說是因為量變而產生了質變，使得</a:t>
            </a:r>
            <a:r>
              <a:rPr lang="en-US" altLang="zh-TW" dirty="0"/>
              <a:t>LLM</a:t>
            </a:r>
            <a:r>
              <a:rPr lang="zh-TW" altLang="en-US" dirty="0"/>
              <a:t>將人類的知識壓縮到了神經網路的權重矩陣中。</a:t>
            </a:r>
          </a:p>
        </p:txBody>
      </p:sp>
    </p:spTree>
    <p:extLst>
      <p:ext uri="{BB962C8B-B14F-4D97-AF65-F5344CB8AC3E}">
        <p14:creationId xmlns:p14="http://schemas.microsoft.com/office/powerpoint/2010/main" val="26133018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9515B5-2B64-FB47-362B-7F42A4C26F8E}"/>
              </a:ext>
            </a:extLst>
          </p:cNvPr>
          <p:cNvSpPr>
            <a:spLocks noGrp="1"/>
          </p:cNvSpPr>
          <p:nvPr>
            <p:ph type="title"/>
          </p:nvPr>
        </p:nvSpPr>
        <p:spPr>
          <a:xfrm>
            <a:off x="457200" y="634603"/>
            <a:ext cx="8229600" cy="722012"/>
          </a:xfrm>
        </p:spPr>
        <p:txBody>
          <a:bodyPr anchor="ctr">
            <a:normAutofit/>
          </a:bodyPr>
          <a:lstStyle/>
          <a:p>
            <a:r>
              <a:rPr lang="zh-TW" altLang="en-US" dirty="0"/>
              <a:t>常見的</a:t>
            </a:r>
            <a:r>
              <a:rPr lang="en-US" altLang="zh-TW" dirty="0"/>
              <a:t>LLM</a:t>
            </a:r>
            <a:endParaRPr lang="zh-TW" altLang="en-US" dirty="0"/>
          </a:p>
        </p:txBody>
      </p:sp>
      <p:pic>
        <p:nvPicPr>
          <p:cNvPr id="5" name="圖片 4">
            <a:extLst>
              <a:ext uri="{FF2B5EF4-FFF2-40B4-BE49-F238E27FC236}">
                <a16:creationId xmlns:a16="http://schemas.microsoft.com/office/drawing/2014/main" id="{238C63A3-C225-41EA-3442-F5D8D8F65B6C}"/>
              </a:ext>
            </a:extLst>
          </p:cNvPr>
          <p:cNvPicPr>
            <a:picLocks noChangeAspect="1"/>
          </p:cNvPicPr>
          <p:nvPr/>
        </p:nvPicPr>
        <p:blipFill>
          <a:blip r:embed="rId2"/>
          <a:stretch>
            <a:fillRect/>
          </a:stretch>
        </p:blipFill>
        <p:spPr>
          <a:xfrm>
            <a:off x="457200" y="2062165"/>
            <a:ext cx="8229600" cy="1995677"/>
          </a:xfrm>
          <a:prstGeom prst="rect">
            <a:avLst/>
          </a:prstGeom>
          <a:noFill/>
        </p:spPr>
      </p:pic>
    </p:spTree>
    <p:extLst>
      <p:ext uri="{BB962C8B-B14F-4D97-AF65-F5344CB8AC3E}">
        <p14:creationId xmlns:p14="http://schemas.microsoft.com/office/powerpoint/2010/main" val="24828388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幻覺</a:t>
            </a:r>
          </a:p>
        </p:txBody>
      </p:sp>
      <p:sp>
        <p:nvSpPr>
          <p:cNvPr id="3" name="內容版面配置區 2"/>
          <p:cNvSpPr>
            <a:spLocks noGrp="1"/>
          </p:cNvSpPr>
          <p:nvPr>
            <p:ph idx="1"/>
          </p:nvPr>
        </p:nvSpPr>
        <p:spPr/>
        <p:txBody>
          <a:bodyPr>
            <a:normAutofit fontScale="85000" lnSpcReduction="10000"/>
          </a:bodyPr>
          <a:lstStyle/>
          <a:p>
            <a:r>
              <a:rPr lang="en-US" altLang="zh-TW" dirty="0"/>
              <a:t>LLM</a:t>
            </a:r>
            <a:r>
              <a:rPr lang="zh-TW" altLang="en-US" dirty="0"/>
              <a:t>是根據</a:t>
            </a:r>
            <a:r>
              <a:rPr lang="en-US" altLang="zh-TW" dirty="0"/>
              <a:t>Transformer</a:t>
            </a:r>
            <a:r>
              <a:rPr lang="zh-TW" altLang="en-US" dirty="0"/>
              <a:t>的架構，計算的是字與字之間的機率關係，而非回傳資料庫中被驗證過的資料。</a:t>
            </a:r>
            <a:endParaRPr lang="en-US" altLang="zh-TW" dirty="0"/>
          </a:p>
          <a:p>
            <a:pPr lvl="1"/>
            <a:r>
              <a:rPr lang="zh-TW" altLang="en-US" dirty="0"/>
              <a:t>所以，</a:t>
            </a:r>
            <a:r>
              <a:rPr lang="en-US" altLang="zh-TW" dirty="0"/>
              <a:t>LLM</a:t>
            </a:r>
            <a:r>
              <a:rPr lang="zh-TW" altLang="en-US" dirty="0"/>
              <a:t>可能會寫出一篇非常通順的文章，但內容並非事實。</a:t>
            </a:r>
            <a:endParaRPr lang="en-US" altLang="zh-TW" dirty="0"/>
          </a:p>
          <a:p>
            <a:r>
              <a:rPr lang="en-US" altLang="zh-TW" dirty="0"/>
              <a:t>LLM</a:t>
            </a:r>
            <a:r>
              <a:rPr lang="zh-TW" altLang="en-US" dirty="0"/>
              <a:t>這種一本正經卻胡說八道的現象，稱作「</a:t>
            </a:r>
            <a:r>
              <a:rPr lang="zh-TW" altLang="en-US" dirty="0">
                <a:solidFill>
                  <a:srgbClr val="C00000"/>
                </a:solidFill>
              </a:rPr>
              <a:t>幻覺</a:t>
            </a:r>
            <a:r>
              <a:rPr lang="zh-TW" altLang="en-US" dirty="0"/>
              <a:t>」（</a:t>
            </a:r>
            <a:r>
              <a:rPr lang="en-US" altLang="zh-TW" dirty="0"/>
              <a:t>hallucination</a:t>
            </a:r>
            <a:r>
              <a:rPr lang="zh-TW" altLang="en-US" dirty="0"/>
              <a:t>）。</a:t>
            </a:r>
            <a:endParaRPr lang="en-US" altLang="zh-TW" dirty="0"/>
          </a:p>
          <a:p>
            <a:pPr lvl="1"/>
            <a:r>
              <a:rPr lang="zh-TW" altLang="en-US" dirty="0"/>
              <a:t>驗證</a:t>
            </a:r>
            <a:r>
              <a:rPr lang="en-US" altLang="zh-TW" dirty="0"/>
              <a:t>LLM</a:t>
            </a:r>
            <a:r>
              <a:rPr lang="zh-TW" altLang="en-US" dirty="0"/>
              <a:t>的輸出是否完全正確，是我們使用</a:t>
            </a:r>
            <a:r>
              <a:rPr lang="en-US" altLang="zh-TW" dirty="0"/>
              <a:t>LLM</a:t>
            </a:r>
            <a:r>
              <a:rPr lang="zh-TW" altLang="en-US" dirty="0"/>
              <a:t>時，自己不可或缺的職責。</a:t>
            </a:r>
          </a:p>
        </p:txBody>
      </p:sp>
    </p:spTree>
    <p:extLst>
      <p:ext uri="{BB962C8B-B14F-4D97-AF65-F5344CB8AC3E}">
        <p14:creationId xmlns:p14="http://schemas.microsoft.com/office/powerpoint/2010/main" val="42521666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檢索增強生成</a:t>
            </a:r>
          </a:p>
        </p:txBody>
      </p:sp>
      <p:sp>
        <p:nvSpPr>
          <p:cNvPr id="3" name="內容版面配置區 2"/>
          <p:cNvSpPr>
            <a:spLocks noGrp="1"/>
          </p:cNvSpPr>
          <p:nvPr>
            <p:ph idx="1"/>
          </p:nvPr>
        </p:nvSpPr>
        <p:spPr>
          <a:xfrm>
            <a:off x="457200" y="1525384"/>
            <a:ext cx="8229600" cy="3161601"/>
          </a:xfrm>
        </p:spPr>
        <p:txBody>
          <a:bodyPr>
            <a:normAutofit fontScale="77500" lnSpcReduction="20000"/>
          </a:bodyPr>
          <a:lstStyle/>
          <a:p>
            <a:r>
              <a:rPr lang="zh-TW" altLang="en-US" dirty="0"/>
              <a:t>「</a:t>
            </a:r>
            <a:r>
              <a:rPr lang="zh-TW" altLang="en-US" dirty="0">
                <a:solidFill>
                  <a:srgbClr val="C00000"/>
                </a:solidFill>
              </a:rPr>
              <a:t>檢索增強生成</a:t>
            </a:r>
            <a:r>
              <a:rPr lang="zh-TW" altLang="en-US" dirty="0"/>
              <a:t>」（</a:t>
            </a:r>
            <a:r>
              <a:rPr lang="en-US" altLang="zh-TW" dirty="0"/>
              <a:t>Retrieval-Augmented Generation</a:t>
            </a:r>
            <a:r>
              <a:rPr lang="zh-TW" altLang="en-US" dirty="0"/>
              <a:t>；</a:t>
            </a:r>
            <a:r>
              <a:rPr lang="en-US" altLang="zh-TW" dirty="0"/>
              <a:t>RAG</a:t>
            </a:r>
            <a:r>
              <a:rPr lang="zh-TW" altLang="en-US" dirty="0"/>
              <a:t>）架構，就是先額外建立一個外部資料庫，然後在回覆時會依以下步驟進行：</a:t>
            </a:r>
          </a:p>
          <a:p>
            <a:pPr lvl="1"/>
            <a:r>
              <a:rPr lang="zh-TW" altLang="en-US" dirty="0"/>
              <a:t>檢索（</a:t>
            </a:r>
            <a:r>
              <a:rPr lang="en-US" altLang="zh-TW" dirty="0"/>
              <a:t>retrieval</a:t>
            </a:r>
            <a:r>
              <a:rPr lang="zh-TW" altLang="en-US" dirty="0"/>
              <a:t>）： 當使用者提問時，系統會將輸入的問題轉化為向量，並在資料庫中找出語意最接近的資料塊。</a:t>
            </a:r>
          </a:p>
          <a:p>
            <a:pPr lvl="1"/>
            <a:r>
              <a:rPr lang="zh-TW" altLang="en-US" dirty="0"/>
              <a:t>增強（</a:t>
            </a:r>
            <a:r>
              <a:rPr lang="en-US" altLang="zh-TW" dirty="0"/>
              <a:t>augmentation</a:t>
            </a:r>
            <a:r>
              <a:rPr lang="zh-TW" altLang="en-US" dirty="0"/>
              <a:t>）： 將找出的資料與使用者的問題，組合成一個大型指令，重新輸入給</a:t>
            </a:r>
            <a:r>
              <a:rPr lang="en-US" altLang="zh-TW" dirty="0"/>
              <a:t>LLM</a:t>
            </a:r>
            <a:r>
              <a:rPr lang="zh-TW" altLang="en-US" dirty="0"/>
              <a:t>。</a:t>
            </a:r>
            <a:endParaRPr lang="en-US" altLang="zh-TW" dirty="0"/>
          </a:p>
          <a:p>
            <a:pPr lvl="1"/>
            <a:r>
              <a:rPr lang="zh-TW" altLang="en-US" dirty="0"/>
              <a:t>生成（</a:t>
            </a:r>
            <a:r>
              <a:rPr lang="en-US" altLang="zh-TW" dirty="0"/>
              <a:t>generation</a:t>
            </a:r>
            <a:r>
              <a:rPr lang="zh-TW" altLang="en-US" dirty="0"/>
              <a:t>）： </a:t>
            </a:r>
            <a:r>
              <a:rPr lang="en-US" altLang="zh-TW" dirty="0"/>
              <a:t>LLM</a:t>
            </a:r>
            <a:r>
              <a:rPr lang="zh-TW" altLang="en-US" dirty="0"/>
              <a:t>閱讀這些補充資料後，產出最終的回答。</a:t>
            </a:r>
          </a:p>
        </p:txBody>
      </p:sp>
    </p:spTree>
    <p:extLst>
      <p:ext uri="{BB962C8B-B14F-4D97-AF65-F5344CB8AC3E}">
        <p14:creationId xmlns:p14="http://schemas.microsoft.com/office/powerpoint/2010/main" val="29150969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提示詞工程</a:t>
            </a:r>
          </a:p>
        </p:txBody>
      </p:sp>
      <p:sp>
        <p:nvSpPr>
          <p:cNvPr id="3" name="內容版面配置區 2"/>
          <p:cNvSpPr>
            <a:spLocks noGrp="1"/>
          </p:cNvSpPr>
          <p:nvPr>
            <p:ph idx="1"/>
          </p:nvPr>
        </p:nvSpPr>
        <p:spPr/>
        <p:txBody>
          <a:bodyPr>
            <a:normAutofit fontScale="70000" lnSpcReduction="20000"/>
          </a:bodyPr>
          <a:lstStyle/>
          <a:p>
            <a:r>
              <a:rPr lang="zh-TW" altLang="en-US" dirty="0"/>
              <a:t>「提示詞工程」（</a:t>
            </a:r>
            <a:r>
              <a:rPr lang="en-US" altLang="zh-TW" dirty="0"/>
              <a:t>prompt engineering</a:t>
            </a:r>
            <a:r>
              <a:rPr lang="zh-TW" altLang="en-US" dirty="0"/>
              <a:t>），就是一種精密的指令開發與模型對話技術，希望透過設計與優化輸入內容，來精準引導大型語言模型產生出高品質、符合邏輯的結果。</a:t>
            </a:r>
          </a:p>
          <a:p>
            <a:r>
              <a:rPr lang="zh-TW" altLang="en-US" dirty="0"/>
              <a:t>一個有效的提示詞通常包含以下四種元素：</a:t>
            </a:r>
          </a:p>
          <a:p>
            <a:pPr lvl="1"/>
            <a:r>
              <a:rPr lang="zh-TW" altLang="en-US" dirty="0"/>
              <a:t>指令（</a:t>
            </a:r>
            <a:r>
              <a:rPr lang="en-US" altLang="zh-TW" dirty="0"/>
              <a:t>instruction</a:t>
            </a:r>
            <a:r>
              <a:rPr lang="zh-TW" altLang="en-US" dirty="0"/>
              <a:t>）： 明確要求</a:t>
            </a:r>
            <a:r>
              <a:rPr lang="en-US" altLang="zh-TW" dirty="0"/>
              <a:t>AI</a:t>
            </a:r>
            <a:r>
              <a:rPr lang="zh-TW" altLang="en-US" dirty="0"/>
              <a:t>執行的具體任務。</a:t>
            </a:r>
            <a:endParaRPr lang="en-US" altLang="zh-TW" dirty="0"/>
          </a:p>
          <a:p>
            <a:pPr lvl="1"/>
            <a:r>
              <a:rPr lang="zh-TW" altLang="en-US" dirty="0"/>
              <a:t>角色（</a:t>
            </a:r>
            <a:r>
              <a:rPr lang="en-US" altLang="zh-TW" dirty="0"/>
              <a:t>role</a:t>
            </a:r>
            <a:r>
              <a:rPr lang="zh-TW" altLang="en-US" dirty="0"/>
              <a:t>）： 提供任務相關的背景資訊。</a:t>
            </a:r>
            <a:endParaRPr lang="en-US" altLang="zh-TW" dirty="0"/>
          </a:p>
          <a:p>
            <a:pPr lvl="1"/>
            <a:r>
              <a:rPr lang="zh-TW" altLang="en-US" dirty="0"/>
              <a:t>輸入資料（</a:t>
            </a:r>
            <a:r>
              <a:rPr lang="en-US" altLang="zh-TW" dirty="0"/>
              <a:t>input data</a:t>
            </a:r>
            <a:r>
              <a:rPr lang="zh-TW" altLang="en-US" dirty="0"/>
              <a:t>）： </a:t>
            </a:r>
            <a:r>
              <a:rPr lang="en-US" altLang="zh-TW" dirty="0"/>
              <a:t>AI</a:t>
            </a:r>
            <a:r>
              <a:rPr lang="zh-TW" altLang="en-US" dirty="0"/>
              <a:t>需要處理的實際內容。</a:t>
            </a:r>
          </a:p>
          <a:p>
            <a:pPr lvl="1"/>
            <a:r>
              <a:rPr lang="zh-TW" altLang="en-US" dirty="0"/>
              <a:t>輸出格式（</a:t>
            </a:r>
            <a:r>
              <a:rPr lang="en-US" altLang="zh-TW" dirty="0"/>
              <a:t>output format</a:t>
            </a:r>
            <a:r>
              <a:rPr lang="zh-TW" altLang="en-US" dirty="0"/>
              <a:t>）： 規定回覆的結構、長度或風格。</a:t>
            </a:r>
          </a:p>
        </p:txBody>
      </p:sp>
    </p:spTree>
    <p:extLst>
      <p:ext uri="{BB962C8B-B14F-4D97-AF65-F5344CB8AC3E}">
        <p14:creationId xmlns:p14="http://schemas.microsoft.com/office/powerpoint/2010/main" val="3804549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人工智慧代理程式</a:t>
            </a:r>
          </a:p>
        </p:txBody>
      </p:sp>
      <p:sp>
        <p:nvSpPr>
          <p:cNvPr id="3" name="內容版面配置區 2"/>
          <p:cNvSpPr>
            <a:spLocks noGrp="1"/>
          </p:cNvSpPr>
          <p:nvPr>
            <p:ph idx="1"/>
          </p:nvPr>
        </p:nvSpPr>
        <p:spPr/>
        <p:txBody>
          <a:bodyPr>
            <a:normAutofit lnSpcReduction="10000"/>
          </a:bodyPr>
          <a:lstStyle/>
          <a:p>
            <a:r>
              <a:rPr lang="zh-TW" altLang="en-US" dirty="0"/>
              <a:t>「人工智慧代理程式」（</a:t>
            </a:r>
            <a:r>
              <a:rPr lang="en-US" altLang="zh-TW" dirty="0"/>
              <a:t>AI Agent</a:t>
            </a:r>
            <a:r>
              <a:rPr lang="zh-TW" altLang="en-US" dirty="0"/>
              <a:t>），是一種能夠自主感知環境、制定計畫並執行任務的人工智慧系統。</a:t>
            </a:r>
            <a:endParaRPr lang="en-US" altLang="zh-TW" dirty="0"/>
          </a:p>
          <a:p>
            <a:r>
              <a:rPr lang="zh-TW" altLang="en-US" dirty="0"/>
              <a:t>與聊天機器人的差別在於，</a:t>
            </a:r>
            <a:r>
              <a:rPr lang="en-US" altLang="zh-TW" dirty="0"/>
              <a:t>AI Agent</a:t>
            </a:r>
            <a:r>
              <a:rPr lang="zh-TW" altLang="en-US" dirty="0"/>
              <a:t>能根據目標，自行呼叫工具、查詢資料，甚至與其他</a:t>
            </a:r>
            <a:r>
              <a:rPr lang="en-US" altLang="zh-TW" dirty="0"/>
              <a:t>Agent</a:t>
            </a:r>
            <a:r>
              <a:rPr lang="zh-TW" altLang="en-US" dirty="0"/>
              <a:t>協作，完成多步驟任務。</a:t>
            </a:r>
          </a:p>
        </p:txBody>
      </p:sp>
    </p:spTree>
    <p:extLst>
      <p:ext uri="{BB962C8B-B14F-4D97-AF65-F5344CB8AC3E}">
        <p14:creationId xmlns:p14="http://schemas.microsoft.com/office/powerpoint/2010/main" val="6143428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無程式碼和氛圍編碼</a:t>
            </a:r>
          </a:p>
        </p:txBody>
      </p:sp>
      <p:sp>
        <p:nvSpPr>
          <p:cNvPr id="3" name="內容版面配置區 2"/>
          <p:cNvSpPr>
            <a:spLocks noGrp="1"/>
          </p:cNvSpPr>
          <p:nvPr>
            <p:ph idx="1"/>
          </p:nvPr>
        </p:nvSpPr>
        <p:spPr/>
        <p:txBody>
          <a:bodyPr>
            <a:normAutofit/>
          </a:bodyPr>
          <a:lstStyle/>
          <a:p>
            <a:r>
              <a:rPr lang="zh-TW" altLang="en-US" dirty="0"/>
              <a:t>「無程式碼」（</a:t>
            </a:r>
            <a:r>
              <a:rPr lang="en-US" altLang="zh-TW" dirty="0"/>
              <a:t>no code</a:t>
            </a:r>
            <a:r>
              <a:rPr lang="zh-TW" altLang="en-US" dirty="0"/>
              <a:t>）或「低程式碼」（</a:t>
            </a:r>
            <a:r>
              <a:rPr lang="en-US" altLang="zh-TW" dirty="0"/>
              <a:t>low code</a:t>
            </a:r>
            <a:r>
              <a:rPr lang="zh-TW" altLang="en-US" dirty="0"/>
              <a:t>）其基本想法是透過圖形化介面，提供拖拉元件的方式，自動產生對應的程式碼或建立應用程式。</a:t>
            </a:r>
            <a:endParaRPr lang="en-US" altLang="zh-TW" dirty="0"/>
          </a:p>
        </p:txBody>
      </p:sp>
    </p:spTree>
    <p:extLst>
      <p:ext uri="{BB962C8B-B14F-4D97-AF65-F5344CB8AC3E}">
        <p14:creationId xmlns:p14="http://schemas.microsoft.com/office/powerpoint/2010/main" val="13512408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A5189-6AB5-24BE-AEF3-4E2BD79B816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C64334C-E760-4D40-4A9D-616055F91B3C}"/>
              </a:ext>
            </a:extLst>
          </p:cNvPr>
          <p:cNvSpPr>
            <a:spLocks noGrp="1"/>
          </p:cNvSpPr>
          <p:nvPr>
            <p:ph type="title"/>
          </p:nvPr>
        </p:nvSpPr>
        <p:spPr/>
        <p:txBody>
          <a:bodyPr>
            <a:normAutofit/>
          </a:bodyPr>
          <a:lstStyle/>
          <a:p>
            <a:r>
              <a:rPr lang="zh-TW" altLang="en-US" dirty="0"/>
              <a:t>無程式碼和氛圍編碼</a:t>
            </a:r>
          </a:p>
        </p:txBody>
      </p:sp>
      <p:sp>
        <p:nvSpPr>
          <p:cNvPr id="3" name="內容版面配置區 2">
            <a:extLst>
              <a:ext uri="{FF2B5EF4-FFF2-40B4-BE49-F238E27FC236}">
                <a16:creationId xmlns:a16="http://schemas.microsoft.com/office/drawing/2014/main" id="{70DA3EBF-BB59-4AD6-9729-DDFA37A27100}"/>
              </a:ext>
            </a:extLst>
          </p:cNvPr>
          <p:cNvSpPr>
            <a:spLocks noGrp="1"/>
          </p:cNvSpPr>
          <p:nvPr>
            <p:ph idx="1"/>
          </p:nvPr>
        </p:nvSpPr>
        <p:spPr/>
        <p:txBody>
          <a:bodyPr>
            <a:normAutofit/>
          </a:bodyPr>
          <a:lstStyle/>
          <a:p>
            <a:r>
              <a:rPr lang="zh-TW" altLang="en-US" dirty="0"/>
              <a:t>無程式碼實作流程大致分為以下三個步驟：</a:t>
            </a:r>
          </a:p>
          <a:p>
            <a:pPr lvl="1"/>
            <a:r>
              <a:rPr lang="zh-TW" altLang="en-US" dirty="0"/>
              <a:t>選擇模板： 選取符合需求的基礎版型。</a:t>
            </a:r>
          </a:p>
          <a:p>
            <a:pPr lvl="1"/>
            <a:r>
              <a:rPr lang="zh-TW" altLang="en-US" dirty="0"/>
              <a:t>視覺化編輯： 使用拖拉方式（</a:t>
            </a:r>
            <a:r>
              <a:rPr lang="en-US" altLang="zh-TW" dirty="0"/>
              <a:t>drag-and-drop</a:t>
            </a:r>
            <a:r>
              <a:rPr lang="zh-TW" altLang="en-US" dirty="0"/>
              <a:t>）排列按鈕、表格與圖片。</a:t>
            </a:r>
          </a:p>
          <a:p>
            <a:pPr lvl="1"/>
            <a:r>
              <a:rPr lang="zh-TW" altLang="en-US" dirty="0"/>
              <a:t>邏輯設定： 在面板中設定操作介面時對應的系統行為，譬如：當按鈕被按下，就將資料存入資料庫。</a:t>
            </a:r>
          </a:p>
        </p:txBody>
      </p:sp>
    </p:spTree>
    <p:extLst>
      <p:ext uri="{BB962C8B-B14F-4D97-AF65-F5344CB8AC3E}">
        <p14:creationId xmlns:p14="http://schemas.microsoft.com/office/powerpoint/2010/main" val="25479178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320E2F-9572-8FA6-22C8-FE8267E426DA}"/>
              </a:ext>
            </a:extLst>
          </p:cNvPr>
          <p:cNvSpPr>
            <a:spLocks noGrp="1"/>
          </p:cNvSpPr>
          <p:nvPr>
            <p:ph type="title"/>
          </p:nvPr>
        </p:nvSpPr>
        <p:spPr/>
        <p:txBody>
          <a:bodyPr/>
          <a:lstStyle/>
          <a:p>
            <a:r>
              <a:rPr lang="zh-TW" altLang="en-US" dirty="0"/>
              <a:t>無程式碼和氛圍編碼</a:t>
            </a:r>
          </a:p>
        </p:txBody>
      </p:sp>
      <p:sp>
        <p:nvSpPr>
          <p:cNvPr id="3" name="內容版面配置區 2">
            <a:extLst>
              <a:ext uri="{FF2B5EF4-FFF2-40B4-BE49-F238E27FC236}">
                <a16:creationId xmlns:a16="http://schemas.microsoft.com/office/drawing/2014/main" id="{80C9A8C5-205F-8BF3-271C-548F7F0F0A1A}"/>
              </a:ext>
            </a:extLst>
          </p:cNvPr>
          <p:cNvSpPr>
            <a:spLocks noGrp="1"/>
          </p:cNvSpPr>
          <p:nvPr>
            <p:ph idx="1"/>
          </p:nvPr>
        </p:nvSpPr>
        <p:spPr/>
        <p:txBody>
          <a:bodyPr/>
          <a:lstStyle/>
          <a:p>
            <a:r>
              <a:rPr lang="zh-TW" altLang="en-US" dirty="0"/>
              <a:t>「氛圍編碼」（</a:t>
            </a:r>
            <a:r>
              <a:rPr lang="en-US" altLang="zh-TW" dirty="0"/>
              <a:t>vibe coding</a:t>
            </a:r>
            <a:r>
              <a:rPr lang="zh-TW" altLang="en-US" dirty="0"/>
              <a:t>）是透過自然語言與</a:t>
            </a:r>
            <a:r>
              <a:rPr lang="en-US" altLang="zh-TW" dirty="0"/>
              <a:t>AI</a:t>
            </a:r>
            <a:r>
              <a:rPr lang="zh-TW" altLang="en-US" dirty="0"/>
              <a:t>對話，由</a:t>
            </a:r>
            <a:r>
              <a:rPr lang="en-US" altLang="zh-TW" dirty="0"/>
              <a:t>AI</a:t>
            </a:r>
            <a:r>
              <a:rPr lang="zh-TW" altLang="en-US" dirty="0"/>
              <a:t>自動生成、測試並佈署完整的程式碼。開發者僅需傳達感覺（</a:t>
            </a:r>
            <a:r>
              <a:rPr lang="en-US" altLang="zh-TW" dirty="0"/>
              <a:t>vibe</a:t>
            </a:r>
            <a:r>
              <a:rPr lang="zh-TW" altLang="en-US" dirty="0"/>
              <a:t>）與需求，不需介入細節。</a:t>
            </a:r>
          </a:p>
        </p:txBody>
      </p:sp>
    </p:spTree>
    <p:extLst>
      <p:ext uri="{BB962C8B-B14F-4D97-AF65-F5344CB8AC3E}">
        <p14:creationId xmlns:p14="http://schemas.microsoft.com/office/powerpoint/2010/main" val="1502405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51C1C7-3D05-718C-27A9-CA3566739161}"/>
              </a:ext>
            </a:extLst>
          </p:cNvPr>
          <p:cNvSpPr>
            <a:spLocks noGrp="1"/>
          </p:cNvSpPr>
          <p:nvPr>
            <p:ph type="title"/>
          </p:nvPr>
        </p:nvSpPr>
        <p:spPr/>
        <p:txBody>
          <a:bodyPr/>
          <a:lstStyle/>
          <a:p>
            <a:r>
              <a:rPr lang="zh-TW" altLang="en-US" dirty="0"/>
              <a:t>無程式碼和氛圍編碼</a:t>
            </a:r>
          </a:p>
        </p:txBody>
      </p:sp>
      <p:sp>
        <p:nvSpPr>
          <p:cNvPr id="3" name="內容版面配置區 2">
            <a:extLst>
              <a:ext uri="{FF2B5EF4-FFF2-40B4-BE49-F238E27FC236}">
                <a16:creationId xmlns:a16="http://schemas.microsoft.com/office/drawing/2014/main" id="{8A265A11-0345-6B15-A9C0-337D408A34A0}"/>
              </a:ext>
            </a:extLst>
          </p:cNvPr>
          <p:cNvSpPr>
            <a:spLocks noGrp="1"/>
          </p:cNvSpPr>
          <p:nvPr>
            <p:ph idx="1"/>
          </p:nvPr>
        </p:nvSpPr>
        <p:spPr/>
        <p:txBody>
          <a:bodyPr>
            <a:normAutofit fontScale="92500"/>
          </a:bodyPr>
          <a:lstStyle/>
          <a:p>
            <a:r>
              <a:rPr lang="zh-TW" altLang="en-US" dirty="0"/>
              <a:t>氛圍編碼實作流程大致如下進行：</a:t>
            </a:r>
            <a:endParaRPr lang="en-US" altLang="zh-TW" dirty="0"/>
          </a:p>
          <a:p>
            <a:pPr lvl="1"/>
            <a:r>
              <a:rPr lang="zh-TW" altLang="en-US" dirty="0"/>
              <a:t>需求描述： 人類開發者以自然語言輸入需求。</a:t>
            </a:r>
          </a:p>
          <a:p>
            <a:pPr lvl="1"/>
            <a:r>
              <a:rPr lang="en-US" altLang="zh-TW" dirty="0"/>
              <a:t>AI</a:t>
            </a:r>
            <a:r>
              <a:rPr lang="zh-TW" altLang="en-US" dirty="0"/>
              <a:t>自動實作： </a:t>
            </a:r>
            <a:r>
              <a:rPr lang="en-US" altLang="zh-TW" dirty="0"/>
              <a:t>AI</a:t>
            </a:r>
            <a:r>
              <a:rPr lang="zh-TW" altLang="en-US" dirty="0"/>
              <a:t>工具自動生成所需要的程式，包含前端介面和後端連結系統的程式碼，甚至自動建立資料庫。</a:t>
            </a:r>
          </a:p>
          <a:p>
            <a:pPr lvl="1"/>
            <a:r>
              <a:rPr lang="zh-TW" altLang="en-US" dirty="0"/>
              <a:t>對話式修正： 若結果不如預期，開發者可直接回饋修正意見，可來回進行，直到開發者滿意為止。</a:t>
            </a:r>
          </a:p>
        </p:txBody>
      </p:sp>
    </p:spTree>
    <p:extLst>
      <p:ext uri="{BB962C8B-B14F-4D97-AF65-F5344CB8AC3E}">
        <p14:creationId xmlns:p14="http://schemas.microsoft.com/office/powerpoint/2010/main" val="8758261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normAutofit/>
          </a:bodyPr>
          <a:lstStyle/>
          <a:p>
            <a:r>
              <a:rPr lang="zh-TW" altLang="en-US" dirty="0">
                <a:solidFill>
                  <a:srgbClr val="C00000"/>
                </a:solidFill>
              </a:rPr>
              <a:t>十年後的生成式</a:t>
            </a:r>
            <a:r>
              <a:rPr lang="en-US" altLang="zh-TW" dirty="0">
                <a:solidFill>
                  <a:srgbClr val="C00000"/>
                </a:solidFill>
              </a:rPr>
              <a:t>AI</a:t>
            </a:r>
          </a:p>
          <a:p>
            <a:r>
              <a:rPr lang="zh-TW" altLang="zh-TW" dirty="0"/>
              <a:t>本文探討生成式</a:t>
            </a:r>
            <a:r>
              <a:rPr lang="en-US" altLang="zh-TW" dirty="0"/>
              <a:t>AI</a:t>
            </a:r>
            <a:r>
              <a:rPr lang="zh-TW" altLang="zh-TW" dirty="0"/>
              <a:t>未來十年對教育、職場、藝術、醫療、生活等領域的潛在影響。學生預測</a:t>
            </a:r>
            <a:r>
              <a:rPr lang="en-US" altLang="zh-TW" dirty="0"/>
              <a:t>AI</a:t>
            </a:r>
            <a:r>
              <a:rPr lang="zh-TW" altLang="zh-TW" dirty="0"/>
              <a:t>將帶來便利與創新，也可能造成職業淘汰、創意衰退及貧富差距擴大。</a:t>
            </a:r>
            <a:r>
              <a:rPr lang="en-US" altLang="zh-TW" dirty="0"/>
              <a:t>AI</a:t>
            </a:r>
            <a:r>
              <a:rPr lang="zh-TW" altLang="zh-TW" dirty="0"/>
              <a:t>降低勞力成本、提升生活品質，但人生意義仍需人類自主追尋。</a:t>
            </a:r>
            <a:endParaRPr lang="zh-TW" altLang="en-US" dirty="0"/>
          </a:p>
        </p:txBody>
      </p:sp>
    </p:spTree>
    <p:extLst>
      <p:ext uri="{BB962C8B-B14F-4D97-AF65-F5344CB8AC3E}">
        <p14:creationId xmlns:p14="http://schemas.microsoft.com/office/powerpoint/2010/main" val="23385772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a:bodyPr>
          <a:lstStyle/>
          <a:p>
            <a:r>
              <a:rPr lang="en-US" altLang="zh-TW" dirty="0"/>
              <a:t>14-5</a:t>
            </a:r>
            <a:r>
              <a:rPr lang="zh-TW" altLang="en-US" dirty="0"/>
              <a:t> 電腦視覺及圖像識別</a:t>
            </a:r>
          </a:p>
        </p:txBody>
      </p:sp>
      <p:sp>
        <p:nvSpPr>
          <p:cNvPr id="4" name="內容版面配置區 3"/>
          <p:cNvSpPr>
            <a:spLocks noGrp="1"/>
          </p:cNvSpPr>
          <p:nvPr>
            <p:ph idx="1"/>
          </p:nvPr>
        </p:nvSpPr>
        <p:spPr/>
        <p:txBody>
          <a:bodyPr>
            <a:normAutofit/>
          </a:bodyPr>
          <a:lstStyle/>
          <a:p>
            <a:pPr>
              <a:lnSpc>
                <a:spcPct val="120000"/>
              </a:lnSpc>
            </a:pPr>
            <a:r>
              <a:rPr lang="zh-TW" altLang="en-US" sz="2400" dirty="0"/>
              <a:t>人類視覺是來自於眼睛注視，然後經由視覺神經傳導，至腦部針對所看到的影像進行判斷。</a:t>
            </a:r>
            <a:endParaRPr lang="en-US" altLang="zh-TW" sz="2400" dirty="0"/>
          </a:p>
          <a:p>
            <a:pPr>
              <a:lnSpc>
                <a:spcPct val="120000"/>
              </a:lnSpc>
            </a:pPr>
            <a:r>
              <a:rPr lang="zh-TW" altLang="en-US" sz="2400" dirty="0"/>
              <a:t>電腦視覺是由</a:t>
            </a:r>
            <a:r>
              <a:rPr lang="zh-TW" altLang="en-US" sz="2400" dirty="0">
                <a:solidFill>
                  <a:srgbClr val="C00000"/>
                </a:solidFill>
              </a:rPr>
              <a:t>感應器</a:t>
            </a:r>
            <a:r>
              <a:rPr lang="en-US" altLang="zh-TW" sz="2400" dirty="0"/>
              <a:t>(sensor)</a:t>
            </a:r>
            <a:r>
              <a:rPr lang="zh-TW" altLang="en-US" sz="2400" dirty="0"/>
              <a:t>接收訊號，然後線路連結將訊號傳進電腦，透過程式進行分析判斷。</a:t>
            </a:r>
          </a:p>
        </p:txBody>
      </p:sp>
      <p:graphicFrame>
        <p:nvGraphicFramePr>
          <p:cNvPr id="2" name="資料庫圖表 1"/>
          <p:cNvGraphicFramePr/>
          <p:nvPr>
            <p:extLst>
              <p:ext uri="{D42A27DB-BD31-4B8C-83A1-F6EECF244321}">
                <p14:modId xmlns:p14="http://schemas.microsoft.com/office/powerpoint/2010/main" val="487203857"/>
              </p:ext>
            </p:extLst>
          </p:nvPr>
        </p:nvGraphicFramePr>
        <p:xfrm>
          <a:off x="1106615" y="3336835"/>
          <a:ext cx="6255695" cy="13981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31718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14-5 </a:t>
            </a:r>
            <a:r>
              <a:rPr lang="zh-TW" altLang="en-US" dirty="0"/>
              <a:t>電腦視覺及圖像識別</a:t>
            </a:r>
          </a:p>
        </p:txBody>
      </p:sp>
      <p:sp>
        <p:nvSpPr>
          <p:cNvPr id="3" name="內容版面配置區 2"/>
          <p:cNvSpPr>
            <a:spLocks noGrp="1"/>
          </p:cNvSpPr>
          <p:nvPr>
            <p:ph idx="1"/>
          </p:nvPr>
        </p:nvSpPr>
        <p:spPr/>
        <p:txBody>
          <a:bodyPr>
            <a:normAutofit fontScale="92500"/>
          </a:bodyPr>
          <a:lstStyle/>
          <a:p>
            <a:r>
              <a:rPr lang="zh-TW" altLang="en-US" dirty="0"/>
              <a:t>電腦視覺是藉由理論及演算法的實作（計算機圖學、影像處理等），希望能找到有用的資訊並將其擷取出來加以分析，使電腦所見如同人類所見一樣。</a:t>
            </a:r>
          </a:p>
          <a:p>
            <a:r>
              <a:rPr lang="zh-TW" altLang="en-US" dirty="0"/>
              <a:t>電腦視覺除了能夠「視」，知道有資料之外，還要能夠「覺」，察覺出資料所呈現的是什麼樣的意象。</a:t>
            </a:r>
          </a:p>
        </p:txBody>
      </p:sp>
    </p:spTree>
    <p:extLst>
      <p:ext uri="{BB962C8B-B14F-4D97-AF65-F5344CB8AC3E}">
        <p14:creationId xmlns:p14="http://schemas.microsoft.com/office/powerpoint/2010/main" val="14409232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如果有一天，電腦能夠判讀影像</a:t>
            </a:r>
            <a:r>
              <a:rPr lang="en-US" altLang="zh-TW" dirty="0"/>
              <a:t>…</a:t>
            </a:r>
            <a:endParaRPr lang="zh-TW" altLang="en-US" dirty="0"/>
          </a:p>
        </p:txBody>
      </p:sp>
      <p:sp>
        <p:nvSpPr>
          <p:cNvPr id="3" name="內容版面配置區 2"/>
          <p:cNvSpPr>
            <a:spLocks noGrp="1"/>
          </p:cNvSpPr>
          <p:nvPr>
            <p:ph idx="1"/>
          </p:nvPr>
        </p:nvSpPr>
        <p:spPr/>
        <p:txBody>
          <a:bodyPr>
            <a:normAutofit fontScale="92500" lnSpcReduction="20000"/>
          </a:bodyPr>
          <a:lstStyle/>
          <a:p>
            <a:r>
              <a:rPr lang="zh-TW" altLang="en-US" dirty="0"/>
              <a:t>電腦可發現監視器中有異樣，譬如是樓梯間有人埋伏許久，或者電梯裡有人在掙扎，電腦就啟動警鈴呼叫保全。</a:t>
            </a:r>
          </a:p>
          <a:p>
            <a:r>
              <a:rPr lang="zh-TW" altLang="en-US" dirty="0"/>
              <a:t>由機器人負責看顧孩子，透過機器人的眼睛（攝影機）去拍攝孩子，再由機器人的腦（電腦運算）去理解孩子的狀況，負責餵食小孩或傳送影像給上班中的父母。</a:t>
            </a:r>
          </a:p>
        </p:txBody>
      </p:sp>
    </p:spTree>
    <p:extLst>
      <p:ext uri="{BB962C8B-B14F-4D97-AF65-F5344CB8AC3E}">
        <p14:creationId xmlns:p14="http://schemas.microsoft.com/office/powerpoint/2010/main" val="7632022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如果有一天，電腦能夠判讀影像</a:t>
            </a:r>
            <a:r>
              <a:rPr lang="en-US" altLang="zh-TW" dirty="0"/>
              <a:t>…</a:t>
            </a:r>
            <a:endParaRPr lang="zh-TW" altLang="en-US" dirty="0"/>
          </a:p>
        </p:txBody>
      </p:sp>
      <p:sp>
        <p:nvSpPr>
          <p:cNvPr id="3" name="內容版面配置區 2"/>
          <p:cNvSpPr>
            <a:spLocks noGrp="1"/>
          </p:cNvSpPr>
          <p:nvPr>
            <p:ph idx="1"/>
          </p:nvPr>
        </p:nvSpPr>
        <p:spPr/>
        <p:txBody>
          <a:bodyPr/>
          <a:lstStyle/>
          <a:p>
            <a:r>
              <a:rPr lang="en-US" altLang="zh-TW" dirty="0"/>
              <a:t>SONY</a:t>
            </a:r>
            <a:r>
              <a:rPr lang="zh-TW" altLang="en-US" dirty="0"/>
              <a:t>機器狗愛寶（</a:t>
            </a:r>
            <a:r>
              <a:rPr lang="en-US" altLang="zh-TW" dirty="0"/>
              <a:t>AIBO</a:t>
            </a:r>
            <a:r>
              <a:rPr lang="zh-TW" altLang="en-US" dirty="0"/>
              <a:t>），能判斷出玩具球所在位置，然後上前踢一腳，再進一步追蹤球的方向，不停地玩踢球的遊戲。</a:t>
            </a:r>
          </a:p>
          <a:p>
            <a:endParaRPr lang="zh-TW" altLang="en-US" dirty="0"/>
          </a:p>
        </p:txBody>
      </p:sp>
    </p:spTree>
    <p:extLst>
      <p:ext uri="{BB962C8B-B14F-4D97-AF65-F5344CB8AC3E}">
        <p14:creationId xmlns:p14="http://schemas.microsoft.com/office/powerpoint/2010/main" val="22788870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402175" y="1154092"/>
            <a:ext cx="4339650" cy="369332"/>
          </a:xfrm>
          <a:prstGeom prst="rect">
            <a:avLst/>
          </a:prstGeom>
          <a:solidFill>
            <a:schemeClr val="accent6">
              <a:lumMod val="20000"/>
              <a:lumOff val="80000"/>
            </a:schemeClr>
          </a:solidFill>
          <a:ln>
            <a:solidFill>
              <a:schemeClr val="tx1"/>
            </a:solidFill>
          </a:ln>
          <a:scene3d>
            <a:camera prst="orthographicFront"/>
            <a:lightRig rig="threePt" dir="t"/>
          </a:scene3d>
          <a:sp3d>
            <a:bevelT w="165100" prst="coolSlant"/>
          </a:sp3d>
        </p:spPr>
        <p:txBody>
          <a:bodyPr wrap="none">
            <a:spAutoFit/>
          </a:bodyPr>
          <a:lstStyle/>
          <a:p>
            <a:r>
              <a:rPr lang="zh-TW" altLang="en-US" dirty="0">
                <a:latin typeface="微軟正黑體" pitchFamily="34" charset="-120"/>
                <a:ea typeface="微軟正黑體" pitchFamily="34" charset="-120"/>
              </a:rPr>
              <a:t>拜電腦視覺之賜，機器狗也可以擁有視覺</a:t>
            </a:r>
          </a:p>
        </p:txBody>
      </p:sp>
      <p:sp>
        <p:nvSpPr>
          <p:cNvPr id="2" name="內容版面配置區 1"/>
          <p:cNvSpPr>
            <a:spLocks noGrp="1"/>
          </p:cNvSpPr>
          <p:nvPr>
            <p:ph idx="1"/>
          </p:nvPr>
        </p:nvSpPr>
        <p:spPr/>
        <p:txBody>
          <a:bodyPr/>
          <a:lstStyle/>
          <a:p>
            <a:endParaRPr lang="zh-TW"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5069" y="1806665"/>
            <a:ext cx="3873862" cy="2592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45143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14-5 </a:t>
            </a:r>
            <a:r>
              <a:rPr lang="zh-TW" altLang="en-US" dirty="0"/>
              <a:t>電腦視覺及圖像識別</a:t>
            </a:r>
          </a:p>
        </p:txBody>
      </p:sp>
      <p:sp>
        <p:nvSpPr>
          <p:cNvPr id="3" name="內容版面配置區 2"/>
          <p:cNvSpPr>
            <a:spLocks noGrp="1"/>
          </p:cNvSpPr>
          <p:nvPr>
            <p:ph idx="1"/>
          </p:nvPr>
        </p:nvSpPr>
        <p:spPr/>
        <p:txBody>
          <a:bodyPr>
            <a:normAutofit/>
          </a:bodyPr>
          <a:lstStyle/>
          <a:p>
            <a:r>
              <a:rPr lang="zh-TW" altLang="en-US" dirty="0"/>
              <a:t>電腦視覺面臨的第一個挑戰就是來自於影像的記錄方式。</a:t>
            </a:r>
          </a:p>
          <a:p>
            <a:r>
              <a:rPr lang="zh-TW" altLang="en-US" dirty="0">
                <a:solidFill>
                  <a:srgbClr val="C00000"/>
                </a:solidFill>
              </a:rPr>
              <a:t>像素</a:t>
            </a:r>
            <a:r>
              <a:rPr lang="zh-TW" altLang="en-US" dirty="0"/>
              <a:t>（</a:t>
            </a:r>
            <a:r>
              <a:rPr lang="en-US" altLang="zh-TW" dirty="0"/>
              <a:t>pixel</a:t>
            </a:r>
            <a:r>
              <a:rPr lang="zh-TW" altLang="en-US" dirty="0"/>
              <a:t>）所記錄的是有關該點位置、顏色，但無形狀、角度、與其他物體之間的距離等資訊，因此無法幫助我們直接進行影像的分析。</a:t>
            </a:r>
          </a:p>
        </p:txBody>
      </p:sp>
    </p:spTree>
    <p:extLst>
      <p:ext uri="{BB962C8B-B14F-4D97-AF65-F5344CB8AC3E}">
        <p14:creationId xmlns:p14="http://schemas.microsoft.com/office/powerpoint/2010/main" val="34198746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14-5 </a:t>
            </a:r>
            <a:r>
              <a:rPr lang="zh-TW" altLang="en-US" dirty="0"/>
              <a:t>電腦視覺及圖像識別</a:t>
            </a:r>
          </a:p>
        </p:txBody>
      </p:sp>
      <p:sp>
        <p:nvSpPr>
          <p:cNvPr id="3" name="內容版面配置區 2"/>
          <p:cNvSpPr>
            <a:spLocks noGrp="1"/>
          </p:cNvSpPr>
          <p:nvPr>
            <p:ph idx="1"/>
          </p:nvPr>
        </p:nvSpPr>
        <p:spPr/>
        <p:txBody>
          <a:bodyPr/>
          <a:lstStyle/>
          <a:p>
            <a:r>
              <a:rPr lang="zh-TW" altLang="en-US" dirty="0"/>
              <a:t>電腦視覺中，要能夠完全辨識出物體的意思是說：</a:t>
            </a:r>
            <a:r>
              <a:rPr lang="zh-TW" altLang="en-US" dirty="0">
                <a:solidFill>
                  <a:srgbClr val="C00000"/>
                </a:solidFill>
              </a:rPr>
              <a:t>從不同的角度拍攝同一物體，雖然拍攝到的畫面不同，但電腦視覺要能分析判斷出兩畫面為同一物體的不同角度。</a:t>
            </a:r>
          </a:p>
          <a:p>
            <a:endParaRPr lang="zh-TW" altLang="en-US" dirty="0"/>
          </a:p>
        </p:txBody>
      </p:sp>
    </p:spTree>
    <p:extLst>
      <p:ext uri="{BB962C8B-B14F-4D97-AF65-F5344CB8AC3E}">
        <p14:creationId xmlns:p14="http://schemas.microsoft.com/office/powerpoint/2010/main" val="11808095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0" y="580279"/>
            <a:ext cx="6977444" cy="722012"/>
          </a:xfrm>
        </p:spPr>
        <p:txBody>
          <a:bodyPr>
            <a:normAutofit/>
          </a:bodyPr>
          <a:lstStyle/>
          <a:p>
            <a:r>
              <a:rPr lang="en-US" altLang="zh-TW" dirty="0"/>
              <a:t>14-5 </a:t>
            </a:r>
            <a:r>
              <a:rPr lang="zh-TW" altLang="en-US" dirty="0"/>
              <a:t>電腦視覺及圖像識別</a:t>
            </a:r>
          </a:p>
        </p:txBody>
      </p:sp>
      <p:sp>
        <p:nvSpPr>
          <p:cNvPr id="4" name="內容版面配置區 3"/>
          <p:cNvSpPr>
            <a:spLocks noGrp="1"/>
          </p:cNvSpPr>
          <p:nvPr>
            <p:ph idx="1"/>
          </p:nvPr>
        </p:nvSpPr>
        <p:spPr>
          <a:xfrm>
            <a:off x="457200" y="1525384"/>
            <a:ext cx="6050015" cy="3069239"/>
          </a:xfrm>
        </p:spPr>
        <p:txBody>
          <a:bodyPr>
            <a:normAutofit fontScale="92500" lnSpcReduction="20000"/>
          </a:bodyPr>
          <a:lstStyle/>
          <a:p>
            <a:r>
              <a:rPr lang="zh-TW" altLang="en-US" dirty="0"/>
              <a:t>對於電腦視覺來說，重點是如何切出物體、辨識出物體，而非色彩。</a:t>
            </a:r>
            <a:endParaRPr lang="en-US" altLang="zh-TW" dirty="0"/>
          </a:p>
          <a:p>
            <a:r>
              <a:rPr lang="zh-TW" altLang="en-US" dirty="0"/>
              <a:t>電腦視覺的第一步：</a:t>
            </a:r>
            <a:r>
              <a:rPr lang="zh-TW" altLang="en-US" dirty="0">
                <a:solidFill>
                  <a:srgbClr val="C00000"/>
                </a:solidFill>
              </a:rPr>
              <a:t>灰階處理</a:t>
            </a:r>
            <a:r>
              <a:rPr lang="zh-TW" altLang="en-US" dirty="0"/>
              <a:t>（</a:t>
            </a:r>
            <a:r>
              <a:rPr lang="en-US" altLang="zh-TW" dirty="0"/>
              <a:t>gray level</a:t>
            </a:r>
            <a:r>
              <a:rPr lang="zh-TW" altLang="en-US" dirty="0"/>
              <a:t>）：</a:t>
            </a:r>
            <a:br>
              <a:rPr lang="en-US" altLang="zh-TW" dirty="0"/>
            </a:br>
            <a:r>
              <a:rPr lang="zh-TW" altLang="en-US" dirty="0"/>
              <a:t>亦即以</a:t>
            </a:r>
            <a:r>
              <a:rPr lang="en-US" altLang="zh-TW" dirty="0"/>
              <a:t>8</a:t>
            </a:r>
            <a:r>
              <a:rPr lang="zh-TW" altLang="en-US" dirty="0"/>
              <a:t>位元的大小（共有</a:t>
            </a:r>
            <a:r>
              <a:rPr lang="en-US" altLang="zh-TW" dirty="0"/>
              <a:t>0~255</a:t>
            </a:r>
            <a:r>
              <a:rPr lang="zh-TW" altLang="en-US" dirty="0"/>
              <a:t>種不同階層的顏色）來記錄顏色的深淺，移除色彩所可能帶來的誤導或偏差。</a:t>
            </a:r>
          </a:p>
          <a:p>
            <a:endParaRPr lang="zh-TW" altLang="en-US" dirty="0"/>
          </a:p>
        </p:txBody>
      </p:sp>
      <p:sp>
        <p:nvSpPr>
          <p:cNvPr id="7" name="矩形 6"/>
          <p:cNvSpPr/>
          <p:nvPr/>
        </p:nvSpPr>
        <p:spPr>
          <a:xfrm>
            <a:off x="6375641" y="4225291"/>
            <a:ext cx="2617440" cy="369332"/>
          </a:xfrm>
          <a:prstGeom prst="rect">
            <a:avLst/>
          </a:prstGeom>
          <a:solidFill>
            <a:schemeClr val="accent6">
              <a:lumMod val="20000"/>
              <a:lumOff val="80000"/>
            </a:schemeClr>
          </a:solidFill>
          <a:ln>
            <a:solidFill>
              <a:schemeClr val="tx1"/>
            </a:solidFill>
          </a:ln>
          <a:scene3d>
            <a:camera prst="orthographicFront"/>
            <a:lightRig rig="threePt" dir="t"/>
          </a:scene3d>
          <a:sp3d>
            <a:bevelT w="139700" prst="cross"/>
          </a:sp3d>
        </p:spPr>
        <p:txBody>
          <a:bodyPr wrap="square">
            <a:spAutoFit/>
          </a:bodyPr>
          <a:lstStyle/>
          <a:p>
            <a:r>
              <a:rPr lang="zh-TW" altLang="en-US" dirty="0">
                <a:latin typeface="微軟正黑體" pitchFamily="34" charset="-120"/>
                <a:ea typeface="微軟正黑體" pitchFamily="34" charset="-120"/>
              </a:rPr>
              <a:t>灰階處理前後的</a:t>
            </a:r>
            <a:r>
              <a:rPr lang="en-US" altLang="zh-TW" dirty="0">
                <a:latin typeface="微軟正黑體" pitchFamily="34" charset="-120"/>
                <a:ea typeface="微軟正黑體" pitchFamily="34" charset="-120"/>
              </a:rPr>
              <a:t>Lena</a:t>
            </a:r>
            <a:r>
              <a:rPr lang="zh-TW" altLang="en-US" dirty="0">
                <a:latin typeface="微軟正黑體" pitchFamily="34" charset="-120"/>
                <a:ea typeface="微軟正黑體" pitchFamily="34" charset="-120"/>
              </a:rPr>
              <a:t>照</a:t>
            </a:r>
          </a:p>
        </p:txBody>
      </p:sp>
      <p:pic>
        <p:nvPicPr>
          <p:cNvPr id="8"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881727" y="906565"/>
            <a:ext cx="1549515" cy="154951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9" name="Picture 3"/>
          <p:cNvPicPr>
            <a:picLocks noChangeAspect="1" noChangeArrowheads="1"/>
          </p:cNvPicPr>
          <p:nvPr/>
        </p:nvPicPr>
        <p:blipFill>
          <a:blip r:embed="rId3" cstate="print"/>
          <a:srcRect/>
          <a:stretch>
            <a:fillRect/>
          </a:stretch>
        </p:blipFill>
        <p:spPr bwMode="auto">
          <a:xfrm>
            <a:off x="6909604" y="2566658"/>
            <a:ext cx="1549515" cy="154951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0564903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zh-TW" altLang="en-US" dirty="0"/>
              <a:t>電腦視覺的處理過程</a:t>
            </a:r>
          </a:p>
        </p:txBody>
      </p:sp>
      <p:sp>
        <p:nvSpPr>
          <p:cNvPr id="5" name="內容版面配置區 4"/>
          <p:cNvSpPr>
            <a:spLocks noGrp="1"/>
          </p:cNvSpPr>
          <p:nvPr>
            <p:ph idx="1"/>
          </p:nvPr>
        </p:nvSpPr>
        <p:spPr/>
        <p:txBody>
          <a:bodyPr>
            <a:normAutofit lnSpcReduction="10000"/>
          </a:bodyPr>
          <a:lstStyle/>
          <a:p>
            <a:r>
              <a:rPr lang="zh-TW" altLang="en-US" dirty="0"/>
              <a:t>電腦視覺的處理過程五大步驟： </a:t>
            </a:r>
            <a:endParaRPr lang="en-US" altLang="zh-TW" dirty="0"/>
          </a:p>
          <a:p>
            <a:pPr lvl="1"/>
            <a:r>
              <a:rPr lang="zh-TW" altLang="en-US" sz="2400" dirty="0"/>
              <a:t>潤飾</a:t>
            </a:r>
            <a:r>
              <a:rPr lang="en-US" altLang="zh-TW" sz="2400" dirty="0"/>
              <a:t>(conditioning)</a:t>
            </a:r>
          </a:p>
          <a:p>
            <a:pPr lvl="1"/>
            <a:r>
              <a:rPr lang="zh-TW" altLang="en-US" sz="2400" dirty="0"/>
              <a:t>下標籤</a:t>
            </a:r>
            <a:r>
              <a:rPr lang="en-US" altLang="zh-TW" sz="2400" dirty="0"/>
              <a:t>(labeling)</a:t>
            </a:r>
          </a:p>
          <a:p>
            <a:pPr lvl="1"/>
            <a:r>
              <a:rPr lang="zh-TW" altLang="en-US" sz="2400" dirty="0"/>
              <a:t>群組化</a:t>
            </a:r>
            <a:r>
              <a:rPr lang="en-US" altLang="zh-TW" sz="2400" dirty="0"/>
              <a:t>(grouping)</a:t>
            </a:r>
          </a:p>
          <a:p>
            <a:pPr lvl="1"/>
            <a:r>
              <a:rPr lang="zh-TW" altLang="en-US" sz="2400" dirty="0"/>
              <a:t>解析</a:t>
            </a:r>
            <a:r>
              <a:rPr lang="en-US" altLang="zh-TW" sz="2400" dirty="0"/>
              <a:t>(extracting)</a:t>
            </a:r>
          </a:p>
          <a:p>
            <a:pPr lvl="1"/>
            <a:r>
              <a:rPr lang="zh-TW" altLang="en-US" sz="2400" dirty="0"/>
              <a:t>比對</a:t>
            </a:r>
            <a:r>
              <a:rPr lang="en-US" altLang="zh-TW" sz="2400" dirty="0"/>
              <a:t>(matching)</a:t>
            </a:r>
            <a:endParaRPr lang="zh-TW" altLang="en-US" sz="2400" dirty="0"/>
          </a:p>
        </p:txBody>
      </p:sp>
      <p:graphicFrame>
        <p:nvGraphicFramePr>
          <p:cNvPr id="6" name="內容版面配置區 4"/>
          <p:cNvGraphicFramePr>
            <a:graphicFrameLocks/>
          </p:cNvGraphicFramePr>
          <p:nvPr>
            <p:extLst>
              <p:ext uri="{D42A27DB-BD31-4B8C-83A1-F6EECF244321}">
                <p14:modId xmlns:p14="http://schemas.microsoft.com/office/powerpoint/2010/main" val="956648448"/>
              </p:ext>
            </p:extLst>
          </p:nvPr>
        </p:nvGraphicFramePr>
        <p:xfrm>
          <a:off x="4436985" y="1854022"/>
          <a:ext cx="7335815" cy="28779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24218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a:bodyPr>
          <a:lstStyle/>
          <a:p>
            <a:r>
              <a:rPr lang="en-US" altLang="zh-TW" dirty="0"/>
              <a:t>1. </a:t>
            </a:r>
            <a:r>
              <a:rPr lang="zh-TW" altLang="en-US" dirty="0"/>
              <a:t>潤飾</a:t>
            </a:r>
          </a:p>
        </p:txBody>
      </p:sp>
      <p:sp>
        <p:nvSpPr>
          <p:cNvPr id="4" name="內容版面配置區 3"/>
          <p:cNvSpPr>
            <a:spLocks noGrp="1"/>
          </p:cNvSpPr>
          <p:nvPr>
            <p:ph idx="1"/>
          </p:nvPr>
        </p:nvSpPr>
        <p:spPr>
          <a:xfrm>
            <a:off x="457200" y="1525384"/>
            <a:ext cx="5824990" cy="3069239"/>
          </a:xfrm>
        </p:spPr>
        <p:txBody>
          <a:bodyPr>
            <a:normAutofit/>
          </a:bodyPr>
          <a:lstStyle/>
          <a:p>
            <a:r>
              <a:rPr lang="zh-TW" altLang="en-US" dirty="0"/>
              <a:t>潤飾的情況在於猜測所觀測的物體可能伴隨著其他沒用的資訊。</a:t>
            </a:r>
            <a:endParaRPr lang="en-US" altLang="zh-TW" dirty="0"/>
          </a:p>
          <a:p>
            <a:r>
              <a:rPr lang="zh-TW" altLang="en-US" dirty="0"/>
              <a:t>潤飾最主要目的是</a:t>
            </a:r>
            <a:r>
              <a:rPr lang="zh-TW" altLang="en-US" dirty="0">
                <a:solidFill>
                  <a:srgbClr val="C00000"/>
                </a:solidFill>
              </a:rPr>
              <a:t>去除沒有幫助的資訊</a:t>
            </a:r>
            <a:r>
              <a:rPr lang="zh-TW" altLang="en-US" dirty="0"/>
              <a:t>，如：背景、金屬物品上的光澤等會干擾電腦視覺的雜訊。</a:t>
            </a:r>
          </a:p>
          <a:p>
            <a:endParaRPr lang="zh-TW" altLang="en-US" dirty="0"/>
          </a:p>
        </p:txBody>
      </p:sp>
      <p:sp>
        <p:nvSpPr>
          <p:cNvPr id="6" name="矩形 5"/>
          <p:cNvSpPr/>
          <p:nvPr/>
        </p:nvSpPr>
        <p:spPr>
          <a:xfrm>
            <a:off x="6215242" y="3471850"/>
            <a:ext cx="2656496" cy="369332"/>
          </a:xfrm>
          <a:prstGeom prst="rect">
            <a:avLst/>
          </a:prstGeom>
          <a:solidFill>
            <a:schemeClr val="accent1">
              <a:lumMod val="20000"/>
              <a:lumOff val="80000"/>
            </a:schemeClr>
          </a:solidFill>
          <a:ln>
            <a:solidFill>
              <a:schemeClr val="tx1"/>
            </a:solidFill>
          </a:ln>
          <a:scene3d>
            <a:camera prst="orthographicFront"/>
            <a:lightRig rig="threePt" dir="t"/>
          </a:scene3d>
          <a:sp3d>
            <a:bevelT prst="relaxedInset"/>
          </a:sp3d>
        </p:spPr>
        <p:txBody>
          <a:bodyPr wrap="none">
            <a:spAutoFit/>
          </a:bodyPr>
          <a:lstStyle/>
          <a:p>
            <a:r>
              <a:rPr lang="zh-TW" altLang="en-US" dirty="0">
                <a:latin typeface="微軟正黑體" pitchFamily="34" charset="-120"/>
                <a:ea typeface="微軟正黑體" pitchFamily="34" charset="-120"/>
              </a:rPr>
              <a:t>潤飾過後的</a:t>
            </a:r>
            <a:r>
              <a:rPr lang="en-US" altLang="zh-TW" dirty="0">
                <a:latin typeface="微軟正黑體" pitchFamily="34" charset="-120"/>
                <a:ea typeface="微軟正黑體" pitchFamily="34" charset="-120"/>
              </a:rPr>
              <a:t>Lena Lena</a:t>
            </a:r>
            <a:r>
              <a:rPr lang="zh-TW" altLang="en-US" dirty="0">
                <a:latin typeface="微軟正黑體" pitchFamily="34" charset="-120"/>
                <a:ea typeface="微軟正黑體" pitchFamily="34" charset="-120"/>
              </a:rPr>
              <a:t>圖</a:t>
            </a:r>
          </a:p>
        </p:txBody>
      </p:sp>
      <p:pic>
        <p:nvPicPr>
          <p:cNvPr id="7"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618634" y="1525384"/>
            <a:ext cx="1849712" cy="184971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691117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a:bodyPr>
          <a:lstStyle/>
          <a:p>
            <a:r>
              <a:rPr lang="en-US" altLang="zh-TW" dirty="0"/>
              <a:t>2. </a:t>
            </a:r>
            <a:r>
              <a:rPr lang="zh-TW" altLang="en-US" dirty="0"/>
              <a:t>下標籤</a:t>
            </a:r>
          </a:p>
        </p:txBody>
      </p:sp>
      <p:sp>
        <p:nvSpPr>
          <p:cNvPr id="4" name="內容版面配置區 3"/>
          <p:cNvSpPr>
            <a:spLocks noGrp="1"/>
          </p:cNvSpPr>
          <p:nvPr>
            <p:ph idx="1"/>
          </p:nvPr>
        </p:nvSpPr>
        <p:spPr/>
        <p:txBody>
          <a:bodyPr>
            <a:normAutofit fontScale="92500" lnSpcReduction="20000"/>
          </a:bodyPr>
          <a:lstStyle/>
          <a:p>
            <a:r>
              <a:rPr lang="zh-TW" altLang="en-US" dirty="0"/>
              <a:t>針對像素的灰階色澤進行標籤。</a:t>
            </a:r>
            <a:endParaRPr lang="en-US" altLang="zh-TW" dirty="0"/>
          </a:p>
          <a:p>
            <a:r>
              <a:rPr lang="zh-TW" altLang="en-US" dirty="0"/>
              <a:t>譬如：將灰階分成</a:t>
            </a:r>
            <a:r>
              <a:rPr lang="en-US" altLang="zh-TW" dirty="0"/>
              <a:t>16</a:t>
            </a:r>
            <a:r>
              <a:rPr lang="zh-TW" altLang="en-US" dirty="0"/>
              <a:t>個等級。</a:t>
            </a:r>
            <a:br>
              <a:rPr lang="en-US" altLang="zh-TW" dirty="0"/>
            </a:br>
            <a:r>
              <a:rPr lang="en-US" altLang="zh-TW" dirty="0"/>
              <a:t>0~15</a:t>
            </a:r>
            <a:r>
              <a:rPr lang="zh-TW" altLang="en-US" dirty="0"/>
              <a:t>為一個等級、</a:t>
            </a:r>
            <a:r>
              <a:rPr lang="en-US" altLang="zh-TW" dirty="0"/>
              <a:t>16~31</a:t>
            </a:r>
            <a:r>
              <a:rPr lang="zh-TW" altLang="en-US" dirty="0"/>
              <a:t>為第二個等級，以此類推至</a:t>
            </a:r>
            <a:r>
              <a:rPr lang="en-US" altLang="zh-TW" dirty="0"/>
              <a:t>255</a:t>
            </a:r>
            <a:r>
              <a:rPr lang="zh-TW" altLang="en-US" dirty="0"/>
              <a:t>。</a:t>
            </a:r>
            <a:endParaRPr lang="en-US" altLang="zh-TW" dirty="0"/>
          </a:p>
          <a:p>
            <a:r>
              <a:rPr lang="zh-TW" altLang="en-US" dirty="0"/>
              <a:t>下標籤之後，雖然灰階圖上帽子的顏色略有差異，可是經由標籤之後，帽子上的點由於色差不大，因此很有可能都會被標為同一個等級。</a:t>
            </a:r>
          </a:p>
        </p:txBody>
      </p:sp>
    </p:spTree>
    <p:extLst>
      <p:ext uri="{BB962C8B-B14F-4D97-AF65-F5344CB8AC3E}">
        <p14:creationId xmlns:p14="http://schemas.microsoft.com/office/powerpoint/2010/main" val="42153621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a:t>3. </a:t>
            </a:r>
            <a:r>
              <a:rPr lang="zh-TW" altLang="en-US"/>
              <a:t>群組化</a:t>
            </a:r>
            <a:endParaRPr lang="zh-TW" altLang="en-US" dirty="0"/>
          </a:p>
        </p:txBody>
      </p:sp>
      <p:sp>
        <p:nvSpPr>
          <p:cNvPr id="4" name="內容版面配置區 3"/>
          <p:cNvSpPr>
            <a:spLocks noGrp="1"/>
          </p:cNvSpPr>
          <p:nvPr>
            <p:ph idx="1"/>
          </p:nvPr>
        </p:nvSpPr>
        <p:spPr/>
        <p:txBody>
          <a:bodyPr/>
          <a:lstStyle/>
          <a:p>
            <a:r>
              <a:rPr lang="zh-TW" altLang="en-US" dirty="0"/>
              <a:t>下標籤之後，就能把標籤值相同或相近的區塊圈選出來，整張圖被分解成由數個群組所組成。</a:t>
            </a:r>
          </a:p>
        </p:txBody>
      </p:sp>
      <p:sp>
        <p:nvSpPr>
          <p:cNvPr id="5" name="標題 2"/>
          <p:cNvSpPr txBox="1">
            <a:spLocks/>
          </p:cNvSpPr>
          <p:nvPr/>
        </p:nvSpPr>
        <p:spPr>
          <a:xfrm>
            <a:off x="457200" y="2537996"/>
            <a:ext cx="8229600" cy="72201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b="1" kern="1200">
                <a:solidFill>
                  <a:srgbClr val="C00000"/>
                </a:solidFill>
                <a:latin typeface="微軟正黑體" pitchFamily="34" charset="-120"/>
                <a:ea typeface="微軟正黑體" pitchFamily="34" charset="-120"/>
                <a:cs typeface="+mj-cs"/>
              </a:defRPr>
            </a:lvl1pPr>
          </a:lstStyle>
          <a:p>
            <a:endParaRPr lang="zh-TW" altLang="en-US" sz="4000" dirty="0"/>
          </a:p>
        </p:txBody>
      </p:sp>
      <p:sp>
        <p:nvSpPr>
          <p:cNvPr id="6" name="內容版面配置區 3"/>
          <p:cNvSpPr txBox="1">
            <a:spLocks/>
          </p:cNvSpPr>
          <p:nvPr/>
        </p:nvSpPr>
        <p:spPr>
          <a:xfrm>
            <a:off x="457200" y="3428777"/>
            <a:ext cx="8229600" cy="1165846"/>
          </a:xfrm>
          <a:prstGeom prst="rect">
            <a:avLst/>
          </a:prstGeom>
        </p:spPr>
        <p:txBody>
          <a:bodyPr vert="horz" lIns="91440" tIns="45720" rIns="91440" bIns="45720" rtlCol="0">
            <a:normAutofit/>
          </a:bodyPr>
          <a:lstStyle>
            <a:lvl1pPr marL="457200" indent="-457200" algn="l" defTabSz="914400" rtl="0" eaLnBrk="1" latinLnBrk="0" hangingPunct="1">
              <a:spcBef>
                <a:spcPct val="20000"/>
              </a:spcBef>
              <a:buFontTx/>
              <a:buBlip>
                <a:blip r:embed="rId2"/>
              </a:buBlip>
              <a:defRPr sz="2800" b="1" kern="1200">
                <a:solidFill>
                  <a:schemeClr val="tx1"/>
                </a:solidFill>
                <a:latin typeface="微軟正黑體" pitchFamily="34" charset="-120"/>
                <a:ea typeface="微軟正黑體" pitchFamily="34" charset="-120"/>
                <a:cs typeface="+mn-cs"/>
              </a:defRPr>
            </a:lvl1pPr>
            <a:lvl2pPr marL="914400" indent="-457200" algn="l" defTabSz="914400" rtl="0" eaLnBrk="1" latinLnBrk="0" hangingPunct="1">
              <a:spcBef>
                <a:spcPct val="20000"/>
              </a:spcBef>
              <a:buClr>
                <a:schemeClr val="tx2"/>
              </a:buClr>
              <a:buFont typeface="Wingdings 3" panose="05040102010807070707" pitchFamily="18" charset="2"/>
              <a:buChar char=""/>
              <a:defRPr sz="2600" b="1" kern="1200">
                <a:solidFill>
                  <a:schemeClr val="tx1"/>
                </a:solidFill>
                <a:latin typeface="微軟正黑體" pitchFamily="34" charset="-120"/>
                <a:ea typeface="微軟正黑體" pitchFamily="34" charset="-120"/>
                <a:cs typeface="+mn-cs"/>
              </a:defRPr>
            </a:lvl2pPr>
            <a:lvl3pPr marL="1257300" indent="-342900" algn="l" defTabSz="914400" rtl="0" eaLnBrk="1" latinLnBrk="0" hangingPunct="1">
              <a:spcBef>
                <a:spcPct val="20000"/>
              </a:spcBef>
              <a:buClr>
                <a:schemeClr val="accent1"/>
              </a:buClr>
              <a:buFont typeface="微軟正黑體" panose="020B0604030504040204" pitchFamily="34" charset="-120"/>
              <a:buChar char="■"/>
              <a:defRPr sz="2400" b="1" kern="1200">
                <a:solidFill>
                  <a:schemeClr val="tx1"/>
                </a:solidFill>
                <a:latin typeface="微軟正黑體" pitchFamily="34" charset="-120"/>
                <a:ea typeface="微軟正黑體" pitchFamily="34" charset="-120"/>
                <a:cs typeface="+mn-cs"/>
              </a:defRPr>
            </a:lvl3pPr>
            <a:lvl4pPr marL="1371600" indent="0" algn="l" defTabSz="914400" rtl="0" eaLnBrk="1" latinLnBrk="0" hangingPunct="1">
              <a:spcBef>
                <a:spcPct val="20000"/>
              </a:spcBef>
              <a:buFont typeface="Arial" pitchFamily="34" charset="0"/>
              <a:buNone/>
              <a:defRPr sz="2000" b="1" kern="1200">
                <a:solidFill>
                  <a:schemeClr val="tx1"/>
                </a:solidFill>
                <a:latin typeface="微軟正黑體" pitchFamily="34" charset="-120"/>
                <a:ea typeface="微軟正黑體" pitchFamily="34" charset="-120"/>
                <a:cs typeface="+mn-cs"/>
              </a:defRPr>
            </a:lvl4pPr>
            <a:lvl5pPr marL="1828800" indent="0" algn="l" defTabSz="914400" rtl="0" eaLnBrk="1" latinLnBrk="0" hangingPunct="1">
              <a:spcBef>
                <a:spcPct val="20000"/>
              </a:spcBef>
              <a:buFont typeface="Arial" pitchFamily="34" charset="0"/>
              <a:buNone/>
              <a:defRPr sz="1800" b="1"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zh-TW" altLang="en-US" dirty="0"/>
          </a:p>
        </p:txBody>
      </p:sp>
    </p:spTree>
    <p:extLst>
      <p:ext uri="{BB962C8B-B14F-4D97-AF65-F5344CB8AC3E}">
        <p14:creationId xmlns:p14="http://schemas.microsoft.com/office/powerpoint/2010/main" val="14045186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4. </a:t>
            </a:r>
            <a:r>
              <a:rPr lang="zh-TW" altLang="en-US" dirty="0"/>
              <a:t>解析</a:t>
            </a:r>
          </a:p>
        </p:txBody>
      </p:sp>
      <p:sp>
        <p:nvSpPr>
          <p:cNvPr id="3" name="內容版面配置區 2"/>
          <p:cNvSpPr>
            <a:spLocks noGrp="1"/>
          </p:cNvSpPr>
          <p:nvPr>
            <p:ph idx="1"/>
          </p:nvPr>
        </p:nvSpPr>
        <p:spPr/>
        <p:txBody>
          <a:bodyPr/>
          <a:lstStyle/>
          <a:p>
            <a:r>
              <a:rPr lang="zh-TW" altLang="en-US" dirty="0"/>
              <a:t>針對群組化後的資訊進行一些計算，算出能代表該區塊特性的數值，如：標準差、平均值等。</a:t>
            </a:r>
          </a:p>
          <a:p>
            <a:endParaRPr lang="zh-TW" altLang="en-US" dirty="0"/>
          </a:p>
        </p:txBody>
      </p:sp>
    </p:spTree>
    <p:extLst>
      <p:ext uri="{BB962C8B-B14F-4D97-AF65-F5344CB8AC3E}">
        <p14:creationId xmlns:p14="http://schemas.microsoft.com/office/powerpoint/2010/main" val="3203691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a:bodyPr>
          <a:lstStyle/>
          <a:p>
            <a:r>
              <a:rPr lang="en-US" altLang="zh-TW" dirty="0"/>
              <a:t>5. </a:t>
            </a:r>
            <a:r>
              <a:rPr lang="zh-TW" altLang="en-US" dirty="0"/>
              <a:t>比對</a:t>
            </a:r>
          </a:p>
        </p:txBody>
      </p:sp>
      <p:sp>
        <p:nvSpPr>
          <p:cNvPr id="4" name="內容版面配置區 3"/>
          <p:cNvSpPr>
            <a:spLocks noGrp="1"/>
          </p:cNvSpPr>
          <p:nvPr>
            <p:ph idx="1"/>
          </p:nvPr>
        </p:nvSpPr>
        <p:spPr/>
        <p:txBody>
          <a:bodyPr>
            <a:normAutofit fontScale="92500" lnSpcReduction="10000"/>
          </a:bodyPr>
          <a:lstStyle/>
          <a:p>
            <a:r>
              <a:rPr lang="zh-TW" altLang="en-US" dirty="0"/>
              <a:t>完成解析之後，電腦視覺已經能把觀察物區塊標明出來，並且得到夠多的資訊以理解觀察物。</a:t>
            </a:r>
            <a:endParaRPr lang="en-US" altLang="zh-TW" dirty="0"/>
          </a:p>
          <a:p>
            <a:r>
              <a:rPr lang="zh-TW" altLang="en-US" dirty="0"/>
              <a:t>與人類學習模式一樣，電腦亦需透過與已知物品進行分析比對，才能確認所見的物體是什麼。</a:t>
            </a:r>
            <a:endParaRPr lang="en-US" altLang="zh-TW" dirty="0"/>
          </a:p>
          <a:p>
            <a:r>
              <a:rPr lang="zh-TW" altLang="en-US" dirty="0"/>
              <a:t>人類可透過其他感官來分辨，電腦視覺必須透過影像的特徵來辨析。</a:t>
            </a:r>
          </a:p>
        </p:txBody>
      </p:sp>
    </p:spTree>
    <p:extLst>
      <p:ext uri="{BB962C8B-B14F-4D97-AF65-F5344CB8AC3E}">
        <p14:creationId xmlns:p14="http://schemas.microsoft.com/office/powerpoint/2010/main" val="17247996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fontScale="92500"/>
          </a:bodyPr>
          <a:lstStyle/>
          <a:p>
            <a:r>
              <a:rPr lang="zh-TW" altLang="en-US" dirty="0">
                <a:solidFill>
                  <a:srgbClr val="C00000"/>
                </a:solidFill>
              </a:rPr>
              <a:t>回天乏術的植入裝置</a:t>
            </a:r>
            <a:endParaRPr lang="en-US" altLang="zh-TW" dirty="0">
              <a:solidFill>
                <a:srgbClr val="C00000"/>
              </a:solidFill>
            </a:endParaRPr>
          </a:p>
          <a:p>
            <a:r>
              <a:rPr lang="zh-TW" altLang="en-US" dirty="0"/>
              <a:t>當身體器官受損失能時，有些部位除了器官移植外，還有植入人工裝置的選項，例如人工關節、心律調節器、植牙、人工耳蝸和視覺假體等。</a:t>
            </a:r>
            <a:endParaRPr lang="en-US" altLang="zh-TW" dirty="0"/>
          </a:p>
          <a:p>
            <a:r>
              <a:rPr lang="zh-TW" altLang="en-US" dirty="0"/>
              <a:t>植入式電子裝置的保固維護極為重要，若碰上短命公司就很要命。</a:t>
            </a:r>
          </a:p>
        </p:txBody>
      </p:sp>
    </p:spTree>
    <p:extLst>
      <p:ext uri="{BB962C8B-B14F-4D97-AF65-F5344CB8AC3E}">
        <p14:creationId xmlns:p14="http://schemas.microsoft.com/office/powerpoint/2010/main" val="15086809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lnSpcReduction="10000"/>
          </a:bodyPr>
          <a:lstStyle/>
          <a:p>
            <a:r>
              <a:rPr lang="zh-TW" altLang="en-US" dirty="0"/>
              <a:t>二月中旬，</a:t>
            </a:r>
            <a:r>
              <a:rPr lang="en-US" altLang="zh-TW" dirty="0"/>
              <a:t>《IEEE Spectrum》</a:t>
            </a:r>
            <a:r>
              <a:rPr lang="zh-TW" altLang="en-US" dirty="0"/>
              <a:t>期刊的一篇報導指出，</a:t>
            </a:r>
            <a:r>
              <a:rPr lang="en-US" altLang="zh-TW" dirty="0"/>
              <a:t>Second Sight</a:t>
            </a:r>
            <a:r>
              <a:rPr lang="zh-TW" altLang="en-US" dirty="0"/>
              <a:t>不再支援維護它所植入的仿生眼睛，不只軟體不再更新，而且硬體損壞也無從修護，至少有三百多位用戶頓失所依。</a:t>
            </a:r>
            <a:endParaRPr lang="en-US" altLang="zh-TW" dirty="0"/>
          </a:p>
          <a:p>
            <a:r>
              <a:rPr lang="zh-TW" altLang="en-US" dirty="0"/>
              <a:t>有人下樓梯時突然變黑而無從改善，有人因腦部植入的仿生眼睛線路不明而無法做腦部磁振造影，只能改做電腦斷層⋯。</a:t>
            </a:r>
          </a:p>
          <a:p>
            <a:endParaRPr lang="zh-TW" altLang="en-US" dirty="0"/>
          </a:p>
        </p:txBody>
      </p:sp>
    </p:spTree>
    <p:extLst>
      <p:ext uri="{BB962C8B-B14F-4D97-AF65-F5344CB8AC3E}">
        <p14:creationId xmlns:p14="http://schemas.microsoft.com/office/powerpoint/2010/main" val="3091421939"/>
      </p:ext>
    </p:extLst>
  </p:cSld>
  <p:clrMapOvr>
    <a:masterClrMapping/>
  </p:clrMapOvr>
</p:sld>
</file>

<file path=ppt/theme/theme1.xml><?xml version="1.0" encoding="utf-8"?>
<a:theme xmlns:a="http://schemas.openxmlformats.org/drawingml/2006/main" name="Office 佈景主題">
  <a:themeElements>
    <a:clrScheme name="藍綠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3423</TotalTime>
  <Words>4855</Words>
  <Application>Microsoft Office PowerPoint</Application>
  <PresentationFormat>如螢幕大小 (16:9)</PresentationFormat>
  <Paragraphs>275</Paragraphs>
  <Slides>80</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80</vt:i4>
      </vt:variant>
    </vt:vector>
  </HeadingPairs>
  <TitlesOfParts>
    <vt:vector size="85" baseType="lpstr">
      <vt:lpstr>微軟正黑體</vt:lpstr>
      <vt:lpstr>Arial</vt:lpstr>
      <vt:lpstr>Calibri</vt:lpstr>
      <vt:lpstr>Wingdings 3</vt:lpstr>
      <vt:lpstr>Office 佈景主題</vt:lpstr>
      <vt:lpstr>人工智慧</vt:lpstr>
      <vt:lpstr>14-1 人工智慧的概念與沿革</vt:lpstr>
      <vt:lpstr>14-1 人工智慧的概念與沿革</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PowerPoint 簡報</vt:lpstr>
      <vt:lpstr>PowerPoint 簡報</vt:lpstr>
      <vt:lpstr>人工智慧的重要技術與應用</vt:lpstr>
      <vt:lpstr>人工智慧的重要技術與應用</vt:lpstr>
      <vt:lpstr>人工智慧的重要技術與應用</vt:lpstr>
      <vt:lpstr>人工智慧的重要技術與應用</vt:lpstr>
      <vt:lpstr>人工智慧的重要技術與應用</vt:lpstr>
      <vt:lpstr>人工智慧的重要技術與應用</vt:lpstr>
      <vt:lpstr>14-2機器學習和深度學習</vt:lpstr>
      <vt:lpstr>14-2機器學習和深度學習</vt:lpstr>
      <vt:lpstr>機器學習</vt:lpstr>
      <vt:lpstr>14-2機器學習和深度學習</vt:lpstr>
      <vt:lpstr>機器學習</vt:lpstr>
      <vt:lpstr>機器學習</vt:lpstr>
      <vt:lpstr>PowerPoint 簡報</vt:lpstr>
      <vt:lpstr>PowerPoint 簡報</vt:lpstr>
      <vt:lpstr>深度學習</vt:lpstr>
      <vt:lpstr>CNN-卷積神經網路</vt:lpstr>
      <vt:lpstr>卷積運算範例</vt:lpstr>
      <vt:lpstr>卷積運算範例</vt:lpstr>
      <vt:lpstr>池化層</vt:lpstr>
      <vt:lpstr>完整的CNN架構範例</vt:lpstr>
      <vt:lpstr>完整的CNN架構範例</vt:lpstr>
      <vt:lpstr>RNN</vt:lpstr>
      <vt:lpstr>RNN</vt:lpstr>
      <vt:lpstr>RNN 架構</vt:lpstr>
      <vt:lpstr>PowerPoint 簡報</vt:lpstr>
      <vt:lpstr>14-3 生成式AI</vt:lpstr>
      <vt:lpstr>利用生成對抗網路 產生圖片的示意圖</vt:lpstr>
      <vt:lpstr>注意力機制和變換器模型</vt:lpstr>
      <vt:lpstr>注意力機制和變換器模型</vt:lpstr>
      <vt:lpstr>注意力機制和變換器模型</vt:lpstr>
      <vt:lpstr>注意力機制和變換器模型</vt:lpstr>
      <vt:lpstr>擴散模型</vt:lpstr>
      <vt:lpstr>擴散模型</vt:lpstr>
      <vt:lpstr>擴散模型</vt:lpstr>
      <vt:lpstr>擴散模型</vt:lpstr>
      <vt:lpstr>14-4 大型語言模型</vt:lpstr>
      <vt:lpstr>14-4 大型語言模型</vt:lpstr>
      <vt:lpstr>常見的LLM</vt:lpstr>
      <vt:lpstr>幻覺</vt:lpstr>
      <vt:lpstr>檢索增強生成</vt:lpstr>
      <vt:lpstr>提示詞工程</vt:lpstr>
      <vt:lpstr>人工智慧代理程式</vt:lpstr>
      <vt:lpstr>無程式碼和氛圍編碼</vt:lpstr>
      <vt:lpstr>無程式碼和氛圍編碼</vt:lpstr>
      <vt:lpstr>無程式碼和氛圍編碼</vt:lpstr>
      <vt:lpstr>無程式碼和氛圍編碼</vt:lpstr>
      <vt:lpstr>PowerPoint 簡報</vt:lpstr>
      <vt:lpstr>14-5 電腦視覺及圖像識別</vt:lpstr>
      <vt:lpstr>14-5 電腦視覺及圖像識別</vt:lpstr>
      <vt:lpstr>如果有一天，電腦能夠判讀影像…</vt:lpstr>
      <vt:lpstr>如果有一天，電腦能夠判讀影像…</vt:lpstr>
      <vt:lpstr>PowerPoint 簡報</vt:lpstr>
      <vt:lpstr>14-5 電腦視覺及圖像識別</vt:lpstr>
      <vt:lpstr>14-5 電腦視覺及圖像識別</vt:lpstr>
      <vt:lpstr>14-5 電腦視覺及圖像識別</vt:lpstr>
      <vt:lpstr>電腦視覺的處理過程</vt:lpstr>
      <vt:lpstr>1. 潤飾</vt:lpstr>
      <vt:lpstr>2. 下標籤</vt:lpstr>
      <vt:lpstr>3. 群組化</vt:lpstr>
      <vt:lpstr>4. 解析</vt:lpstr>
      <vt:lpstr>5. 比對</vt:lpstr>
      <vt:lpstr>PowerPoint 簡報</vt:lpstr>
      <vt:lpstr>PowerPoint 簡報</vt:lpstr>
    </vt:vector>
  </TitlesOfParts>
  <Company>FDZone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ox01ox01</dc:creator>
  <cp:lastModifiedBy>D2</cp:lastModifiedBy>
  <cp:revision>245</cp:revision>
  <dcterms:created xsi:type="dcterms:W3CDTF">2015-04-21T01:58:17Z</dcterms:created>
  <dcterms:modified xsi:type="dcterms:W3CDTF">2026-07-02T01:20:25Z</dcterms:modified>
</cp:coreProperties>
</file>