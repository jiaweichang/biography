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56" r:id="rId2"/>
    <p:sldId id="318" r:id="rId3"/>
    <p:sldId id="469" r:id="rId4"/>
    <p:sldId id="374" r:id="rId5"/>
    <p:sldId id="493" r:id="rId6"/>
    <p:sldId id="431" r:id="rId7"/>
    <p:sldId id="432" r:id="rId8"/>
    <p:sldId id="375" r:id="rId9"/>
    <p:sldId id="438" r:id="rId10"/>
    <p:sldId id="470" r:id="rId11"/>
    <p:sldId id="376" r:id="rId12"/>
    <p:sldId id="409" r:id="rId13"/>
    <p:sldId id="377" r:id="rId14"/>
    <p:sldId id="471" r:id="rId15"/>
    <p:sldId id="378" r:id="rId16"/>
    <p:sldId id="472" r:id="rId17"/>
    <p:sldId id="417" r:id="rId18"/>
    <p:sldId id="473" r:id="rId19"/>
    <p:sldId id="433" r:id="rId20"/>
    <p:sldId id="474" r:id="rId21"/>
    <p:sldId id="434" r:id="rId22"/>
    <p:sldId id="475" r:id="rId23"/>
    <p:sldId id="435" r:id="rId24"/>
    <p:sldId id="476" r:id="rId25"/>
    <p:sldId id="436" r:id="rId26"/>
    <p:sldId id="494" r:id="rId27"/>
    <p:sldId id="437" r:id="rId28"/>
    <p:sldId id="477" r:id="rId29"/>
    <p:sldId id="439" r:id="rId30"/>
    <p:sldId id="478" r:id="rId31"/>
    <p:sldId id="440" r:id="rId32"/>
    <p:sldId id="479" r:id="rId33"/>
    <p:sldId id="454" r:id="rId34"/>
    <p:sldId id="480" r:id="rId35"/>
    <p:sldId id="441" r:id="rId36"/>
    <p:sldId id="496" r:id="rId37"/>
    <p:sldId id="455" r:id="rId38"/>
    <p:sldId id="456" r:id="rId39"/>
    <p:sldId id="442" r:id="rId40"/>
    <p:sldId id="443" r:id="rId41"/>
    <p:sldId id="444" r:id="rId42"/>
    <p:sldId id="445" r:id="rId43"/>
    <p:sldId id="457" r:id="rId44"/>
    <p:sldId id="458" r:id="rId45"/>
    <p:sldId id="459" r:id="rId46"/>
    <p:sldId id="460" r:id="rId47"/>
    <p:sldId id="461" r:id="rId48"/>
    <p:sldId id="462" r:id="rId49"/>
    <p:sldId id="463" r:id="rId50"/>
    <p:sldId id="495" r:id="rId51"/>
    <p:sldId id="464" r:id="rId52"/>
    <p:sldId id="497" r:id="rId53"/>
    <p:sldId id="465" r:id="rId54"/>
    <p:sldId id="466" r:id="rId55"/>
    <p:sldId id="467" r:id="rId56"/>
    <p:sldId id="446" r:id="rId57"/>
    <p:sldId id="447" r:id="rId58"/>
    <p:sldId id="449" r:id="rId59"/>
    <p:sldId id="482" r:id="rId60"/>
    <p:sldId id="450" r:id="rId61"/>
    <p:sldId id="365" r:id="rId62"/>
    <p:sldId id="483" r:id="rId63"/>
    <p:sldId id="366" r:id="rId64"/>
    <p:sldId id="368" r:id="rId65"/>
    <p:sldId id="369" r:id="rId66"/>
    <p:sldId id="370" r:id="rId67"/>
    <p:sldId id="371" r:id="rId68"/>
    <p:sldId id="484" r:id="rId69"/>
    <p:sldId id="373" r:id="rId70"/>
    <p:sldId id="452" r:id="rId71"/>
    <p:sldId id="485" r:id="rId72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  <a:srgbClr val="FFCC66"/>
    <a:srgbClr val="9BBB59"/>
    <a:srgbClr val="F2F2F2"/>
    <a:srgbClr val="99B1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 autoAdjust="0"/>
    <p:restoredTop sz="94660"/>
  </p:normalViewPr>
  <p:slideViewPr>
    <p:cSldViewPr snapToObjects="1">
      <p:cViewPr varScale="1">
        <p:scale>
          <a:sx n="139" d="100"/>
          <a:sy n="139" d="100"/>
        </p:scale>
        <p:origin x="-87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77818A-6956-45EA-8F1C-15AC4F4FBBDC}" type="doc">
      <dgm:prSet loTypeId="urn:microsoft.com/office/officeart/2005/8/layout/hierarchy2" loCatId="hierarchy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zh-TW" altLang="en-US"/>
        </a:p>
      </dgm:t>
    </dgm:pt>
    <dgm:pt modelId="{56FCE046-AFA3-4C44-8DD7-41BEA772254C}">
      <dgm:prSet phldrT="[文字]" custT="1"/>
      <dgm:spPr/>
      <dgm:t>
        <a:bodyPr/>
        <a:lstStyle/>
        <a:p>
          <a:r>
            <a:rPr lang="zh-TW" altLang="en-US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機器學習</a:t>
          </a:r>
          <a:endParaRPr lang="zh-TW" altLang="en-US" sz="24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4872649-3AC0-460A-90FF-E2793D396EC2}" type="parTrans" cxnId="{692F84B5-E347-4301-B7ED-CD309580933B}">
      <dgm:prSet/>
      <dgm:spPr/>
      <dgm:t>
        <a:bodyPr/>
        <a:lstStyle/>
        <a:p>
          <a:endParaRPr lang="zh-TW" altLang="en-US" b="1"/>
        </a:p>
      </dgm:t>
    </dgm:pt>
    <dgm:pt modelId="{0E5D1D50-C49F-4490-AE20-242BAFE5F299}" type="sibTrans" cxnId="{692F84B5-E347-4301-B7ED-CD309580933B}">
      <dgm:prSet/>
      <dgm:spPr/>
      <dgm:t>
        <a:bodyPr/>
        <a:lstStyle/>
        <a:p>
          <a:endParaRPr lang="zh-TW" altLang="en-US" b="1"/>
        </a:p>
      </dgm:t>
    </dgm:pt>
    <dgm:pt modelId="{3D99FC8C-3450-411F-969E-0FDA7E4B855B}">
      <dgm:prSet phldrT="[文字]" custT="1"/>
      <dgm:spPr/>
      <dgm:t>
        <a:bodyPr/>
        <a:lstStyle/>
        <a:p>
          <a:r>
            <a:rPr lang="zh-TW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監督式學習</a:t>
          </a:r>
          <a:r>
            <a: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（</a:t>
          </a:r>
          <a:r>
            <a:rPr lang="en-US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supervised learning</a:t>
          </a:r>
          <a:r>
            <a:rPr lang="zh-TW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zh-TW" altLang="en-US" sz="22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D8BDF27-315D-4B00-B4AF-23E414246BAB}" type="parTrans" cxnId="{87A158A4-7776-43F4-957D-29BF6C78CAAF}">
      <dgm:prSet/>
      <dgm:spPr/>
      <dgm:t>
        <a:bodyPr/>
        <a:lstStyle/>
        <a:p>
          <a:endParaRPr lang="zh-TW" altLang="en-US" b="1"/>
        </a:p>
      </dgm:t>
    </dgm:pt>
    <dgm:pt modelId="{E665E5C4-7886-4098-836D-7F526CC40F85}" type="sibTrans" cxnId="{87A158A4-7776-43F4-957D-29BF6C78CAAF}">
      <dgm:prSet/>
      <dgm:spPr/>
      <dgm:t>
        <a:bodyPr/>
        <a:lstStyle/>
        <a:p>
          <a:endParaRPr lang="zh-TW" altLang="en-US" b="1"/>
        </a:p>
      </dgm:t>
    </dgm:pt>
    <dgm:pt modelId="{025B5BD7-4972-4706-8E8F-ACC3665188D5}">
      <dgm:prSet phldrT="[文字]" custT="1"/>
      <dgm:spPr/>
      <dgm:t>
        <a:bodyPr/>
        <a:lstStyle/>
        <a:p>
          <a:r>
            <a:rPr lang="zh-TW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非監督式學習</a:t>
          </a:r>
          <a:r>
            <a: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（</a:t>
          </a:r>
          <a:r>
            <a:rPr lang="en-US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unsupervised learning</a:t>
          </a:r>
          <a:r>
            <a:rPr lang="zh-TW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zh-TW" altLang="en-US" sz="22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A500AF94-FAD9-42C1-A9D1-5BD8E20C5020}" type="parTrans" cxnId="{7125DB43-F445-48FF-ADA5-1A26344DC9E4}">
      <dgm:prSet/>
      <dgm:spPr/>
      <dgm:t>
        <a:bodyPr/>
        <a:lstStyle/>
        <a:p>
          <a:endParaRPr lang="zh-TW" altLang="en-US" b="1"/>
        </a:p>
      </dgm:t>
    </dgm:pt>
    <dgm:pt modelId="{B4341748-F496-432C-A742-BBD0E31E7048}" type="sibTrans" cxnId="{7125DB43-F445-48FF-ADA5-1A26344DC9E4}">
      <dgm:prSet/>
      <dgm:spPr/>
      <dgm:t>
        <a:bodyPr/>
        <a:lstStyle/>
        <a:p>
          <a:endParaRPr lang="zh-TW" altLang="en-US" b="1"/>
        </a:p>
      </dgm:t>
    </dgm:pt>
    <dgm:pt modelId="{0077F8DA-D04C-4C4D-B0F8-8A626FF8B048}">
      <dgm:prSet phldrT="[文字]" custT="1"/>
      <dgm:spPr/>
      <dgm:t>
        <a:bodyPr/>
        <a:lstStyle/>
        <a:p>
          <a:r>
            <a:rPr lang="zh-TW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增強式學習</a:t>
          </a:r>
          <a:r>
            <a: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（</a:t>
          </a:r>
          <a:r>
            <a:rPr lang="en-US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reinforcement learning</a:t>
          </a:r>
          <a:r>
            <a:rPr lang="zh-TW" altLang="en-US" sz="22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zh-TW" altLang="en-US" sz="2200" b="1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EDE6134-A60E-452B-8547-7E3E506B9F72}" type="parTrans" cxnId="{78803850-C677-4162-8836-6B778594FD07}">
      <dgm:prSet/>
      <dgm:spPr/>
      <dgm:t>
        <a:bodyPr/>
        <a:lstStyle/>
        <a:p>
          <a:endParaRPr lang="zh-TW" altLang="en-US" b="1"/>
        </a:p>
      </dgm:t>
    </dgm:pt>
    <dgm:pt modelId="{48BA4C98-F386-4F90-9D7B-7AE1CA8EEF1D}" type="sibTrans" cxnId="{78803850-C677-4162-8836-6B778594FD07}">
      <dgm:prSet/>
      <dgm:spPr/>
      <dgm:t>
        <a:bodyPr/>
        <a:lstStyle/>
        <a:p>
          <a:endParaRPr lang="zh-TW" altLang="en-US" b="1"/>
        </a:p>
      </dgm:t>
    </dgm:pt>
    <dgm:pt modelId="{5E4C4CDE-797F-4EA9-940F-396C378F5B15}" type="pres">
      <dgm:prSet presAssocID="{B077818A-6956-45EA-8F1C-15AC4F4FBBD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E82E264-A7BD-496B-8899-42D6A535A3B9}" type="pres">
      <dgm:prSet presAssocID="{56FCE046-AFA3-4C44-8DD7-41BEA772254C}" presName="root1" presStyleCnt="0"/>
      <dgm:spPr/>
    </dgm:pt>
    <dgm:pt modelId="{16259B27-BB8C-4CBF-9A74-E51C18D9D953}" type="pres">
      <dgm:prSet presAssocID="{56FCE046-AFA3-4C44-8DD7-41BEA772254C}" presName="LevelOneTextNode" presStyleLbl="node0" presStyleIdx="0" presStyleCnt="1">
        <dgm:presLayoutVars>
          <dgm:chPref val="3"/>
        </dgm:presLayoutVars>
      </dgm:prSet>
      <dgm:spPr/>
    </dgm:pt>
    <dgm:pt modelId="{D30F3B1C-4839-42DB-A82F-98709B40A100}" type="pres">
      <dgm:prSet presAssocID="{56FCE046-AFA3-4C44-8DD7-41BEA772254C}" presName="level2hierChild" presStyleCnt="0"/>
      <dgm:spPr/>
    </dgm:pt>
    <dgm:pt modelId="{2749FE85-FB05-432F-B84F-6C3121CD6DB3}" type="pres">
      <dgm:prSet presAssocID="{4D8BDF27-315D-4B00-B4AF-23E414246BAB}" presName="conn2-1" presStyleLbl="parChTrans1D2" presStyleIdx="0" presStyleCnt="3"/>
      <dgm:spPr/>
    </dgm:pt>
    <dgm:pt modelId="{81B5082E-2930-4CE6-BA4E-F47CAECA033A}" type="pres">
      <dgm:prSet presAssocID="{4D8BDF27-315D-4B00-B4AF-23E414246BAB}" presName="connTx" presStyleLbl="parChTrans1D2" presStyleIdx="0" presStyleCnt="3"/>
      <dgm:spPr/>
    </dgm:pt>
    <dgm:pt modelId="{63C53EC6-ABF6-434F-A8A3-0C95417F5F4E}" type="pres">
      <dgm:prSet presAssocID="{3D99FC8C-3450-411F-969E-0FDA7E4B855B}" presName="root2" presStyleCnt="0"/>
      <dgm:spPr/>
    </dgm:pt>
    <dgm:pt modelId="{D84E247C-63F2-4473-A187-080CD10D7213}" type="pres">
      <dgm:prSet presAssocID="{3D99FC8C-3450-411F-969E-0FDA7E4B855B}" presName="LevelTwoTextNode" presStyleLbl="node2" presStyleIdx="0" presStyleCnt="3" custScaleX="223788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3F7EF9B3-52EB-45C6-90A0-515BC7F79E35}" type="pres">
      <dgm:prSet presAssocID="{3D99FC8C-3450-411F-969E-0FDA7E4B855B}" presName="level3hierChild" presStyleCnt="0"/>
      <dgm:spPr/>
    </dgm:pt>
    <dgm:pt modelId="{B9E96A90-62E9-4A11-AF93-673B0B2E51D0}" type="pres">
      <dgm:prSet presAssocID="{A500AF94-FAD9-42C1-A9D1-5BD8E20C5020}" presName="conn2-1" presStyleLbl="parChTrans1D2" presStyleIdx="1" presStyleCnt="3"/>
      <dgm:spPr/>
    </dgm:pt>
    <dgm:pt modelId="{DB4F14BC-604D-420E-BCA9-04C714F25E0B}" type="pres">
      <dgm:prSet presAssocID="{A500AF94-FAD9-42C1-A9D1-5BD8E20C5020}" presName="connTx" presStyleLbl="parChTrans1D2" presStyleIdx="1" presStyleCnt="3"/>
      <dgm:spPr/>
    </dgm:pt>
    <dgm:pt modelId="{8F42EDD3-33D3-43C3-B05E-C237565470F5}" type="pres">
      <dgm:prSet presAssocID="{025B5BD7-4972-4706-8E8F-ACC3665188D5}" presName="root2" presStyleCnt="0"/>
      <dgm:spPr/>
    </dgm:pt>
    <dgm:pt modelId="{6E7BB900-9AD2-460F-99FE-BF3D52E6CA3B}" type="pres">
      <dgm:prSet presAssocID="{025B5BD7-4972-4706-8E8F-ACC3665188D5}" presName="LevelTwoTextNode" presStyleLbl="node2" presStyleIdx="1" presStyleCnt="3" custScaleX="227145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5E467E5D-C299-43AF-9ECE-6B2849A8DC3E}" type="pres">
      <dgm:prSet presAssocID="{025B5BD7-4972-4706-8E8F-ACC3665188D5}" presName="level3hierChild" presStyleCnt="0"/>
      <dgm:spPr/>
    </dgm:pt>
    <dgm:pt modelId="{09844C7C-003C-4DD2-83A7-77997A98E37A}" type="pres">
      <dgm:prSet presAssocID="{0EDE6134-A60E-452B-8547-7E3E506B9F72}" presName="conn2-1" presStyleLbl="parChTrans1D2" presStyleIdx="2" presStyleCnt="3"/>
      <dgm:spPr/>
    </dgm:pt>
    <dgm:pt modelId="{00F3EB78-5C9A-42D0-B7B5-297EE4A43B82}" type="pres">
      <dgm:prSet presAssocID="{0EDE6134-A60E-452B-8547-7E3E506B9F72}" presName="connTx" presStyleLbl="parChTrans1D2" presStyleIdx="2" presStyleCnt="3"/>
      <dgm:spPr/>
    </dgm:pt>
    <dgm:pt modelId="{D15D9915-154E-48CF-8723-2FA4A672C227}" type="pres">
      <dgm:prSet presAssocID="{0077F8DA-D04C-4C4D-B0F8-8A626FF8B048}" presName="root2" presStyleCnt="0"/>
      <dgm:spPr/>
    </dgm:pt>
    <dgm:pt modelId="{58990552-32BB-4F71-9005-DFCE3E881D7C}" type="pres">
      <dgm:prSet presAssocID="{0077F8DA-D04C-4C4D-B0F8-8A626FF8B048}" presName="LevelTwoTextNode" presStyleLbl="node2" presStyleIdx="2" presStyleCnt="3" custScaleX="227402">
        <dgm:presLayoutVars>
          <dgm:chPref val="3"/>
        </dgm:presLayoutVars>
      </dgm:prSet>
      <dgm:spPr/>
      <dgm:t>
        <a:bodyPr/>
        <a:lstStyle/>
        <a:p>
          <a:endParaRPr lang="zh-TW" altLang="en-US"/>
        </a:p>
      </dgm:t>
    </dgm:pt>
    <dgm:pt modelId="{70CC6C0B-ABC4-44FA-95F0-2963B349E68E}" type="pres">
      <dgm:prSet presAssocID="{0077F8DA-D04C-4C4D-B0F8-8A626FF8B048}" presName="level3hierChild" presStyleCnt="0"/>
      <dgm:spPr/>
    </dgm:pt>
  </dgm:ptLst>
  <dgm:cxnLst>
    <dgm:cxn modelId="{BBC10A90-8BD7-4F0E-B2D5-EED7EA2D7BD9}" type="presOf" srcId="{B077818A-6956-45EA-8F1C-15AC4F4FBBDC}" destId="{5E4C4CDE-797F-4EA9-940F-396C378F5B15}" srcOrd="0" destOrd="0" presId="urn:microsoft.com/office/officeart/2005/8/layout/hierarchy2"/>
    <dgm:cxn modelId="{692F84B5-E347-4301-B7ED-CD309580933B}" srcId="{B077818A-6956-45EA-8F1C-15AC4F4FBBDC}" destId="{56FCE046-AFA3-4C44-8DD7-41BEA772254C}" srcOrd="0" destOrd="0" parTransId="{D4872649-3AC0-460A-90FF-E2793D396EC2}" sibTransId="{0E5D1D50-C49F-4490-AE20-242BAFE5F299}"/>
    <dgm:cxn modelId="{E95BDBB1-D46B-4440-84B2-6CC0DAA72480}" type="presOf" srcId="{4D8BDF27-315D-4B00-B4AF-23E414246BAB}" destId="{2749FE85-FB05-432F-B84F-6C3121CD6DB3}" srcOrd="0" destOrd="0" presId="urn:microsoft.com/office/officeart/2005/8/layout/hierarchy2"/>
    <dgm:cxn modelId="{7125DB43-F445-48FF-ADA5-1A26344DC9E4}" srcId="{56FCE046-AFA3-4C44-8DD7-41BEA772254C}" destId="{025B5BD7-4972-4706-8E8F-ACC3665188D5}" srcOrd="1" destOrd="0" parTransId="{A500AF94-FAD9-42C1-A9D1-5BD8E20C5020}" sibTransId="{B4341748-F496-432C-A742-BBD0E31E7048}"/>
    <dgm:cxn modelId="{78803850-C677-4162-8836-6B778594FD07}" srcId="{56FCE046-AFA3-4C44-8DD7-41BEA772254C}" destId="{0077F8DA-D04C-4C4D-B0F8-8A626FF8B048}" srcOrd="2" destOrd="0" parTransId="{0EDE6134-A60E-452B-8547-7E3E506B9F72}" sibTransId="{48BA4C98-F386-4F90-9D7B-7AE1CA8EEF1D}"/>
    <dgm:cxn modelId="{1A9FB778-4A1E-4FD0-B7AC-C686E05E8818}" type="presOf" srcId="{025B5BD7-4972-4706-8E8F-ACC3665188D5}" destId="{6E7BB900-9AD2-460F-99FE-BF3D52E6CA3B}" srcOrd="0" destOrd="0" presId="urn:microsoft.com/office/officeart/2005/8/layout/hierarchy2"/>
    <dgm:cxn modelId="{D020A755-EDA1-4475-BB7D-39B456E7E985}" type="presOf" srcId="{A500AF94-FAD9-42C1-A9D1-5BD8E20C5020}" destId="{B9E96A90-62E9-4A11-AF93-673B0B2E51D0}" srcOrd="0" destOrd="0" presId="urn:microsoft.com/office/officeart/2005/8/layout/hierarchy2"/>
    <dgm:cxn modelId="{ECC885CB-1D68-436A-B8BD-080243176846}" type="presOf" srcId="{A500AF94-FAD9-42C1-A9D1-5BD8E20C5020}" destId="{DB4F14BC-604D-420E-BCA9-04C714F25E0B}" srcOrd="1" destOrd="0" presId="urn:microsoft.com/office/officeart/2005/8/layout/hierarchy2"/>
    <dgm:cxn modelId="{D9BEDB33-FDCF-49DE-9A34-97F74B39EB1F}" type="presOf" srcId="{4D8BDF27-315D-4B00-B4AF-23E414246BAB}" destId="{81B5082E-2930-4CE6-BA4E-F47CAECA033A}" srcOrd="1" destOrd="0" presId="urn:microsoft.com/office/officeart/2005/8/layout/hierarchy2"/>
    <dgm:cxn modelId="{87A158A4-7776-43F4-957D-29BF6C78CAAF}" srcId="{56FCE046-AFA3-4C44-8DD7-41BEA772254C}" destId="{3D99FC8C-3450-411F-969E-0FDA7E4B855B}" srcOrd="0" destOrd="0" parTransId="{4D8BDF27-315D-4B00-B4AF-23E414246BAB}" sibTransId="{E665E5C4-7886-4098-836D-7F526CC40F85}"/>
    <dgm:cxn modelId="{0D2A1882-7D8F-4BD0-BEB5-E1AF7401E4E9}" type="presOf" srcId="{56FCE046-AFA3-4C44-8DD7-41BEA772254C}" destId="{16259B27-BB8C-4CBF-9A74-E51C18D9D953}" srcOrd="0" destOrd="0" presId="urn:microsoft.com/office/officeart/2005/8/layout/hierarchy2"/>
    <dgm:cxn modelId="{46B8C908-D663-41FA-AC68-D3AE8269EB07}" type="presOf" srcId="{0EDE6134-A60E-452B-8547-7E3E506B9F72}" destId="{09844C7C-003C-4DD2-83A7-77997A98E37A}" srcOrd="0" destOrd="0" presId="urn:microsoft.com/office/officeart/2005/8/layout/hierarchy2"/>
    <dgm:cxn modelId="{994DCFA8-3988-4AE1-AB6A-5FF6D0287CBC}" type="presOf" srcId="{0EDE6134-A60E-452B-8547-7E3E506B9F72}" destId="{00F3EB78-5C9A-42D0-B7B5-297EE4A43B82}" srcOrd="1" destOrd="0" presId="urn:microsoft.com/office/officeart/2005/8/layout/hierarchy2"/>
    <dgm:cxn modelId="{DD6405E3-A2E4-416A-87C4-28164CA039AB}" type="presOf" srcId="{3D99FC8C-3450-411F-969E-0FDA7E4B855B}" destId="{D84E247C-63F2-4473-A187-080CD10D7213}" srcOrd="0" destOrd="0" presId="urn:microsoft.com/office/officeart/2005/8/layout/hierarchy2"/>
    <dgm:cxn modelId="{D2B3DF81-6A7F-4D76-BD20-AB6622B423E8}" type="presOf" srcId="{0077F8DA-D04C-4C4D-B0F8-8A626FF8B048}" destId="{58990552-32BB-4F71-9005-DFCE3E881D7C}" srcOrd="0" destOrd="0" presId="urn:microsoft.com/office/officeart/2005/8/layout/hierarchy2"/>
    <dgm:cxn modelId="{5A0ABB2F-2BE6-4C4E-B85A-88AA5BCE4ECA}" type="presParOf" srcId="{5E4C4CDE-797F-4EA9-940F-396C378F5B15}" destId="{1E82E264-A7BD-496B-8899-42D6A535A3B9}" srcOrd="0" destOrd="0" presId="urn:microsoft.com/office/officeart/2005/8/layout/hierarchy2"/>
    <dgm:cxn modelId="{01B64C4F-6831-4426-89D5-6AB05FBE0AB1}" type="presParOf" srcId="{1E82E264-A7BD-496B-8899-42D6A535A3B9}" destId="{16259B27-BB8C-4CBF-9A74-E51C18D9D953}" srcOrd="0" destOrd="0" presId="urn:microsoft.com/office/officeart/2005/8/layout/hierarchy2"/>
    <dgm:cxn modelId="{6F84D846-C7AC-41B3-96E3-DF7B74929E94}" type="presParOf" srcId="{1E82E264-A7BD-496B-8899-42D6A535A3B9}" destId="{D30F3B1C-4839-42DB-A82F-98709B40A100}" srcOrd="1" destOrd="0" presId="urn:microsoft.com/office/officeart/2005/8/layout/hierarchy2"/>
    <dgm:cxn modelId="{11CECEF8-61D5-409D-8F57-931BCF519DB6}" type="presParOf" srcId="{D30F3B1C-4839-42DB-A82F-98709B40A100}" destId="{2749FE85-FB05-432F-B84F-6C3121CD6DB3}" srcOrd="0" destOrd="0" presId="urn:microsoft.com/office/officeart/2005/8/layout/hierarchy2"/>
    <dgm:cxn modelId="{249F9933-7758-4337-9419-FBA9B9686E1D}" type="presParOf" srcId="{2749FE85-FB05-432F-B84F-6C3121CD6DB3}" destId="{81B5082E-2930-4CE6-BA4E-F47CAECA033A}" srcOrd="0" destOrd="0" presId="urn:microsoft.com/office/officeart/2005/8/layout/hierarchy2"/>
    <dgm:cxn modelId="{EF238C9E-70E7-415C-92DE-30F5ABB6E952}" type="presParOf" srcId="{D30F3B1C-4839-42DB-A82F-98709B40A100}" destId="{63C53EC6-ABF6-434F-A8A3-0C95417F5F4E}" srcOrd="1" destOrd="0" presId="urn:microsoft.com/office/officeart/2005/8/layout/hierarchy2"/>
    <dgm:cxn modelId="{93131FAF-C678-4BC5-9C96-C82FBEE76712}" type="presParOf" srcId="{63C53EC6-ABF6-434F-A8A3-0C95417F5F4E}" destId="{D84E247C-63F2-4473-A187-080CD10D7213}" srcOrd="0" destOrd="0" presId="urn:microsoft.com/office/officeart/2005/8/layout/hierarchy2"/>
    <dgm:cxn modelId="{2994FE1D-0D14-49DB-9C37-8D57B99F323E}" type="presParOf" srcId="{63C53EC6-ABF6-434F-A8A3-0C95417F5F4E}" destId="{3F7EF9B3-52EB-45C6-90A0-515BC7F79E35}" srcOrd="1" destOrd="0" presId="urn:microsoft.com/office/officeart/2005/8/layout/hierarchy2"/>
    <dgm:cxn modelId="{E968B744-49F5-4472-9426-125B7684222D}" type="presParOf" srcId="{D30F3B1C-4839-42DB-A82F-98709B40A100}" destId="{B9E96A90-62E9-4A11-AF93-673B0B2E51D0}" srcOrd="2" destOrd="0" presId="urn:microsoft.com/office/officeart/2005/8/layout/hierarchy2"/>
    <dgm:cxn modelId="{B3B0C83E-40B8-4345-80F1-A5676179BE01}" type="presParOf" srcId="{B9E96A90-62E9-4A11-AF93-673B0B2E51D0}" destId="{DB4F14BC-604D-420E-BCA9-04C714F25E0B}" srcOrd="0" destOrd="0" presId="urn:microsoft.com/office/officeart/2005/8/layout/hierarchy2"/>
    <dgm:cxn modelId="{40750351-682C-460B-A001-B73106B8FE32}" type="presParOf" srcId="{D30F3B1C-4839-42DB-A82F-98709B40A100}" destId="{8F42EDD3-33D3-43C3-B05E-C237565470F5}" srcOrd="3" destOrd="0" presId="urn:microsoft.com/office/officeart/2005/8/layout/hierarchy2"/>
    <dgm:cxn modelId="{0B7E2F95-0424-4BCD-9412-5D91AC1DDDD6}" type="presParOf" srcId="{8F42EDD3-33D3-43C3-B05E-C237565470F5}" destId="{6E7BB900-9AD2-460F-99FE-BF3D52E6CA3B}" srcOrd="0" destOrd="0" presId="urn:microsoft.com/office/officeart/2005/8/layout/hierarchy2"/>
    <dgm:cxn modelId="{8FB839AF-3770-4A3E-8FC4-885654D01595}" type="presParOf" srcId="{8F42EDD3-33D3-43C3-B05E-C237565470F5}" destId="{5E467E5D-C299-43AF-9ECE-6B2849A8DC3E}" srcOrd="1" destOrd="0" presId="urn:microsoft.com/office/officeart/2005/8/layout/hierarchy2"/>
    <dgm:cxn modelId="{2ADB2030-C0DD-4541-B5BC-4E6FDDDD8588}" type="presParOf" srcId="{D30F3B1C-4839-42DB-A82F-98709B40A100}" destId="{09844C7C-003C-4DD2-83A7-77997A98E37A}" srcOrd="4" destOrd="0" presId="urn:microsoft.com/office/officeart/2005/8/layout/hierarchy2"/>
    <dgm:cxn modelId="{01DDC270-4F6C-42E4-AEEC-FDE6723E0BE8}" type="presParOf" srcId="{09844C7C-003C-4DD2-83A7-77997A98E37A}" destId="{00F3EB78-5C9A-42D0-B7B5-297EE4A43B82}" srcOrd="0" destOrd="0" presId="urn:microsoft.com/office/officeart/2005/8/layout/hierarchy2"/>
    <dgm:cxn modelId="{4F2734DF-953F-4EFF-A0E2-F8D90FFD0A63}" type="presParOf" srcId="{D30F3B1C-4839-42DB-A82F-98709B40A100}" destId="{D15D9915-154E-48CF-8723-2FA4A672C227}" srcOrd="5" destOrd="0" presId="urn:microsoft.com/office/officeart/2005/8/layout/hierarchy2"/>
    <dgm:cxn modelId="{FAFF270D-0B30-47CD-911D-C40C1DD30808}" type="presParOf" srcId="{D15D9915-154E-48CF-8723-2FA4A672C227}" destId="{58990552-32BB-4F71-9005-DFCE3E881D7C}" srcOrd="0" destOrd="0" presId="urn:microsoft.com/office/officeart/2005/8/layout/hierarchy2"/>
    <dgm:cxn modelId="{E10BF70E-B866-4C7A-A70D-ABEBE9247C07}" type="presParOf" srcId="{D15D9915-154E-48CF-8723-2FA4A672C227}" destId="{70CC6C0B-ABC4-44FA-95F0-2963B349E68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567218-CE4B-46FD-BC89-56975E7524D5}" type="doc">
      <dgm:prSet loTypeId="urn:microsoft.com/office/officeart/2005/8/layout/chevron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TW" altLang="en-US"/>
        </a:p>
      </dgm:t>
    </dgm:pt>
    <dgm:pt modelId="{1E1E1D7E-5A00-45E5-86BE-34384361F10D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感應器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接收訊號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78E61EB-A4EB-49C2-B512-C74AF882BEAF}" type="parTrans" cxnId="{66B02D85-89B2-45E8-B6F0-3BE29B0B6EEC}">
      <dgm:prSet/>
      <dgm:spPr/>
      <dgm:t>
        <a:bodyPr/>
        <a:lstStyle/>
        <a:p>
          <a:endParaRPr lang="zh-TW" altLang="en-US"/>
        </a:p>
      </dgm:t>
    </dgm:pt>
    <dgm:pt modelId="{AE55A700-D380-4B76-8E24-2A348F28FB0E}" type="sibTrans" cxnId="{66B02D85-89B2-45E8-B6F0-3BE29B0B6EEC}">
      <dgm:prSet/>
      <dgm:spPr/>
      <dgm:t>
        <a:bodyPr/>
        <a:lstStyle/>
        <a:p>
          <a:endParaRPr lang="zh-TW" altLang="en-US"/>
        </a:p>
      </dgm:t>
    </dgm:pt>
    <dgm:pt modelId="{E86036D7-C038-47E3-BD81-8C738991ACD1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將訊號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傳進電腦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778BF54-4DA3-4ED1-A20A-CEF14F0CD48D}" type="parTrans" cxnId="{FA1415CE-2E6B-4B88-A96D-78A56E4250A3}">
      <dgm:prSet/>
      <dgm:spPr/>
      <dgm:t>
        <a:bodyPr/>
        <a:lstStyle/>
        <a:p>
          <a:endParaRPr lang="zh-TW" altLang="en-US"/>
        </a:p>
      </dgm:t>
    </dgm:pt>
    <dgm:pt modelId="{6360F511-863D-4FFB-92E1-BB5CB45302F2}" type="sibTrans" cxnId="{FA1415CE-2E6B-4B88-A96D-78A56E4250A3}">
      <dgm:prSet/>
      <dgm:spPr/>
      <dgm:t>
        <a:bodyPr/>
        <a:lstStyle/>
        <a:p>
          <a:endParaRPr lang="zh-TW" altLang="en-US"/>
        </a:p>
      </dgm:t>
    </dgm:pt>
    <dgm:pt modelId="{1310F3AB-2B70-41DC-B50A-4FE3578A15FD}">
      <dgm:prSet/>
      <dgm:spPr/>
      <dgm:t>
        <a:bodyPr/>
        <a:lstStyle/>
        <a:p>
          <a:pPr rtl="0"/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程式進行</a:t>
          </a:r>
          <a: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分析判斷</a:t>
          </a:r>
          <a:endParaRPr lang="zh-TW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5DA439C-3F42-4B8A-B63E-22F4FF90691F}" type="parTrans" cxnId="{8505DB1B-55A0-4B34-8581-3DDE9CC1977D}">
      <dgm:prSet/>
      <dgm:spPr/>
      <dgm:t>
        <a:bodyPr/>
        <a:lstStyle/>
        <a:p>
          <a:endParaRPr lang="zh-TW" altLang="en-US"/>
        </a:p>
      </dgm:t>
    </dgm:pt>
    <dgm:pt modelId="{ECDC0379-28DE-4168-9D92-B146B5E373A9}" type="sibTrans" cxnId="{8505DB1B-55A0-4B34-8581-3DDE9CC1977D}">
      <dgm:prSet/>
      <dgm:spPr/>
      <dgm:t>
        <a:bodyPr/>
        <a:lstStyle/>
        <a:p>
          <a:endParaRPr lang="zh-TW" altLang="en-US"/>
        </a:p>
      </dgm:t>
    </dgm:pt>
    <dgm:pt modelId="{11A44565-7765-4AC6-8B0E-DE8C288EF944}" type="pres">
      <dgm:prSet presAssocID="{38567218-CE4B-46FD-BC89-56975E7524D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FED42BFD-ED7D-490F-9C90-8F62CB7997AD}" type="pres">
      <dgm:prSet presAssocID="{1E1E1D7E-5A00-45E5-86BE-34384361F10D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55FA3E5-00A4-46BC-8599-18BC34DDCBEB}" type="pres">
      <dgm:prSet presAssocID="{AE55A700-D380-4B76-8E24-2A348F28FB0E}" presName="parTxOnlySpace" presStyleCnt="0"/>
      <dgm:spPr/>
    </dgm:pt>
    <dgm:pt modelId="{3CE93C1A-7B3B-4A55-95FD-55787662A2C0}" type="pres">
      <dgm:prSet presAssocID="{E86036D7-C038-47E3-BD81-8C738991ACD1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09A94003-D4FB-47ED-BCEF-56CEDCAE6346}" type="pres">
      <dgm:prSet presAssocID="{6360F511-863D-4FFB-92E1-BB5CB45302F2}" presName="parTxOnlySpace" presStyleCnt="0"/>
      <dgm:spPr/>
    </dgm:pt>
    <dgm:pt modelId="{61FE220D-12BE-449D-834F-05C9858C2B10}" type="pres">
      <dgm:prSet presAssocID="{1310F3AB-2B70-41DC-B50A-4FE3578A15FD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FA1415CE-2E6B-4B88-A96D-78A56E4250A3}" srcId="{38567218-CE4B-46FD-BC89-56975E7524D5}" destId="{E86036D7-C038-47E3-BD81-8C738991ACD1}" srcOrd="1" destOrd="0" parTransId="{D778BF54-4DA3-4ED1-A20A-CEF14F0CD48D}" sibTransId="{6360F511-863D-4FFB-92E1-BB5CB45302F2}"/>
    <dgm:cxn modelId="{D0A347F6-6E43-470D-AF1A-D15D0E1A6965}" type="presOf" srcId="{38567218-CE4B-46FD-BC89-56975E7524D5}" destId="{11A44565-7765-4AC6-8B0E-DE8C288EF944}" srcOrd="0" destOrd="0" presId="urn:microsoft.com/office/officeart/2005/8/layout/chevron1"/>
    <dgm:cxn modelId="{8505DB1B-55A0-4B34-8581-3DDE9CC1977D}" srcId="{38567218-CE4B-46FD-BC89-56975E7524D5}" destId="{1310F3AB-2B70-41DC-B50A-4FE3578A15FD}" srcOrd="2" destOrd="0" parTransId="{D5DA439C-3F42-4B8A-B63E-22F4FF90691F}" sibTransId="{ECDC0379-28DE-4168-9D92-B146B5E373A9}"/>
    <dgm:cxn modelId="{34A925D6-2FAD-4AE9-93C4-B2751E596CE1}" type="presOf" srcId="{E86036D7-C038-47E3-BD81-8C738991ACD1}" destId="{3CE93C1A-7B3B-4A55-95FD-55787662A2C0}" srcOrd="0" destOrd="0" presId="urn:microsoft.com/office/officeart/2005/8/layout/chevron1"/>
    <dgm:cxn modelId="{45334ED9-4B0B-4A39-A3E1-3EC803DFB329}" type="presOf" srcId="{1310F3AB-2B70-41DC-B50A-4FE3578A15FD}" destId="{61FE220D-12BE-449D-834F-05C9858C2B10}" srcOrd="0" destOrd="0" presId="urn:microsoft.com/office/officeart/2005/8/layout/chevron1"/>
    <dgm:cxn modelId="{D1009B26-75AC-43F6-9C80-2ECA59DA3598}" type="presOf" srcId="{1E1E1D7E-5A00-45E5-86BE-34384361F10D}" destId="{FED42BFD-ED7D-490F-9C90-8F62CB7997AD}" srcOrd="0" destOrd="0" presId="urn:microsoft.com/office/officeart/2005/8/layout/chevron1"/>
    <dgm:cxn modelId="{66B02D85-89B2-45E8-B6F0-3BE29B0B6EEC}" srcId="{38567218-CE4B-46FD-BC89-56975E7524D5}" destId="{1E1E1D7E-5A00-45E5-86BE-34384361F10D}" srcOrd="0" destOrd="0" parTransId="{678E61EB-A4EB-49C2-B512-C74AF882BEAF}" sibTransId="{AE55A700-D380-4B76-8E24-2A348F28FB0E}"/>
    <dgm:cxn modelId="{203B79BE-FB16-4B83-80B9-55EE27CAC572}" type="presParOf" srcId="{11A44565-7765-4AC6-8B0E-DE8C288EF944}" destId="{FED42BFD-ED7D-490F-9C90-8F62CB7997AD}" srcOrd="0" destOrd="0" presId="urn:microsoft.com/office/officeart/2005/8/layout/chevron1"/>
    <dgm:cxn modelId="{F067F6F3-E429-44B9-989C-9A741DC559B6}" type="presParOf" srcId="{11A44565-7765-4AC6-8B0E-DE8C288EF944}" destId="{055FA3E5-00A4-46BC-8599-18BC34DDCBEB}" srcOrd="1" destOrd="0" presId="urn:microsoft.com/office/officeart/2005/8/layout/chevron1"/>
    <dgm:cxn modelId="{57AAB9B6-E74F-4F14-AAF5-DD31B2033EAE}" type="presParOf" srcId="{11A44565-7765-4AC6-8B0E-DE8C288EF944}" destId="{3CE93C1A-7B3B-4A55-95FD-55787662A2C0}" srcOrd="2" destOrd="0" presId="urn:microsoft.com/office/officeart/2005/8/layout/chevron1"/>
    <dgm:cxn modelId="{68ADD848-0AC1-40BE-AE1A-4F0B90B9DFD2}" type="presParOf" srcId="{11A44565-7765-4AC6-8B0E-DE8C288EF944}" destId="{09A94003-D4FB-47ED-BCEF-56CEDCAE6346}" srcOrd="3" destOrd="0" presId="urn:microsoft.com/office/officeart/2005/8/layout/chevron1"/>
    <dgm:cxn modelId="{34024717-2D3F-44DD-90C1-8BCF4CBA3346}" type="presParOf" srcId="{11A44565-7765-4AC6-8B0E-DE8C288EF944}" destId="{61FE220D-12BE-449D-834F-05C9858C2B10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AEBFE66-AA60-473D-B6FE-64EA8EC81CC6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TW" altLang="en-US"/>
        </a:p>
      </dgm:t>
    </dgm:pt>
    <dgm:pt modelId="{27CD8E82-C66A-4B6C-A51D-C0935A74C0BE}">
      <dgm:prSet custT="1"/>
      <dgm:spPr/>
      <dgm:t>
        <a:bodyPr/>
        <a:lstStyle/>
        <a:p>
          <a:pPr rtl="0"/>
          <a:r>
            <a:rPr 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潤飾</a:t>
          </a:r>
          <a:endParaRPr lang="zh-TW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33B122D-52E8-4F44-B0C9-21B27AACA3BB}" type="parTrans" cxnId="{592D2A76-D41C-4DA1-9133-758740233B1F}">
      <dgm:prSet/>
      <dgm:spPr/>
      <dgm:t>
        <a:bodyPr/>
        <a:lstStyle/>
        <a:p>
          <a:endParaRPr lang="zh-TW" altLang="en-US"/>
        </a:p>
      </dgm:t>
    </dgm:pt>
    <dgm:pt modelId="{595F1FC1-24B3-4FD2-846D-A3C7B441EDF8}" type="sibTrans" cxnId="{592D2A76-D41C-4DA1-9133-758740233B1F}">
      <dgm:prSet/>
      <dgm:spPr/>
      <dgm:t>
        <a:bodyPr/>
        <a:lstStyle/>
        <a:p>
          <a:endParaRPr lang="zh-TW" altLang="en-US"/>
        </a:p>
      </dgm:t>
    </dgm:pt>
    <dgm:pt modelId="{E82B532E-9054-42C0-A5DA-15311824F57A}">
      <dgm:prSet custT="1"/>
      <dgm:spPr/>
      <dgm:t>
        <a:bodyPr/>
        <a:lstStyle/>
        <a:p>
          <a:pPr rtl="0"/>
          <a:r>
            <a:rPr 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下標籤</a:t>
          </a:r>
          <a:endParaRPr lang="zh-TW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917B30B-BFA1-4F8A-BC13-FCF498AC8109}" type="parTrans" cxnId="{DBA173B3-D700-4ED4-98FB-9ED51C5DDC34}">
      <dgm:prSet/>
      <dgm:spPr/>
      <dgm:t>
        <a:bodyPr/>
        <a:lstStyle/>
        <a:p>
          <a:endParaRPr lang="zh-TW" altLang="en-US"/>
        </a:p>
      </dgm:t>
    </dgm:pt>
    <dgm:pt modelId="{ECFEC457-96AA-4BC0-B7ED-7C5E592B9E09}" type="sibTrans" cxnId="{DBA173B3-D700-4ED4-98FB-9ED51C5DDC34}">
      <dgm:prSet/>
      <dgm:spPr/>
      <dgm:t>
        <a:bodyPr/>
        <a:lstStyle/>
        <a:p>
          <a:endParaRPr lang="zh-TW" altLang="en-US"/>
        </a:p>
      </dgm:t>
    </dgm:pt>
    <dgm:pt modelId="{33A3A32B-95DA-4743-AFA7-D30D01411971}">
      <dgm:prSet custT="1"/>
      <dgm:spPr/>
      <dgm:t>
        <a:bodyPr/>
        <a:lstStyle/>
        <a:p>
          <a:pPr rtl="0"/>
          <a:r>
            <a:rPr 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群組化</a:t>
          </a:r>
          <a:endParaRPr lang="zh-TW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820F90-0291-442C-8D53-BE453C85D054}" type="parTrans" cxnId="{73FAC851-8BA0-483E-A777-7C44BF761DFB}">
      <dgm:prSet/>
      <dgm:spPr/>
      <dgm:t>
        <a:bodyPr/>
        <a:lstStyle/>
        <a:p>
          <a:endParaRPr lang="zh-TW" altLang="en-US"/>
        </a:p>
      </dgm:t>
    </dgm:pt>
    <dgm:pt modelId="{B0898286-76EC-4A88-AB5B-8BC132C6C1F3}" type="sibTrans" cxnId="{73FAC851-8BA0-483E-A777-7C44BF761DFB}">
      <dgm:prSet/>
      <dgm:spPr/>
      <dgm:t>
        <a:bodyPr/>
        <a:lstStyle/>
        <a:p>
          <a:endParaRPr lang="zh-TW" altLang="en-US"/>
        </a:p>
      </dgm:t>
    </dgm:pt>
    <dgm:pt modelId="{94F9435D-5B03-461C-ABC5-803ABCB03382}">
      <dgm:prSet custT="1"/>
      <dgm:spPr/>
      <dgm:t>
        <a:bodyPr/>
        <a:lstStyle/>
        <a:p>
          <a:pPr rtl="0"/>
          <a:r>
            <a:rPr 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解析</a:t>
          </a:r>
          <a:endParaRPr lang="zh-TW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113B41E-8143-4DD6-A41A-0E4D63D2A162}" type="parTrans" cxnId="{1010F08C-11FE-4040-8745-77DB924C98AF}">
      <dgm:prSet/>
      <dgm:spPr/>
      <dgm:t>
        <a:bodyPr/>
        <a:lstStyle/>
        <a:p>
          <a:endParaRPr lang="zh-TW" altLang="en-US"/>
        </a:p>
      </dgm:t>
    </dgm:pt>
    <dgm:pt modelId="{2CFB3D3A-2CD7-41D2-AE92-5489D134C7CE}" type="sibTrans" cxnId="{1010F08C-11FE-4040-8745-77DB924C98AF}">
      <dgm:prSet/>
      <dgm:spPr/>
      <dgm:t>
        <a:bodyPr/>
        <a:lstStyle/>
        <a:p>
          <a:endParaRPr lang="zh-TW" altLang="en-US"/>
        </a:p>
      </dgm:t>
    </dgm:pt>
    <dgm:pt modelId="{8579200C-7A33-4AC0-B597-50327F0AFD09}">
      <dgm:prSet custT="1"/>
      <dgm:spPr/>
      <dgm:t>
        <a:bodyPr/>
        <a:lstStyle/>
        <a:p>
          <a:pPr rtl="0"/>
          <a:r>
            <a:rPr lang="zh-TW" sz="2000" b="1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比對</a:t>
          </a:r>
          <a:endParaRPr lang="zh-TW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B965CBB-CC29-4125-BA78-EBF5B19C8601}" type="parTrans" cxnId="{57220431-0CCA-4D30-A06E-68722E8B80E4}">
      <dgm:prSet/>
      <dgm:spPr/>
      <dgm:t>
        <a:bodyPr/>
        <a:lstStyle/>
        <a:p>
          <a:endParaRPr lang="zh-TW" altLang="en-US"/>
        </a:p>
      </dgm:t>
    </dgm:pt>
    <dgm:pt modelId="{49A93C19-1D05-46DF-8BFB-349B92686BB0}" type="sibTrans" cxnId="{57220431-0CCA-4D30-A06E-68722E8B80E4}">
      <dgm:prSet/>
      <dgm:spPr/>
      <dgm:t>
        <a:bodyPr/>
        <a:lstStyle/>
        <a:p>
          <a:endParaRPr lang="zh-TW" altLang="en-US"/>
        </a:p>
      </dgm:t>
    </dgm:pt>
    <dgm:pt modelId="{4F3F4D58-3F7D-4DBE-8C1F-7B7A5D3ACFF6}" type="pres">
      <dgm:prSet presAssocID="{EAEBFE66-AA60-473D-B6FE-64EA8EC81CC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TW" altLang="en-US"/>
        </a:p>
      </dgm:t>
    </dgm:pt>
    <dgm:pt modelId="{33A15AB5-EC5B-488C-8957-5AAD82D61D1E}" type="pres">
      <dgm:prSet presAssocID="{27CD8E82-C66A-4B6C-A51D-C0935A74C0BE}" presName="node" presStyleLbl="node1" presStyleIdx="0" presStyleCnt="5" custScaleY="110000" custLinFactNeighborY="-8328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6892187-32D6-49AD-93C5-90D0D38164D2}" type="pres">
      <dgm:prSet presAssocID="{595F1FC1-24B3-4FD2-846D-A3C7B441EDF8}" presName="sibTrans" presStyleLbl="sibTrans2D1" presStyleIdx="0" presStyleCnt="4"/>
      <dgm:spPr/>
      <dgm:t>
        <a:bodyPr/>
        <a:lstStyle/>
        <a:p>
          <a:endParaRPr lang="zh-TW" altLang="en-US"/>
        </a:p>
      </dgm:t>
    </dgm:pt>
    <dgm:pt modelId="{8FB8CB46-793F-42D1-A6E8-D38F8B65E6B1}" type="pres">
      <dgm:prSet presAssocID="{595F1FC1-24B3-4FD2-846D-A3C7B441EDF8}" presName="connectorText" presStyleLbl="sibTrans2D1" presStyleIdx="0" presStyleCnt="4"/>
      <dgm:spPr/>
      <dgm:t>
        <a:bodyPr/>
        <a:lstStyle/>
        <a:p>
          <a:endParaRPr lang="zh-TW" altLang="en-US"/>
        </a:p>
      </dgm:t>
    </dgm:pt>
    <dgm:pt modelId="{73832950-16BE-4E44-B020-808B5E4DE8F6}" type="pres">
      <dgm:prSet presAssocID="{E82B532E-9054-42C0-A5DA-15311824F57A}" presName="node" presStyleLbl="node1" presStyleIdx="1" presStyleCnt="5" custScaleY="110000" custLinFactNeighborY="-83284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6514BE59-85A2-400C-95FE-8CCF192E19BA}" type="pres">
      <dgm:prSet presAssocID="{ECFEC457-96AA-4BC0-B7ED-7C5E592B9E09}" presName="sibTrans" presStyleLbl="sibTrans2D1" presStyleIdx="1" presStyleCnt="4"/>
      <dgm:spPr/>
      <dgm:t>
        <a:bodyPr/>
        <a:lstStyle/>
        <a:p>
          <a:endParaRPr lang="zh-TW" altLang="en-US"/>
        </a:p>
      </dgm:t>
    </dgm:pt>
    <dgm:pt modelId="{A9E4D3B0-E6DE-4DCB-BDA4-326EC25A87A3}" type="pres">
      <dgm:prSet presAssocID="{ECFEC457-96AA-4BC0-B7ED-7C5E592B9E09}" presName="connectorText" presStyleLbl="sibTrans2D1" presStyleIdx="1" presStyleCnt="4"/>
      <dgm:spPr/>
      <dgm:t>
        <a:bodyPr/>
        <a:lstStyle/>
        <a:p>
          <a:endParaRPr lang="zh-TW" altLang="en-US"/>
        </a:p>
      </dgm:t>
    </dgm:pt>
    <dgm:pt modelId="{E96A4C42-541E-4973-81B9-5B7993E18AF1}" type="pres">
      <dgm:prSet presAssocID="{33A3A32B-95DA-4743-AFA7-D30D01411971}" presName="node" presStyleLbl="node1" presStyleIdx="2" presStyleCnt="5" custScaleY="110000" custLinFactNeighborY="-86680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5A4AF43D-F4CA-45D0-AB04-E4F53ED6F144}" type="pres">
      <dgm:prSet presAssocID="{B0898286-76EC-4A88-AB5B-8BC132C6C1F3}" presName="sibTrans" presStyleLbl="sibTrans2D1" presStyleIdx="2" presStyleCnt="4"/>
      <dgm:spPr/>
      <dgm:t>
        <a:bodyPr/>
        <a:lstStyle/>
        <a:p>
          <a:endParaRPr lang="zh-TW" altLang="en-US"/>
        </a:p>
      </dgm:t>
    </dgm:pt>
    <dgm:pt modelId="{E0E526C7-340A-43D4-82BB-55DAF0C17CB4}" type="pres">
      <dgm:prSet presAssocID="{B0898286-76EC-4A88-AB5B-8BC132C6C1F3}" presName="connectorText" presStyleLbl="sibTrans2D1" presStyleIdx="2" presStyleCnt="4"/>
      <dgm:spPr/>
      <dgm:t>
        <a:bodyPr/>
        <a:lstStyle/>
        <a:p>
          <a:endParaRPr lang="zh-TW" altLang="en-US"/>
        </a:p>
      </dgm:t>
    </dgm:pt>
    <dgm:pt modelId="{0587D1AC-BCC6-42F8-96C3-D2BFAEDFEC76}" type="pres">
      <dgm:prSet presAssocID="{94F9435D-5B03-461C-ABC5-803ABCB03382}" presName="node" presStyleLbl="node1" presStyleIdx="3" presStyleCnt="5" custLinFactX="-99398" custLinFactNeighborX="-100000" custLinFactNeighborY="7852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  <dgm:pt modelId="{ED979217-4C02-45DD-8684-086C90B17A45}" type="pres">
      <dgm:prSet presAssocID="{2CFB3D3A-2CD7-41D2-AE92-5489D134C7CE}" presName="sibTrans" presStyleLbl="sibTrans2D1" presStyleIdx="3" presStyleCnt="4"/>
      <dgm:spPr/>
      <dgm:t>
        <a:bodyPr/>
        <a:lstStyle/>
        <a:p>
          <a:endParaRPr lang="zh-TW" altLang="en-US"/>
        </a:p>
      </dgm:t>
    </dgm:pt>
    <dgm:pt modelId="{EECFEF4D-4AAF-4062-8139-8F99651F051B}" type="pres">
      <dgm:prSet presAssocID="{2CFB3D3A-2CD7-41D2-AE92-5489D134C7CE}" presName="connectorText" presStyleLbl="sibTrans2D1" presStyleIdx="3" presStyleCnt="4"/>
      <dgm:spPr/>
      <dgm:t>
        <a:bodyPr/>
        <a:lstStyle/>
        <a:p>
          <a:endParaRPr lang="zh-TW" altLang="en-US"/>
        </a:p>
      </dgm:t>
    </dgm:pt>
    <dgm:pt modelId="{681FFFA9-3EFE-4B18-87E4-019792FBEDB7}" type="pres">
      <dgm:prSet presAssocID="{8579200C-7A33-4AC0-B597-50327F0AFD09}" presName="node" presStyleLbl="node1" presStyleIdx="4" presStyleCnt="5" custLinFactX="-300000" custLinFactNeighborX="-307776" custLinFactNeighborY="78523">
        <dgm:presLayoutVars>
          <dgm:bulletEnabled val="1"/>
        </dgm:presLayoutVars>
      </dgm:prSet>
      <dgm:spPr/>
      <dgm:t>
        <a:bodyPr/>
        <a:lstStyle/>
        <a:p>
          <a:endParaRPr lang="zh-TW" altLang="en-US"/>
        </a:p>
      </dgm:t>
    </dgm:pt>
  </dgm:ptLst>
  <dgm:cxnLst>
    <dgm:cxn modelId="{9E78736F-EBDE-43D9-B573-0EF07ED8949A}" type="presOf" srcId="{8579200C-7A33-4AC0-B597-50327F0AFD09}" destId="{681FFFA9-3EFE-4B18-87E4-019792FBEDB7}" srcOrd="0" destOrd="0" presId="urn:microsoft.com/office/officeart/2005/8/layout/process1"/>
    <dgm:cxn modelId="{DBA173B3-D700-4ED4-98FB-9ED51C5DDC34}" srcId="{EAEBFE66-AA60-473D-B6FE-64EA8EC81CC6}" destId="{E82B532E-9054-42C0-A5DA-15311824F57A}" srcOrd="1" destOrd="0" parTransId="{7917B30B-BFA1-4F8A-BC13-FCF498AC8109}" sibTransId="{ECFEC457-96AA-4BC0-B7ED-7C5E592B9E09}"/>
    <dgm:cxn modelId="{9FB6707D-878D-4A49-9369-309464136B5E}" type="presOf" srcId="{33A3A32B-95DA-4743-AFA7-D30D01411971}" destId="{E96A4C42-541E-4973-81B9-5B7993E18AF1}" srcOrd="0" destOrd="0" presId="urn:microsoft.com/office/officeart/2005/8/layout/process1"/>
    <dgm:cxn modelId="{A20E30B2-CBB7-49E5-A3E2-862902AA5A69}" type="presOf" srcId="{27CD8E82-C66A-4B6C-A51D-C0935A74C0BE}" destId="{33A15AB5-EC5B-488C-8957-5AAD82D61D1E}" srcOrd="0" destOrd="0" presId="urn:microsoft.com/office/officeart/2005/8/layout/process1"/>
    <dgm:cxn modelId="{F1C7B900-6A98-48C1-A7A2-676CB9B5F89C}" type="presOf" srcId="{E82B532E-9054-42C0-A5DA-15311824F57A}" destId="{73832950-16BE-4E44-B020-808B5E4DE8F6}" srcOrd="0" destOrd="0" presId="urn:microsoft.com/office/officeart/2005/8/layout/process1"/>
    <dgm:cxn modelId="{88630920-D287-4981-9CD5-F8ABE84E7115}" type="presOf" srcId="{94F9435D-5B03-461C-ABC5-803ABCB03382}" destId="{0587D1AC-BCC6-42F8-96C3-D2BFAEDFEC76}" srcOrd="0" destOrd="0" presId="urn:microsoft.com/office/officeart/2005/8/layout/process1"/>
    <dgm:cxn modelId="{FDB079C7-9908-4445-AC9A-75EF573CED2F}" type="presOf" srcId="{ECFEC457-96AA-4BC0-B7ED-7C5E592B9E09}" destId="{6514BE59-85A2-400C-95FE-8CCF192E19BA}" srcOrd="0" destOrd="0" presId="urn:microsoft.com/office/officeart/2005/8/layout/process1"/>
    <dgm:cxn modelId="{8ED5A240-64BC-4C45-B6BB-DFB910D5E907}" type="presOf" srcId="{B0898286-76EC-4A88-AB5B-8BC132C6C1F3}" destId="{E0E526C7-340A-43D4-82BB-55DAF0C17CB4}" srcOrd="1" destOrd="0" presId="urn:microsoft.com/office/officeart/2005/8/layout/process1"/>
    <dgm:cxn modelId="{592D2A76-D41C-4DA1-9133-758740233B1F}" srcId="{EAEBFE66-AA60-473D-B6FE-64EA8EC81CC6}" destId="{27CD8E82-C66A-4B6C-A51D-C0935A74C0BE}" srcOrd="0" destOrd="0" parTransId="{933B122D-52E8-4F44-B0C9-21B27AACA3BB}" sibTransId="{595F1FC1-24B3-4FD2-846D-A3C7B441EDF8}"/>
    <dgm:cxn modelId="{73FAC851-8BA0-483E-A777-7C44BF761DFB}" srcId="{EAEBFE66-AA60-473D-B6FE-64EA8EC81CC6}" destId="{33A3A32B-95DA-4743-AFA7-D30D01411971}" srcOrd="2" destOrd="0" parTransId="{2D820F90-0291-442C-8D53-BE453C85D054}" sibTransId="{B0898286-76EC-4A88-AB5B-8BC132C6C1F3}"/>
    <dgm:cxn modelId="{E9741AE0-9DB3-4340-B7E9-56395D3CF9CB}" type="presOf" srcId="{ECFEC457-96AA-4BC0-B7ED-7C5E592B9E09}" destId="{A9E4D3B0-E6DE-4DCB-BDA4-326EC25A87A3}" srcOrd="1" destOrd="0" presId="urn:microsoft.com/office/officeart/2005/8/layout/process1"/>
    <dgm:cxn modelId="{F9265105-6CA9-4D39-961C-1E7CD5938A65}" type="presOf" srcId="{2CFB3D3A-2CD7-41D2-AE92-5489D134C7CE}" destId="{EECFEF4D-4AAF-4062-8139-8F99651F051B}" srcOrd="1" destOrd="0" presId="urn:microsoft.com/office/officeart/2005/8/layout/process1"/>
    <dgm:cxn modelId="{1010F08C-11FE-4040-8745-77DB924C98AF}" srcId="{EAEBFE66-AA60-473D-B6FE-64EA8EC81CC6}" destId="{94F9435D-5B03-461C-ABC5-803ABCB03382}" srcOrd="3" destOrd="0" parTransId="{7113B41E-8143-4DD6-A41A-0E4D63D2A162}" sibTransId="{2CFB3D3A-2CD7-41D2-AE92-5489D134C7CE}"/>
    <dgm:cxn modelId="{EDDD2077-3A56-47AA-866E-EA0A73E1B661}" type="presOf" srcId="{2CFB3D3A-2CD7-41D2-AE92-5489D134C7CE}" destId="{ED979217-4C02-45DD-8684-086C90B17A45}" srcOrd="0" destOrd="0" presId="urn:microsoft.com/office/officeart/2005/8/layout/process1"/>
    <dgm:cxn modelId="{8D9ECE27-798B-45BB-86A0-0A4329DD8E02}" type="presOf" srcId="{EAEBFE66-AA60-473D-B6FE-64EA8EC81CC6}" destId="{4F3F4D58-3F7D-4DBE-8C1F-7B7A5D3ACFF6}" srcOrd="0" destOrd="0" presId="urn:microsoft.com/office/officeart/2005/8/layout/process1"/>
    <dgm:cxn modelId="{65395C9B-4213-4230-981A-E9CAFC91C83D}" type="presOf" srcId="{595F1FC1-24B3-4FD2-846D-A3C7B441EDF8}" destId="{66892187-32D6-49AD-93C5-90D0D38164D2}" srcOrd="0" destOrd="0" presId="urn:microsoft.com/office/officeart/2005/8/layout/process1"/>
    <dgm:cxn modelId="{5A3059B8-B873-4992-B17F-AC4021283641}" type="presOf" srcId="{B0898286-76EC-4A88-AB5B-8BC132C6C1F3}" destId="{5A4AF43D-F4CA-45D0-AB04-E4F53ED6F144}" srcOrd="0" destOrd="0" presId="urn:microsoft.com/office/officeart/2005/8/layout/process1"/>
    <dgm:cxn modelId="{57220431-0CCA-4D30-A06E-68722E8B80E4}" srcId="{EAEBFE66-AA60-473D-B6FE-64EA8EC81CC6}" destId="{8579200C-7A33-4AC0-B597-50327F0AFD09}" srcOrd="4" destOrd="0" parTransId="{7B965CBB-CC29-4125-BA78-EBF5B19C8601}" sibTransId="{49A93C19-1D05-46DF-8BFB-349B92686BB0}"/>
    <dgm:cxn modelId="{6FF7AAEE-5B81-4BB7-AADD-F290FA777F86}" type="presOf" srcId="{595F1FC1-24B3-4FD2-846D-A3C7B441EDF8}" destId="{8FB8CB46-793F-42D1-A6E8-D38F8B65E6B1}" srcOrd="1" destOrd="0" presId="urn:microsoft.com/office/officeart/2005/8/layout/process1"/>
    <dgm:cxn modelId="{FDC487D0-0993-40B8-A4B5-100792378B94}" type="presParOf" srcId="{4F3F4D58-3F7D-4DBE-8C1F-7B7A5D3ACFF6}" destId="{33A15AB5-EC5B-488C-8957-5AAD82D61D1E}" srcOrd="0" destOrd="0" presId="urn:microsoft.com/office/officeart/2005/8/layout/process1"/>
    <dgm:cxn modelId="{49EE153E-BBC0-496C-B12C-9716FBFC4AFF}" type="presParOf" srcId="{4F3F4D58-3F7D-4DBE-8C1F-7B7A5D3ACFF6}" destId="{66892187-32D6-49AD-93C5-90D0D38164D2}" srcOrd="1" destOrd="0" presId="urn:microsoft.com/office/officeart/2005/8/layout/process1"/>
    <dgm:cxn modelId="{DA24EACE-1E3E-4B98-AA66-EB6302E831A1}" type="presParOf" srcId="{66892187-32D6-49AD-93C5-90D0D38164D2}" destId="{8FB8CB46-793F-42D1-A6E8-D38F8B65E6B1}" srcOrd="0" destOrd="0" presId="urn:microsoft.com/office/officeart/2005/8/layout/process1"/>
    <dgm:cxn modelId="{1438DA30-B142-4E0A-A455-305908153634}" type="presParOf" srcId="{4F3F4D58-3F7D-4DBE-8C1F-7B7A5D3ACFF6}" destId="{73832950-16BE-4E44-B020-808B5E4DE8F6}" srcOrd="2" destOrd="0" presId="urn:microsoft.com/office/officeart/2005/8/layout/process1"/>
    <dgm:cxn modelId="{C3E5DEB6-BC38-4ECD-8EDB-EFB0BD94533A}" type="presParOf" srcId="{4F3F4D58-3F7D-4DBE-8C1F-7B7A5D3ACFF6}" destId="{6514BE59-85A2-400C-95FE-8CCF192E19BA}" srcOrd="3" destOrd="0" presId="urn:microsoft.com/office/officeart/2005/8/layout/process1"/>
    <dgm:cxn modelId="{290BAE34-5489-4B0A-8BB0-0DA81AE9E204}" type="presParOf" srcId="{6514BE59-85A2-400C-95FE-8CCF192E19BA}" destId="{A9E4D3B0-E6DE-4DCB-BDA4-326EC25A87A3}" srcOrd="0" destOrd="0" presId="urn:microsoft.com/office/officeart/2005/8/layout/process1"/>
    <dgm:cxn modelId="{B1C7BA00-0EB3-4367-B40F-EED0C0B8D489}" type="presParOf" srcId="{4F3F4D58-3F7D-4DBE-8C1F-7B7A5D3ACFF6}" destId="{E96A4C42-541E-4973-81B9-5B7993E18AF1}" srcOrd="4" destOrd="0" presId="urn:microsoft.com/office/officeart/2005/8/layout/process1"/>
    <dgm:cxn modelId="{2D17C0F5-FE0D-4F85-8BDC-DF44E74EBA26}" type="presParOf" srcId="{4F3F4D58-3F7D-4DBE-8C1F-7B7A5D3ACFF6}" destId="{5A4AF43D-F4CA-45D0-AB04-E4F53ED6F144}" srcOrd="5" destOrd="0" presId="urn:microsoft.com/office/officeart/2005/8/layout/process1"/>
    <dgm:cxn modelId="{CB693FCA-BC53-40F8-90A0-7EDD186AFF14}" type="presParOf" srcId="{5A4AF43D-F4CA-45D0-AB04-E4F53ED6F144}" destId="{E0E526C7-340A-43D4-82BB-55DAF0C17CB4}" srcOrd="0" destOrd="0" presId="urn:microsoft.com/office/officeart/2005/8/layout/process1"/>
    <dgm:cxn modelId="{35510177-1507-416F-883F-29EA83E53F4D}" type="presParOf" srcId="{4F3F4D58-3F7D-4DBE-8C1F-7B7A5D3ACFF6}" destId="{0587D1AC-BCC6-42F8-96C3-D2BFAEDFEC76}" srcOrd="6" destOrd="0" presId="urn:microsoft.com/office/officeart/2005/8/layout/process1"/>
    <dgm:cxn modelId="{0A4E8E54-577E-4411-9E59-B46FD229593D}" type="presParOf" srcId="{4F3F4D58-3F7D-4DBE-8C1F-7B7A5D3ACFF6}" destId="{ED979217-4C02-45DD-8684-086C90B17A45}" srcOrd="7" destOrd="0" presId="urn:microsoft.com/office/officeart/2005/8/layout/process1"/>
    <dgm:cxn modelId="{7DB74E51-0D34-4624-95F3-A1F52ACA571D}" type="presParOf" srcId="{ED979217-4C02-45DD-8684-086C90B17A45}" destId="{EECFEF4D-4AAF-4062-8139-8F99651F051B}" srcOrd="0" destOrd="0" presId="urn:microsoft.com/office/officeart/2005/8/layout/process1"/>
    <dgm:cxn modelId="{65FF5C6C-A18A-4725-91E9-35C4D1A31F10}" type="presParOf" srcId="{4F3F4D58-3F7D-4DBE-8C1F-7B7A5D3ACFF6}" destId="{681FFFA9-3EFE-4B18-87E4-019792FBEDB7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259B27-BB8C-4CBF-9A74-E51C18D9D953}">
      <dsp:nvSpPr>
        <dsp:cNvPr id="0" name=""/>
        <dsp:cNvSpPr/>
      </dsp:nvSpPr>
      <dsp:spPr>
        <a:xfrm>
          <a:off x="4431" y="1393458"/>
          <a:ext cx="1590025" cy="7950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4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機器學習</a:t>
          </a:r>
          <a:endParaRPr lang="zh-TW" altLang="en-US" sz="24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7716" y="1416743"/>
        <a:ext cx="1543455" cy="748442"/>
      </dsp:txXfrm>
    </dsp:sp>
    <dsp:sp modelId="{2749FE85-FB05-432F-B84F-6C3121CD6DB3}">
      <dsp:nvSpPr>
        <dsp:cNvPr id="0" name=""/>
        <dsp:cNvSpPr/>
      </dsp:nvSpPr>
      <dsp:spPr>
        <a:xfrm rot="18289469">
          <a:off x="1355598" y="1313856"/>
          <a:ext cx="1113727" cy="39951"/>
        </a:xfrm>
        <a:custGeom>
          <a:avLst/>
          <a:gdLst/>
          <a:ahLst/>
          <a:cxnLst/>
          <a:rect l="0" t="0" r="0" b="0"/>
          <a:pathLst>
            <a:path>
              <a:moveTo>
                <a:pt x="0" y="19975"/>
              </a:moveTo>
              <a:lnTo>
                <a:pt x="1113727" y="1997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b="1" kern="1200"/>
        </a:p>
      </dsp:txBody>
      <dsp:txXfrm>
        <a:off x="1884619" y="1305989"/>
        <a:ext cx="55686" cy="55686"/>
      </dsp:txXfrm>
    </dsp:sp>
    <dsp:sp modelId="{D84E247C-63F2-4473-A187-080CD10D7213}">
      <dsp:nvSpPr>
        <dsp:cNvPr id="0" name=""/>
        <dsp:cNvSpPr/>
      </dsp:nvSpPr>
      <dsp:spPr>
        <a:xfrm>
          <a:off x="2230467" y="479193"/>
          <a:ext cx="3558287" cy="7950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監督式學習</a:t>
          </a:r>
          <a:r>
            <a:rPr lang="en-US" altLang="zh-TW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（</a:t>
          </a:r>
          <a:r>
            <a:rPr lang="en-US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supervised learning</a:t>
          </a:r>
          <a:r>
            <a:rPr lang="zh-TW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zh-TW" altLang="en-US" sz="22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253752" y="502478"/>
        <a:ext cx="3511717" cy="748442"/>
      </dsp:txXfrm>
    </dsp:sp>
    <dsp:sp modelId="{B9E96A90-62E9-4A11-AF93-673B0B2E51D0}">
      <dsp:nvSpPr>
        <dsp:cNvPr id="0" name=""/>
        <dsp:cNvSpPr/>
      </dsp:nvSpPr>
      <dsp:spPr>
        <a:xfrm>
          <a:off x="1594457" y="1770989"/>
          <a:ext cx="636010" cy="39951"/>
        </a:xfrm>
        <a:custGeom>
          <a:avLst/>
          <a:gdLst/>
          <a:ahLst/>
          <a:cxnLst/>
          <a:rect l="0" t="0" r="0" b="0"/>
          <a:pathLst>
            <a:path>
              <a:moveTo>
                <a:pt x="0" y="19975"/>
              </a:moveTo>
              <a:lnTo>
                <a:pt x="636010" y="1997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b="1" kern="1200"/>
        </a:p>
      </dsp:txBody>
      <dsp:txXfrm>
        <a:off x="1896562" y="1775064"/>
        <a:ext cx="31800" cy="31800"/>
      </dsp:txXfrm>
    </dsp:sp>
    <dsp:sp modelId="{6E7BB900-9AD2-460F-99FE-BF3D52E6CA3B}">
      <dsp:nvSpPr>
        <dsp:cNvPr id="0" name=""/>
        <dsp:cNvSpPr/>
      </dsp:nvSpPr>
      <dsp:spPr>
        <a:xfrm>
          <a:off x="2230467" y="1393458"/>
          <a:ext cx="3611664" cy="7950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非監督式學習</a:t>
          </a:r>
          <a:r>
            <a:rPr lang="en-US" altLang="zh-TW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（</a:t>
          </a:r>
          <a:r>
            <a:rPr lang="en-US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unsupervised learning</a:t>
          </a:r>
          <a:r>
            <a:rPr lang="zh-TW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zh-TW" altLang="en-US" sz="22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253752" y="1416743"/>
        <a:ext cx="3565094" cy="748442"/>
      </dsp:txXfrm>
    </dsp:sp>
    <dsp:sp modelId="{09844C7C-003C-4DD2-83A7-77997A98E37A}">
      <dsp:nvSpPr>
        <dsp:cNvPr id="0" name=""/>
        <dsp:cNvSpPr/>
      </dsp:nvSpPr>
      <dsp:spPr>
        <a:xfrm rot="3310531">
          <a:off x="1355598" y="2228121"/>
          <a:ext cx="1113727" cy="39951"/>
        </a:xfrm>
        <a:custGeom>
          <a:avLst/>
          <a:gdLst/>
          <a:ahLst/>
          <a:cxnLst/>
          <a:rect l="0" t="0" r="0" b="0"/>
          <a:pathLst>
            <a:path>
              <a:moveTo>
                <a:pt x="0" y="19975"/>
              </a:moveTo>
              <a:lnTo>
                <a:pt x="1113727" y="19975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500" b="1" kern="1200"/>
        </a:p>
      </dsp:txBody>
      <dsp:txXfrm>
        <a:off x="1884619" y="2220254"/>
        <a:ext cx="55686" cy="55686"/>
      </dsp:txXfrm>
    </dsp:sp>
    <dsp:sp modelId="{58990552-32BB-4F71-9005-DFCE3E881D7C}">
      <dsp:nvSpPr>
        <dsp:cNvPr id="0" name=""/>
        <dsp:cNvSpPr/>
      </dsp:nvSpPr>
      <dsp:spPr>
        <a:xfrm>
          <a:off x="2230467" y="2307723"/>
          <a:ext cx="3615750" cy="79501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增強式學習</a:t>
          </a:r>
          <a:r>
            <a:rPr lang="en-US" altLang="zh-TW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（</a:t>
          </a:r>
          <a:r>
            <a:rPr lang="en-US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reinforcement learning</a:t>
          </a:r>
          <a:r>
            <a:rPr lang="zh-TW" altLang="en-US" sz="22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zh-TW" altLang="en-US" sz="2200" b="1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253752" y="2331008"/>
        <a:ext cx="3569180" cy="748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42BFD-ED7D-490F-9C90-8F62CB7997AD}">
      <dsp:nvSpPr>
        <dsp:cNvPr id="0" name=""/>
        <dsp:cNvSpPr/>
      </dsp:nvSpPr>
      <dsp:spPr>
        <a:xfrm>
          <a:off x="1832" y="252525"/>
          <a:ext cx="2232867" cy="89314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感應器</a:t>
          </a:r>
          <a: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接收訊號</a:t>
          </a:r>
          <a:endParaRPr lang="zh-TW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48406" y="252525"/>
        <a:ext cx="1339720" cy="893147"/>
      </dsp:txXfrm>
    </dsp:sp>
    <dsp:sp modelId="{3CE93C1A-7B3B-4A55-95FD-55787662A2C0}">
      <dsp:nvSpPr>
        <dsp:cNvPr id="0" name=""/>
        <dsp:cNvSpPr/>
      </dsp:nvSpPr>
      <dsp:spPr>
        <a:xfrm>
          <a:off x="2011413" y="252525"/>
          <a:ext cx="2232867" cy="893147"/>
        </a:xfrm>
        <a:prstGeom prst="chevr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將訊號</a:t>
          </a:r>
          <a: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傳進電腦</a:t>
          </a:r>
          <a:endParaRPr lang="zh-TW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457987" y="252525"/>
        <a:ext cx="1339720" cy="893147"/>
      </dsp:txXfrm>
    </dsp:sp>
    <dsp:sp modelId="{61FE220D-12BE-449D-834F-05C9858C2B10}">
      <dsp:nvSpPr>
        <dsp:cNvPr id="0" name=""/>
        <dsp:cNvSpPr/>
      </dsp:nvSpPr>
      <dsp:spPr>
        <a:xfrm>
          <a:off x="4020994" y="252525"/>
          <a:ext cx="2232867" cy="893147"/>
        </a:xfrm>
        <a:prstGeom prst="chevr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26670" bIns="2667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程式進行</a:t>
          </a:r>
          <a: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/>
          </a:r>
          <a:br>
            <a:rPr lang="en-US" alt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</a:b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分析判斷</a:t>
          </a:r>
          <a:endParaRPr lang="zh-TW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467568" y="252525"/>
        <a:ext cx="1339720" cy="8931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A15AB5-EC5B-488C-8957-5AAD82D61D1E}">
      <dsp:nvSpPr>
        <dsp:cNvPr id="0" name=""/>
        <dsp:cNvSpPr/>
      </dsp:nvSpPr>
      <dsp:spPr>
        <a:xfrm>
          <a:off x="3581" y="517679"/>
          <a:ext cx="1110401" cy="73286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潤飾</a:t>
          </a:r>
          <a:endParaRPr lang="zh-TW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5046" y="539144"/>
        <a:ext cx="1067471" cy="689935"/>
      </dsp:txXfrm>
    </dsp:sp>
    <dsp:sp modelId="{66892187-32D6-49AD-93C5-90D0D38164D2}">
      <dsp:nvSpPr>
        <dsp:cNvPr id="0" name=""/>
        <dsp:cNvSpPr/>
      </dsp:nvSpPr>
      <dsp:spPr>
        <a:xfrm>
          <a:off x="1225023" y="746422"/>
          <a:ext cx="235405" cy="275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100" kern="1200"/>
        </a:p>
      </dsp:txBody>
      <dsp:txXfrm>
        <a:off x="1225023" y="801498"/>
        <a:ext cx="164784" cy="165227"/>
      </dsp:txXfrm>
    </dsp:sp>
    <dsp:sp modelId="{73832950-16BE-4E44-B020-808B5E4DE8F6}">
      <dsp:nvSpPr>
        <dsp:cNvPr id="0" name=""/>
        <dsp:cNvSpPr/>
      </dsp:nvSpPr>
      <dsp:spPr>
        <a:xfrm>
          <a:off x="1558144" y="517679"/>
          <a:ext cx="1110401" cy="732865"/>
        </a:xfrm>
        <a:prstGeom prst="roundRect">
          <a:avLst>
            <a:gd name="adj" fmla="val 10000"/>
          </a:avLst>
        </a:prstGeom>
        <a:solidFill>
          <a:schemeClr val="accent3">
            <a:hueOff val="2812566"/>
            <a:satOff val="-4220"/>
            <a:lumOff val="-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下標籤</a:t>
          </a:r>
          <a:endParaRPr lang="zh-TW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579609" y="539144"/>
        <a:ext cx="1067471" cy="689935"/>
      </dsp:txXfrm>
    </dsp:sp>
    <dsp:sp modelId="{6514BE59-85A2-400C-95FE-8CCF192E19BA}">
      <dsp:nvSpPr>
        <dsp:cNvPr id="0" name=""/>
        <dsp:cNvSpPr/>
      </dsp:nvSpPr>
      <dsp:spPr>
        <a:xfrm rot="21549970">
          <a:off x="2779573" y="735012"/>
          <a:ext cx="235430" cy="275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3750088"/>
            <a:satOff val="-5627"/>
            <a:lumOff val="-91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100" kern="1200"/>
        </a:p>
      </dsp:txBody>
      <dsp:txXfrm>
        <a:off x="2779577" y="790602"/>
        <a:ext cx="164801" cy="165227"/>
      </dsp:txXfrm>
    </dsp:sp>
    <dsp:sp modelId="{E96A4C42-541E-4973-81B9-5B7993E18AF1}">
      <dsp:nvSpPr>
        <dsp:cNvPr id="0" name=""/>
        <dsp:cNvSpPr/>
      </dsp:nvSpPr>
      <dsp:spPr>
        <a:xfrm>
          <a:off x="3112706" y="495053"/>
          <a:ext cx="1110401" cy="732865"/>
        </a:xfrm>
        <a:prstGeom prst="roundRect">
          <a:avLst>
            <a:gd name="adj" fmla="val 10000"/>
          </a:avLst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群組化</a:t>
          </a:r>
          <a:endParaRPr lang="zh-TW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134171" y="516518"/>
        <a:ext cx="1067471" cy="689935"/>
      </dsp:txXfrm>
    </dsp:sp>
    <dsp:sp modelId="{5A4AF43D-F4CA-45D0-AB04-E4F53ED6F144}">
      <dsp:nvSpPr>
        <dsp:cNvPr id="0" name=""/>
        <dsp:cNvSpPr/>
      </dsp:nvSpPr>
      <dsp:spPr>
        <a:xfrm rot="5379122">
          <a:off x="3565094" y="1296794"/>
          <a:ext cx="212585" cy="275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7500176"/>
            <a:satOff val="-11253"/>
            <a:lumOff val="-18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100" kern="1200"/>
        </a:p>
      </dsp:txBody>
      <dsp:txXfrm>
        <a:off x="3596788" y="1319983"/>
        <a:ext cx="148810" cy="165227"/>
      </dsp:txXfrm>
    </dsp:sp>
    <dsp:sp modelId="{0587D1AC-BCC6-42F8-96C3-D2BFAEDFEC76}">
      <dsp:nvSpPr>
        <dsp:cNvPr id="0" name=""/>
        <dsp:cNvSpPr/>
      </dsp:nvSpPr>
      <dsp:spPr>
        <a:xfrm>
          <a:off x="3119391" y="1629015"/>
          <a:ext cx="1110401" cy="666241"/>
        </a:xfrm>
        <a:prstGeom prst="roundRect">
          <a:avLst>
            <a:gd name="adj" fmla="val 10000"/>
          </a:avLst>
        </a:prstGeom>
        <a:solidFill>
          <a:schemeClr val="accent3">
            <a:hueOff val="8437698"/>
            <a:satOff val="-12660"/>
            <a:lumOff val="-205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解析</a:t>
          </a:r>
          <a:endParaRPr lang="zh-TW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138905" y="1648529"/>
        <a:ext cx="1071373" cy="627213"/>
      </dsp:txXfrm>
    </dsp:sp>
    <dsp:sp modelId="{ED979217-4C02-45DD-8684-086C90B17A45}">
      <dsp:nvSpPr>
        <dsp:cNvPr id="0" name=""/>
        <dsp:cNvSpPr/>
      </dsp:nvSpPr>
      <dsp:spPr>
        <a:xfrm rot="10800000">
          <a:off x="2740792" y="1824446"/>
          <a:ext cx="257253" cy="2753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TW" altLang="en-US" sz="1100" kern="1200"/>
        </a:p>
      </dsp:txBody>
      <dsp:txXfrm rot="10800000">
        <a:off x="2817968" y="1879522"/>
        <a:ext cx="180077" cy="165227"/>
      </dsp:txXfrm>
    </dsp:sp>
    <dsp:sp modelId="{681FFFA9-3EFE-4B18-87E4-019792FBEDB7}">
      <dsp:nvSpPr>
        <dsp:cNvPr id="0" name=""/>
        <dsp:cNvSpPr/>
      </dsp:nvSpPr>
      <dsp:spPr>
        <a:xfrm>
          <a:off x="1523606" y="1629015"/>
          <a:ext cx="1110401" cy="666241"/>
        </a:xfrm>
        <a:prstGeom prst="roundRect">
          <a:avLst>
            <a:gd name="adj" fmla="val 1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TW" sz="2000" b="1" kern="1200" dirty="0" smtClean="0">
              <a:latin typeface="微軟正黑體" panose="020B0604030504040204" pitchFamily="34" charset="-120"/>
              <a:ea typeface="微軟正黑體" panose="020B0604030504040204" pitchFamily="34" charset="-120"/>
            </a:rPr>
            <a:t>比對</a:t>
          </a:r>
          <a:endParaRPr lang="zh-TW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543120" y="1648529"/>
        <a:ext cx="1071373" cy="6272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B12AB-0481-4543-9448-EE76391C4D02}" type="datetimeFigureOut">
              <a:rPr lang="zh-TW" altLang="en-US" smtClean="0"/>
              <a:pPr/>
              <a:t>2025/6/17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245B1-C9B5-4CB2-8096-E56E4F101A5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8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gi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26078" y="377109"/>
            <a:ext cx="9170078" cy="47640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8" name="圓角矩形圖說文字 277"/>
          <p:cNvSpPr/>
          <p:nvPr userDrawn="1"/>
        </p:nvSpPr>
        <p:spPr>
          <a:xfrm>
            <a:off x="272957" y="715294"/>
            <a:ext cx="2737212" cy="742533"/>
          </a:xfrm>
          <a:prstGeom prst="wedgeRoundRectCallout">
            <a:avLst>
              <a:gd name="adj1" fmla="val 34844"/>
              <a:gd name="adj2" fmla="val 81478"/>
              <a:gd name="adj3" fmla="val 16667"/>
            </a:avLst>
          </a:prstGeom>
          <a:solidFill>
            <a:srgbClr val="F2F2F2">
              <a:alpha val="20000"/>
            </a:srgbClr>
          </a:solidFill>
          <a:ln w="28575">
            <a:solidFill>
              <a:srgbClr val="000000">
                <a:alpha val="2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 hasCustomPrompt="1"/>
          </p:nvPr>
        </p:nvSpPr>
        <p:spPr>
          <a:xfrm>
            <a:off x="3157954" y="782801"/>
            <a:ext cx="5476465" cy="725061"/>
          </a:xfrm>
        </p:spPr>
        <p:txBody>
          <a:bodyPr>
            <a:noAutofit/>
          </a:bodyPr>
          <a:lstStyle>
            <a:lvl1pPr algn="l">
              <a:defRPr sz="4800" b="1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計算機簡介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22800" y="1795463"/>
            <a:ext cx="4194429" cy="2801541"/>
          </a:xfrm>
        </p:spPr>
        <p:txBody>
          <a:bodyPr/>
          <a:lstStyle>
            <a:lvl1pPr marL="0" indent="0" algn="l">
              <a:buNone/>
              <a:defRPr b="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29" name="矩形 28"/>
          <p:cNvSpPr/>
          <p:nvPr userDrawn="1"/>
        </p:nvSpPr>
        <p:spPr>
          <a:xfrm>
            <a:off x="11650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3896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 userDrawn="1"/>
        </p:nvSpPr>
        <p:spPr>
          <a:xfrm>
            <a:off x="258071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矩形 50"/>
          <p:cNvSpPr/>
          <p:nvPr userDrawn="1"/>
        </p:nvSpPr>
        <p:spPr>
          <a:xfrm>
            <a:off x="5420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/>
          <p:cNvSpPr/>
          <p:nvPr userDrawn="1"/>
        </p:nvSpPr>
        <p:spPr>
          <a:xfrm>
            <a:off x="694494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矩形 52"/>
          <p:cNvSpPr/>
          <p:nvPr userDrawn="1"/>
        </p:nvSpPr>
        <p:spPr>
          <a:xfrm>
            <a:off x="89969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/>
          <p:cNvSpPr/>
          <p:nvPr userDrawn="1"/>
        </p:nvSpPr>
        <p:spPr>
          <a:xfrm>
            <a:off x="11728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矩形 54"/>
          <p:cNvSpPr/>
          <p:nvPr userDrawn="1"/>
        </p:nvSpPr>
        <p:spPr>
          <a:xfrm>
            <a:off x="1041262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矩形 55"/>
          <p:cNvSpPr/>
          <p:nvPr userDrawn="1"/>
        </p:nvSpPr>
        <p:spPr>
          <a:xfrm>
            <a:off x="13252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矩形 56"/>
          <p:cNvSpPr/>
          <p:nvPr userDrawn="1"/>
        </p:nvSpPr>
        <p:spPr>
          <a:xfrm>
            <a:off x="147768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矩形 57"/>
          <p:cNvSpPr/>
          <p:nvPr userDrawn="1"/>
        </p:nvSpPr>
        <p:spPr>
          <a:xfrm>
            <a:off x="169875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矩形 58"/>
          <p:cNvSpPr/>
          <p:nvPr userDrawn="1"/>
        </p:nvSpPr>
        <p:spPr>
          <a:xfrm>
            <a:off x="19719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矩形 59"/>
          <p:cNvSpPr/>
          <p:nvPr userDrawn="1"/>
        </p:nvSpPr>
        <p:spPr>
          <a:xfrm>
            <a:off x="18403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矩形 60"/>
          <p:cNvSpPr/>
          <p:nvPr userDrawn="1"/>
        </p:nvSpPr>
        <p:spPr>
          <a:xfrm>
            <a:off x="21243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矩形 61"/>
          <p:cNvSpPr/>
          <p:nvPr userDrawn="1"/>
        </p:nvSpPr>
        <p:spPr>
          <a:xfrm>
            <a:off x="227674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矩形 62"/>
          <p:cNvSpPr/>
          <p:nvPr userDrawn="1"/>
        </p:nvSpPr>
        <p:spPr>
          <a:xfrm>
            <a:off x="2512459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/>
          <p:cNvSpPr/>
          <p:nvPr userDrawn="1"/>
        </p:nvSpPr>
        <p:spPr>
          <a:xfrm>
            <a:off x="27856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矩形 64"/>
          <p:cNvSpPr/>
          <p:nvPr userDrawn="1"/>
        </p:nvSpPr>
        <p:spPr>
          <a:xfrm>
            <a:off x="2654024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矩形 65"/>
          <p:cNvSpPr/>
          <p:nvPr userDrawn="1"/>
        </p:nvSpPr>
        <p:spPr>
          <a:xfrm>
            <a:off x="29380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矩形 66"/>
          <p:cNvSpPr/>
          <p:nvPr userDrawn="1"/>
        </p:nvSpPr>
        <p:spPr>
          <a:xfrm>
            <a:off x="309044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矩形 67"/>
          <p:cNvSpPr/>
          <p:nvPr userDrawn="1"/>
        </p:nvSpPr>
        <p:spPr>
          <a:xfrm>
            <a:off x="3318938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矩形 68"/>
          <p:cNvSpPr/>
          <p:nvPr userDrawn="1"/>
        </p:nvSpPr>
        <p:spPr>
          <a:xfrm>
            <a:off x="35921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矩形 69"/>
          <p:cNvSpPr/>
          <p:nvPr userDrawn="1"/>
        </p:nvSpPr>
        <p:spPr>
          <a:xfrm>
            <a:off x="346050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矩形 70"/>
          <p:cNvSpPr/>
          <p:nvPr userDrawn="1"/>
        </p:nvSpPr>
        <p:spPr>
          <a:xfrm>
            <a:off x="37445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矩形 71"/>
          <p:cNvSpPr/>
          <p:nvPr userDrawn="1"/>
        </p:nvSpPr>
        <p:spPr>
          <a:xfrm>
            <a:off x="389692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矩形 72"/>
          <p:cNvSpPr/>
          <p:nvPr userDrawn="1"/>
        </p:nvSpPr>
        <p:spPr>
          <a:xfrm>
            <a:off x="4129028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矩形 73"/>
          <p:cNvSpPr/>
          <p:nvPr userDrawn="1"/>
        </p:nvSpPr>
        <p:spPr>
          <a:xfrm>
            <a:off x="44022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矩形 74"/>
          <p:cNvSpPr/>
          <p:nvPr userDrawn="1"/>
        </p:nvSpPr>
        <p:spPr>
          <a:xfrm>
            <a:off x="427059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/>
          <p:cNvSpPr/>
          <p:nvPr userDrawn="1"/>
        </p:nvSpPr>
        <p:spPr>
          <a:xfrm>
            <a:off x="45546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矩形 76"/>
          <p:cNvSpPr/>
          <p:nvPr userDrawn="1"/>
        </p:nvSpPr>
        <p:spPr>
          <a:xfrm>
            <a:off x="470701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矩形 77"/>
          <p:cNvSpPr/>
          <p:nvPr userDrawn="1"/>
        </p:nvSpPr>
        <p:spPr>
          <a:xfrm>
            <a:off x="4939117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矩形 78"/>
          <p:cNvSpPr/>
          <p:nvPr userDrawn="1"/>
        </p:nvSpPr>
        <p:spPr>
          <a:xfrm>
            <a:off x="521230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矩形 79"/>
          <p:cNvSpPr/>
          <p:nvPr userDrawn="1"/>
        </p:nvSpPr>
        <p:spPr>
          <a:xfrm>
            <a:off x="508068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1" name="矩形 80"/>
          <p:cNvSpPr/>
          <p:nvPr userDrawn="1"/>
        </p:nvSpPr>
        <p:spPr>
          <a:xfrm>
            <a:off x="536470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2" name="矩形 81"/>
          <p:cNvSpPr/>
          <p:nvPr userDrawn="1"/>
        </p:nvSpPr>
        <p:spPr>
          <a:xfrm>
            <a:off x="5517106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3" name="矩形 82"/>
          <p:cNvSpPr/>
          <p:nvPr userDrawn="1"/>
        </p:nvSpPr>
        <p:spPr>
          <a:xfrm>
            <a:off x="574920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4" name="矩形 83"/>
          <p:cNvSpPr/>
          <p:nvPr userDrawn="1"/>
        </p:nvSpPr>
        <p:spPr>
          <a:xfrm>
            <a:off x="60223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5" name="矩形 84"/>
          <p:cNvSpPr/>
          <p:nvPr userDrawn="1"/>
        </p:nvSpPr>
        <p:spPr>
          <a:xfrm>
            <a:off x="5890773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6" name="矩形 85"/>
          <p:cNvSpPr/>
          <p:nvPr userDrawn="1"/>
        </p:nvSpPr>
        <p:spPr>
          <a:xfrm>
            <a:off x="61747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7" name="矩形 86"/>
          <p:cNvSpPr/>
          <p:nvPr userDrawn="1"/>
        </p:nvSpPr>
        <p:spPr>
          <a:xfrm>
            <a:off x="632719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8" name="矩形 87"/>
          <p:cNvSpPr/>
          <p:nvPr userDrawn="1"/>
        </p:nvSpPr>
        <p:spPr>
          <a:xfrm>
            <a:off x="6563897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9" name="矩形 88"/>
          <p:cNvSpPr/>
          <p:nvPr userDrawn="1"/>
        </p:nvSpPr>
        <p:spPr>
          <a:xfrm>
            <a:off x="68370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矩形 89"/>
          <p:cNvSpPr/>
          <p:nvPr userDrawn="1"/>
        </p:nvSpPr>
        <p:spPr>
          <a:xfrm>
            <a:off x="6705462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矩形 90"/>
          <p:cNvSpPr/>
          <p:nvPr userDrawn="1"/>
        </p:nvSpPr>
        <p:spPr>
          <a:xfrm>
            <a:off x="69894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2" name="矩形 91"/>
          <p:cNvSpPr/>
          <p:nvPr userDrawn="1"/>
        </p:nvSpPr>
        <p:spPr>
          <a:xfrm>
            <a:off x="7141885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矩形 92"/>
          <p:cNvSpPr/>
          <p:nvPr userDrawn="1"/>
        </p:nvSpPr>
        <p:spPr>
          <a:xfrm>
            <a:off x="7369388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4" name="矩形 93"/>
          <p:cNvSpPr/>
          <p:nvPr userDrawn="1"/>
        </p:nvSpPr>
        <p:spPr>
          <a:xfrm>
            <a:off x="76425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5" name="矩形 94"/>
          <p:cNvSpPr/>
          <p:nvPr userDrawn="1"/>
        </p:nvSpPr>
        <p:spPr>
          <a:xfrm>
            <a:off x="7510952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6" name="矩形 95"/>
          <p:cNvSpPr/>
          <p:nvPr userDrawn="1"/>
        </p:nvSpPr>
        <p:spPr>
          <a:xfrm>
            <a:off x="77949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7" name="矩形 96"/>
          <p:cNvSpPr/>
          <p:nvPr userDrawn="1"/>
        </p:nvSpPr>
        <p:spPr>
          <a:xfrm>
            <a:off x="7947376" y="-789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8" name="矩形 97"/>
          <p:cNvSpPr/>
          <p:nvPr userDrawn="1"/>
        </p:nvSpPr>
        <p:spPr>
          <a:xfrm>
            <a:off x="8171735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矩形 98"/>
          <p:cNvSpPr/>
          <p:nvPr userDrawn="1"/>
        </p:nvSpPr>
        <p:spPr>
          <a:xfrm>
            <a:off x="84449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0" name="矩形 99"/>
          <p:cNvSpPr/>
          <p:nvPr userDrawn="1"/>
        </p:nvSpPr>
        <p:spPr>
          <a:xfrm>
            <a:off x="8313300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1" name="矩形 100"/>
          <p:cNvSpPr/>
          <p:nvPr userDrawn="1"/>
        </p:nvSpPr>
        <p:spPr>
          <a:xfrm>
            <a:off x="85973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2" name="矩形 101"/>
          <p:cNvSpPr/>
          <p:nvPr userDrawn="1"/>
        </p:nvSpPr>
        <p:spPr>
          <a:xfrm>
            <a:off x="8749723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3" name="矩形 102"/>
          <p:cNvSpPr/>
          <p:nvPr userDrawn="1"/>
        </p:nvSpPr>
        <p:spPr>
          <a:xfrm>
            <a:off x="8969630" y="0"/>
            <a:ext cx="67507" cy="47255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5" name="圖片版面配置區 274"/>
          <p:cNvSpPr>
            <a:spLocks noGrp="1"/>
          </p:cNvSpPr>
          <p:nvPr>
            <p:ph type="pic" sz="quarter" idx="13"/>
          </p:nvPr>
        </p:nvSpPr>
        <p:spPr>
          <a:xfrm>
            <a:off x="0" y="1795463"/>
            <a:ext cx="4622800" cy="2801541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276" name="文字方塊 275"/>
          <p:cNvSpPr txBox="1"/>
          <p:nvPr userDrawn="1"/>
        </p:nvSpPr>
        <p:spPr>
          <a:xfrm>
            <a:off x="264913" y="636535"/>
            <a:ext cx="27682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smtClean="0">
                <a:solidFill>
                  <a:schemeClr val="bg1"/>
                </a:solidFill>
              </a:rPr>
              <a:t>CHAPTER</a:t>
            </a:r>
            <a:r>
              <a:rPr lang="zh-TW" altLang="en-US" sz="3600" b="1" dirty="0" smtClean="0">
                <a:solidFill>
                  <a:schemeClr val="bg1"/>
                </a:solidFill>
              </a:rPr>
              <a:t> </a:t>
            </a:r>
            <a:r>
              <a:rPr lang="en-US" altLang="zh-TW" sz="5400" b="1" dirty="0" smtClean="0">
                <a:solidFill>
                  <a:schemeClr val="accent5">
                    <a:lumMod val="50000"/>
                  </a:schemeClr>
                </a:solidFill>
              </a:rPr>
              <a:t>14</a:t>
            </a:r>
            <a:endParaRPr lang="zh-TW" altLang="en-US" sz="54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97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34603"/>
            <a:ext cx="8229600" cy="722012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25384"/>
            <a:ext cx="8229600" cy="3069239"/>
          </a:xfrm>
        </p:spPr>
        <p:txBody>
          <a:bodyPr/>
          <a:lstStyle>
            <a:lvl1pPr marL="457200" indent="-457200">
              <a:lnSpc>
                <a:spcPct val="120000"/>
              </a:lnSpc>
              <a:spcBef>
                <a:spcPts val="800"/>
              </a:spcBef>
              <a:buFontTx/>
              <a:buBlip>
                <a:blip r:embed="rId2"/>
              </a:buBlip>
              <a:defRPr sz="2800" b="1">
                <a:latin typeface="微軟正黑體" pitchFamily="34" charset="-120"/>
                <a:ea typeface="微軟正黑體" pitchFamily="34" charset="-120"/>
              </a:defRPr>
            </a:lvl1pPr>
            <a:lvl2pPr marL="914400" indent="-457200">
              <a:lnSpc>
                <a:spcPct val="120000"/>
              </a:lnSpc>
              <a:spcBef>
                <a:spcPts val="800"/>
              </a:spcBef>
              <a:buClr>
                <a:schemeClr val="tx2"/>
              </a:buClr>
              <a:buFont typeface="Wingdings 3" panose="05040102010807070707" pitchFamily="18" charset="2"/>
              <a:buChar char=""/>
              <a:defRPr sz="2400" b="1">
                <a:latin typeface="微軟正黑體" pitchFamily="34" charset="-120"/>
                <a:ea typeface="微軟正黑體" pitchFamily="34" charset="-120"/>
              </a:defRPr>
            </a:lvl2pPr>
            <a:lvl3pPr marL="1257300" indent="-342900">
              <a:lnSpc>
                <a:spcPct val="120000"/>
              </a:lnSpc>
              <a:spcBef>
                <a:spcPts val="800"/>
              </a:spcBef>
              <a:buClr>
                <a:schemeClr val="accent1"/>
              </a:buClr>
              <a:buFont typeface="微軟正黑體" panose="020B0604030504040204" pitchFamily="34" charset="-120"/>
              <a:buChar char="■"/>
              <a:defRPr sz="2000" b="1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sz="2000" b="1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sz="1800"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46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6" y="0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7812361" y="291553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16" name="矩形 15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17" name="矩形 16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1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3" cstate="screen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文字方塊 14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14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13057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84063"/>
            <a:ext cx="8229600" cy="3710560"/>
          </a:xfrm>
        </p:spPr>
        <p:txBody>
          <a:bodyPr/>
          <a:lstStyle>
            <a:lvl1pPr marL="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46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6" y="0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7812361" y="291553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4" name="群組 13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16" name="矩形 15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17" name="矩形 16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1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2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文字方塊 14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14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1575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546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6" y="0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7812361" y="291553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內容版面配置區 2"/>
          <p:cNvSpPr>
            <a:spLocks noGrp="1"/>
          </p:cNvSpPr>
          <p:nvPr>
            <p:ph idx="1"/>
          </p:nvPr>
        </p:nvSpPr>
        <p:spPr>
          <a:xfrm>
            <a:off x="457200" y="850309"/>
            <a:ext cx="8229600" cy="3744314"/>
          </a:xfrm>
        </p:spPr>
        <p:txBody>
          <a:bodyPr/>
          <a:lstStyle>
            <a:lvl1pPr marL="457200" indent="-457200">
              <a:buFontTx/>
              <a:buBlip>
                <a:blip r:embed="rId4"/>
              </a:buBlip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buNone/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14" name="群組 13"/>
          <p:cNvGrpSpPr/>
          <p:nvPr userDrawn="1"/>
        </p:nvGrpSpPr>
        <p:grpSpPr>
          <a:xfrm>
            <a:off x="0" y="0"/>
            <a:ext cx="9198259" cy="622018"/>
            <a:chOff x="0" y="0"/>
            <a:chExt cx="9198259" cy="622018"/>
          </a:xfrm>
        </p:grpSpPr>
        <p:grpSp>
          <p:nvGrpSpPr>
            <p:cNvPr id="15" name="群組 14"/>
            <p:cNvGrpSpPr/>
            <p:nvPr userDrawn="1"/>
          </p:nvGrpSpPr>
          <p:grpSpPr>
            <a:xfrm>
              <a:off x="0" y="0"/>
              <a:ext cx="9144001" cy="546525"/>
              <a:chOff x="0" y="0"/>
              <a:chExt cx="9144001" cy="546525"/>
            </a:xfrm>
          </p:grpSpPr>
          <p:sp>
            <p:nvSpPr>
              <p:cNvPr id="17" name="矩形 16"/>
              <p:cNvSpPr/>
              <p:nvPr userDrawn="1"/>
            </p:nvSpPr>
            <p:spPr>
              <a:xfrm>
                <a:off x="0" y="0"/>
                <a:ext cx="9144000" cy="54652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sp>
            <p:nvSpPr>
              <p:cNvPr id="18" name="矩形 17"/>
              <p:cNvSpPr/>
              <p:nvPr userDrawn="1"/>
            </p:nvSpPr>
            <p:spPr>
              <a:xfrm>
                <a:off x="906574" y="13476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19" name="矩形 18"/>
              <p:cNvSpPr/>
              <p:nvPr userDrawn="1"/>
            </p:nvSpPr>
            <p:spPr>
              <a:xfrm>
                <a:off x="8127396" y="0"/>
                <a:ext cx="1016605" cy="54652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0" name="矩形 19"/>
              <p:cNvSpPr/>
              <p:nvPr userDrawn="1"/>
            </p:nvSpPr>
            <p:spPr>
              <a:xfrm>
                <a:off x="7778146" y="291553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矩形 20"/>
              <p:cNvSpPr/>
              <p:nvPr userDrawn="1"/>
            </p:nvSpPr>
            <p:spPr>
              <a:xfrm>
                <a:off x="7677346" y="392814"/>
                <a:ext cx="100800" cy="101261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en-US" altLang="zh-TW" dirty="0" smtClean="0"/>
              </a:p>
              <a:p>
                <a:pPr algn="ctr"/>
                <a:endParaRPr lang="zh-TW" altLang="en-US" dirty="0"/>
              </a:p>
            </p:txBody>
          </p:sp>
          <p:pic>
            <p:nvPicPr>
              <p:cNvPr id="22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2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885" y="71699"/>
                <a:ext cx="323700" cy="4212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6" name="文字方塊 15"/>
            <p:cNvSpPr txBox="1"/>
            <p:nvPr userDrawn="1"/>
          </p:nvSpPr>
          <p:spPr>
            <a:xfrm>
              <a:off x="8073134" y="6465"/>
              <a:ext cx="1125125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14</a:t>
              </a:r>
              <a:endParaRPr lang="zh-TW" altLang="en-US" sz="22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72017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1" name="Picture 15"/>
          <p:cNvPicPr>
            <a:picLocks noChangeAspect="1" noChangeArrowheads="1"/>
          </p:cNvPicPr>
          <p:nvPr userDrawn="1"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43616" y="722472"/>
            <a:ext cx="2456765" cy="634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13"/>
          <p:cNvPicPr>
            <a:picLocks noChangeAspect="1" noChangeArrowheads="1"/>
          </p:cNvPicPr>
          <p:nvPr userDrawn="1"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87232">
            <a:off x="7757944" y="802232"/>
            <a:ext cx="1038226" cy="800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群組 4"/>
          <p:cNvGrpSpPr/>
          <p:nvPr userDrawn="1"/>
        </p:nvGrpSpPr>
        <p:grpSpPr>
          <a:xfrm>
            <a:off x="683018" y="771550"/>
            <a:ext cx="1781968" cy="414607"/>
            <a:chOff x="683018" y="1178750"/>
            <a:chExt cx="1781968" cy="414607"/>
          </a:xfrm>
        </p:grpSpPr>
        <p:sp>
          <p:nvSpPr>
            <p:cNvPr id="24" name="橢圓 23"/>
            <p:cNvSpPr/>
            <p:nvPr userDrawn="1"/>
          </p:nvSpPr>
          <p:spPr>
            <a:xfrm>
              <a:off x="683018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橢圓 24"/>
            <p:cNvSpPr/>
            <p:nvPr userDrawn="1"/>
          </p:nvSpPr>
          <p:spPr>
            <a:xfrm>
              <a:off x="115162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橢圓 25"/>
            <p:cNvSpPr/>
            <p:nvPr userDrawn="1"/>
          </p:nvSpPr>
          <p:spPr>
            <a:xfrm>
              <a:off x="1601670" y="1178750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 userDrawn="1"/>
          </p:nvSpPr>
          <p:spPr>
            <a:xfrm>
              <a:off x="2051720" y="1180091"/>
              <a:ext cx="413266" cy="4132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23" name="文字方塊 22"/>
          <p:cNvSpPr txBox="1"/>
          <p:nvPr userDrawn="1"/>
        </p:nvSpPr>
        <p:spPr>
          <a:xfrm>
            <a:off x="701570" y="789784"/>
            <a:ext cx="2221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IT</a:t>
            </a:r>
            <a:r>
              <a:rPr lang="zh-TW" altLang="en-US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rPr>
              <a:t>　專    家    </a:t>
            </a:r>
            <a:endParaRPr lang="en-US" altLang="zh-TW" b="1" dirty="0" smtClean="0">
              <a:solidFill>
                <a:srgbClr val="C00000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grpSp>
        <p:nvGrpSpPr>
          <p:cNvPr id="46" name="群組 45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47" name="群組 46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49" name="矩形 48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50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4" cstate="screen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1" name="矩形 50"/>
              <p:cNvSpPr/>
              <p:nvPr userDrawn="1"/>
            </p:nvSpPr>
            <p:spPr>
              <a:xfrm>
                <a:off x="906573" y="179684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52" name="矩形 51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3" name="矩形 52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54" name="矩形 53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48" name="文字方塊 47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14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0031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3250" y="628578"/>
            <a:ext cx="9144000" cy="391543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465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28" name="Picture 4" descr="D:\製作中\02再版書\0558909\章首頁\computer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212" y="65596"/>
            <a:ext cx="425589" cy="415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矩形 7"/>
          <p:cNvSpPr/>
          <p:nvPr userDrawn="1"/>
        </p:nvSpPr>
        <p:spPr>
          <a:xfrm>
            <a:off x="906574" y="134763"/>
            <a:ext cx="3665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800" b="0" i="0" u="none" strike="noStrike" kern="1200" baseline="0" dirty="0" smtClean="0">
                <a:solidFill>
                  <a:schemeClr val="accent5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An Introduction to Computer Science</a:t>
            </a:r>
            <a:endParaRPr lang="zh-TW" alt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8127396" y="0"/>
            <a:ext cx="1016605" cy="5465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7812361" y="291553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7677346" y="388486"/>
            <a:ext cx="135015" cy="10126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 5"/>
          <p:cNvSpPr/>
          <p:nvPr userDrawn="1"/>
        </p:nvSpPr>
        <p:spPr>
          <a:xfrm>
            <a:off x="269866" y="1255354"/>
            <a:ext cx="8604269" cy="310534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內容版面配置區 2"/>
          <p:cNvSpPr>
            <a:spLocks noGrp="1"/>
          </p:cNvSpPr>
          <p:nvPr>
            <p:ph idx="1"/>
          </p:nvPr>
        </p:nvSpPr>
        <p:spPr>
          <a:xfrm>
            <a:off x="406096" y="1692374"/>
            <a:ext cx="8229600" cy="266832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800"/>
              </a:spcBef>
              <a:buNone/>
              <a:defRPr sz="2400">
                <a:latin typeface="微軟正黑體" pitchFamily="34" charset="-120"/>
                <a:ea typeface="微軟正黑體" pitchFamily="34" charset="-120"/>
              </a:defRPr>
            </a:lvl1pPr>
            <a:lvl2pPr marL="457200" indent="0">
              <a:lnSpc>
                <a:spcPct val="120000"/>
              </a:lnSpc>
              <a:spcBef>
                <a:spcPts val="800"/>
              </a:spcBef>
              <a:buNone/>
              <a:defRPr sz="2000">
                <a:latin typeface="微軟正黑體" pitchFamily="34" charset="-120"/>
                <a:ea typeface="微軟正黑體" pitchFamily="34" charset="-120"/>
              </a:defRPr>
            </a:lvl2pPr>
            <a:lvl3pPr marL="914400" indent="0">
              <a:lnSpc>
                <a:spcPct val="120000"/>
              </a:lnSpc>
              <a:spcBef>
                <a:spcPts val="800"/>
              </a:spcBef>
              <a:buNone/>
              <a:defRPr sz="1800">
                <a:latin typeface="微軟正黑體" pitchFamily="34" charset="-120"/>
                <a:ea typeface="微軟正黑體" pitchFamily="34" charset="-120"/>
              </a:defRPr>
            </a:lvl3pPr>
            <a:lvl4pPr marL="1371600" indent="0">
              <a:lnSpc>
                <a:spcPct val="120000"/>
              </a:lnSpc>
              <a:spcBef>
                <a:spcPts val="800"/>
              </a:spcBef>
              <a:buNone/>
              <a:defRPr sz="1600">
                <a:latin typeface="微軟正黑體" pitchFamily="34" charset="-120"/>
                <a:ea typeface="微軟正黑體" pitchFamily="34" charset="-120"/>
              </a:defRPr>
            </a:lvl4pPr>
            <a:lvl5pPr marL="1828800" indent="0">
              <a:lnSpc>
                <a:spcPct val="120000"/>
              </a:lnSpc>
              <a:spcBef>
                <a:spcPts val="800"/>
              </a:spcBef>
              <a:buNone/>
              <a:defRPr sz="1600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16" name="群組 15"/>
          <p:cNvGrpSpPr/>
          <p:nvPr userDrawn="1"/>
        </p:nvGrpSpPr>
        <p:grpSpPr>
          <a:xfrm>
            <a:off x="0" y="0"/>
            <a:ext cx="9198259" cy="591240"/>
            <a:chOff x="0" y="0"/>
            <a:chExt cx="9198259" cy="787347"/>
          </a:xfrm>
        </p:grpSpPr>
        <p:grpSp>
          <p:nvGrpSpPr>
            <p:cNvPr id="17" name="群組 16"/>
            <p:cNvGrpSpPr/>
            <p:nvPr userDrawn="1"/>
          </p:nvGrpSpPr>
          <p:grpSpPr>
            <a:xfrm>
              <a:off x="0" y="0"/>
              <a:ext cx="9144000" cy="728700"/>
              <a:chOff x="0" y="0"/>
              <a:chExt cx="9144000" cy="728700"/>
            </a:xfrm>
          </p:grpSpPr>
          <p:sp>
            <p:nvSpPr>
              <p:cNvPr id="20" name="矩形 19"/>
              <p:cNvSpPr/>
              <p:nvPr userDrawn="1"/>
            </p:nvSpPr>
            <p:spPr>
              <a:xfrm>
                <a:off x="0" y="0"/>
                <a:ext cx="9144000" cy="7287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pic>
            <p:nvPicPr>
              <p:cNvPr id="21" name="Picture 4" descr="D:\製作中\02再版書\0558909\章首頁\computer.png"/>
              <p:cNvPicPr>
                <a:picLocks noChangeAspect="1" noChangeArrowheads="1"/>
              </p:cNvPicPr>
              <p:nvPr userDrawn="1"/>
            </p:nvPicPr>
            <p:blipFill>
              <a:blip r:embed="rId2" cstate="screen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bright="-20000" contrast="-2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8211" y="96475"/>
                <a:ext cx="323700" cy="421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2" name="矩形 21"/>
              <p:cNvSpPr/>
              <p:nvPr userDrawn="1"/>
            </p:nvSpPr>
            <p:spPr>
              <a:xfrm>
                <a:off x="906573" y="179683"/>
                <a:ext cx="36654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1800" b="0" i="0" u="none" strike="noStrike" kern="1200" baseline="0" dirty="0" smtClean="0">
                    <a:solidFill>
                      <a:schemeClr val="accent5">
                        <a:lumMod val="40000"/>
                        <a:lumOff val="60000"/>
                      </a:schemeClr>
                    </a:solidFill>
                    <a:latin typeface="+mn-lt"/>
                    <a:ea typeface="+mn-ea"/>
                    <a:cs typeface="+mn-cs"/>
                  </a:rPr>
                  <a:t>An Introduction to Computer Science</a:t>
                </a:r>
                <a:endParaRPr lang="zh-TW" altLang="en-US" dirty="0">
                  <a:solidFill>
                    <a:schemeClr val="accent5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23" name="矩形 22"/>
              <p:cNvSpPr/>
              <p:nvPr userDrawn="1"/>
            </p:nvSpPr>
            <p:spPr>
              <a:xfrm>
                <a:off x="8127395" y="0"/>
                <a:ext cx="1016605" cy="7287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4" name="矩形 23"/>
              <p:cNvSpPr/>
              <p:nvPr userDrawn="1"/>
            </p:nvSpPr>
            <p:spPr>
              <a:xfrm>
                <a:off x="7767355" y="388736"/>
                <a:ext cx="1008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矩形 24"/>
              <p:cNvSpPr/>
              <p:nvPr userDrawn="1"/>
            </p:nvSpPr>
            <p:spPr>
              <a:xfrm>
                <a:off x="7677345" y="517980"/>
                <a:ext cx="104400" cy="13501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sp>
          <p:nvSpPr>
            <p:cNvPr id="18" name="文字方塊 17"/>
            <p:cNvSpPr txBox="1"/>
            <p:nvPr userDrawn="1"/>
          </p:nvSpPr>
          <p:spPr>
            <a:xfrm>
              <a:off x="8073134" y="8609"/>
              <a:ext cx="1125125" cy="778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2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Chapter</a:t>
              </a:r>
            </a:p>
            <a:p>
              <a:pPr algn="ctr"/>
              <a:r>
                <a:rPr lang="en-US" altLang="zh-TW" sz="2000" dirty="0" smtClean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14</a:t>
              </a:r>
              <a:endParaRPr lang="zh-TW" altLang="en-US" sz="2000" dirty="0">
                <a:solidFill>
                  <a:schemeClr val="accent5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26" name="群組 25"/>
          <p:cNvGrpSpPr/>
          <p:nvPr userDrawn="1"/>
        </p:nvGrpSpPr>
        <p:grpSpPr>
          <a:xfrm>
            <a:off x="364973" y="636535"/>
            <a:ext cx="8347487" cy="1080120"/>
            <a:chOff x="364973" y="636535"/>
            <a:chExt cx="8347487" cy="1080120"/>
          </a:xfrm>
        </p:grpSpPr>
        <p:pic>
          <p:nvPicPr>
            <p:cNvPr id="27" name="Picture 14"/>
            <p:cNvPicPr>
              <a:picLocks noChangeAspect="1" noChangeArrowheads="1"/>
            </p:cNvPicPr>
            <p:nvPr userDrawn="1"/>
          </p:nvPicPr>
          <p:blipFill>
            <a:blip r:embed="rId4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96036" y="851302"/>
              <a:ext cx="616424" cy="765559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3" descr="D:\製作中\02再版書\0558909\資訊小耳朵 圖.png"/>
            <p:cNvPicPr>
              <a:picLocks noChangeAspect="1" noChangeArrowheads="1"/>
            </p:cNvPicPr>
            <p:nvPr userDrawn="1"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973" y="636535"/>
              <a:ext cx="3836948" cy="1080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文字方塊 28"/>
            <p:cNvSpPr txBox="1"/>
            <p:nvPr userDrawn="1"/>
          </p:nvSpPr>
          <p:spPr>
            <a:xfrm>
              <a:off x="607663" y="1254990"/>
              <a:ext cx="279420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 smtClean="0">
                  <a:solidFill>
                    <a:srgbClr val="C00000"/>
                  </a:solidFill>
                  <a:latin typeface="微軟正黑體" pitchFamily="34" charset="-120"/>
                  <a:ea typeface="微軟正黑體" pitchFamily="34" charset="-120"/>
                </a:rPr>
                <a:t>資    訊    專    欄</a:t>
              </a:r>
              <a:endParaRPr lang="en-US" altLang="zh-TW" sz="2400" b="1" dirty="0" smtClean="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923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1875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4432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587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2424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91000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9997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2208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DAD8F38-8795-4DFA-8634-4D84CBE67FB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3518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5288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grpSp>
        <p:nvGrpSpPr>
          <p:cNvPr id="11" name="群組 10"/>
          <p:cNvGrpSpPr/>
          <p:nvPr userDrawn="1"/>
        </p:nvGrpSpPr>
        <p:grpSpPr>
          <a:xfrm>
            <a:off x="161510" y="4641980"/>
            <a:ext cx="8691420" cy="450050"/>
            <a:chOff x="161510" y="4616387"/>
            <a:chExt cx="8691420" cy="450050"/>
          </a:xfrm>
        </p:grpSpPr>
        <p:sp>
          <p:nvSpPr>
            <p:cNvPr id="12" name="橢圓 11"/>
            <p:cNvSpPr/>
            <p:nvPr userDrawn="1"/>
          </p:nvSpPr>
          <p:spPr>
            <a:xfrm>
              <a:off x="161510" y="4616387"/>
              <a:ext cx="450050" cy="45005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 userDrawn="1"/>
          </p:nvSpPr>
          <p:spPr>
            <a:xfrm>
              <a:off x="296525" y="4616387"/>
              <a:ext cx="450050" cy="45005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14" name="Picture 2" descr="D:\桌面\logo.png"/>
            <p:cNvPicPr>
              <a:picLocks noChangeAspect="1" noChangeArrowheads="1"/>
            </p:cNvPicPr>
            <p:nvPr userDrawn="1"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6595" y="4777015"/>
              <a:ext cx="610257" cy="18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動作按鈕: 上一項 14">
              <a:hlinkClick r:id="" action="ppaction://hlinkshowjump?jump=previousslide" highlightClick="1"/>
            </p:cNvPr>
            <p:cNvSpPr/>
            <p:nvPr userDrawn="1"/>
          </p:nvSpPr>
          <p:spPr>
            <a:xfrm>
              <a:off x="7452320" y="4642869"/>
              <a:ext cx="360000" cy="360000"/>
            </a:xfrm>
            <a:prstGeom prst="actionButtonBackPrevious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動作按鈕: 首頁 15">
              <a:hlinkClick r:id="" action="ppaction://hlinkshowjump?jump=firstslide" highlightClick="1"/>
            </p:cNvPr>
            <p:cNvSpPr/>
            <p:nvPr userDrawn="1"/>
          </p:nvSpPr>
          <p:spPr>
            <a:xfrm>
              <a:off x="7992380" y="4642869"/>
              <a:ext cx="360000" cy="360000"/>
            </a:xfrm>
            <a:prstGeom prst="actionButtonHom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動作按鈕: 下一項 16">
              <a:hlinkClick r:id="" action="ppaction://hlinkshowjump?jump=nextslide" highlightClick="1"/>
            </p:cNvPr>
            <p:cNvSpPr/>
            <p:nvPr userDrawn="1"/>
          </p:nvSpPr>
          <p:spPr>
            <a:xfrm>
              <a:off x="8492930" y="4641980"/>
              <a:ext cx="360000" cy="360000"/>
            </a:xfrm>
            <a:prstGeom prst="actionButtonForwardNex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>
              <a:reflection blurRad="6350" stA="50000" endA="300" endPos="90000" dir="5400000" sy="-100000" algn="bl" rotWithShape="0"/>
            </a:effectLst>
            <a:scene3d>
              <a:camera prst="obliqueBottomRight"/>
              <a:lightRig rig="threePt" dir="t"/>
            </a:scene3d>
            <a:sp3d>
              <a:bevelT w="25400" h="25400"/>
              <a:bevelB w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8" name="文字方塊 17"/>
          <p:cNvSpPr txBox="1"/>
          <p:nvPr userDrawn="1"/>
        </p:nvSpPr>
        <p:spPr>
          <a:xfrm>
            <a:off x="251521" y="4694752"/>
            <a:ext cx="58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B089E88-AE65-4CA2-BA11-4B6DC14C3389}" type="slidenum">
              <a:rPr lang="zh-TW" altLang="en-US" smtClean="0">
                <a:solidFill>
                  <a:schemeClr val="bg1"/>
                </a:solidFill>
              </a:rPr>
              <a:pPr/>
              <a:t>‹#›</a:t>
            </a:fld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03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4" r:id="rId5"/>
    <p:sldLayoutId id="2147483662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b="1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1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b="1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b="1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slide" Target="slide56.xml"/><Relationship Id="rId4" Type="http://schemas.openxmlformats.org/officeDocument/2006/relationships/slide" Target="slide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直線接點 28"/>
          <p:cNvCxnSpPr/>
          <p:nvPr/>
        </p:nvCxnSpPr>
        <p:spPr>
          <a:xfrm>
            <a:off x="3157953" y="1507862"/>
            <a:ext cx="5779532" cy="0"/>
          </a:xfrm>
          <a:prstGeom prst="line">
            <a:avLst/>
          </a:prstGeom>
          <a:ln w="76200">
            <a:solidFill>
              <a:schemeClr val="bg2">
                <a:lumMod val="25000"/>
              </a:schemeClr>
            </a:solidFill>
            <a:prstDash val="solid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:\製作中\02再版書\0558909\章首頁\note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093204" y="1487350"/>
            <a:ext cx="3790950" cy="33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標題 6"/>
          <p:cNvSpPr>
            <a:spLocks noGrp="1"/>
          </p:cNvSpPr>
          <p:nvPr>
            <p:ph type="ctrTitle"/>
          </p:nvPr>
        </p:nvSpPr>
        <p:spPr>
          <a:xfrm>
            <a:off x="3157954" y="782801"/>
            <a:ext cx="5476465" cy="704549"/>
          </a:xfrm>
        </p:spPr>
        <p:txBody>
          <a:bodyPr/>
          <a:lstStyle/>
          <a:p>
            <a:r>
              <a:rPr lang="zh-TW" altLang="en-US" smtClean="0"/>
              <a:t>人工智慧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74296" y="1792831"/>
            <a:ext cx="310930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b="1" u="sng" dirty="0"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14-1 </a:t>
            </a:r>
            <a:r>
              <a:rPr lang="zh-TW" altLang="en-US" sz="2000" b="1" u="sng" dirty="0">
                <a:latin typeface="微軟正黑體" pitchFamily="34" charset="-120"/>
                <a:ea typeface="微軟正黑體" pitchFamily="34" charset="-120"/>
                <a:hlinkClick r:id="rId3" action="ppaction://hlinksldjump"/>
              </a:rPr>
              <a:t>人工智慧的沿革</a:t>
            </a:r>
            <a:endParaRPr lang="zh-TW" altLang="en-US" sz="2000" b="1" u="sng" dirty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b="1" dirty="0" smtClean="0"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14-2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 機器學習</a:t>
            </a:r>
            <a:r>
              <a:rPr lang="zh-TW" altLang="en-US" sz="2000" b="1" dirty="0">
                <a:latin typeface="微軟正黑體" pitchFamily="34" charset="-120"/>
                <a:ea typeface="微軟正黑體" pitchFamily="34" charset="-120"/>
                <a:hlinkClick r:id="rId4" action="ppaction://hlinksldjump"/>
              </a:rPr>
              <a:t>和深度學習</a:t>
            </a:r>
            <a:endParaRPr lang="en-US" altLang="zh-TW" sz="2000" b="1" dirty="0">
              <a:latin typeface="微軟正黑體" pitchFamily="34" charset="-120"/>
              <a:ea typeface="微軟正黑體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b="1" dirty="0" smtClean="0"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14-3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 電腦</a:t>
            </a:r>
            <a:r>
              <a:rPr lang="zh-TW" altLang="en-US" sz="2000" b="1" dirty="0"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視覺及圖像</a:t>
            </a:r>
            <a:r>
              <a:rPr lang="zh-TW" altLang="en-US" sz="2000" b="1" dirty="0" smtClean="0">
                <a:latin typeface="微軟正黑體" pitchFamily="34" charset="-120"/>
                <a:ea typeface="微軟正黑體" pitchFamily="34" charset="-120"/>
                <a:hlinkClick r:id="rId5" action="ppaction://hlinksldjump"/>
              </a:rPr>
              <a:t>識別</a:t>
            </a:r>
            <a:endParaRPr lang="en-US" altLang="zh-TW" sz="2000" b="1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292699" y="1987712"/>
            <a:ext cx="2353509" cy="2353509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21401888">
            <a:off x="1300333" y="2182486"/>
            <a:ext cx="2353509" cy="2353509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 rot="21077218">
            <a:off x="1451316" y="2421396"/>
            <a:ext cx="2353509" cy="2353509"/>
          </a:xfrm>
          <a:prstGeom prst="rect">
            <a:avLst/>
          </a:prstGeom>
          <a:noFill/>
          <a:ln w="571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64374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mtClean="0"/>
              <a:t>14-1 </a:t>
            </a:r>
            <a:r>
              <a:rPr lang="zh-TW" altLang="en-US" smtClean="0"/>
              <a:t>人工智慧的沿革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TW" altLang="en-US" dirty="0" smtClean="0">
                <a:solidFill>
                  <a:srgbClr val="C00000"/>
                </a:solidFill>
              </a:rPr>
              <a:t>人工智慧</a:t>
            </a:r>
            <a:r>
              <a:rPr lang="en-US" altLang="zh-TW" dirty="0" smtClean="0"/>
              <a:t>(Artificial Intelligence</a:t>
            </a:r>
            <a:r>
              <a:rPr lang="zh-TW" altLang="en-US" dirty="0" smtClean="0"/>
              <a:t>；</a:t>
            </a:r>
            <a:r>
              <a:rPr lang="en-US" altLang="zh-TW" dirty="0" smtClean="0"/>
              <a:t>AI)</a:t>
            </a:r>
            <a:r>
              <a:rPr lang="zh-TW" altLang="en-US" dirty="0" smtClean="0"/>
              <a:t>主要目標是讓電腦具有人類智慧，可以像人一樣的思考、推理和學習，亦可稱為「數位智能」。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14-1 </a:t>
            </a:r>
            <a:r>
              <a:rPr lang="zh-TW" altLang="en-US" dirty="0"/>
              <a:t>人工智慧的沿革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人工智慧的研究，是希望使電腦系統也具有人類的知識和學習、推理的能力，以便電腦可以自行判斷來解決不同的問題。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9172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14-1 </a:t>
            </a:r>
            <a:r>
              <a:rPr lang="zh-TW" altLang="en-US" dirty="0"/>
              <a:t>人工智慧的沿革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人工智慧的發展可追溯</a:t>
            </a:r>
            <a:r>
              <a:rPr lang="zh-TW" altLang="en-US" dirty="0"/>
              <a:t>到第二次世界大戰的末期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當時</a:t>
            </a:r>
            <a:r>
              <a:rPr lang="zh-TW" altLang="en-US" dirty="0"/>
              <a:t>為了解決一些軍事上和情報上的問題，科學家們開始研究發展一種有智慧的機器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180466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14-1 </a:t>
            </a:r>
            <a:r>
              <a:rPr lang="zh-TW" altLang="en-US" dirty="0"/>
              <a:t>人工智慧的沿革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人工智慧的研究，基本上是先觀察人類的行為模式，特別是人類因問題和事物所引起的刺激和反應，以及因此所引發的推理、解決問題、學習、判斷及思考決策等過程。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679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杜林試驗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有兩個人和一部電腦，其中一個人扮演質詢者的角色， 另一個人和電腦待在與質詢者不同的房間。</a:t>
            </a:r>
            <a:endParaRPr lang="en-US" altLang="zh-TW" dirty="0" smtClean="0"/>
          </a:p>
          <a:p>
            <a:r>
              <a:rPr lang="zh-TW" altLang="en-US" dirty="0" smtClean="0"/>
              <a:t>質詢者可以問他們各式各樣的問題，但他並不知道誰是電腦以及誰是另一個人，如果在一連串問題之後，電腦讓質詢者誤以為它是另一個人，它就算通過</a:t>
            </a:r>
            <a:r>
              <a:rPr lang="zh-TW" altLang="en-US" dirty="0" smtClean="0">
                <a:solidFill>
                  <a:srgbClr val="C00000"/>
                </a:solidFill>
              </a:rPr>
              <a:t>杜林試驗</a:t>
            </a:r>
            <a:r>
              <a:rPr lang="en-US" altLang="zh-TW" dirty="0" smtClean="0"/>
              <a:t>(Turing test)</a:t>
            </a:r>
            <a:r>
              <a:rPr lang="zh-TW" altLang="en-US" dirty="0" smtClean="0"/>
              <a:t>，就某個角度看，它是會思考的（圖</a:t>
            </a:r>
            <a:r>
              <a:rPr lang="en-US" altLang="zh-TW" dirty="0" smtClean="0"/>
              <a:t>14-1</a:t>
            </a:r>
            <a:r>
              <a:rPr lang="zh-TW" altLang="en-US" dirty="0" smtClean="0"/>
              <a:t>）。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7252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杜林試驗</a:t>
            </a:r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900" y="1654969"/>
            <a:ext cx="312420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5547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人工智慧中較重要的技術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zh-TW" altLang="en-US" dirty="0" smtClean="0"/>
              <a:t>知識表示</a:t>
            </a:r>
            <a:endParaRPr lang="en-US" altLang="zh-TW" dirty="0" smtClean="0"/>
          </a:p>
          <a:p>
            <a:r>
              <a:rPr lang="zh-TW" altLang="en-US" dirty="0" smtClean="0"/>
              <a:t>邏輯系統</a:t>
            </a:r>
            <a:endParaRPr lang="en-US" altLang="zh-TW" dirty="0" smtClean="0"/>
          </a:p>
          <a:p>
            <a:r>
              <a:rPr lang="zh-TW" altLang="en-US" dirty="0" smtClean="0"/>
              <a:t>經驗法則搜尋</a:t>
            </a:r>
            <a:endParaRPr lang="en-US" altLang="zh-TW" dirty="0" smtClean="0"/>
          </a:p>
          <a:p>
            <a:r>
              <a:rPr lang="zh-TW" altLang="en-US" dirty="0" smtClean="0"/>
              <a:t>專家系統</a:t>
            </a:r>
            <a:endParaRPr lang="en-US" altLang="zh-TW" dirty="0" smtClean="0"/>
          </a:p>
          <a:p>
            <a:r>
              <a:rPr lang="zh-TW" altLang="en-US" dirty="0" smtClean="0"/>
              <a:t>電腦下棋</a:t>
            </a:r>
            <a:endParaRPr lang="en-US" altLang="zh-TW" dirty="0" smtClean="0"/>
          </a:p>
          <a:p>
            <a:r>
              <a:rPr lang="zh-TW" altLang="en-US" dirty="0" smtClean="0"/>
              <a:t>自然語言處理</a:t>
            </a:r>
            <a:endParaRPr lang="en-US" altLang="zh-TW" dirty="0" smtClean="0"/>
          </a:p>
          <a:p>
            <a:r>
              <a:rPr lang="zh-TW" altLang="en-US" dirty="0" smtClean="0"/>
              <a:t>資料探勘</a:t>
            </a:r>
            <a:endParaRPr lang="en-US" altLang="zh-TW" dirty="0" smtClean="0"/>
          </a:p>
          <a:p>
            <a:r>
              <a:rPr lang="zh-TW" altLang="en-US" dirty="0" smtClean="0"/>
              <a:t>資訊</a:t>
            </a:r>
            <a:r>
              <a:rPr lang="zh-TW" altLang="en-US" dirty="0" smtClean="0"/>
              <a:t>擷取</a:t>
            </a:r>
            <a:endParaRPr lang="zh-TW" altLang="en-US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767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rgbClr val="C00000"/>
                </a:solidFill>
              </a:rPr>
              <a:t>AI </a:t>
            </a:r>
            <a:r>
              <a:rPr lang="zh-TW" altLang="en-US" dirty="0" smtClean="0">
                <a:solidFill>
                  <a:srgbClr val="C00000"/>
                </a:solidFill>
              </a:rPr>
              <a:t>成為年度熱門字詞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 smtClean="0"/>
              <a:t>劍橋詞典選出的年度字詞為</a:t>
            </a:r>
            <a:r>
              <a:rPr lang="en-US" altLang="zh-TW" dirty="0" smtClean="0"/>
              <a:t>hallucinate</a:t>
            </a:r>
            <a:r>
              <a:rPr lang="zh-TW" altLang="en-US" dirty="0" smtClean="0"/>
              <a:t>（產生幻覺）。幻覺不再為人類和動物所專有，機器人的聯想力有時也會有秀逗的時刻。</a:t>
            </a:r>
            <a:endParaRPr lang="en-US" altLang="zh-TW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 smtClean="0"/>
              <a:t>柯林斯詞典選出的年度字詞為</a:t>
            </a:r>
            <a:r>
              <a:rPr lang="en-US" altLang="zh-TW" dirty="0" smtClean="0"/>
              <a:t>AI</a:t>
            </a:r>
            <a:r>
              <a:rPr lang="zh-TW" altLang="en-US" dirty="0" smtClean="0"/>
              <a:t>（人工智慧）。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58917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 smtClean="0"/>
              <a:t>韋氏詞典選出的年度字詞為</a:t>
            </a:r>
            <a:r>
              <a:rPr lang="en-US" altLang="zh-TW" dirty="0" smtClean="0"/>
              <a:t>authentic</a:t>
            </a:r>
            <a:r>
              <a:rPr lang="zh-TW" altLang="en-US" dirty="0" smtClean="0"/>
              <a:t>（真正的），該字詞有非假冒或非仿造的意涵，反映了</a:t>
            </a:r>
            <a:r>
              <a:rPr lang="en-US" altLang="zh-TW" dirty="0" smtClean="0"/>
              <a:t>AI</a:t>
            </a:r>
            <a:r>
              <a:rPr lang="zh-TW" altLang="en-US" dirty="0" smtClean="0"/>
              <a:t>似已模糊了真實與虛假的界線。</a:t>
            </a:r>
            <a:endParaRPr lang="en-US" altLang="zh-TW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dirty="0" smtClean="0"/>
              <a:t>經濟日報選出的「</a:t>
            </a:r>
            <a:r>
              <a:rPr lang="en-US" altLang="zh-TW" dirty="0" smtClean="0"/>
              <a:t>2024</a:t>
            </a:r>
            <a:r>
              <a:rPr lang="zh-TW" altLang="en-US" dirty="0" smtClean="0"/>
              <a:t>經濟關鍵字」為「智」。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7034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mtClean="0"/>
              <a:t>知識表示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語意網（</a:t>
            </a:r>
            <a:r>
              <a:rPr lang="en-US" altLang="zh-TW" dirty="0" smtClean="0"/>
              <a:t>semantic network</a:t>
            </a:r>
            <a:r>
              <a:rPr lang="zh-TW" altLang="en-US" dirty="0" smtClean="0"/>
              <a:t>）的表示法，基本上是一個圖形的架構，把知識或概念（</a:t>
            </a:r>
            <a:r>
              <a:rPr lang="en-US" altLang="zh-TW" dirty="0" smtClean="0"/>
              <a:t>concept</a:t>
            </a:r>
            <a:r>
              <a:rPr lang="zh-TW" altLang="en-US" dirty="0" smtClean="0"/>
              <a:t>）表示為點，而點之間互相連結的線則用來表示其關係（</a:t>
            </a:r>
            <a:r>
              <a:rPr lang="en-US" altLang="zh-TW" dirty="0" smtClean="0"/>
              <a:t>semantic relation</a:t>
            </a:r>
            <a:r>
              <a:rPr lang="zh-TW" altLang="en-US" dirty="0" smtClean="0"/>
              <a:t>）。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1513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語意</a:t>
            </a:r>
            <a:r>
              <a:rPr lang="zh-TW" altLang="en-US" dirty="0" smtClean="0"/>
              <a:t>網範例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31"/>
          <a:stretch/>
        </p:blipFill>
        <p:spPr bwMode="auto">
          <a:xfrm>
            <a:off x="2096725" y="1446625"/>
            <a:ext cx="4950550" cy="3043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4325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邏輯系統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人類進行複雜事實的歸納及推理等活動，在電腦系統裡常被描述成一條條的規則，或合稱</a:t>
            </a:r>
            <a:r>
              <a:rPr lang="zh-TW" altLang="en-US" dirty="0">
                <a:solidFill>
                  <a:srgbClr val="C00000"/>
                </a:solidFill>
              </a:rPr>
              <a:t>生產系統</a:t>
            </a:r>
            <a:r>
              <a:rPr lang="en-US" altLang="zh-TW" dirty="0"/>
              <a:t>(production system)</a:t>
            </a:r>
            <a:r>
              <a:rPr lang="zh-TW" altLang="en-US" dirty="0"/>
              <a:t>，而</a:t>
            </a:r>
            <a:r>
              <a:rPr lang="zh-TW" altLang="en-US" dirty="0">
                <a:solidFill>
                  <a:srgbClr val="C00000"/>
                </a:solidFill>
              </a:rPr>
              <a:t>邏輯</a:t>
            </a:r>
            <a:r>
              <a:rPr lang="en-US" altLang="zh-TW" dirty="0"/>
              <a:t>(logic)</a:t>
            </a:r>
            <a:r>
              <a:rPr lang="zh-TW" altLang="en-US" dirty="0"/>
              <a:t>是一個常被使用的技巧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498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邏輯系統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邏輯可以很清楚的表示因果關係，像是「若下雨，則撐傘」。</a:t>
            </a:r>
            <a:endParaRPr lang="en-US" altLang="zh-TW" dirty="0"/>
          </a:p>
          <a:p>
            <a:r>
              <a:rPr lang="zh-TW" altLang="en-US" dirty="0"/>
              <a:t>為符合現實</a:t>
            </a:r>
            <a:r>
              <a:rPr lang="zh-TW" altLang="en-US" dirty="0" smtClean="0"/>
              <a:t>社會</a:t>
            </a:r>
            <a:r>
              <a:rPr lang="zh-TW" altLang="en-US" dirty="0"/>
              <a:t>，</a:t>
            </a:r>
            <a:r>
              <a:rPr lang="zh-TW" altLang="en-US" dirty="0" smtClean="0"/>
              <a:t>絕對</a:t>
            </a:r>
            <a:r>
              <a:rPr lang="zh-TW" altLang="en-US" dirty="0"/>
              <a:t>不是</a:t>
            </a:r>
            <a:r>
              <a:rPr lang="zh-TW" altLang="en-US" dirty="0" smtClean="0"/>
              <a:t>只有</a:t>
            </a:r>
            <a:r>
              <a:rPr lang="zh-TW" altLang="en-US" dirty="0">
                <a:solidFill>
                  <a:srgbClr val="C00000"/>
                </a:solidFill>
              </a:rPr>
              <a:t>真</a:t>
            </a:r>
            <a:r>
              <a:rPr lang="en-US" altLang="zh-TW" dirty="0"/>
              <a:t>(</a:t>
            </a:r>
            <a:r>
              <a:rPr lang="en-US" altLang="zh-TW" dirty="0" err="1"/>
              <a:t>ture</a:t>
            </a:r>
            <a:r>
              <a:rPr lang="en-US" altLang="zh-TW" dirty="0"/>
              <a:t>)</a:t>
            </a:r>
            <a:r>
              <a:rPr lang="zh-TW" altLang="en-US" dirty="0">
                <a:solidFill>
                  <a:srgbClr val="C00000"/>
                </a:solidFill>
              </a:rPr>
              <a:t>偽</a:t>
            </a:r>
            <a:r>
              <a:rPr lang="en-US" altLang="zh-TW" dirty="0"/>
              <a:t>(false)</a:t>
            </a:r>
            <a:r>
              <a:rPr lang="zh-TW" altLang="en-US" dirty="0"/>
              <a:t>兩種情況，更複雜的邏輯系統也被討論。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4813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經驗法則搜尋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當生產</a:t>
            </a:r>
            <a:r>
              <a:rPr lang="zh-TW" altLang="en-US" dirty="0"/>
              <a:t>系統或邏輯規則很多時，要找尋一條</a:t>
            </a:r>
            <a:r>
              <a:rPr lang="zh-TW" altLang="en-US" dirty="0" smtClean="0"/>
              <a:t>合乎</a:t>
            </a:r>
            <a:r>
              <a:rPr lang="zh-TW" altLang="en-US" dirty="0"/>
              <a:t>限制的規則，往往會花費很多時間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運用</a:t>
            </a:r>
            <a:r>
              <a:rPr lang="zh-TW" altLang="en-US" dirty="0">
                <a:solidFill>
                  <a:srgbClr val="C00000"/>
                </a:solidFill>
              </a:rPr>
              <a:t>經驗法則</a:t>
            </a:r>
            <a:r>
              <a:rPr lang="en-US" altLang="zh-TW" dirty="0"/>
              <a:t>(</a:t>
            </a:r>
            <a:r>
              <a:rPr lang="en-US" altLang="zh-TW" dirty="0" smtClean="0"/>
              <a:t>heuristic)</a:t>
            </a:r>
            <a:r>
              <a:rPr lang="zh-TW" altLang="en-US" dirty="0" smtClean="0"/>
              <a:t>可加快搜尋速度。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181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經驗法則搜尋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經驗法則並非永遠成立，但在絕大部分情況下都是成立的。</a:t>
            </a:r>
            <a:endParaRPr lang="en-US" altLang="zh-TW" dirty="0"/>
          </a:p>
          <a:p>
            <a:r>
              <a:rPr lang="zh-TW" altLang="en-US" dirty="0"/>
              <a:t>例如：尋找第一名的同學</a:t>
            </a:r>
            <a:endParaRPr lang="en-US" altLang="zh-TW" dirty="0"/>
          </a:p>
          <a:p>
            <a:pPr lvl="1"/>
            <a:r>
              <a:rPr lang="zh-TW" altLang="en-US" dirty="0"/>
              <a:t>經驗法則告訴我們先去「認真讀書」集合裡面找，會較快找到。</a:t>
            </a:r>
            <a:endParaRPr lang="en-US" altLang="zh-TW" dirty="0"/>
          </a:p>
          <a:p>
            <a:pPr lvl="1"/>
            <a:r>
              <a:rPr lang="zh-TW" altLang="en-US" dirty="0"/>
              <a:t>但也可能第一名同學正好是不認真讀書的同學。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3150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相關的程式語言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25384"/>
            <a:ext cx="8229600" cy="3341621"/>
          </a:xfrm>
        </p:spPr>
        <p:txBody>
          <a:bodyPr>
            <a:normAutofit/>
          </a:bodyPr>
          <a:lstStyle/>
          <a:p>
            <a:r>
              <a:rPr lang="zh-TW" altLang="en-US" dirty="0" smtClean="0"/>
              <a:t>知識</a:t>
            </a:r>
            <a:r>
              <a:rPr lang="zh-TW" altLang="en-US" dirty="0"/>
              <a:t>和邏輯推理都是利用文字或符號表示，所以人工智慧技術很仰賴</a:t>
            </a:r>
            <a:r>
              <a:rPr lang="zh-TW" altLang="en-US" dirty="0">
                <a:solidFill>
                  <a:srgbClr val="C00000"/>
                </a:solidFill>
              </a:rPr>
              <a:t>符號處理</a:t>
            </a:r>
            <a:r>
              <a:rPr lang="en-US" altLang="zh-TW" dirty="0"/>
              <a:t>(symbol manipulation)</a:t>
            </a:r>
            <a:r>
              <a:rPr lang="zh-TW" altLang="en-US" dirty="0"/>
              <a:t>，而較少數值運算。</a:t>
            </a:r>
          </a:p>
          <a:p>
            <a:r>
              <a:rPr lang="zh-TW" altLang="en-US" dirty="0" smtClean="0"/>
              <a:t>符號</a:t>
            </a:r>
            <a:r>
              <a:rPr lang="zh-TW" altLang="en-US" dirty="0"/>
              <a:t>處理的程式</a:t>
            </a:r>
            <a:r>
              <a:rPr lang="zh-TW" altLang="en-US" dirty="0" smtClean="0"/>
              <a:t>語言：</a:t>
            </a:r>
            <a:r>
              <a:rPr lang="en-US" altLang="zh-TW" dirty="0" smtClean="0"/>
              <a:t>LISP</a:t>
            </a:r>
            <a:r>
              <a:rPr lang="zh-TW" altLang="en-US" dirty="0"/>
              <a:t>和</a:t>
            </a:r>
            <a:r>
              <a:rPr lang="en-US" altLang="zh-TW" dirty="0"/>
              <a:t>PROLOG</a:t>
            </a:r>
            <a:r>
              <a:rPr lang="zh-TW" altLang="en-US" dirty="0"/>
              <a:t>語言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2895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相關的程式語言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人工智慧</a:t>
            </a:r>
            <a:r>
              <a:rPr lang="zh-TW" altLang="en-US" dirty="0"/>
              <a:t>的技術大幅成長，其他語言如</a:t>
            </a:r>
            <a:r>
              <a:rPr lang="en-US" altLang="zh-TW" dirty="0"/>
              <a:t>Python</a:t>
            </a:r>
            <a:r>
              <a:rPr lang="zh-TW" altLang="en-US" dirty="0"/>
              <a:t>、</a:t>
            </a:r>
            <a:r>
              <a:rPr lang="en-US" altLang="zh-TW" dirty="0"/>
              <a:t>R </a:t>
            </a:r>
            <a:r>
              <a:rPr lang="zh-TW" altLang="en-US" dirty="0"/>
              <a:t>等，也常常被使用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en-US" altLang="zh-TW" dirty="0" smtClean="0"/>
              <a:t>Python</a:t>
            </a:r>
            <a:r>
              <a:rPr lang="zh-TW" altLang="en-US" dirty="0"/>
              <a:t>語言配合</a:t>
            </a:r>
            <a:r>
              <a:rPr lang="en-US" altLang="zh-TW" dirty="0"/>
              <a:t>Google</a:t>
            </a:r>
            <a:r>
              <a:rPr lang="zh-TW" altLang="en-US" dirty="0"/>
              <a:t>公司開發的</a:t>
            </a:r>
            <a:r>
              <a:rPr lang="en-US" altLang="zh-TW" dirty="0" err="1"/>
              <a:t>TensorFlow</a:t>
            </a:r>
            <a:r>
              <a:rPr lang="zh-TW" altLang="en-US" dirty="0"/>
              <a:t>軟體庫，應該是近年來撰寫機器學習程式者的最愛。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57357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智慧型系統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實作人工智慧的理論，所建立出具有推理判斷能力的電腦系統，通稱為智慧型系統（</a:t>
            </a:r>
            <a:r>
              <a:rPr lang="en-US" altLang="zh-TW" dirty="0" smtClean="0"/>
              <a:t>intelligent system</a:t>
            </a:r>
            <a:r>
              <a:rPr lang="zh-TW" altLang="en-US" dirty="0" smtClean="0"/>
              <a:t>）。</a:t>
            </a:r>
          </a:p>
          <a:p>
            <a:r>
              <a:rPr lang="zh-TW" altLang="en-US" dirty="0" smtClean="0"/>
              <a:t>具有特殊能力的系統，稱為專家系統（</a:t>
            </a:r>
            <a:r>
              <a:rPr lang="en-US" altLang="zh-TW" dirty="0" smtClean="0"/>
              <a:t>expert system</a:t>
            </a:r>
            <a:r>
              <a:rPr lang="zh-TW" altLang="en-US" dirty="0" smtClean="0"/>
              <a:t>）。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025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智慧型系統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所謂的專家，就是具有處理特定問題能力的人，譬如說醫生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醫生</a:t>
            </a:r>
            <a:r>
              <a:rPr lang="zh-TW" altLang="en-US" dirty="0"/>
              <a:t>會先觀察病人的症狀或做檢驗，根據得到的訊息，以及其所學的專業知識或臨床經驗，去判斷該病人所得到的疾病為何，然後進一步決定如何治療。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9121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專家系統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具有特殊能力的系統，稱為專家系統。</a:t>
            </a:r>
            <a:endParaRPr lang="en-US" altLang="zh-TW" dirty="0" smtClean="0"/>
          </a:p>
          <a:p>
            <a:r>
              <a:rPr lang="zh-TW" altLang="en-US" dirty="0" smtClean="0"/>
              <a:t>傳統建立專家系統的做法，是將醫生判斷的過程寫成一條條的法則（</a:t>
            </a:r>
            <a:r>
              <a:rPr lang="en-US" altLang="zh-TW" dirty="0" smtClean="0"/>
              <a:t>rule</a:t>
            </a:r>
            <a:r>
              <a:rPr lang="zh-TW" altLang="en-US" dirty="0" smtClean="0"/>
              <a:t>），再輔以龐大的知識庫以進行推理。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93422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專家系統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目前深度學習的技術則是被廣泛利用於此領域，譬如協助判讀</a:t>
            </a:r>
            <a:r>
              <a:rPr lang="en-US" altLang="zh-TW" dirty="0"/>
              <a:t>X</a:t>
            </a:r>
            <a:r>
              <a:rPr lang="zh-TW" altLang="en-US" dirty="0"/>
              <a:t>光片、根據症狀計算出病人得到某種疾病的機率等等，這些都成為輔助醫生做出診斷的利器。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734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電腦</a:t>
            </a:r>
            <a:r>
              <a:rPr lang="zh-TW" altLang="en-US" dirty="0" smtClean="0"/>
              <a:t>下棋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人類下棋通常是根據目前棋盤上棋子的排列，再預測未來對方會如何下棋子，來決定現在要下哪一步棋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越</a:t>
            </a:r>
            <a:r>
              <a:rPr lang="zh-TW" altLang="en-US" dirty="0"/>
              <a:t>是高段的棋手，想的步數越多，思考也越縝密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343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電腦下棋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電腦下棋</a:t>
            </a:r>
            <a:r>
              <a:rPr lang="zh-TW" altLang="en-US" dirty="0" smtClean="0"/>
              <a:t>程式：模擬</a:t>
            </a:r>
            <a:r>
              <a:rPr lang="zh-TW" altLang="en-US" dirty="0"/>
              <a:t>人類決斷的過程寫出來的智慧型系統。</a:t>
            </a:r>
            <a:endParaRPr lang="en-US" altLang="zh-TW" dirty="0"/>
          </a:p>
          <a:p>
            <a:r>
              <a:rPr lang="en-US" altLang="zh-TW" dirty="0" smtClean="0"/>
              <a:t>IBM</a:t>
            </a:r>
            <a:r>
              <a:rPr lang="zh-TW" altLang="en-US" dirty="0"/>
              <a:t>一部很有名的電腦「深藍」曾打敗過當時世界排名第一的西洋棋大師。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561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電腦下棋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AlphaGo</a:t>
            </a:r>
            <a:r>
              <a:rPr lang="zh-TW" altLang="en-US" dirty="0"/>
              <a:t>於</a:t>
            </a:r>
            <a:r>
              <a:rPr lang="en-US" altLang="zh-TW" dirty="0"/>
              <a:t>2016</a:t>
            </a:r>
            <a:r>
              <a:rPr lang="zh-TW" altLang="en-US" dirty="0"/>
              <a:t>年打敗棋力九段的韓國棋王李世乭之後，再度強化其深度學習的模式，然後於</a:t>
            </a:r>
            <a:r>
              <a:rPr lang="en-US" altLang="zh-TW" dirty="0"/>
              <a:t>2017</a:t>
            </a:r>
            <a:r>
              <a:rPr lang="zh-TW" altLang="en-US" dirty="0"/>
              <a:t>年打敗排名世界第一的柯潔，自此宣告再無人類敵手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66781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電腦下棋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電腦除了在數值運算方面比人類計算的更準確更快速，也慢慢地在其他領域超越人類的表現。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60740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回歸純粹本性的才藝</a:t>
            </a:r>
            <a:r>
              <a:rPr lang="zh-TW" altLang="en-US" dirty="0" smtClean="0">
                <a:solidFill>
                  <a:srgbClr val="C00000"/>
                </a:solidFill>
              </a:rPr>
              <a:t>競技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r>
              <a:rPr lang="zh-TW" altLang="en-US" dirty="0"/>
              <a:t>人腦與電腦的棋力落差，使得棋手利用電腦作弊的情事時有所聞，即使最頂級的賽事也難倖免於外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284491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當棋手知道下一步移動的棋子和座標時，下棋只是舉手之勞，所以無論是實體競賽，或是線上比賽，都很難阻斷如此簡單暗號的傳遞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倘若</a:t>
            </a:r>
            <a:r>
              <a:rPr lang="zh-TW" altLang="en-US" dirty="0"/>
              <a:t>棋手的棋風丕變，或者棋力激增，就不免令人滋生疑竇。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09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資訊</a:t>
            </a:r>
            <a:r>
              <a:rPr lang="zh-TW" altLang="en-US" dirty="0" smtClean="0"/>
              <a:t>擷取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資訊擷取</a:t>
            </a:r>
            <a:r>
              <a:rPr lang="en-US" altLang="zh-TW" dirty="0"/>
              <a:t>(Information Retrieval</a:t>
            </a:r>
            <a:r>
              <a:rPr lang="zh-TW" altLang="en-US" dirty="0"/>
              <a:t>；</a:t>
            </a:r>
            <a:r>
              <a:rPr lang="en-US" altLang="zh-TW" dirty="0"/>
              <a:t>IR</a:t>
            </a:r>
            <a:r>
              <a:rPr lang="en-US" altLang="zh-TW" dirty="0" smtClean="0"/>
              <a:t>)</a:t>
            </a:r>
            <a:r>
              <a:rPr lang="zh-TW" altLang="en-US" dirty="0" smtClean="0"/>
              <a:t>的主要處理對象</a:t>
            </a:r>
            <a:r>
              <a:rPr lang="zh-TW" altLang="en-US" dirty="0"/>
              <a:t>是</a:t>
            </a:r>
            <a:r>
              <a:rPr lang="zh-TW" altLang="en-US" u="sng" dirty="0" smtClean="0"/>
              <a:t>大量文件</a:t>
            </a:r>
            <a:r>
              <a:rPr lang="zh-TW" altLang="en-US" dirty="0"/>
              <a:t>，而非一般資料庫所處理的文數值資料</a:t>
            </a:r>
            <a:r>
              <a:rPr lang="zh-TW" altLang="en-US" dirty="0" smtClean="0"/>
              <a:t>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99029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資訊擷取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由於人類書寫文件不具有嚴謹的綱要定義和結構，因此資訊擷取領域所提供的查詢方式，基本上是以</a:t>
            </a:r>
            <a:r>
              <a:rPr lang="zh-TW" altLang="en-US" dirty="0">
                <a:solidFill>
                  <a:srgbClr val="C00000"/>
                </a:solidFill>
              </a:rPr>
              <a:t>關鍵字</a:t>
            </a:r>
            <a:r>
              <a:rPr lang="zh-TW" altLang="en-US" dirty="0"/>
              <a:t>為主，然後根據公式計算文件與該關鍵字的相關性，再將分數較高的文件輸出。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407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資訊擷取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全球資訊網上支援的</a:t>
            </a:r>
            <a:r>
              <a:rPr lang="en-US" altLang="zh-TW" dirty="0" smtClean="0"/>
              <a:t>HTML</a:t>
            </a:r>
            <a:r>
              <a:rPr lang="zh-TW" altLang="en-US" dirty="0" smtClean="0"/>
              <a:t>文件，並沒有如同傳統資料庫般的固定結構，所以搜尋引擎一開始主要也是基於傳統的</a:t>
            </a:r>
            <a:r>
              <a:rPr lang="en-US" altLang="zh-TW" dirty="0" smtClean="0"/>
              <a:t>IR</a:t>
            </a:r>
            <a:r>
              <a:rPr lang="zh-TW" altLang="en-US" dirty="0" smtClean="0"/>
              <a:t>技術，根據使用者輸入的關鍵字，找尋相關的網頁。</a:t>
            </a:r>
            <a:endParaRPr lang="en-US" altLang="zh-TW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7125" y="546525"/>
            <a:ext cx="2897554" cy="1113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922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資訊擷取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針對</a:t>
            </a:r>
            <a:r>
              <a:rPr lang="en-US" altLang="zh-TW" dirty="0"/>
              <a:t>HTML</a:t>
            </a:r>
            <a:r>
              <a:rPr lang="zh-TW" altLang="en-US" dirty="0"/>
              <a:t>裡的特定表示法，如超連結（</a:t>
            </a:r>
            <a:r>
              <a:rPr lang="en-US" altLang="zh-TW" dirty="0"/>
              <a:t>Hyperlink</a:t>
            </a:r>
            <a:r>
              <a:rPr lang="zh-TW" altLang="en-US" dirty="0"/>
              <a:t>）等，進行進一步的分析，以提供與關鍵字最相關或最熱門的網頁。</a:t>
            </a:r>
            <a:endParaRPr lang="en-US" altLang="zh-TW" dirty="0"/>
          </a:p>
          <a:p>
            <a:r>
              <a:rPr lang="en-US" altLang="zh-TW" dirty="0"/>
              <a:t>Yahoo!</a:t>
            </a:r>
            <a:r>
              <a:rPr lang="zh-TW" altLang="en-US" dirty="0"/>
              <a:t>和</a:t>
            </a:r>
            <a:r>
              <a:rPr lang="en-US" altLang="zh-TW" dirty="0"/>
              <a:t>Google</a:t>
            </a:r>
            <a:r>
              <a:rPr lang="zh-TW" altLang="en-US" dirty="0"/>
              <a:t>一開始創業成功，都是因為在這方面提出了傲視群雄的技術。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48694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自然語言處理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自然語言（</a:t>
            </a:r>
            <a:r>
              <a:rPr lang="en-US" altLang="zh-TW" dirty="0" smtClean="0"/>
              <a:t>natural language</a:t>
            </a:r>
            <a:r>
              <a:rPr lang="zh-TW" altLang="en-US" dirty="0" smtClean="0"/>
              <a:t>），是人類之間溝通所使用的語言。</a:t>
            </a:r>
            <a:endParaRPr lang="en-US" altLang="zh-TW" dirty="0" smtClean="0"/>
          </a:p>
          <a:p>
            <a:r>
              <a:rPr lang="zh-TW" altLang="en-US" dirty="0" smtClean="0"/>
              <a:t>機器翻譯（</a:t>
            </a:r>
            <a:r>
              <a:rPr lang="en-US" altLang="zh-TW" dirty="0" smtClean="0"/>
              <a:t>machine translation</a:t>
            </a:r>
            <a:r>
              <a:rPr lang="zh-TW" altLang="en-US" dirty="0" smtClean="0"/>
              <a:t>），譬如把一篇英文論文自動翻譯成一篇中文論文，反之亦然。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313900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自然語言處理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ChatGPT</a:t>
            </a:r>
            <a:r>
              <a:rPr lang="zh-TW" altLang="en-US" dirty="0"/>
              <a:t>不僅能相當正確地理解一般人以自然語言表達的問題</a:t>
            </a:r>
            <a:r>
              <a:rPr lang="zh-TW" altLang="en-US" dirty="0" smtClean="0"/>
              <a:t>，其</a:t>
            </a:r>
            <a:r>
              <a:rPr lang="zh-TW" altLang="en-US" dirty="0"/>
              <a:t>相當自然的回覆也令人驚豔。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024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14-2</a:t>
            </a:r>
            <a:r>
              <a:rPr lang="zh-TW" altLang="en-US" dirty="0" smtClean="0"/>
              <a:t>機器學習和深度學習</a:t>
            </a:r>
            <a:endParaRPr lang="zh-TW" altLang="en-US" dirty="0"/>
          </a:p>
        </p:txBody>
      </p:sp>
      <p:graphicFrame>
        <p:nvGraphicFramePr>
          <p:cNvPr id="9" name="資料庫圖表 8"/>
          <p:cNvGraphicFramePr/>
          <p:nvPr>
            <p:extLst>
              <p:ext uri="{D42A27DB-BD31-4B8C-83A1-F6EECF244321}">
                <p14:modId xmlns:p14="http://schemas.microsoft.com/office/powerpoint/2010/main" val="3310313413"/>
              </p:ext>
            </p:extLst>
          </p:nvPr>
        </p:nvGraphicFramePr>
        <p:xfrm>
          <a:off x="1727072" y="1446625"/>
          <a:ext cx="5850650" cy="35819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290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14-2</a:t>
            </a:r>
            <a:r>
              <a:rPr lang="zh-TW" altLang="en-US" dirty="0" smtClean="0"/>
              <a:t>機器學習和深度學習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機器學習（</a:t>
            </a:r>
            <a:r>
              <a:rPr lang="en-US" altLang="zh-TW" dirty="0" smtClean="0"/>
              <a:t>Machine Learning</a:t>
            </a:r>
            <a:r>
              <a:rPr lang="zh-TW" altLang="en-US" dirty="0" smtClean="0"/>
              <a:t>）分為：</a:t>
            </a:r>
          </a:p>
          <a:p>
            <a:pPr marL="457200" lvl="1" indent="0" algn="just">
              <a:buNone/>
            </a:pPr>
            <a:r>
              <a:rPr lang="en-US" altLang="zh-TW" dirty="0" smtClean="0"/>
              <a:t>1.</a:t>
            </a:r>
            <a:r>
              <a:rPr lang="zh-TW" altLang="en-US" dirty="0" smtClean="0"/>
              <a:t>監督式學習（</a:t>
            </a:r>
            <a:r>
              <a:rPr lang="en-US" altLang="zh-TW" dirty="0" smtClean="0"/>
              <a:t>supervised learning</a:t>
            </a:r>
            <a:r>
              <a:rPr lang="zh-TW" altLang="en-US" dirty="0" smtClean="0"/>
              <a:t>）：必須針對每一筆輸入資料給予正確的答案或標籤（</a:t>
            </a:r>
            <a:r>
              <a:rPr lang="en-US" altLang="zh-TW" dirty="0" smtClean="0"/>
              <a:t>label</a:t>
            </a:r>
            <a:r>
              <a:rPr lang="zh-TW" altLang="en-US" dirty="0" smtClean="0"/>
              <a:t>），以便機器在學習的過程中能判斷誤差並進一步改善之。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信用卡等級「分類」，輸入的訓練資料除了申請者的收入等特徵，還必須同時輸入該申請者的類別標籤為極佳或普通等，所以屬於監督式學習。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496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機器學習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525384"/>
            <a:ext cx="8229600" cy="3296616"/>
          </a:xfrm>
        </p:spPr>
        <p:txBody>
          <a:bodyPr>
            <a:normAutofit/>
          </a:bodyPr>
          <a:lstStyle/>
          <a:p>
            <a:r>
              <a:rPr lang="zh-TW" altLang="en-US" dirty="0"/>
              <a:t>機器學習</a:t>
            </a:r>
            <a:r>
              <a:rPr lang="zh-TW" altLang="en-US" dirty="0" smtClean="0"/>
              <a:t>（</a:t>
            </a:r>
            <a:r>
              <a:rPr lang="en-US" altLang="zh-TW" dirty="0"/>
              <a:t>Machine Learning</a:t>
            </a:r>
            <a:r>
              <a:rPr lang="zh-TW" altLang="en-US" dirty="0"/>
              <a:t>）分為：</a:t>
            </a:r>
          </a:p>
          <a:p>
            <a:pPr marL="457200" lvl="1" indent="0">
              <a:buNone/>
            </a:pPr>
            <a:r>
              <a:rPr lang="en-US" altLang="zh-TW" dirty="0" smtClean="0"/>
              <a:t>2.</a:t>
            </a:r>
            <a:r>
              <a:rPr lang="zh-TW" altLang="en-US" dirty="0" smtClean="0"/>
              <a:t>非監督式學習（</a:t>
            </a:r>
            <a:r>
              <a:rPr lang="en-US" altLang="zh-TW" dirty="0" smtClean="0"/>
              <a:t>unsupervised learning</a:t>
            </a:r>
            <a:r>
              <a:rPr lang="zh-TW" altLang="en-US" dirty="0" smtClean="0"/>
              <a:t>）： 沒有事先給予正確答案，而是設計特定的演算法來判斷程式何時應該終止，並嘗試擷取有用的資訊。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以「分群」為例，並不需要事先將所輸入的資料指定為哪一群，而是根據所採用的演算法，譬如</a:t>
            </a:r>
            <a:r>
              <a:rPr lang="en-US" altLang="zh-TW" dirty="0" smtClean="0"/>
              <a:t>k-means</a:t>
            </a:r>
            <a:r>
              <a:rPr lang="zh-TW" altLang="en-US" dirty="0" smtClean="0"/>
              <a:t>演算法，將具有類似特徵的資料分成數群，所以屬於非監督式學習。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5487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機器學習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機器學習（</a:t>
            </a:r>
            <a:r>
              <a:rPr lang="en-US" altLang="zh-TW" dirty="0" smtClean="0"/>
              <a:t>Machine Learning</a:t>
            </a:r>
            <a:r>
              <a:rPr lang="zh-TW" altLang="en-US" dirty="0" smtClean="0"/>
              <a:t>）分為：</a:t>
            </a:r>
          </a:p>
          <a:p>
            <a:pPr marL="457200" lvl="1" indent="0">
              <a:buNone/>
            </a:pPr>
            <a:r>
              <a:rPr lang="en-US" altLang="zh-TW" dirty="0" smtClean="0"/>
              <a:t>3.</a:t>
            </a:r>
            <a:r>
              <a:rPr lang="zh-TW" altLang="en-US" dirty="0" smtClean="0"/>
              <a:t>增強式學習（</a:t>
            </a:r>
            <a:r>
              <a:rPr lang="en-US" altLang="zh-TW" dirty="0" smtClean="0"/>
              <a:t>reinforcement learning</a:t>
            </a:r>
            <a:r>
              <a:rPr lang="zh-TW" altLang="en-US" dirty="0" smtClean="0"/>
              <a:t>）： 當機器做出良好的判斷時，訓練模型的人會給予獎勵或正向回饋，下次機器面臨同樣的狀況時，就傾向於做出同樣的判斷或反應。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例如，當海豚做出正確完美的跳躍動作後，訓練師會給予食物獎勵。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236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機器學習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在機器學習中，最為人知的架構，為仿照人類神經系統的類神經網路（</a:t>
            </a:r>
            <a:r>
              <a:rPr lang="en-US" altLang="zh-TW" dirty="0"/>
              <a:t>Artificial Neural Network</a:t>
            </a:r>
            <a:r>
              <a:rPr lang="zh-TW" altLang="en-US" dirty="0"/>
              <a:t>），如圖</a:t>
            </a:r>
            <a:r>
              <a:rPr lang="en-US" altLang="zh-TW" dirty="0"/>
              <a:t>14-3</a:t>
            </a:r>
            <a:r>
              <a:rPr lang="zh-TW" altLang="en-US" dirty="0"/>
              <a:t>中之左圖所示。</a:t>
            </a:r>
          </a:p>
          <a:p>
            <a:r>
              <a:rPr lang="zh-TW" altLang="en-US" dirty="0"/>
              <a:t>在該圖中，圓圈對應到人類神經系統中的神經元，而圓圈中的連線則對應到傳遞訊號的突觸。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2080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77" b="15944"/>
          <a:stretch/>
        </p:blipFill>
        <p:spPr bwMode="auto">
          <a:xfrm>
            <a:off x="926595" y="1525383"/>
            <a:ext cx="7048098" cy="2354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328985" y="4047623"/>
            <a:ext cx="1890210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傳統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類神經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022050" y="4056915"/>
            <a:ext cx="2262158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深度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學習類神經網路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6553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神經網路架構中還有一個很特殊的成分，稱作激發函數（</a:t>
            </a:r>
            <a:r>
              <a:rPr lang="en-US" altLang="zh-TW" dirty="0" smtClean="0"/>
              <a:t>activation function</a:t>
            </a:r>
            <a:r>
              <a:rPr lang="zh-TW" altLang="en-US" dirty="0" smtClean="0"/>
              <a:t>）。</a:t>
            </a:r>
          </a:p>
          <a:p>
            <a:r>
              <a:rPr lang="zh-TW" altLang="en-US" dirty="0" smtClean="0"/>
              <a:t>作用是在決定是否讓某個神經元將訊號傳遞下去時，不只根據前一層的神經元和權重所計算出來的總數值，還必須將該值和特定的門檻值比較，才能決定輸出為何。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8250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深度</a:t>
            </a:r>
            <a:r>
              <a:rPr lang="zh-TW" altLang="en-US" dirty="0"/>
              <a:t>學習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深度學習（</a:t>
            </a:r>
            <a:r>
              <a:rPr lang="en-US" altLang="zh-TW" dirty="0"/>
              <a:t>deep learning</a:t>
            </a:r>
            <a:r>
              <a:rPr lang="zh-TW" altLang="en-US" dirty="0"/>
              <a:t>）指的是類神經網路中間有相當多的隱藏層，如圖</a:t>
            </a:r>
            <a:r>
              <a:rPr lang="en-US" altLang="zh-TW" dirty="0"/>
              <a:t>14-3</a:t>
            </a:r>
            <a:r>
              <a:rPr lang="zh-TW" altLang="en-US" dirty="0"/>
              <a:t>中之右圖所示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加入</a:t>
            </a:r>
            <a:r>
              <a:rPr lang="zh-TW" altLang="en-US" dirty="0"/>
              <a:t>更多隱藏層需要更複雜的運算，但此難題適時地被具有快速平行計算能力的</a:t>
            </a:r>
            <a:r>
              <a:rPr lang="en-US" altLang="zh-TW" dirty="0"/>
              <a:t>GPU</a:t>
            </a:r>
            <a:r>
              <a:rPr lang="zh-TW" altLang="en-US" dirty="0"/>
              <a:t>（</a:t>
            </a:r>
            <a:r>
              <a:rPr lang="en-US" altLang="zh-TW" dirty="0"/>
              <a:t>Graphics Processing Unit</a:t>
            </a:r>
            <a:r>
              <a:rPr lang="zh-TW" altLang="en-US" dirty="0"/>
              <a:t>；圖形處理器）所解決。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356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CNN-</a:t>
            </a:r>
            <a:r>
              <a:rPr lang="zh-TW" altLang="en-US" dirty="0" smtClean="0"/>
              <a:t>卷積神經網路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CNN</a:t>
            </a:r>
            <a:r>
              <a:rPr lang="zh-TW" altLang="en-US" dirty="0" smtClean="0"/>
              <a:t>中的兩個重要模組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卷積層（</a:t>
            </a:r>
            <a:r>
              <a:rPr lang="en-US" altLang="zh-TW" dirty="0" smtClean="0"/>
              <a:t>convolutional layer</a:t>
            </a:r>
            <a:r>
              <a:rPr lang="zh-TW" altLang="en-US" dirty="0" smtClean="0"/>
              <a:t>）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池化層（</a:t>
            </a:r>
            <a:r>
              <a:rPr lang="en-US" altLang="zh-TW" dirty="0" smtClean="0"/>
              <a:t>pooling layer</a:t>
            </a:r>
            <a:r>
              <a:rPr lang="zh-TW" altLang="en-US" dirty="0" smtClean="0"/>
              <a:t>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5498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卷積運算範例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725" y="1588106"/>
            <a:ext cx="5412563" cy="3026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874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卷積運算範例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6735" y="1366901"/>
            <a:ext cx="4588573" cy="3411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903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mtClean="0"/>
              <a:t>池化層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常見的做法為平均池化（</a:t>
            </a:r>
            <a:r>
              <a:rPr lang="en-US" altLang="zh-TW" dirty="0" smtClean="0"/>
              <a:t>average pooling</a:t>
            </a:r>
            <a:r>
              <a:rPr lang="zh-TW" altLang="en-US" dirty="0" smtClean="0"/>
              <a:t>）和最大池化（</a:t>
            </a:r>
            <a:r>
              <a:rPr lang="en-US" altLang="zh-TW" dirty="0" smtClean="0"/>
              <a:t>maximum</a:t>
            </a:r>
            <a:r>
              <a:rPr lang="zh-TW" altLang="en-US" dirty="0" smtClean="0"/>
              <a:t> </a:t>
            </a:r>
            <a:r>
              <a:rPr lang="en-US" altLang="zh-TW" dirty="0" smtClean="0"/>
              <a:t>pooling</a:t>
            </a:r>
            <a:r>
              <a:rPr lang="zh-TW" altLang="en-US" dirty="0" smtClean="0"/>
              <a:t>）。</a:t>
            </a:r>
            <a:endParaRPr lang="en-US" altLang="zh-TW" dirty="0" smtClean="0"/>
          </a:p>
          <a:p>
            <a:r>
              <a:rPr lang="zh-TW" altLang="en-US" dirty="0" smtClean="0"/>
              <a:t>池化運算範例：</a:t>
            </a:r>
            <a:endParaRPr lang="en-US" altLang="zh-TW" dirty="0" smtClean="0"/>
          </a:p>
          <a:p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870" y="2526745"/>
            <a:ext cx="5389873" cy="1857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934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完整的</a:t>
            </a:r>
            <a:r>
              <a:rPr lang="en-US" altLang="zh-TW" dirty="0" smtClean="0"/>
              <a:t>CNN</a:t>
            </a:r>
            <a:r>
              <a:rPr lang="zh-TW" altLang="en-US" dirty="0" smtClean="0"/>
              <a:t>架構範例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將輸入的矩陣視需要進行多次的卷積和池化運算，若要保留全部數值，也可以只卷積不池化。</a:t>
            </a:r>
            <a:endParaRPr lang="en-US" altLang="zh-TW" dirty="0" smtClean="0"/>
          </a:p>
          <a:p>
            <a:r>
              <a:rPr lang="zh-TW" altLang="en-US" dirty="0" smtClean="0"/>
              <a:t>最後通常會接上一層或者多層的全連接層（</a:t>
            </a:r>
            <a:r>
              <a:rPr lang="en-US" altLang="zh-TW" dirty="0" smtClean="0"/>
              <a:t>fully-connected layer</a:t>
            </a:r>
            <a:r>
              <a:rPr lang="zh-TW" altLang="en-US" dirty="0" smtClean="0"/>
              <a:t>），利用彼此互相連接的神經元，進行最後的權重學習，然後輸出成所需要的格式，譬如分類結果或預測數值等。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599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完整的</a:t>
            </a:r>
            <a:r>
              <a:rPr lang="en-US" altLang="zh-TW" dirty="0" smtClean="0"/>
              <a:t>CNN</a:t>
            </a:r>
            <a:r>
              <a:rPr lang="zh-TW" altLang="en-US" dirty="0" smtClean="0"/>
              <a:t>架構</a:t>
            </a:r>
            <a:r>
              <a:rPr lang="zh-TW" altLang="en-US" dirty="0"/>
              <a:t>範例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15" y="2031690"/>
            <a:ext cx="8577445" cy="1136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773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RNN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CNN</a:t>
            </a:r>
            <a:r>
              <a:rPr lang="zh-TW" altLang="en-US" dirty="0" smtClean="0"/>
              <a:t>針對單一圖片的辨識獲得極佳的成果，但是，有時候人類會根據過去的經驗和記憶進行判斷，也就是決策過程具有連續性。</a:t>
            </a:r>
            <a:endParaRPr lang="en-US" altLang="zh-TW" dirty="0" smtClean="0"/>
          </a:p>
        </p:txBody>
      </p:sp>
    </p:spTree>
    <p:extLst>
      <p:ext uri="{BB962C8B-B14F-4D97-AF65-F5344CB8AC3E}">
        <p14:creationId xmlns:p14="http://schemas.microsoft.com/office/powerpoint/2010/main" val="41025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RNN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對應此人類行為的設計則為遞歸神經網路（</a:t>
            </a:r>
            <a:r>
              <a:rPr lang="en-US" altLang="zh-TW" dirty="0"/>
              <a:t>Recurrent</a:t>
            </a:r>
            <a:r>
              <a:rPr lang="zh-TW" altLang="en-US" dirty="0"/>
              <a:t> </a:t>
            </a:r>
            <a:r>
              <a:rPr lang="en-US" altLang="zh-TW" dirty="0"/>
              <a:t>Neural Network</a:t>
            </a:r>
            <a:r>
              <a:rPr lang="zh-TW" altLang="en-US" dirty="0"/>
              <a:t>；</a:t>
            </a:r>
            <a:r>
              <a:rPr lang="en-US" altLang="zh-TW" dirty="0"/>
              <a:t>RNN</a:t>
            </a:r>
            <a:r>
              <a:rPr lang="zh-TW" altLang="en-US" dirty="0"/>
              <a:t>），也被稱作是一種具有記憶功能的網路。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87510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RNN </a:t>
            </a:r>
            <a:r>
              <a:rPr lang="zh-TW" altLang="en-US" dirty="0" smtClean="0"/>
              <a:t>架構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80" y="1716655"/>
            <a:ext cx="7962785" cy="2523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975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RNN</a:t>
            </a:r>
            <a:r>
              <a:rPr lang="zh-TW" altLang="en-US" dirty="0"/>
              <a:t>的架構特色就是每一次執行時都會考慮前面的狀況，所以常被用於處理時間序列，或是自然語言處理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利用更多的控制閥（</a:t>
            </a:r>
            <a:r>
              <a:rPr lang="en-US" altLang="zh-TW" dirty="0"/>
              <a:t>gate</a:t>
            </a:r>
            <a:r>
              <a:rPr lang="zh-TW" altLang="en-US" dirty="0"/>
              <a:t>），來決定記憶的儲存和使用，可改善</a:t>
            </a:r>
            <a:r>
              <a:rPr lang="en-US" altLang="zh-TW" dirty="0"/>
              <a:t>RNN</a:t>
            </a:r>
            <a:r>
              <a:rPr lang="zh-TW" altLang="en-US" dirty="0"/>
              <a:t>的記憶儲存問題或加快執行速度，是目前較多人使用的模式。</a:t>
            </a:r>
          </a:p>
        </p:txBody>
      </p:sp>
    </p:spTree>
    <p:extLst>
      <p:ext uri="{BB962C8B-B14F-4D97-AF65-F5344CB8AC3E}">
        <p14:creationId xmlns:p14="http://schemas.microsoft.com/office/powerpoint/2010/main" val="24333031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生成式</a:t>
            </a:r>
            <a:r>
              <a:rPr lang="en-US" altLang="zh-TW" dirty="0" smtClean="0"/>
              <a:t>AI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TW" altLang="en-US" dirty="0" smtClean="0"/>
              <a:t>第一個頗受注意的架構為生成對抗網路（</a:t>
            </a:r>
            <a:r>
              <a:rPr lang="en-US" altLang="zh-TW" dirty="0" smtClean="0"/>
              <a:t>Generative Adversarial Network</a:t>
            </a:r>
            <a:r>
              <a:rPr lang="zh-TW" altLang="en-US" dirty="0" smtClean="0"/>
              <a:t>；</a:t>
            </a:r>
            <a:r>
              <a:rPr lang="en-US" altLang="zh-TW" dirty="0" smtClean="0"/>
              <a:t>GAN</a:t>
            </a:r>
            <a:r>
              <a:rPr lang="zh-TW" altLang="en-US" dirty="0" smtClean="0"/>
              <a:t>），其最吸睛的應用就是可用來產生精美的圖片，如漫畫中的美少女。</a:t>
            </a:r>
            <a:endParaRPr lang="en-US" altLang="zh-TW" dirty="0" smtClean="0"/>
          </a:p>
          <a:p>
            <a:r>
              <a:rPr lang="zh-TW" altLang="en-US" dirty="0" smtClean="0"/>
              <a:t>生成對抗網路主要包含兩個部分：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生成網路（</a:t>
            </a:r>
            <a:r>
              <a:rPr lang="en-US" altLang="zh-TW" dirty="0" smtClean="0"/>
              <a:t>generative network</a:t>
            </a:r>
            <a:r>
              <a:rPr lang="zh-TW" altLang="en-US" dirty="0" smtClean="0"/>
              <a:t>）或稱生成器（</a:t>
            </a:r>
            <a:r>
              <a:rPr lang="en-US" altLang="zh-TW" dirty="0" smtClean="0"/>
              <a:t>generator</a:t>
            </a:r>
            <a:r>
              <a:rPr lang="zh-TW" altLang="en-US" dirty="0" smtClean="0"/>
              <a:t>）。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判別網路（</a:t>
            </a:r>
            <a:r>
              <a:rPr lang="en-US" altLang="zh-TW" dirty="0" smtClean="0"/>
              <a:t>discriminating network</a:t>
            </a:r>
            <a:r>
              <a:rPr lang="zh-TW" altLang="en-US" dirty="0" smtClean="0"/>
              <a:t>）或稱判別器（</a:t>
            </a:r>
            <a:r>
              <a:rPr lang="en-US" altLang="zh-TW" dirty="0" smtClean="0"/>
              <a:t>discriminator</a:t>
            </a:r>
            <a:r>
              <a:rPr lang="zh-TW" altLang="en-US" dirty="0" smtClean="0"/>
              <a:t>）。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832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06565"/>
            <a:ext cx="8229600" cy="722012"/>
          </a:xfrm>
        </p:spPr>
        <p:txBody>
          <a:bodyPr>
            <a:normAutofit fontScale="90000"/>
          </a:bodyPr>
          <a:lstStyle/>
          <a:p>
            <a:r>
              <a:rPr lang="zh-TW" altLang="en-US" dirty="0" smtClean="0"/>
              <a:t>利用生成對抗</a:t>
            </a:r>
            <a:r>
              <a:rPr lang="zh-TW" altLang="en-US" dirty="0" smtClean="0"/>
              <a:t>網路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產生</a:t>
            </a:r>
            <a:r>
              <a:rPr lang="zh-TW" altLang="en-US" dirty="0" smtClean="0"/>
              <a:t>圖片的示意圖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2473" y="1896675"/>
            <a:ext cx="6480720" cy="2434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3143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十年後的生成式</a:t>
            </a:r>
            <a:r>
              <a:rPr lang="en-US" altLang="zh-TW" dirty="0">
                <a:solidFill>
                  <a:srgbClr val="C00000"/>
                </a:solidFill>
              </a:rPr>
              <a:t>AI</a:t>
            </a:r>
          </a:p>
          <a:p>
            <a:r>
              <a:rPr lang="zh-TW" altLang="zh-TW" dirty="0"/>
              <a:t>本文探討生成式</a:t>
            </a:r>
            <a:r>
              <a:rPr lang="en-US" altLang="zh-TW" dirty="0"/>
              <a:t>AI</a:t>
            </a:r>
            <a:r>
              <a:rPr lang="zh-TW" altLang="zh-TW" dirty="0"/>
              <a:t>未來十年對教育、職場、藝術、醫療、生活等領域的潛在影響。學生預測</a:t>
            </a:r>
            <a:r>
              <a:rPr lang="en-US" altLang="zh-TW" dirty="0"/>
              <a:t>AI</a:t>
            </a:r>
            <a:r>
              <a:rPr lang="zh-TW" altLang="zh-TW" dirty="0"/>
              <a:t>將帶來便利與創新，也可能造成職業淘汰、創意衰退及貧富差距擴大。</a:t>
            </a:r>
            <a:r>
              <a:rPr lang="en-US" altLang="zh-TW" dirty="0"/>
              <a:t>AI</a:t>
            </a:r>
            <a:r>
              <a:rPr lang="zh-TW" altLang="zh-TW" dirty="0"/>
              <a:t>降低勞力成本、提升生活品質，但人生意義仍需人類自主追尋。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8577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14-3</a:t>
            </a:r>
            <a:r>
              <a:rPr lang="zh-TW" altLang="en-US" dirty="0" smtClean="0"/>
              <a:t> 電腦</a:t>
            </a:r>
            <a:r>
              <a:rPr lang="zh-TW" altLang="en-US" dirty="0"/>
              <a:t>視覺及圖像識別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TW" altLang="en-US" sz="2400" dirty="0" smtClean="0"/>
              <a:t>人類視覺是來自於眼睛注視，然後經由視覺神經傳導，至腦部針對所看到的影像進行判斷。</a:t>
            </a:r>
            <a:endParaRPr lang="en-US" altLang="zh-TW" sz="2400" dirty="0" smtClean="0"/>
          </a:p>
          <a:p>
            <a:pPr>
              <a:lnSpc>
                <a:spcPct val="120000"/>
              </a:lnSpc>
            </a:pPr>
            <a:r>
              <a:rPr lang="zh-TW" altLang="en-US" sz="2400" dirty="0" smtClean="0"/>
              <a:t>電腦視覺是由</a:t>
            </a:r>
            <a:r>
              <a:rPr lang="zh-TW" altLang="en-US" sz="2400" dirty="0" smtClean="0">
                <a:solidFill>
                  <a:srgbClr val="C00000"/>
                </a:solidFill>
              </a:rPr>
              <a:t>感應器</a:t>
            </a:r>
            <a:r>
              <a:rPr lang="en-US" altLang="zh-TW" sz="2400" dirty="0" smtClean="0"/>
              <a:t>(sensor)</a:t>
            </a:r>
            <a:r>
              <a:rPr lang="zh-TW" altLang="en-US" sz="2400" dirty="0" smtClean="0"/>
              <a:t>接收訊號，然後線路連結將訊號傳進電腦，透過程式進行分析判斷。</a:t>
            </a:r>
            <a:endParaRPr lang="zh-TW" altLang="en-US" sz="2400" dirty="0"/>
          </a:p>
        </p:txBody>
      </p:sp>
      <p:graphicFrame>
        <p:nvGraphicFramePr>
          <p:cNvPr id="2" name="資料庫圖表 1"/>
          <p:cNvGraphicFramePr/>
          <p:nvPr>
            <p:extLst>
              <p:ext uri="{D42A27DB-BD31-4B8C-83A1-F6EECF244321}">
                <p14:modId xmlns:p14="http://schemas.microsoft.com/office/powerpoint/2010/main" val="4188534189"/>
              </p:ext>
            </p:extLst>
          </p:nvPr>
        </p:nvGraphicFramePr>
        <p:xfrm>
          <a:off x="1106615" y="3336835"/>
          <a:ext cx="6255695" cy="139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628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14-3 </a:t>
            </a:r>
            <a:r>
              <a:rPr lang="zh-TW" altLang="en-US" smtClean="0"/>
              <a:t>電腦視覺及圖像識別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 smtClean="0"/>
              <a:t>電腦視覺是藉由理論及演算法的實作</a:t>
            </a:r>
            <a:r>
              <a:rPr lang="en-US" altLang="zh-TW" dirty="0" smtClean="0"/>
              <a:t>(</a:t>
            </a:r>
            <a:r>
              <a:rPr lang="zh-TW" altLang="en-US" dirty="0" smtClean="0"/>
              <a:t>計算機圖學、影像處理等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，希望能找到有用的資訊並將其擷取出來加以分析，使電腦所見如同人類所見一樣。</a:t>
            </a:r>
          </a:p>
          <a:p>
            <a:r>
              <a:rPr lang="zh-TW" altLang="en-US" dirty="0" smtClean="0"/>
              <a:t>電腦視覺除了能夠「視」，知道有資料之外，還要能夠「覺」，察覺出資料所呈現的是什麼樣的意象。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4092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/>
              <a:t>如果有一</a:t>
            </a:r>
            <a:r>
              <a:rPr lang="zh-TW" altLang="en-US" dirty="0"/>
              <a:t>天，電腦</a:t>
            </a:r>
            <a:r>
              <a:rPr lang="zh-TW" altLang="en-US" dirty="0" smtClean="0"/>
              <a:t>能夠判</a:t>
            </a:r>
            <a:r>
              <a:rPr lang="zh-TW" altLang="en-US" dirty="0"/>
              <a:t>讀</a:t>
            </a:r>
            <a:r>
              <a:rPr lang="zh-TW" altLang="en-US" dirty="0" smtClean="0"/>
              <a:t>影像</a:t>
            </a:r>
            <a:r>
              <a:rPr lang="en-US" altLang="zh-TW" dirty="0" smtClean="0"/>
              <a:t>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 smtClean="0"/>
              <a:t>電腦可發</a:t>
            </a:r>
            <a:r>
              <a:rPr lang="zh-TW" altLang="en-US" dirty="0"/>
              <a:t>現監視器中有異樣，譬如是樓梯間有人埋伏許久，或者電梯裡有人在掙扎，電腦就啟動警鈴呼叫保全。</a:t>
            </a:r>
          </a:p>
          <a:p>
            <a:r>
              <a:rPr lang="zh-TW" altLang="en-US" dirty="0"/>
              <a:t>由機器人負責看顧孩子，透過機器人的眼睛</a:t>
            </a:r>
            <a:r>
              <a:rPr lang="en-US" altLang="zh-TW" dirty="0"/>
              <a:t>(</a:t>
            </a:r>
            <a:r>
              <a:rPr lang="zh-TW" altLang="en-US" dirty="0"/>
              <a:t>攝影機</a:t>
            </a:r>
            <a:r>
              <a:rPr lang="en-US" altLang="zh-TW" dirty="0"/>
              <a:t>)</a:t>
            </a:r>
            <a:r>
              <a:rPr lang="zh-TW" altLang="en-US" dirty="0"/>
              <a:t>去拍攝孩子，再由機器人的腦</a:t>
            </a:r>
            <a:r>
              <a:rPr lang="en-US" altLang="zh-TW" dirty="0"/>
              <a:t>(</a:t>
            </a:r>
            <a:r>
              <a:rPr lang="zh-TW" altLang="en-US" dirty="0"/>
              <a:t>電腦運算</a:t>
            </a:r>
            <a:r>
              <a:rPr lang="en-US" altLang="zh-TW" dirty="0"/>
              <a:t>)</a:t>
            </a:r>
            <a:r>
              <a:rPr lang="zh-TW" altLang="en-US" dirty="0"/>
              <a:t>去理解孩子的狀況，負責餵食小孩或傳送影像給上班中的父母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320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如果有一天，電腦能夠判讀影像</a:t>
            </a:r>
            <a:r>
              <a:rPr lang="en-US" altLang="zh-TW" dirty="0"/>
              <a:t>…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SONY</a:t>
            </a:r>
            <a:r>
              <a:rPr lang="zh-TW" altLang="en-US" dirty="0"/>
              <a:t>機器狗愛寶</a:t>
            </a:r>
            <a:r>
              <a:rPr lang="en-US" altLang="zh-TW" dirty="0"/>
              <a:t>(AIBO)</a:t>
            </a:r>
            <a:r>
              <a:rPr lang="zh-TW" altLang="en-US" dirty="0"/>
              <a:t>，能判斷出玩具球所在位置，然後上前踢一腳，再進一步追蹤球的方向，不停地玩踢球的遊戲。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888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02175" y="1154092"/>
            <a:ext cx="433965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none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拜電腦視覺之賜，機器狗也可以擁有視覺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069" y="1806665"/>
            <a:ext cx="3873862" cy="2592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4514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14-3 </a:t>
            </a:r>
            <a:r>
              <a:rPr lang="zh-TW" altLang="en-US" dirty="0"/>
              <a:t>電腦視覺及圖像識別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電腦視覺面臨的第一個挑戰就是來自於影像的記錄方式。</a:t>
            </a:r>
          </a:p>
          <a:p>
            <a:r>
              <a:rPr lang="zh-TW" altLang="en-US" dirty="0">
                <a:solidFill>
                  <a:srgbClr val="C00000"/>
                </a:solidFill>
              </a:rPr>
              <a:t>像素</a:t>
            </a:r>
            <a:r>
              <a:rPr lang="en-US" altLang="zh-TW" dirty="0"/>
              <a:t>(pixel)</a:t>
            </a:r>
            <a:r>
              <a:rPr lang="zh-TW" altLang="en-US" dirty="0"/>
              <a:t>所記錄的是有關該點位置、顏色，但無形狀、角度、與其他物體之間的距離等資訊，因此無法幫助我們直接進行影像的分析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9874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14-3 </a:t>
            </a:r>
            <a:r>
              <a:rPr lang="zh-TW" altLang="en-US" dirty="0" smtClean="0"/>
              <a:t>電腦視覺及圖像識別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電腦視覺中，要能夠完全辨識出物體的意思是說：</a:t>
            </a:r>
            <a:r>
              <a:rPr lang="zh-TW" altLang="en-US" dirty="0" smtClean="0">
                <a:solidFill>
                  <a:srgbClr val="C00000"/>
                </a:solidFill>
              </a:rPr>
              <a:t>從不同的角度拍攝同一物體，雖然拍攝到的畫面不同，但電腦視覺要能分析判斷出兩畫面為同一物體的不同角度。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080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0" y="580279"/>
            <a:ext cx="6977444" cy="72201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14-3 </a:t>
            </a:r>
            <a:r>
              <a:rPr lang="zh-TW" altLang="en-US" dirty="0"/>
              <a:t>電腦視覺及圖像識別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525384"/>
            <a:ext cx="6050015" cy="3069239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對於</a:t>
            </a:r>
            <a:r>
              <a:rPr lang="zh-TW" altLang="en-US" dirty="0"/>
              <a:t>電腦視覺來說</a:t>
            </a:r>
            <a:r>
              <a:rPr lang="zh-TW" altLang="en-US" dirty="0" smtClean="0"/>
              <a:t>，重點</a:t>
            </a:r>
            <a:r>
              <a:rPr lang="zh-TW" altLang="en-US" dirty="0"/>
              <a:t>是如何切出物體、辨識出</a:t>
            </a:r>
            <a:r>
              <a:rPr lang="zh-TW" altLang="en-US" dirty="0" smtClean="0"/>
              <a:t>物體，而非色彩。</a:t>
            </a:r>
            <a:endParaRPr lang="en-US" altLang="zh-TW" dirty="0" smtClean="0"/>
          </a:p>
          <a:p>
            <a:r>
              <a:rPr lang="zh-TW" altLang="en-US" dirty="0" smtClean="0"/>
              <a:t>電腦</a:t>
            </a:r>
            <a:r>
              <a:rPr lang="zh-TW" altLang="en-US" dirty="0"/>
              <a:t>視覺的第一</a:t>
            </a:r>
            <a:r>
              <a:rPr lang="zh-TW" altLang="en-US" dirty="0" smtClean="0"/>
              <a:t>步：</a:t>
            </a:r>
            <a:r>
              <a:rPr lang="zh-TW" altLang="en-US" dirty="0" smtClean="0">
                <a:solidFill>
                  <a:srgbClr val="C00000"/>
                </a:solidFill>
              </a:rPr>
              <a:t>灰階</a:t>
            </a:r>
            <a:r>
              <a:rPr lang="zh-TW" altLang="en-US" dirty="0">
                <a:solidFill>
                  <a:srgbClr val="C00000"/>
                </a:solidFill>
              </a:rPr>
              <a:t>處理</a:t>
            </a:r>
            <a:r>
              <a:rPr lang="en-US" altLang="zh-TW" dirty="0"/>
              <a:t>(gray level</a:t>
            </a:r>
            <a:r>
              <a:rPr lang="en-US" altLang="zh-TW" dirty="0" smtClean="0"/>
              <a:t>)</a:t>
            </a:r>
            <a:r>
              <a:rPr lang="zh-TW" altLang="en-US" dirty="0" smtClean="0"/>
              <a:t>：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亦即以</a:t>
            </a:r>
            <a:r>
              <a:rPr lang="en-US" altLang="zh-TW" dirty="0"/>
              <a:t>8</a:t>
            </a:r>
            <a:r>
              <a:rPr lang="zh-TW" altLang="en-US" dirty="0"/>
              <a:t>位元的</a:t>
            </a:r>
            <a:r>
              <a:rPr lang="zh-TW" altLang="en-US" dirty="0" smtClean="0"/>
              <a:t>大小</a:t>
            </a:r>
            <a:r>
              <a:rPr lang="en-US" altLang="zh-TW" dirty="0" smtClean="0"/>
              <a:t>(</a:t>
            </a:r>
            <a:r>
              <a:rPr lang="zh-TW" altLang="en-US" dirty="0" smtClean="0"/>
              <a:t>共有</a:t>
            </a:r>
            <a:r>
              <a:rPr lang="en-US" altLang="zh-TW" dirty="0" smtClean="0"/>
              <a:t>0~255</a:t>
            </a:r>
            <a:r>
              <a:rPr lang="zh-TW" altLang="en-US" dirty="0"/>
              <a:t>種不同階層的</a:t>
            </a:r>
            <a:r>
              <a:rPr lang="zh-TW" altLang="en-US" dirty="0" smtClean="0"/>
              <a:t>顏色</a:t>
            </a:r>
            <a:r>
              <a:rPr lang="en-US" altLang="zh-TW" dirty="0" smtClean="0"/>
              <a:t>)</a:t>
            </a:r>
            <a:r>
              <a:rPr lang="zh-TW" altLang="en-US" dirty="0" smtClean="0"/>
              <a:t>來</a:t>
            </a:r>
            <a:r>
              <a:rPr lang="zh-TW" altLang="en-US" dirty="0"/>
              <a:t>記錄顏色的</a:t>
            </a:r>
            <a:r>
              <a:rPr lang="zh-TW" altLang="en-US" dirty="0" smtClean="0"/>
              <a:t>深淺，來移除</a:t>
            </a:r>
            <a:r>
              <a:rPr lang="zh-TW" altLang="en-US" dirty="0"/>
              <a:t>色彩所可能帶來的誤導或偏差。</a:t>
            </a:r>
          </a:p>
          <a:p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6375641" y="4225291"/>
            <a:ext cx="261744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wrap="square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灰階處理前後的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Lena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照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81727" y="906565"/>
            <a:ext cx="1549515" cy="15495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09604" y="2566658"/>
            <a:ext cx="1549515" cy="15495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5649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電腦視覺的處理過程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電腦視覺的處理</a:t>
            </a:r>
            <a:r>
              <a:rPr lang="zh-TW" altLang="en-US" dirty="0" smtClean="0"/>
              <a:t>過程五大</a:t>
            </a:r>
            <a:r>
              <a:rPr lang="zh-TW" altLang="en-US" dirty="0"/>
              <a:t>步驟： </a:t>
            </a:r>
            <a:endParaRPr lang="en-US" altLang="zh-TW" dirty="0" smtClean="0"/>
          </a:p>
          <a:p>
            <a:pPr lvl="1"/>
            <a:r>
              <a:rPr lang="zh-TW" altLang="en-US" sz="2400" dirty="0" smtClean="0"/>
              <a:t>潤飾</a:t>
            </a:r>
            <a:r>
              <a:rPr lang="en-US" altLang="zh-TW" sz="2400" dirty="0" smtClean="0"/>
              <a:t>(conditioning)</a:t>
            </a:r>
          </a:p>
          <a:p>
            <a:pPr lvl="1"/>
            <a:r>
              <a:rPr lang="zh-TW" altLang="en-US" sz="2400" dirty="0" smtClean="0"/>
              <a:t>下</a:t>
            </a:r>
            <a:r>
              <a:rPr lang="zh-TW" altLang="en-US" sz="2400" dirty="0"/>
              <a:t>標籤</a:t>
            </a:r>
            <a:r>
              <a:rPr lang="en-US" altLang="zh-TW" sz="2400" dirty="0"/>
              <a:t>(</a:t>
            </a:r>
            <a:r>
              <a:rPr lang="en-US" altLang="zh-TW" sz="2400" dirty="0" smtClean="0"/>
              <a:t>labeling)</a:t>
            </a:r>
          </a:p>
          <a:p>
            <a:pPr lvl="1"/>
            <a:r>
              <a:rPr lang="zh-TW" altLang="en-US" sz="2400" dirty="0" smtClean="0"/>
              <a:t>群</a:t>
            </a:r>
            <a:r>
              <a:rPr lang="zh-TW" altLang="en-US" sz="2400" dirty="0"/>
              <a:t>組化</a:t>
            </a:r>
            <a:r>
              <a:rPr lang="en-US" altLang="zh-TW" sz="2400" dirty="0"/>
              <a:t>(grouping</a:t>
            </a:r>
            <a:r>
              <a:rPr lang="en-US" altLang="zh-TW" sz="2400" dirty="0" smtClean="0"/>
              <a:t>)</a:t>
            </a:r>
          </a:p>
          <a:p>
            <a:pPr lvl="1"/>
            <a:r>
              <a:rPr lang="zh-TW" altLang="en-US" sz="2400" dirty="0"/>
              <a:t>解</a:t>
            </a:r>
            <a:r>
              <a:rPr lang="zh-TW" altLang="en-US" sz="2400" dirty="0" smtClean="0"/>
              <a:t>析</a:t>
            </a:r>
            <a:r>
              <a:rPr lang="en-US" altLang="zh-TW" sz="2400" dirty="0"/>
              <a:t>(extracting</a:t>
            </a:r>
            <a:r>
              <a:rPr lang="en-US" altLang="zh-TW" sz="2400" dirty="0" smtClean="0"/>
              <a:t>)</a:t>
            </a:r>
          </a:p>
          <a:p>
            <a:pPr lvl="1"/>
            <a:r>
              <a:rPr lang="zh-TW" altLang="en-US" sz="2400" dirty="0" smtClean="0"/>
              <a:t>比對</a:t>
            </a:r>
            <a:r>
              <a:rPr lang="en-US" altLang="zh-TW" sz="2400" dirty="0"/>
              <a:t>(matching</a:t>
            </a:r>
            <a:r>
              <a:rPr lang="en-US" altLang="zh-TW" sz="2400" dirty="0" smtClean="0"/>
              <a:t>)</a:t>
            </a:r>
            <a:endParaRPr lang="zh-TW" altLang="en-US" sz="2400" dirty="0"/>
          </a:p>
        </p:txBody>
      </p:sp>
      <p:graphicFrame>
        <p:nvGraphicFramePr>
          <p:cNvPr id="6" name="內容版面配置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6648448"/>
              </p:ext>
            </p:extLst>
          </p:nvPr>
        </p:nvGraphicFramePr>
        <p:xfrm>
          <a:off x="4436985" y="1854022"/>
          <a:ext cx="7335815" cy="2877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242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1. </a:t>
            </a:r>
            <a:r>
              <a:rPr lang="zh-TW" altLang="en-US" dirty="0" smtClean="0"/>
              <a:t>潤飾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525384"/>
            <a:ext cx="5824990" cy="3069239"/>
          </a:xfrm>
        </p:spPr>
        <p:txBody>
          <a:bodyPr>
            <a:normAutofit/>
          </a:bodyPr>
          <a:lstStyle/>
          <a:p>
            <a:r>
              <a:rPr lang="zh-TW" altLang="en-US" dirty="0"/>
              <a:t>潤飾的情況在於猜測所觀測的物體可能伴隨著其他沒用的</a:t>
            </a:r>
            <a:r>
              <a:rPr lang="zh-TW" altLang="en-US" dirty="0" smtClean="0"/>
              <a:t>資訊。</a:t>
            </a:r>
            <a:endParaRPr lang="en-US" altLang="zh-TW" dirty="0" smtClean="0"/>
          </a:p>
          <a:p>
            <a:r>
              <a:rPr lang="zh-TW" altLang="en-US" dirty="0" smtClean="0"/>
              <a:t>潤飾最主要</a:t>
            </a:r>
            <a:r>
              <a:rPr lang="zh-TW" altLang="en-US" dirty="0"/>
              <a:t>目的是</a:t>
            </a:r>
            <a:r>
              <a:rPr lang="zh-TW" altLang="en-US" dirty="0">
                <a:solidFill>
                  <a:srgbClr val="C00000"/>
                </a:solidFill>
              </a:rPr>
              <a:t>去除沒有幫助的資訊</a:t>
            </a:r>
            <a:r>
              <a:rPr lang="zh-TW" altLang="en-US" dirty="0" smtClean="0"/>
              <a:t>，如：背景、金屬</a:t>
            </a:r>
            <a:r>
              <a:rPr lang="zh-TW" altLang="en-US" dirty="0"/>
              <a:t>物品上的</a:t>
            </a:r>
            <a:r>
              <a:rPr lang="zh-TW" altLang="en-US" dirty="0" smtClean="0"/>
              <a:t>光澤等會</a:t>
            </a:r>
            <a:r>
              <a:rPr lang="zh-TW" altLang="en-US" dirty="0"/>
              <a:t>干擾電腦視覺的雜訊</a:t>
            </a:r>
            <a:r>
              <a:rPr lang="zh-TW" altLang="en-US" dirty="0" smtClean="0"/>
              <a:t>。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6215242" y="3471850"/>
            <a:ext cx="265649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wrap="none">
            <a:spAutoFit/>
          </a:bodyPr>
          <a:lstStyle/>
          <a:p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潤飾過後的</a:t>
            </a:r>
            <a:r>
              <a:rPr lang="en-US" altLang="zh-TW" dirty="0" smtClean="0">
                <a:latin typeface="微軟正黑體" pitchFamily="34" charset="-120"/>
                <a:ea typeface="微軟正黑體" pitchFamily="34" charset="-120"/>
              </a:rPr>
              <a:t>Lena Lena</a:t>
            </a:r>
            <a:r>
              <a:rPr lang="zh-TW" altLang="en-US" dirty="0" smtClean="0">
                <a:latin typeface="微軟正黑體" pitchFamily="34" charset="-120"/>
                <a:ea typeface="微軟正黑體" pitchFamily="34" charset="-120"/>
              </a:rPr>
              <a:t>圖</a:t>
            </a:r>
            <a:endParaRPr lang="zh-TW" altLang="en-US" dirty="0">
              <a:latin typeface="微軟正黑體" pitchFamily="34" charset="-120"/>
              <a:ea typeface="微軟正黑體" pitchFamily="34" charset="-12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18634" y="1525384"/>
            <a:ext cx="1849712" cy="18497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6911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2. </a:t>
            </a:r>
            <a:r>
              <a:rPr lang="zh-TW" altLang="en-US" dirty="0" smtClean="0"/>
              <a:t>下標籤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針對</a:t>
            </a:r>
            <a:r>
              <a:rPr lang="zh-TW" altLang="en-US" dirty="0"/>
              <a:t>像素的灰階色澤進行</a:t>
            </a:r>
            <a:r>
              <a:rPr lang="zh-TW" altLang="en-US" dirty="0" smtClean="0"/>
              <a:t>標籤。</a:t>
            </a:r>
            <a:endParaRPr lang="en-US" altLang="zh-TW" dirty="0" smtClean="0"/>
          </a:p>
          <a:p>
            <a:r>
              <a:rPr lang="zh-TW" altLang="en-US" dirty="0" smtClean="0"/>
              <a:t>譬如：將灰階分成</a:t>
            </a:r>
            <a:r>
              <a:rPr lang="en-US" altLang="zh-TW" dirty="0"/>
              <a:t>16</a:t>
            </a:r>
            <a:r>
              <a:rPr lang="zh-TW" altLang="en-US" dirty="0"/>
              <a:t>個</a:t>
            </a:r>
            <a:r>
              <a:rPr lang="zh-TW" altLang="en-US" dirty="0" smtClean="0"/>
              <a:t>等級。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0~15</a:t>
            </a:r>
            <a:r>
              <a:rPr lang="zh-TW" altLang="en-US" dirty="0" smtClean="0"/>
              <a:t>為一個</a:t>
            </a:r>
            <a:r>
              <a:rPr lang="zh-TW" altLang="en-US" dirty="0"/>
              <a:t>等級、</a:t>
            </a:r>
            <a:r>
              <a:rPr lang="en-US" altLang="zh-TW" dirty="0" smtClean="0"/>
              <a:t>16~31</a:t>
            </a:r>
            <a:r>
              <a:rPr lang="zh-TW" altLang="en-US" dirty="0" smtClean="0"/>
              <a:t>為第二</a:t>
            </a:r>
            <a:r>
              <a:rPr lang="zh-TW" altLang="en-US" dirty="0"/>
              <a:t>個等級，以此類推至</a:t>
            </a:r>
            <a:r>
              <a:rPr lang="en-US" altLang="zh-TW" dirty="0"/>
              <a:t>255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下</a:t>
            </a:r>
            <a:r>
              <a:rPr lang="zh-TW" altLang="en-US" dirty="0"/>
              <a:t>標籤之後，雖然灰階圖上帽子的顏色略有差異，可是經由標籤之後，帽子上的點由於色差不大，因此很有可能都會被標為同一個等級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536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3. </a:t>
            </a:r>
            <a:r>
              <a:rPr lang="zh-TW" altLang="en-US" smtClean="0"/>
              <a:t>群組化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下標籤之後，就能把標籤值相同或相近的區塊圈選出來，整張圖被分解成由數個群組所組成。</a:t>
            </a:r>
            <a:endParaRPr lang="zh-TW" altLang="en-US" dirty="0"/>
          </a:p>
        </p:txBody>
      </p:sp>
      <p:sp>
        <p:nvSpPr>
          <p:cNvPr id="5" name="標題 2"/>
          <p:cNvSpPr txBox="1">
            <a:spLocks/>
          </p:cNvSpPr>
          <p:nvPr/>
        </p:nvSpPr>
        <p:spPr>
          <a:xfrm>
            <a:off x="457200" y="2537996"/>
            <a:ext cx="8229600" cy="7220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  <a:cs typeface="+mj-cs"/>
              </a:defRPr>
            </a:lvl1pPr>
          </a:lstStyle>
          <a:p>
            <a:endParaRPr lang="zh-TW" altLang="en-US" sz="4000" dirty="0"/>
          </a:p>
        </p:txBody>
      </p:sp>
      <p:sp>
        <p:nvSpPr>
          <p:cNvPr id="6" name="內容版面配置區 3"/>
          <p:cNvSpPr txBox="1">
            <a:spLocks/>
          </p:cNvSpPr>
          <p:nvPr/>
        </p:nvSpPr>
        <p:spPr>
          <a:xfrm>
            <a:off x="457200" y="3428777"/>
            <a:ext cx="8229600" cy="1165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spcBef>
                <a:spcPct val="20000"/>
              </a:spcBef>
              <a:buFontTx/>
              <a:buBlip>
                <a:blip r:embed="rId2"/>
              </a:buBlip>
              <a:defRPr sz="2800" b="1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1pPr>
            <a:lvl2pPr marL="914400" indent="-4572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3" panose="05040102010807070707" pitchFamily="18" charset="2"/>
              <a:buChar char=""/>
              <a:defRPr sz="2600" b="1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2pPr>
            <a:lvl3pPr marL="125730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微軟正黑體" panose="020B0604030504040204" pitchFamily="34" charset="-120"/>
              <a:buChar char="■"/>
              <a:defRPr sz="2400" b="1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微軟正黑體" pitchFamily="34" charset="-120"/>
                <a:ea typeface="微軟正黑體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4518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4. </a:t>
            </a:r>
            <a:r>
              <a:rPr lang="zh-TW" altLang="en-US" dirty="0" smtClean="0"/>
              <a:t>解析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針對群組化後的資訊進行一些計算，算出能代表該區塊特性的數值，如：標準差、平均值等。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36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5. </a:t>
            </a:r>
            <a:r>
              <a:rPr lang="zh-TW" altLang="en-US" dirty="0" smtClean="0"/>
              <a:t>比對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 smtClean="0"/>
              <a:t>完成解析之後</a:t>
            </a:r>
            <a:r>
              <a:rPr lang="zh-TW" altLang="en-US" dirty="0"/>
              <a:t>，電腦視覺已經</a:t>
            </a:r>
            <a:r>
              <a:rPr lang="zh-TW" altLang="en-US" dirty="0" smtClean="0"/>
              <a:t>能把</a:t>
            </a:r>
            <a:r>
              <a:rPr lang="zh-TW" altLang="en-US" dirty="0"/>
              <a:t>觀察物區塊標明出來，並且得到夠多的</a:t>
            </a:r>
            <a:r>
              <a:rPr lang="zh-TW" altLang="en-US" dirty="0" smtClean="0"/>
              <a:t>資訊以</a:t>
            </a:r>
            <a:r>
              <a:rPr lang="zh-TW" altLang="en-US" dirty="0"/>
              <a:t>理解觀察</a:t>
            </a:r>
            <a:r>
              <a:rPr lang="zh-TW" altLang="en-US" dirty="0" smtClean="0"/>
              <a:t>物。</a:t>
            </a:r>
            <a:endParaRPr lang="en-US" altLang="zh-TW" dirty="0" smtClean="0"/>
          </a:p>
          <a:p>
            <a:r>
              <a:rPr lang="zh-TW" altLang="en-US" dirty="0" smtClean="0"/>
              <a:t>與人類學習</a:t>
            </a:r>
            <a:r>
              <a:rPr lang="zh-TW" altLang="en-US" dirty="0"/>
              <a:t>模式一樣</a:t>
            </a:r>
            <a:r>
              <a:rPr lang="zh-TW" altLang="en-US" dirty="0" smtClean="0"/>
              <a:t>，電腦亦需透過</a:t>
            </a:r>
            <a:r>
              <a:rPr lang="zh-TW" altLang="en-US" dirty="0"/>
              <a:t>與已</a:t>
            </a:r>
            <a:r>
              <a:rPr lang="zh-TW" altLang="en-US" dirty="0" smtClean="0"/>
              <a:t>知物品</a:t>
            </a:r>
            <a:r>
              <a:rPr lang="zh-TW" altLang="en-US" dirty="0"/>
              <a:t>進行分析比對，才能</a:t>
            </a:r>
            <a:r>
              <a:rPr lang="zh-TW" altLang="en-US" dirty="0" smtClean="0"/>
              <a:t>確認所見的物體是什麼。</a:t>
            </a:r>
            <a:endParaRPr lang="en-US" altLang="zh-TW" dirty="0" smtClean="0"/>
          </a:p>
          <a:p>
            <a:r>
              <a:rPr lang="zh-TW" altLang="en-US" dirty="0" smtClean="0"/>
              <a:t>人類可透過</a:t>
            </a:r>
            <a:r>
              <a:rPr lang="zh-TW" altLang="en-US" dirty="0"/>
              <a:t>其他感官來分辨</a:t>
            </a:r>
            <a:r>
              <a:rPr lang="zh-TW" altLang="en-US" dirty="0" smtClean="0"/>
              <a:t>，電腦視覺必須</a:t>
            </a:r>
            <a:r>
              <a:rPr lang="zh-TW" altLang="en-US" dirty="0"/>
              <a:t>透過影像的特徵來辨析。</a:t>
            </a:r>
          </a:p>
        </p:txBody>
      </p:sp>
    </p:spTree>
    <p:extLst>
      <p:ext uri="{BB962C8B-B14F-4D97-AF65-F5344CB8AC3E}">
        <p14:creationId xmlns:p14="http://schemas.microsoft.com/office/powerpoint/2010/main" val="172479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回天乏術的植入裝置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 smtClean="0"/>
              <a:t>當</a:t>
            </a:r>
            <a:r>
              <a:rPr lang="zh-TW" altLang="en-US" dirty="0"/>
              <a:t>身體器官受損失能時，有些部位除了器官移植外，還有植入人工裝置的選項，例如人工關節、心律調節器、植牙、人工耳蝸和視覺假體等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/>
              <a:t>植入式電子裝置的保固維護極為重要，若碰上短命公司就很要命</a:t>
            </a:r>
            <a:r>
              <a:rPr lang="zh-TW" altLang="en-US" dirty="0" smtClean="0"/>
              <a:t>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868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二月中旬</a:t>
            </a:r>
            <a:r>
              <a:rPr lang="zh-TW" altLang="en-US" dirty="0"/>
              <a:t>，</a:t>
            </a:r>
            <a:r>
              <a:rPr lang="en-US" altLang="zh-TW" dirty="0"/>
              <a:t>《IEEE Spectrum》</a:t>
            </a:r>
            <a:r>
              <a:rPr lang="zh-TW" altLang="en-US" dirty="0"/>
              <a:t>期刊的一篇報導指出，</a:t>
            </a:r>
            <a:r>
              <a:rPr lang="en-US" altLang="zh-TW" dirty="0"/>
              <a:t>Second Sight</a:t>
            </a:r>
            <a:r>
              <a:rPr lang="zh-TW" altLang="en-US" dirty="0"/>
              <a:t>不再支援維護它所植入的仿生眼睛，不只軟體不再更新，而且硬體損壞也無從修護，至少有三百多位用戶頓失所依</a:t>
            </a:r>
            <a:r>
              <a:rPr lang="zh-TW" altLang="en-US" dirty="0" smtClean="0"/>
              <a:t>。</a:t>
            </a:r>
            <a:endParaRPr lang="en-US" altLang="zh-TW" dirty="0" smtClean="0"/>
          </a:p>
          <a:p>
            <a:r>
              <a:rPr lang="zh-TW" altLang="en-US" dirty="0" smtClean="0"/>
              <a:t>有人</a:t>
            </a:r>
            <a:r>
              <a:rPr lang="zh-TW" altLang="en-US" dirty="0"/>
              <a:t>下樓梯時突然變黑而無從改善，有人因腦部植入的仿生眼睛線路不明而無法做腦部磁振造影，只能改做電腦斷層⋯。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142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2939</TotalTime>
  <Words>3186</Words>
  <Application>Microsoft Office PowerPoint</Application>
  <PresentationFormat>如螢幕大小 (16:9)</PresentationFormat>
  <Paragraphs>204</Paragraphs>
  <Slides>71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71</vt:i4>
      </vt:variant>
    </vt:vector>
  </HeadingPairs>
  <TitlesOfParts>
    <vt:vector size="72" baseType="lpstr">
      <vt:lpstr>Office 佈景主題</vt:lpstr>
      <vt:lpstr>人工智慧</vt:lpstr>
      <vt:lpstr>14-1 人工智慧的沿革</vt:lpstr>
      <vt:lpstr>14-1 人工智慧的沿革</vt:lpstr>
      <vt:lpstr>14-1 人工智慧的沿革</vt:lpstr>
      <vt:lpstr>14-1 人工智慧的沿革</vt:lpstr>
      <vt:lpstr>杜林試驗</vt:lpstr>
      <vt:lpstr>杜林試驗</vt:lpstr>
      <vt:lpstr>人工智慧中較重要的技術</vt:lpstr>
      <vt:lpstr>PowerPoint 簡報</vt:lpstr>
      <vt:lpstr>PowerPoint 簡報</vt:lpstr>
      <vt:lpstr>知識表示</vt:lpstr>
      <vt:lpstr>語意網範例</vt:lpstr>
      <vt:lpstr>邏輯系統</vt:lpstr>
      <vt:lpstr>邏輯系統</vt:lpstr>
      <vt:lpstr>經驗法則搜尋</vt:lpstr>
      <vt:lpstr>經驗法則搜尋</vt:lpstr>
      <vt:lpstr>相關的程式語言</vt:lpstr>
      <vt:lpstr>相關的程式語言</vt:lpstr>
      <vt:lpstr>智慧型系統</vt:lpstr>
      <vt:lpstr>智慧型系統</vt:lpstr>
      <vt:lpstr>專家系統</vt:lpstr>
      <vt:lpstr>專家系統</vt:lpstr>
      <vt:lpstr>電腦下棋</vt:lpstr>
      <vt:lpstr>電腦下棋</vt:lpstr>
      <vt:lpstr>電腦下棋</vt:lpstr>
      <vt:lpstr>電腦下棋</vt:lpstr>
      <vt:lpstr>PowerPoint 簡報</vt:lpstr>
      <vt:lpstr>PowerPoint 簡報</vt:lpstr>
      <vt:lpstr>資訊擷取</vt:lpstr>
      <vt:lpstr>資訊擷取</vt:lpstr>
      <vt:lpstr>資訊擷取</vt:lpstr>
      <vt:lpstr>資訊擷取</vt:lpstr>
      <vt:lpstr>自然語言處理</vt:lpstr>
      <vt:lpstr>自然語言處理</vt:lpstr>
      <vt:lpstr>14-2機器學習和深度學習</vt:lpstr>
      <vt:lpstr>14-2機器學習和深度學習</vt:lpstr>
      <vt:lpstr>機器學習</vt:lpstr>
      <vt:lpstr>機器學習</vt:lpstr>
      <vt:lpstr>機器學習</vt:lpstr>
      <vt:lpstr>PowerPoint 簡報</vt:lpstr>
      <vt:lpstr>PowerPoint 簡報</vt:lpstr>
      <vt:lpstr>深度學習</vt:lpstr>
      <vt:lpstr>CNN-卷積神經網路</vt:lpstr>
      <vt:lpstr>卷積運算範例</vt:lpstr>
      <vt:lpstr>卷積運算範例</vt:lpstr>
      <vt:lpstr>池化層</vt:lpstr>
      <vt:lpstr>完整的CNN架構範例</vt:lpstr>
      <vt:lpstr>完整的CNN架構範例</vt:lpstr>
      <vt:lpstr>RNN</vt:lpstr>
      <vt:lpstr>RNN</vt:lpstr>
      <vt:lpstr>RNN 架構</vt:lpstr>
      <vt:lpstr>PowerPoint 簡報</vt:lpstr>
      <vt:lpstr>生成式AI</vt:lpstr>
      <vt:lpstr>利用生成對抗網路 產生圖片的示意圖</vt:lpstr>
      <vt:lpstr>PowerPoint 簡報</vt:lpstr>
      <vt:lpstr>14-3 電腦視覺及圖像識別</vt:lpstr>
      <vt:lpstr>14-3 電腦視覺及圖像識別</vt:lpstr>
      <vt:lpstr>如果有一天，電腦能夠判讀影像…</vt:lpstr>
      <vt:lpstr>如果有一天，電腦能夠判讀影像…</vt:lpstr>
      <vt:lpstr>PowerPoint 簡報</vt:lpstr>
      <vt:lpstr>14-3 電腦視覺及圖像識別</vt:lpstr>
      <vt:lpstr>14-3 電腦視覺及圖像識別</vt:lpstr>
      <vt:lpstr>14-3 電腦視覺及圖像識別</vt:lpstr>
      <vt:lpstr>電腦視覺的處理過程</vt:lpstr>
      <vt:lpstr>1. 潤飾</vt:lpstr>
      <vt:lpstr>2. 下標籤</vt:lpstr>
      <vt:lpstr>3. 群組化</vt:lpstr>
      <vt:lpstr>4. 解析</vt:lpstr>
      <vt:lpstr>5. 比對</vt:lpstr>
      <vt:lpstr>PowerPoint 簡報</vt:lpstr>
      <vt:lpstr>PowerPoint 簡報</vt:lpstr>
    </vt:vector>
  </TitlesOfParts>
  <Company>FDZone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ox01ox01</dc:creator>
  <cp:lastModifiedBy>user</cp:lastModifiedBy>
  <cp:revision>222</cp:revision>
  <dcterms:created xsi:type="dcterms:W3CDTF">2015-04-21T01:58:17Z</dcterms:created>
  <dcterms:modified xsi:type="dcterms:W3CDTF">2025-06-17T05:42:57Z</dcterms:modified>
</cp:coreProperties>
</file>