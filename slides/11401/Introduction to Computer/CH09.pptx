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4"/>
  </p:notesMasterIdLst>
  <p:handoutMasterIdLst>
    <p:handoutMasterId r:id="rId125"/>
  </p:handoutMasterIdLst>
  <p:sldIdLst>
    <p:sldId id="256" r:id="rId2"/>
    <p:sldId id="337" r:id="rId3"/>
    <p:sldId id="258" r:id="rId4"/>
    <p:sldId id="379" r:id="rId5"/>
    <p:sldId id="371" r:id="rId6"/>
    <p:sldId id="372" r:id="rId7"/>
    <p:sldId id="259" r:id="rId8"/>
    <p:sldId id="334" r:id="rId9"/>
    <p:sldId id="373" r:id="rId10"/>
    <p:sldId id="260" r:id="rId11"/>
    <p:sldId id="263" r:id="rId12"/>
    <p:sldId id="264" r:id="rId13"/>
    <p:sldId id="380" r:id="rId14"/>
    <p:sldId id="336" r:id="rId15"/>
    <p:sldId id="265" r:id="rId16"/>
    <p:sldId id="338" r:id="rId17"/>
    <p:sldId id="381" r:id="rId18"/>
    <p:sldId id="266" r:id="rId19"/>
    <p:sldId id="375" r:id="rId20"/>
    <p:sldId id="267" r:id="rId21"/>
    <p:sldId id="268" r:id="rId22"/>
    <p:sldId id="376" r:id="rId23"/>
    <p:sldId id="335" r:id="rId24"/>
    <p:sldId id="269" r:id="rId25"/>
    <p:sldId id="270" r:id="rId26"/>
    <p:sldId id="382" r:id="rId27"/>
    <p:sldId id="271" r:id="rId28"/>
    <p:sldId id="383" r:id="rId29"/>
    <p:sldId id="272" r:id="rId30"/>
    <p:sldId id="384" r:id="rId31"/>
    <p:sldId id="385" r:id="rId32"/>
    <p:sldId id="274" r:id="rId33"/>
    <p:sldId id="275" r:id="rId34"/>
    <p:sldId id="339" r:id="rId35"/>
    <p:sldId id="340" r:id="rId36"/>
    <p:sldId id="362" r:id="rId37"/>
    <p:sldId id="363" r:id="rId38"/>
    <p:sldId id="341" r:id="rId39"/>
    <p:sldId id="342" r:id="rId40"/>
    <p:sldId id="343" r:id="rId41"/>
    <p:sldId id="377" r:id="rId42"/>
    <p:sldId id="364" r:id="rId43"/>
    <p:sldId id="386" r:id="rId44"/>
    <p:sldId id="345" r:id="rId45"/>
    <p:sldId id="277" r:id="rId46"/>
    <p:sldId id="387" r:id="rId47"/>
    <p:sldId id="278" r:id="rId48"/>
    <p:sldId id="346" r:id="rId49"/>
    <p:sldId id="388" r:id="rId50"/>
    <p:sldId id="279" r:id="rId51"/>
    <p:sldId id="280" r:id="rId52"/>
    <p:sldId id="281" r:id="rId53"/>
    <p:sldId id="282" r:id="rId54"/>
    <p:sldId id="347" r:id="rId55"/>
    <p:sldId id="283" r:id="rId56"/>
    <p:sldId id="284" r:id="rId57"/>
    <p:sldId id="285" r:id="rId58"/>
    <p:sldId id="286" r:id="rId59"/>
    <p:sldId id="287" r:id="rId60"/>
    <p:sldId id="389" r:id="rId61"/>
    <p:sldId id="288" r:id="rId62"/>
    <p:sldId id="390" r:id="rId63"/>
    <p:sldId id="289" r:id="rId64"/>
    <p:sldId id="391" r:id="rId65"/>
    <p:sldId id="290" r:id="rId66"/>
    <p:sldId id="348" r:id="rId67"/>
    <p:sldId id="349" r:id="rId68"/>
    <p:sldId id="291" r:id="rId69"/>
    <p:sldId id="292" r:id="rId70"/>
    <p:sldId id="293" r:id="rId71"/>
    <p:sldId id="392" r:id="rId72"/>
    <p:sldId id="350" r:id="rId73"/>
    <p:sldId id="294" r:id="rId74"/>
    <p:sldId id="393" r:id="rId75"/>
    <p:sldId id="295" r:id="rId76"/>
    <p:sldId id="296" r:id="rId77"/>
    <p:sldId id="394" r:id="rId78"/>
    <p:sldId id="297" r:id="rId79"/>
    <p:sldId id="298" r:id="rId80"/>
    <p:sldId id="351" r:id="rId81"/>
    <p:sldId id="299" r:id="rId82"/>
    <p:sldId id="301" r:id="rId83"/>
    <p:sldId id="302" r:id="rId84"/>
    <p:sldId id="395" r:id="rId85"/>
    <p:sldId id="352" r:id="rId86"/>
    <p:sldId id="365" r:id="rId87"/>
    <p:sldId id="366" r:id="rId88"/>
    <p:sldId id="367" r:id="rId89"/>
    <p:sldId id="368" r:id="rId90"/>
    <p:sldId id="374" r:id="rId91"/>
    <p:sldId id="356" r:id="rId92"/>
    <p:sldId id="311" r:id="rId93"/>
    <p:sldId id="378" r:id="rId94"/>
    <p:sldId id="312" r:id="rId95"/>
    <p:sldId id="313" r:id="rId96"/>
    <p:sldId id="314" r:id="rId97"/>
    <p:sldId id="315" r:id="rId98"/>
    <p:sldId id="316" r:id="rId99"/>
    <p:sldId id="318" r:id="rId100"/>
    <p:sldId id="317" r:id="rId101"/>
    <p:sldId id="357" r:id="rId102"/>
    <p:sldId id="319" r:id="rId103"/>
    <p:sldId id="320" r:id="rId104"/>
    <p:sldId id="321" r:id="rId105"/>
    <p:sldId id="322" r:id="rId106"/>
    <p:sldId id="396" r:id="rId107"/>
    <p:sldId id="358" r:id="rId108"/>
    <p:sldId id="323" r:id="rId109"/>
    <p:sldId id="324" r:id="rId110"/>
    <p:sldId id="325" r:id="rId111"/>
    <p:sldId id="326" r:id="rId112"/>
    <p:sldId id="359" r:id="rId113"/>
    <p:sldId id="327" r:id="rId114"/>
    <p:sldId id="328" r:id="rId115"/>
    <p:sldId id="329" r:id="rId116"/>
    <p:sldId id="330" r:id="rId117"/>
    <p:sldId id="360" r:id="rId118"/>
    <p:sldId id="331" r:id="rId119"/>
    <p:sldId id="332" r:id="rId120"/>
    <p:sldId id="333" r:id="rId121"/>
    <p:sldId id="370" r:id="rId122"/>
    <p:sldId id="398" r:id="rId123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FFCC66"/>
    <a:srgbClr val="9BBB59"/>
    <a:srgbClr val="F2F2F2"/>
    <a:srgbClr val="99B1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59" autoAdjust="0"/>
    <p:restoredTop sz="94660"/>
  </p:normalViewPr>
  <p:slideViewPr>
    <p:cSldViewPr snapToObjects="1">
      <p:cViewPr varScale="1">
        <p:scale>
          <a:sx n="139" d="100"/>
          <a:sy n="139" d="100"/>
        </p:scale>
        <p:origin x="-828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70" d="100"/>
          <a:sy n="70" d="100"/>
        </p:scale>
        <p:origin x="2760" y="66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notesMaster" Target="notesMasters/notesMaster1.xml"/><Relationship Id="rId12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4779A9-D09E-4012-ABB8-344EF01DD2A9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/>
      <dgm:spPr/>
      <dgm:t>
        <a:bodyPr/>
        <a:lstStyle/>
        <a:p>
          <a:endParaRPr lang="zh-TW" altLang="en-US"/>
        </a:p>
      </dgm:t>
    </dgm:pt>
    <dgm:pt modelId="{B7E5FA51-0DF5-4B13-9BAE-05B4872A4315}">
      <dgm:prSet custT="1"/>
      <dgm:spPr/>
      <dgm:t>
        <a:bodyPr/>
        <a:lstStyle/>
        <a:p>
          <a:pPr rtl="0"/>
          <a:r>
            <a:rPr lang="zh-TW" altLang="en-US" sz="2400" b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程序名稱</a:t>
          </a:r>
          <a:endParaRPr lang="zh-TW" altLang="en-US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072D7F5-3A78-4113-AF67-F83F1B6B9EF8}" type="parTrans" cxnId="{B4B48364-7251-490F-A352-2C6448BC3C74}">
      <dgm:prSet/>
      <dgm:spPr/>
      <dgm:t>
        <a:bodyPr/>
        <a:lstStyle/>
        <a:p>
          <a:endParaRPr lang="zh-TW" altLang="en-US" sz="32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58D9661-B154-4A1B-BE03-D3DDB13663AA}" type="sibTrans" cxnId="{B4B48364-7251-490F-A352-2C6448BC3C74}">
      <dgm:prSet/>
      <dgm:spPr/>
      <dgm:t>
        <a:bodyPr/>
        <a:lstStyle/>
        <a:p>
          <a:endParaRPr lang="zh-TW" altLang="en-US" sz="32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0829031-DBB2-4F3C-90CD-F94203C6B948}">
      <dgm:prSet custT="1"/>
      <dgm:spPr/>
      <dgm:t>
        <a:bodyPr/>
        <a:lstStyle/>
        <a:p>
          <a:pPr rtl="0"/>
          <a:r>
            <a:rPr lang="zh-TW" altLang="en-US" sz="2400" b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程序本體，含變數宣告和命令敘述</a:t>
          </a:r>
          <a:endParaRPr lang="zh-TW" altLang="en-US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63ED5EF-72BA-4ECD-BAF3-E16754D34E78}" type="parTrans" cxnId="{AE3E59F9-C535-4388-AB8F-AFDF65374A9D}">
      <dgm:prSet/>
      <dgm:spPr/>
      <dgm:t>
        <a:bodyPr/>
        <a:lstStyle/>
        <a:p>
          <a:endParaRPr lang="zh-TW" altLang="en-US" sz="32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5FA31AD-B3E6-4E6E-B2A9-1B41BEDC8E48}" type="sibTrans" cxnId="{AE3E59F9-C535-4388-AB8F-AFDF65374A9D}">
      <dgm:prSet/>
      <dgm:spPr/>
      <dgm:t>
        <a:bodyPr/>
        <a:lstStyle/>
        <a:p>
          <a:endParaRPr lang="zh-TW" altLang="en-US" sz="32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69F0439-4307-42D7-A596-121EB4064CEF}">
      <dgm:prSet custT="1"/>
      <dgm:spPr/>
      <dgm:t>
        <a:bodyPr/>
        <a:lstStyle/>
        <a:p>
          <a:pPr rtl="0"/>
          <a:r>
            <a:rPr lang="zh-TW" sz="2400" b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正式參數</a:t>
          </a:r>
          <a:r>
            <a:rPr lang="en-US" sz="2400" b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(formal parameter)</a:t>
          </a:r>
          <a:r>
            <a:rPr lang="zh-TW" sz="2400" b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宣告</a:t>
          </a:r>
          <a:endParaRPr lang="zh-TW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30B9A86-9E59-4906-A3F5-C3B01746A758}" type="parTrans" cxnId="{A1018EB2-6A15-41AB-A31F-7493C3545C2D}">
      <dgm:prSet/>
      <dgm:spPr/>
      <dgm:t>
        <a:bodyPr/>
        <a:lstStyle/>
        <a:p>
          <a:endParaRPr lang="zh-TW" altLang="en-US" sz="32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08CDDFF-034E-4754-ACAB-767EFC27DC7E}" type="sibTrans" cxnId="{A1018EB2-6A15-41AB-A31F-7493C3545C2D}">
      <dgm:prSet/>
      <dgm:spPr/>
      <dgm:t>
        <a:bodyPr/>
        <a:lstStyle/>
        <a:p>
          <a:endParaRPr lang="zh-TW" altLang="en-US" sz="32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EF4BABF-E153-4D16-BA40-CC2A56157FBC}">
      <dgm:prSet custT="1"/>
      <dgm:spPr/>
      <dgm:t>
        <a:bodyPr/>
        <a:lstStyle/>
        <a:p>
          <a:pPr rtl="0"/>
          <a:r>
            <a:rPr lang="zh-TW" altLang="en-US" sz="2400" b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程序回傳的資料型態</a:t>
          </a:r>
          <a:endParaRPr lang="zh-TW" altLang="en-US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FE3B4980-BFED-4760-AE27-22FBE0A45BC4}" type="parTrans" cxnId="{3E65A925-C9EF-4740-A236-4E9A3AAFD4CE}">
      <dgm:prSet/>
      <dgm:spPr/>
      <dgm:t>
        <a:bodyPr/>
        <a:lstStyle/>
        <a:p>
          <a:endParaRPr lang="zh-TW" altLang="en-US" sz="32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74505A8-51B1-4DA8-866E-5EA281150727}" type="sibTrans" cxnId="{3E65A925-C9EF-4740-A236-4E9A3AAFD4CE}">
      <dgm:prSet/>
      <dgm:spPr/>
      <dgm:t>
        <a:bodyPr/>
        <a:lstStyle/>
        <a:p>
          <a:endParaRPr lang="zh-TW" altLang="en-US" sz="32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A766A2D-5A9F-4E9E-B667-CCEE38A9AC6B}" type="pres">
      <dgm:prSet presAssocID="{2A4779A9-D09E-4012-ABB8-344EF01DD2A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5ED01E92-68A6-4827-80BA-68AB2C793231}" type="pres">
      <dgm:prSet presAssocID="{B7E5FA51-0DF5-4B13-9BAE-05B4872A4315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511D73F-2083-457F-A8A3-45D69AA49DC8}" type="pres">
      <dgm:prSet presAssocID="{458D9661-B154-4A1B-BE03-D3DDB13663AA}" presName="spacer" presStyleCnt="0"/>
      <dgm:spPr/>
    </dgm:pt>
    <dgm:pt modelId="{0DFD559D-153A-46EC-9ADC-943516AD4168}" type="pres">
      <dgm:prSet presAssocID="{C0829031-DBB2-4F3C-90CD-F94203C6B948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6A0FF3B-5727-469A-A859-1D2E81E57FA8}" type="pres">
      <dgm:prSet presAssocID="{65FA31AD-B3E6-4E6E-B2A9-1B41BEDC8E48}" presName="spacer" presStyleCnt="0"/>
      <dgm:spPr/>
    </dgm:pt>
    <dgm:pt modelId="{53624BA5-4BED-4AE6-B79E-4259A1572F89}" type="pres">
      <dgm:prSet presAssocID="{569F0439-4307-42D7-A596-121EB4064CEF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4D9BE9D4-B5FA-4955-86BE-DFA5D4A6CA9E}" type="pres">
      <dgm:prSet presAssocID="{008CDDFF-034E-4754-ACAB-767EFC27DC7E}" presName="spacer" presStyleCnt="0"/>
      <dgm:spPr/>
    </dgm:pt>
    <dgm:pt modelId="{613CD696-2C65-4A9F-8605-BB273B550A4A}" type="pres">
      <dgm:prSet presAssocID="{9EF4BABF-E153-4D16-BA40-CC2A56157FBC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B4B48364-7251-490F-A352-2C6448BC3C74}" srcId="{2A4779A9-D09E-4012-ABB8-344EF01DD2A9}" destId="{B7E5FA51-0DF5-4B13-9BAE-05B4872A4315}" srcOrd="0" destOrd="0" parTransId="{3072D7F5-3A78-4113-AF67-F83F1B6B9EF8}" sibTransId="{458D9661-B154-4A1B-BE03-D3DDB13663AA}"/>
    <dgm:cxn modelId="{BA1E8143-ACBA-462E-B5EC-F747382CD818}" type="presOf" srcId="{C0829031-DBB2-4F3C-90CD-F94203C6B948}" destId="{0DFD559D-153A-46EC-9ADC-943516AD4168}" srcOrd="0" destOrd="0" presId="urn:microsoft.com/office/officeart/2005/8/layout/vList2"/>
    <dgm:cxn modelId="{A1018EB2-6A15-41AB-A31F-7493C3545C2D}" srcId="{2A4779A9-D09E-4012-ABB8-344EF01DD2A9}" destId="{569F0439-4307-42D7-A596-121EB4064CEF}" srcOrd="2" destOrd="0" parTransId="{530B9A86-9E59-4906-A3F5-C3B01746A758}" sibTransId="{008CDDFF-034E-4754-ACAB-767EFC27DC7E}"/>
    <dgm:cxn modelId="{C033E532-8B0A-4DA9-B1C6-55AF8BB6FD64}" type="presOf" srcId="{569F0439-4307-42D7-A596-121EB4064CEF}" destId="{53624BA5-4BED-4AE6-B79E-4259A1572F89}" srcOrd="0" destOrd="0" presId="urn:microsoft.com/office/officeart/2005/8/layout/vList2"/>
    <dgm:cxn modelId="{E186BA02-E3BC-46C4-AC9C-E376335310AE}" type="presOf" srcId="{9EF4BABF-E153-4D16-BA40-CC2A56157FBC}" destId="{613CD696-2C65-4A9F-8605-BB273B550A4A}" srcOrd="0" destOrd="0" presId="urn:microsoft.com/office/officeart/2005/8/layout/vList2"/>
    <dgm:cxn modelId="{AE3E59F9-C535-4388-AB8F-AFDF65374A9D}" srcId="{2A4779A9-D09E-4012-ABB8-344EF01DD2A9}" destId="{C0829031-DBB2-4F3C-90CD-F94203C6B948}" srcOrd="1" destOrd="0" parTransId="{063ED5EF-72BA-4ECD-BAF3-E16754D34E78}" sibTransId="{65FA31AD-B3E6-4E6E-B2A9-1B41BEDC8E48}"/>
    <dgm:cxn modelId="{0FD81E61-289F-4C51-B0C6-82A0AC05F3A6}" type="presOf" srcId="{B7E5FA51-0DF5-4B13-9BAE-05B4872A4315}" destId="{5ED01E92-68A6-4827-80BA-68AB2C793231}" srcOrd="0" destOrd="0" presId="urn:microsoft.com/office/officeart/2005/8/layout/vList2"/>
    <dgm:cxn modelId="{829B59C8-1174-4C3E-8EBC-316599EF945D}" type="presOf" srcId="{2A4779A9-D09E-4012-ABB8-344EF01DD2A9}" destId="{8A766A2D-5A9F-4E9E-B667-CCEE38A9AC6B}" srcOrd="0" destOrd="0" presId="urn:microsoft.com/office/officeart/2005/8/layout/vList2"/>
    <dgm:cxn modelId="{3E65A925-C9EF-4740-A236-4E9A3AAFD4CE}" srcId="{2A4779A9-D09E-4012-ABB8-344EF01DD2A9}" destId="{9EF4BABF-E153-4D16-BA40-CC2A56157FBC}" srcOrd="3" destOrd="0" parTransId="{FE3B4980-BFED-4760-AE27-22FBE0A45BC4}" sibTransId="{B74505A8-51B1-4DA8-866E-5EA281150727}"/>
    <dgm:cxn modelId="{8596B022-382D-45C9-9B60-E9C853E027CB}" type="presParOf" srcId="{8A766A2D-5A9F-4E9E-B667-CCEE38A9AC6B}" destId="{5ED01E92-68A6-4827-80BA-68AB2C793231}" srcOrd="0" destOrd="0" presId="urn:microsoft.com/office/officeart/2005/8/layout/vList2"/>
    <dgm:cxn modelId="{15DF9C26-E6EC-4FFF-9904-CB9125EE3292}" type="presParOf" srcId="{8A766A2D-5A9F-4E9E-B667-CCEE38A9AC6B}" destId="{3511D73F-2083-457F-A8A3-45D69AA49DC8}" srcOrd="1" destOrd="0" presId="urn:microsoft.com/office/officeart/2005/8/layout/vList2"/>
    <dgm:cxn modelId="{7F834A1B-7F89-4857-883B-DDC348A750DF}" type="presParOf" srcId="{8A766A2D-5A9F-4E9E-B667-CCEE38A9AC6B}" destId="{0DFD559D-153A-46EC-9ADC-943516AD4168}" srcOrd="2" destOrd="0" presId="urn:microsoft.com/office/officeart/2005/8/layout/vList2"/>
    <dgm:cxn modelId="{2B0E3253-C54B-4CC3-B9AA-4DCCB5ABFFF2}" type="presParOf" srcId="{8A766A2D-5A9F-4E9E-B667-CCEE38A9AC6B}" destId="{56A0FF3B-5727-469A-A859-1D2E81E57FA8}" srcOrd="3" destOrd="0" presId="urn:microsoft.com/office/officeart/2005/8/layout/vList2"/>
    <dgm:cxn modelId="{A09F2D42-F50B-48EA-868E-26C4A00B44CE}" type="presParOf" srcId="{8A766A2D-5A9F-4E9E-B667-CCEE38A9AC6B}" destId="{53624BA5-4BED-4AE6-B79E-4259A1572F89}" srcOrd="4" destOrd="0" presId="urn:microsoft.com/office/officeart/2005/8/layout/vList2"/>
    <dgm:cxn modelId="{76528F53-54E2-45AF-94B1-8F9255BAC5EF}" type="presParOf" srcId="{8A766A2D-5A9F-4E9E-B667-CCEE38A9AC6B}" destId="{4D9BE9D4-B5FA-4955-86BE-DFA5D4A6CA9E}" srcOrd="5" destOrd="0" presId="urn:microsoft.com/office/officeart/2005/8/layout/vList2"/>
    <dgm:cxn modelId="{6E0F149E-E9F3-42D1-8F2F-41DFA7849CA9}" type="presParOf" srcId="{8A766A2D-5A9F-4E9E-B667-CCEE38A9AC6B}" destId="{613CD696-2C65-4A9F-8605-BB273B550A4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9B28DE-9310-43AA-AB4D-5E80AF057C98}" type="doc">
      <dgm:prSet loTypeId="urn:microsoft.com/office/officeart/2005/8/layout/vList5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C5AF1191-0779-4C10-BD84-774A39EE380A}">
      <dgm:prSet custT="1"/>
      <dgm:spPr/>
      <dgm:t>
        <a:bodyPr/>
        <a:lstStyle/>
        <a:p>
          <a:pPr rtl="0"/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程序名稱</a:t>
          </a:r>
          <a:endParaRPr lang="zh-TW" altLang="en-US" sz="24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06493C7-2B58-4048-8BBF-86FB19F6C9AF}" type="parTrans" cxnId="{CBF11672-EE94-4EA0-BCA5-69184F2E822E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278B8A4-D1F0-4566-B717-435B597656DF}" type="sibTrans" cxnId="{CBF11672-EE94-4EA0-BCA5-69184F2E822E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C498111-CDBD-47CE-A7C3-47FD0FC0B67B}">
      <dgm:prSet custT="1"/>
      <dgm:spPr/>
      <dgm:t>
        <a:bodyPr/>
        <a:lstStyle/>
        <a:p>
          <a:pPr rtl="0"/>
          <a:r>
            <a:rPr lang="en-US" sz="2000" b="1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changehead</a:t>
          </a:r>
          <a:endParaRPr lang="zh-TW" sz="20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DAB4BC9-5660-4BC4-A33A-EE495D010274}" type="parTrans" cxnId="{B8ED12C1-2FAC-4FDF-97D3-15BD6A2F74A2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F3CC53B-F80C-43A2-9582-510061B472CD}" type="sibTrans" cxnId="{B8ED12C1-2FAC-4FDF-97D3-15BD6A2F74A2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5FA84A9-AB75-4E19-8C48-66DE3486C23C}">
      <dgm:prSet custT="1"/>
      <dgm:spPr/>
      <dgm:t>
        <a:bodyPr/>
        <a:lstStyle/>
        <a:p>
          <a:pPr rtl="0"/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正式參數</a:t>
          </a:r>
          <a:endParaRPr lang="zh-TW" altLang="en-US" sz="24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0C4F912-7B2A-460B-9524-4F14543DAC86}" type="parTrans" cxnId="{6A01CC19-D9FD-4E08-BA1A-2FF649BA74B8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DE43521-779F-4169-8A81-AFF0A8D1E0E3}" type="sibTrans" cxnId="{6A01CC19-D9FD-4E08-BA1A-2FF649BA74B8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E3CE1BC-1A62-4A68-9D09-AE5C7BF56EB3}">
      <dgm:prSet custT="1"/>
      <dgm:spPr/>
      <dgm:t>
        <a:bodyPr/>
        <a:lstStyle/>
        <a:p>
          <a:pPr rtl="0"/>
          <a:r>
            <a:rPr 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兩個資料型態為指到結構</a:t>
          </a:r>
          <a:r>
            <a:rPr lang="en-US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node</a:t>
          </a:r>
          <a:r>
            <a:rPr 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的指標參數，分別叫作</a:t>
          </a:r>
          <a:r>
            <a:rPr lang="en-US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p</a:t>
          </a:r>
          <a:r>
            <a:rPr 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和</a:t>
          </a:r>
          <a:r>
            <a:rPr lang="en-US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q</a:t>
          </a:r>
          <a:endParaRPr lang="zh-TW" sz="16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A2E54B3-6339-4A21-BA9F-9C09CBF388CD}" type="parTrans" cxnId="{E822FC82-3E1E-44F6-B018-5BFC5D0972B4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58C2109-9D05-438B-A110-B00CE0744AA7}" type="sibTrans" cxnId="{E822FC82-3E1E-44F6-B018-5BFC5D0972B4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4A13EC8-9A5D-4B3D-BBB3-0B3AF046C973}">
      <dgm:prSet custT="1"/>
      <dgm:spPr/>
      <dgm:t>
        <a:bodyPr/>
        <a:lstStyle/>
        <a:p>
          <a:pPr rtl="0"/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局部變數</a:t>
          </a:r>
          <a:endParaRPr lang="zh-TW" altLang="en-US" sz="24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9AA05CE-5FEF-468B-A93D-5B76A735C60E}" type="parTrans" cxnId="{1AB6A1A9-D472-47E3-8CAE-7062BA2E8DAC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C40B01F-BAD1-419D-9380-39545157184F}" type="sibTrans" cxnId="{1AB6A1A9-D472-47E3-8CAE-7062BA2E8DAC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F0DE7EE-FCCE-462E-B079-3175AB4662A2}">
      <dgm:prSet custT="1"/>
      <dgm:spPr/>
      <dgm:t>
        <a:bodyPr/>
        <a:lstStyle/>
        <a:p>
          <a:pPr rtl="0"/>
          <a:r>
            <a:rPr 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一個資料型態為指到結構</a:t>
          </a:r>
          <a:r>
            <a:rPr lang="en-US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node</a:t>
          </a:r>
          <a:r>
            <a:rPr 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的指標變數，叫作</a:t>
          </a:r>
          <a:r>
            <a:rPr lang="en-US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temp</a:t>
          </a:r>
          <a:endParaRPr lang="zh-TW" sz="16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8FAEAC4-A1DC-48FC-B801-472E7F8287A2}" type="parTrans" cxnId="{523287DE-1383-4621-899E-BC40102971FE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E19EDDE-0F46-4CCE-889E-6D22594533CE}" type="sibTrans" cxnId="{523287DE-1383-4621-899E-BC40102971FE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48A68DB-B694-4D1A-8DA1-BE2CE188FD37}">
      <dgm:prSet custT="1"/>
      <dgm:spPr/>
      <dgm:t>
        <a:bodyPr/>
        <a:lstStyle/>
        <a:p>
          <a:pPr rtl="0"/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程序本體</a:t>
          </a:r>
          <a:endParaRPr lang="zh-TW" altLang="en-US" sz="24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8D72774-6BC2-4E79-8090-97C33BEE26A0}" type="parTrans" cxnId="{C18C70E6-4ED3-46B6-A571-144EC02B81B6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A9A1CF71-0325-498A-B203-4DCE78B9868E}" type="sibTrans" cxnId="{C18C70E6-4ED3-46B6-A571-144EC02B81B6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043D788-DA4D-48F7-BA81-D8B18C422326}">
      <dgm:prSet custT="1"/>
      <dgm:spPr/>
      <dgm:t>
        <a:bodyPr/>
        <a:lstStyle/>
        <a:p>
          <a:pPr rtl="0"/>
          <a:r>
            <a:rPr 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將</a:t>
          </a:r>
          <a:r>
            <a:rPr lang="en-US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p</a:t>
          </a:r>
          <a:r>
            <a:rPr 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串列的第一個節點移除，然後加入到 </a:t>
          </a:r>
          <a:r>
            <a:rPr lang="en-US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q</a:t>
          </a:r>
          <a:r>
            <a:rPr 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串列的第一個節點前</a:t>
          </a:r>
          <a:endParaRPr lang="zh-TW" sz="16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EAB3CC6-CC06-4D0C-8322-673B644FA511}" type="parTrans" cxnId="{66F10FDA-8295-4951-8F27-FD9DB0FA06FC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59812EB-D0A1-4486-ADE9-3F31F40282DC}" type="sibTrans" cxnId="{66F10FDA-8295-4951-8F27-FD9DB0FA06FC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EDB4AE3-6576-452C-B7D9-15E2E435FA05}">
      <dgm:prSet custT="1"/>
      <dgm:spPr/>
      <dgm:t>
        <a:bodyPr/>
        <a:lstStyle/>
        <a:p>
          <a:pPr rtl="0"/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回傳值</a:t>
          </a:r>
          <a:endParaRPr lang="zh-TW" altLang="en-US" sz="24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14B3D955-5D87-4749-9167-588A9A6B6ADB}" type="parTrans" cxnId="{2B97AC7A-21B6-4209-8B7D-B057BA132550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B55D849-1188-4BEC-B3AF-60530811BA98}" type="sibTrans" cxnId="{2B97AC7A-21B6-4209-8B7D-B057BA132550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DC4EB0D-7558-4ACC-96DC-92A932CC4F95}">
      <dgm:prSet custT="1"/>
      <dgm:spPr/>
      <dgm:t>
        <a:bodyPr/>
        <a:lstStyle/>
        <a:p>
          <a:pPr rtl="0"/>
          <a:r>
            <a:rPr 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並無回傳值，在</a:t>
          </a:r>
          <a:r>
            <a:rPr lang="en-US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C</a:t>
          </a:r>
          <a:r>
            <a:rPr 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語言裡是以</a:t>
          </a:r>
          <a:r>
            <a:rPr lang="en-US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void</a:t>
          </a:r>
          <a:r>
            <a:rPr 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表示</a:t>
          </a:r>
          <a:endParaRPr lang="zh-TW" sz="16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3A094C9-9FAF-4985-92FA-2D6D7C63709F}" type="parTrans" cxnId="{53791108-8545-4CDE-97CF-8B289F0ACD56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B4C0633-1147-4440-AFA0-0C1D59D37B52}" type="sibTrans" cxnId="{53791108-8545-4CDE-97CF-8B289F0ACD56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A08F58C1-1F2F-464D-8E61-30E739C80EF0}" type="pres">
      <dgm:prSet presAssocID="{4D9B28DE-9310-43AA-AB4D-5E80AF057C9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561C1CFE-169F-4BCB-957F-4208D952B64A}" type="pres">
      <dgm:prSet presAssocID="{C5AF1191-0779-4C10-BD84-774A39EE380A}" presName="linNode" presStyleCnt="0"/>
      <dgm:spPr/>
    </dgm:pt>
    <dgm:pt modelId="{4D8BCA3B-19AD-452D-8D80-742C6137C40D}" type="pres">
      <dgm:prSet presAssocID="{C5AF1191-0779-4C10-BD84-774A39EE380A}" presName="parentText" presStyleLbl="node1" presStyleIdx="0" presStyleCnt="5" custScaleX="57457" custLinFactNeighborX="-308" custLinFactNeighborY="-50229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00A06A26-A4FB-4CA6-B5AE-96FAFA3BB913}" type="pres">
      <dgm:prSet presAssocID="{C5AF1191-0779-4C10-BD84-774A39EE380A}" presName="descendantText" presStyleLbl="alignAccFollowNode1" presStyleIdx="0" presStyleCnt="5" custScaleX="12405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36D47AA-9DFE-428E-B2E0-ACF598317B1C}" type="pres">
      <dgm:prSet presAssocID="{B278B8A4-D1F0-4566-B717-435B597656DF}" presName="sp" presStyleCnt="0"/>
      <dgm:spPr/>
    </dgm:pt>
    <dgm:pt modelId="{03F38AA9-ABDA-4264-9E8A-359C0E284D19}" type="pres">
      <dgm:prSet presAssocID="{55FA84A9-AB75-4E19-8C48-66DE3486C23C}" presName="linNode" presStyleCnt="0"/>
      <dgm:spPr/>
    </dgm:pt>
    <dgm:pt modelId="{062C64BF-17C7-490B-926A-AD8314CB5F6F}" type="pres">
      <dgm:prSet presAssocID="{55FA84A9-AB75-4E19-8C48-66DE3486C23C}" presName="parentText" presStyleLbl="node1" presStyleIdx="1" presStyleCnt="5" custScaleX="57457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CA162BB-6F59-452F-92E3-3F42F5F6380D}" type="pres">
      <dgm:prSet presAssocID="{55FA84A9-AB75-4E19-8C48-66DE3486C23C}" presName="descendantText" presStyleLbl="alignAccFollowNode1" presStyleIdx="1" presStyleCnt="5" custScaleX="12405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83364A6-0A29-4121-BCBA-919DA658D2A0}" type="pres">
      <dgm:prSet presAssocID="{2DE43521-779F-4169-8A81-AFF0A8D1E0E3}" presName="sp" presStyleCnt="0"/>
      <dgm:spPr/>
    </dgm:pt>
    <dgm:pt modelId="{CDEE1BBF-961B-4625-876A-A5187BC1FB30}" type="pres">
      <dgm:prSet presAssocID="{44A13EC8-9A5D-4B3D-BBB3-0B3AF046C973}" presName="linNode" presStyleCnt="0"/>
      <dgm:spPr/>
    </dgm:pt>
    <dgm:pt modelId="{D6047946-8821-4E6A-833D-25533C0F56CD}" type="pres">
      <dgm:prSet presAssocID="{44A13EC8-9A5D-4B3D-BBB3-0B3AF046C973}" presName="parentText" presStyleLbl="node1" presStyleIdx="2" presStyleCnt="5" custScaleX="57457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4108C361-CC47-4DAA-A845-98160518EC49}" type="pres">
      <dgm:prSet presAssocID="{44A13EC8-9A5D-4B3D-BBB3-0B3AF046C973}" presName="descendantText" presStyleLbl="alignAccFollowNode1" presStyleIdx="2" presStyleCnt="5" custScaleX="12405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401C5CDD-0628-4B81-869B-A0A77B627B8A}" type="pres">
      <dgm:prSet presAssocID="{5C40B01F-BAD1-419D-9380-39545157184F}" presName="sp" presStyleCnt="0"/>
      <dgm:spPr/>
    </dgm:pt>
    <dgm:pt modelId="{A49602F5-A94F-462C-99D2-88CEA1A6D14C}" type="pres">
      <dgm:prSet presAssocID="{448A68DB-B694-4D1A-8DA1-BE2CE188FD37}" presName="linNode" presStyleCnt="0"/>
      <dgm:spPr/>
    </dgm:pt>
    <dgm:pt modelId="{E4B2918A-FB5C-4AAD-8BAC-9B157099DA61}" type="pres">
      <dgm:prSet presAssocID="{448A68DB-B694-4D1A-8DA1-BE2CE188FD37}" presName="parentText" presStyleLbl="node1" presStyleIdx="3" presStyleCnt="5" custScaleX="57457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4AC6756-C743-4553-9530-D22E20B17785}" type="pres">
      <dgm:prSet presAssocID="{448A68DB-B694-4D1A-8DA1-BE2CE188FD37}" presName="descendantText" presStyleLbl="alignAccFollowNode1" presStyleIdx="3" presStyleCnt="5" custScaleX="12405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E6773CE8-3003-47A6-A2B5-C8B510629031}" type="pres">
      <dgm:prSet presAssocID="{A9A1CF71-0325-498A-B203-4DCE78B9868E}" presName="sp" presStyleCnt="0"/>
      <dgm:spPr/>
    </dgm:pt>
    <dgm:pt modelId="{9E000284-F920-4C14-AAA7-C033566688D3}" type="pres">
      <dgm:prSet presAssocID="{6EDB4AE3-6576-452C-B7D9-15E2E435FA05}" presName="linNode" presStyleCnt="0"/>
      <dgm:spPr/>
    </dgm:pt>
    <dgm:pt modelId="{8AE21098-213F-40C5-8822-572F72E44AFF}" type="pres">
      <dgm:prSet presAssocID="{6EDB4AE3-6576-452C-B7D9-15E2E435FA05}" presName="parentText" presStyleLbl="node1" presStyleIdx="4" presStyleCnt="5" custScaleX="57457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DB82E89-D230-4B34-AF9C-684F7695711C}" type="pres">
      <dgm:prSet presAssocID="{6EDB4AE3-6576-452C-B7D9-15E2E435FA05}" presName="descendantText" presStyleLbl="alignAccFollowNode1" presStyleIdx="4" presStyleCnt="5" custScaleX="12405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48B5AA32-C14E-4FBE-A9E9-B2B180BEEB65}" type="presOf" srcId="{448A68DB-B694-4D1A-8DA1-BE2CE188FD37}" destId="{E4B2918A-FB5C-4AAD-8BAC-9B157099DA61}" srcOrd="0" destOrd="0" presId="urn:microsoft.com/office/officeart/2005/8/layout/vList5"/>
    <dgm:cxn modelId="{46FAE5C5-19AF-440A-B455-3FD220E7EBE5}" type="presOf" srcId="{55FA84A9-AB75-4E19-8C48-66DE3486C23C}" destId="{062C64BF-17C7-490B-926A-AD8314CB5F6F}" srcOrd="0" destOrd="0" presId="urn:microsoft.com/office/officeart/2005/8/layout/vList5"/>
    <dgm:cxn modelId="{53791108-8545-4CDE-97CF-8B289F0ACD56}" srcId="{6EDB4AE3-6576-452C-B7D9-15E2E435FA05}" destId="{5DC4EB0D-7558-4ACC-96DC-92A932CC4F95}" srcOrd="0" destOrd="0" parTransId="{73A094C9-9FAF-4985-92FA-2D6D7C63709F}" sibTransId="{3B4C0633-1147-4440-AFA0-0C1D59D37B52}"/>
    <dgm:cxn modelId="{5B01CB49-0A52-4270-8647-512777923A37}" type="presOf" srcId="{5DC4EB0D-7558-4ACC-96DC-92A932CC4F95}" destId="{3DB82E89-D230-4B34-AF9C-684F7695711C}" srcOrd="0" destOrd="0" presId="urn:microsoft.com/office/officeart/2005/8/layout/vList5"/>
    <dgm:cxn modelId="{5A3CAFED-EC9F-4D7A-A037-62845A61D9A7}" type="presOf" srcId="{0C498111-CDBD-47CE-A7C3-47FD0FC0B67B}" destId="{00A06A26-A4FB-4CA6-B5AE-96FAFA3BB913}" srcOrd="0" destOrd="0" presId="urn:microsoft.com/office/officeart/2005/8/layout/vList5"/>
    <dgm:cxn modelId="{2B97AC7A-21B6-4209-8B7D-B057BA132550}" srcId="{4D9B28DE-9310-43AA-AB4D-5E80AF057C98}" destId="{6EDB4AE3-6576-452C-B7D9-15E2E435FA05}" srcOrd="4" destOrd="0" parTransId="{14B3D955-5D87-4749-9167-588A9A6B6ADB}" sibTransId="{CB55D849-1188-4BEC-B3AF-60530811BA98}"/>
    <dgm:cxn modelId="{E822FC82-3E1E-44F6-B018-5BFC5D0972B4}" srcId="{55FA84A9-AB75-4E19-8C48-66DE3486C23C}" destId="{5E3CE1BC-1A62-4A68-9D09-AE5C7BF56EB3}" srcOrd="0" destOrd="0" parTransId="{DA2E54B3-6339-4A21-BA9F-9C09CBF388CD}" sibTransId="{E58C2109-9D05-438B-A110-B00CE0744AA7}"/>
    <dgm:cxn modelId="{D4749A96-5BE2-4C99-9CF3-7B5CEFC10A8B}" type="presOf" srcId="{E043D788-DA4D-48F7-BA81-D8B18C422326}" destId="{94AC6756-C743-4553-9530-D22E20B17785}" srcOrd="0" destOrd="0" presId="urn:microsoft.com/office/officeart/2005/8/layout/vList5"/>
    <dgm:cxn modelId="{29954E23-1F11-4E54-9270-793E6D372B81}" type="presOf" srcId="{4D9B28DE-9310-43AA-AB4D-5E80AF057C98}" destId="{A08F58C1-1F2F-464D-8E61-30E739C80EF0}" srcOrd="0" destOrd="0" presId="urn:microsoft.com/office/officeart/2005/8/layout/vList5"/>
    <dgm:cxn modelId="{6A01CC19-D9FD-4E08-BA1A-2FF649BA74B8}" srcId="{4D9B28DE-9310-43AA-AB4D-5E80AF057C98}" destId="{55FA84A9-AB75-4E19-8C48-66DE3486C23C}" srcOrd="1" destOrd="0" parTransId="{D0C4F912-7B2A-460B-9524-4F14543DAC86}" sibTransId="{2DE43521-779F-4169-8A81-AFF0A8D1E0E3}"/>
    <dgm:cxn modelId="{46180A5E-B448-4795-8686-D7496FC21F35}" type="presOf" srcId="{C5AF1191-0779-4C10-BD84-774A39EE380A}" destId="{4D8BCA3B-19AD-452D-8D80-742C6137C40D}" srcOrd="0" destOrd="0" presId="urn:microsoft.com/office/officeart/2005/8/layout/vList5"/>
    <dgm:cxn modelId="{422C0F7B-8294-4A2E-82EE-5420A914975E}" type="presOf" srcId="{0F0DE7EE-FCCE-462E-B079-3175AB4662A2}" destId="{4108C361-CC47-4DAA-A845-98160518EC49}" srcOrd="0" destOrd="0" presId="urn:microsoft.com/office/officeart/2005/8/layout/vList5"/>
    <dgm:cxn modelId="{C18C70E6-4ED3-46B6-A571-144EC02B81B6}" srcId="{4D9B28DE-9310-43AA-AB4D-5E80AF057C98}" destId="{448A68DB-B694-4D1A-8DA1-BE2CE188FD37}" srcOrd="3" destOrd="0" parTransId="{78D72774-6BC2-4E79-8090-97C33BEE26A0}" sibTransId="{A9A1CF71-0325-498A-B203-4DCE78B9868E}"/>
    <dgm:cxn modelId="{8E80328C-9DD2-4AFF-8ADB-F65DC05C9533}" type="presOf" srcId="{5E3CE1BC-1A62-4A68-9D09-AE5C7BF56EB3}" destId="{3CA162BB-6F59-452F-92E3-3F42F5F6380D}" srcOrd="0" destOrd="0" presId="urn:microsoft.com/office/officeart/2005/8/layout/vList5"/>
    <dgm:cxn modelId="{66F10FDA-8295-4951-8F27-FD9DB0FA06FC}" srcId="{448A68DB-B694-4D1A-8DA1-BE2CE188FD37}" destId="{E043D788-DA4D-48F7-BA81-D8B18C422326}" srcOrd="0" destOrd="0" parTransId="{BEAB3CC6-CC06-4D0C-8322-673B644FA511}" sibTransId="{D59812EB-D0A1-4486-ADE9-3F31F40282DC}"/>
    <dgm:cxn modelId="{41C1EC23-B6AB-46A2-852D-62B010BC8CFC}" type="presOf" srcId="{44A13EC8-9A5D-4B3D-BBB3-0B3AF046C973}" destId="{D6047946-8821-4E6A-833D-25533C0F56CD}" srcOrd="0" destOrd="0" presId="urn:microsoft.com/office/officeart/2005/8/layout/vList5"/>
    <dgm:cxn modelId="{1AB6A1A9-D472-47E3-8CAE-7062BA2E8DAC}" srcId="{4D9B28DE-9310-43AA-AB4D-5E80AF057C98}" destId="{44A13EC8-9A5D-4B3D-BBB3-0B3AF046C973}" srcOrd="2" destOrd="0" parTransId="{39AA05CE-5FEF-468B-A93D-5B76A735C60E}" sibTransId="{5C40B01F-BAD1-419D-9380-39545157184F}"/>
    <dgm:cxn modelId="{6B4B1CEB-95D5-450F-9458-79E9B1835612}" type="presOf" srcId="{6EDB4AE3-6576-452C-B7D9-15E2E435FA05}" destId="{8AE21098-213F-40C5-8822-572F72E44AFF}" srcOrd="0" destOrd="0" presId="urn:microsoft.com/office/officeart/2005/8/layout/vList5"/>
    <dgm:cxn modelId="{CBF11672-EE94-4EA0-BCA5-69184F2E822E}" srcId="{4D9B28DE-9310-43AA-AB4D-5E80AF057C98}" destId="{C5AF1191-0779-4C10-BD84-774A39EE380A}" srcOrd="0" destOrd="0" parTransId="{906493C7-2B58-4048-8BBF-86FB19F6C9AF}" sibTransId="{B278B8A4-D1F0-4566-B717-435B597656DF}"/>
    <dgm:cxn modelId="{B8ED12C1-2FAC-4FDF-97D3-15BD6A2F74A2}" srcId="{C5AF1191-0779-4C10-BD84-774A39EE380A}" destId="{0C498111-CDBD-47CE-A7C3-47FD0FC0B67B}" srcOrd="0" destOrd="0" parTransId="{CDAB4BC9-5660-4BC4-A33A-EE495D010274}" sibTransId="{2F3CC53B-F80C-43A2-9582-510061B472CD}"/>
    <dgm:cxn modelId="{523287DE-1383-4621-899E-BC40102971FE}" srcId="{44A13EC8-9A5D-4B3D-BBB3-0B3AF046C973}" destId="{0F0DE7EE-FCCE-462E-B079-3175AB4662A2}" srcOrd="0" destOrd="0" parTransId="{C8FAEAC4-A1DC-48FC-B801-472E7F8287A2}" sibTransId="{0E19EDDE-0F46-4CCE-889E-6D22594533CE}"/>
    <dgm:cxn modelId="{9F667D3E-A5FB-4C89-8788-4976EDC1AFE6}" type="presParOf" srcId="{A08F58C1-1F2F-464D-8E61-30E739C80EF0}" destId="{561C1CFE-169F-4BCB-957F-4208D952B64A}" srcOrd="0" destOrd="0" presId="urn:microsoft.com/office/officeart/2005/8/layout/vList5"/>
    <dgm:cxn modelId="{14F85C67-272F-45A4-963B-68DE17243677}" type="presParOf" srcId="{561C1CFE-169F-4BCB-957F-4208D952B64A}" destId="{4D8BCA3B-19AD-452D-8D80-742C6137C40D}" srcOrd="0" destOrd="0" presId="urn:microsoft.com/office/officeart/2005/8/layout/vList5"/>
    <dgm:cxn modelId="{3EE672F2-C0BF-469C-942A-4341E53CAF40}" type="presParOf" srcId="{561C1CFE-169F-4BCB-957F-4208D952B64A}" destId="{00A06A26-A4FB-4CA6-B5AE-96FAFA3BB913}" srcOrd="1" destOrd="0" presId="urn:microsoft.com/office/officeart/2005/8/layout/vList5"/>
    <dgm:cxn modelId="{C403469F-AF16-4DF6-ABC0-7BC8A59D6977}" type="presParOf" srcId="{A08F58C1-1F2F-464D-8E61-30E739C80EF0}" destId="{B36D47AA-9DFE-428E-B2E0-ACF598317B1C}" srcOrd="1" destOrd="0" presId="urn:microsoft.com/office/officeart/2005/8/layout/vList5"/>
    <dgm:cxn modelId="{B7268F86-8038-485E-AE84-0E39776BE130}" type="presParOf" srcId="{A08F58C1-1F2F-464D-8E61-30E739C80EF0}" destId="{03F38AA9-ABDA-4264-9E8A-359C0E284D19}" srcOrd="2" destOrd="0" presId="urn:microsoft.com/office/officeart/2005/8/layout/vList5"/>
    <dgm:cxn modelId="{5CD2CDCF-0C24-45D7-8F24-BDA76B6A2DC8}" type="presParOf" srcId="{03F38AA9-ABDA-4264-9E8A-359C0E284D19}" destId="{062C64BF-17C7-490B-926A-AD8314CB5F6F}" srcOrd="0" destOrd="0" presId="urn:microsoft.com/office/officeart/2005/8/layout/vList5"/>
    <dgm:cxn modelId="{59C43558-C26D-46D9-9E9B-2388591F9D8E}" type="presParOf" srcId="{03F38AA9-ABDA-4264-9E8A-359C0E284D19}" destId="{3CA162BB-6F59-452F-92E3-3F42F5F6380D}" srcOrd="1" destOrd="0" presId="urn:microsoft.com/office/officeart/2005/8/layout/vList5"/>
    <dgm:cxn modelId="{0B87FD84-845C-41E3-AC62-AA1BC87E2BB4}" type="presParOf" srcId="{A08F58C1-1F2F-464D-8E61-30E739C80EF0}" destId="{C83364A6-0A29-4121-BCBA-919DA658D2A0}" srcOrd="3" destOrd="0" presId="urn:microsoft.com/office/officeart/2005/8/layout/vList5"/>
    <dgm:cxn modelId="{28D32DE5-27AE-48F8-B76C-A7A5D0312B39}" type="presParOf" srcId="{A08F58C1-1F2F-464D-8E61-30E739C80EF0}" destId="{CDEE1BBF-961B-4625-876A-A5187BC1FB30}" srcOrd="4" destOrd="0" presId="urn:microsoft.com/office/officeart/2005/8/layout/vList5"/>
    <dgm:cxn modelId="{7464AE48-F3A1-4E15-AFCF-FEC5708C672B}" type="presParOf" srcId="{CDEE1BBF-961B-4625-876A-A5187BC1FB30}" destId="{D6047946-8821-4E6A-833D-25533C0F56CD}" srcOrd="0" destOrd="0" presId="urn:microsoft.com/office/officeart/2005/8/layout/vList5"/>
    <dgm:cxn modelId="{B178AED9-2383-4F16-99FA-82FC65C4C293}" type="presParOf" srcId="{CDEE1BBF-961B-4625-876A-A5187BC1FB30}" destId="{4108C361-CC47-4DAA-A845-98160518EC49}" srcOrd="1" destOrd="0" presId="urn:microsoft.com/office/officeart/2005/8/layout/vList5"/>
    <dgm:cxn modelId="{222161F3-AABC-4CD2-804B-3C75F37DA627}" type="presParOf" srcId="{A08F58C1-1F2F-464D-8E61-30E739C80EF0}" destId="{401C5CDD-0628-4B81-869B-A0A77B627B8A}" srcOrd="5" destOrd="0" presId="urn:microsoft.com/office/officeart/2005/8/layout/vList5"/>
    <dgm:cxn modelId="{52A91F2F-5DAA-4100-BEC1-CCA676936E47}" type="presParOf" srcId="{A08F58C1-1F2F-464D-8E61-30E739C80EF0}" destId="{A49602F5-A94F-462C-99D2-88CEA1A6D14C}" srcOrd="6" destOrd="0" presId="urn:microsoft.com/office/officeart/2005/8/layout/vList5"/>
    <dgm:cxn modelId="{B69FAE09-6EB7-488A-BABC-0E3ACA98E867}" type="presParOf" srcId="{A49602F5-A94F-462C-99D2-88CEA1A6D14C}" destId="{E4B2918A-FB5C-4AAD-8BAC-9B157099DA61}" srcOrd="0" destOrd="0" presId="urn:microsoft.com/office/officeart/2005/8/layout/vList5"/>
    <dgm:cxn modelId="{E7B1C80C-EFFA-4C9B-9F57-70797F9D13D1}" type="presParOf" srcId="{A49602F5-A94F-462C-99D2-88CEA1A6D14C}" destId="{94AC6756-C743-4553-9530-D22E20B17785}" srcOrd="1" destOrd="0" presId="urn:microsoft.com/office/officeart/2005/8/layout/vList5"/>
    <dgm:cxn modelId="{B2D770D9-F9F4-4704-90E5-693DEA6D25EE}" type="presParOf" srcId="{A08F58C1-1F2F-464D-8E61-30E739C80EF0}" destId="{E6773CE8-3003-47A6-A2B5-C8B510629031}" srcOrd="7" destOrd="0" presId="urn:microsoft.com/office/officeart/2005/8/layout/vList5"/>
    <dgm:cxn modelId="{B8423D25-7389-419A-B452-FAD7FDECB74C}" type="presParOf" srcId="{A08F58C1-1F2F-464D-8E61-30E739C80EF0}" destId="{9E000284-F920-4C14-AAA7-C033566688D3}" srcOrd="8" destOrd="0" presId="urn:microsoft.com/office/officeart/2005/8/layout/vList5"/>
    <dgm:cxn modelId="{EDF52EDB-487F-4739-A06C-54A9E687D188}" type="presParOf" srcId="{9E000284-F920-4C14-AAA7-C033566688D3}" destId="{8AE21098-213F-40C5-8822-572F72E44AFF}" srcOrd="0" destOrd="0" presId="urn:microsoft.com/office/officeart/2005/8/layout/vList5"/>
    <dgm:cxn modelId="{2605B037-3D3C-400F-9476-6CBA4A4C9375}" type="presParOf" srcId="{9E000284-F920-4C14-AAA7-C033566688D3}" destId="{3DB82E89-D230-4B34-AF9C-684F7695711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01E92-68A6-4827-80BA-68AB2C793231}">
      <dsp:nvSpPr>
        <dsp:cNvPr id="0" name=""/>
        <dsp:cNvSpPr/>
      </dsp:nvSpPr>
      <dsp:spPr>
        <a:xfrm>
          <a:off x="0" y="1329"/>
          <a:ext cx="6795755" cy="52043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b="1" kern="120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程序名稱</a:t>
          </a:r>
          <a:endParaRPr lang="zh-TW" altLang="en-US" sz="2400" b="1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5405" y="26734"/>
        <a:ext cx="6744945" cy="469622"/>
      </dsp:txXfrm>
    </dsp:sp>
    <dsp:sp modelId="{0DFD559D-153A-46EC-9ADC-943516AD4168}">
      <dsp:nvSpPr>
        <dsp:cNvPr id="0" name=""/>
        <dsp:cNvSpPr/>
      </dsp:nvSpPr>
      <dsp:spPr>
        <a:xfrm>
          <a:off x="0" y="531929"/>
          <a:ext cx="6795755" cy="520432"/>
        </a:xfrm>
        <a:prstGeom prst="roundRect">
          <a:avLst/>
        </a:prstGeom>
        <a:gradFill rotWithShape="0">
          <a:gsLst>
            <a:gs pos="0">
              <a:schemeClr val="accent3">
                <a:hueOff val="3750088"/>
                <a:satOff val="-5627"/>
                <a:lumOff val="-915"/>
                <a:alphaOff val="0"/>
                <a:shade val="51000"/>
                <a:satMod val="130000"/>
              </a:schemeClr>
            </a:gs>
            <a:gs pos="80000">
              <a:schemeClr val="accent3">
                <a:hueOff val="3750088"/>
                <a:satOff val="-5627"/>
                <a:lumOff val="-915"/>
                <a:alphaOff val="0"/>
                <a:shade val="93000"/>
                <a:satMod val="130000"/>
              </a:schemeClr>
            </a:gs>
            <a:gs pos="100000">
              <a:schemeClr val="accent3">
                <a:hueOff val="3750088"/>
                <a:satOff val="-5627"/>
                <a:lumOff val="-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b="1" kern="120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程序本體，含變數宣告和命令敘述</a:t>
          </a:r>
          <a:endParaRPr lang="zh-TW" altLang="en-US" sz="2400" b="1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5405" y="557334"/>
        <a:ext cx="6744945" cy="469622"/>
      </dsp:txXfrm>
    </dsp:sp>
    <dsp:sp modelId="{53624BA5-4BED-4AE6-B79E-4259A1572F89}">
      <dsp:nvSpPr>
        <dsp:cNvPr id="0" name=""/>
        <dsp:cNvSpPr/>
      </dsp:nvSpPr>
      <dsp:spPr>
        <a:xfrm>
          <a:off x="0" y="1062529"/>
          <a:ext cx="6795755" cy="520432"/>
        </a:xfrm>
        <a:prstGeom prst="roundRect">
          <a:avLst/>
        </a:prstGeom>
        <a:gradFill rotWithShape="0">
          <a:gsLst>
            <a:gs pos="0">
              <a:schemeClr val="accent3">
                <a:hueOff val="7500176"/>
                <a:satOff val="-11253"/>
                <a:lumOff val="-1830"/>
                <a:alphaOff val="0"/>
                <a:shade val="51000"/>
                <a:satMod val="130000"/>
              </a:schemeClr>
            </a:gs>
            <a:gs pos="80000">
              <a:schemeClr val="accent3">
                <a:hueOff val="7500176"/>
                <a:satOff val="-11253"/>
                <a:lumOff val="-1830"/>
                <a:alphaOff val="0"/>
                <a:shade val="93000"/>
                <a:satMod val="130000"/>
              </a:schemeClr>
            </a:gs>
            <a:gs pos="100000">
              <a:schemeClr val="accent3">
                <a:hueOff val="7500176"/>
                <a:satOff val="-11253"/>
                <a:lumOff val="-18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sz="2400" b="1" kern="120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正式參數</a:t>
          </a:r>
          <a:r>
            <a:rPr lang="en-US" sz="2400" b="1" kern="120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(formal parameter)</a:t>
          </a:r>
          <a:r>
            <a:rPr lang="zh-TW" sz="2400" b="1" kern="120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宣告</a:t>
          </a:r>
          <a:endParaRPr lang="zh-TW" sz="2400" b="1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5405" y="1087934"/>
        <a:ext cx="6744945" cy="469622"/>
      </dsp:txXfrm>
    </dsp:sp>
    <dsp:sp modelId="{613CD696-2C65-4A9F-8605-BB273B550A4A}">
      <dsp:nvSpPr>
        <dsp:cNvPr id="0" name=""/>
        <dsp:cNvSpPr/>
      </dsp:nvSpPr>
      <dsp:spPr>
        <a:xfrm>
          <a:off x="0" y="1593129"/>
          <a:ext cx="6795755" cy="520432"/>
        </a:xfrm>
        <a:prstGeom prst="roundRect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b="1" kern="120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程序回傳的資料型態</a:t>
          </a:r>
          <a:endParaRPr lang="zh-TW" altLang="en-US" sz="2400" b="1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5405" y="1618534"/>
        <a:ext cx="6744945" cy="4696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A06A26-A4FB-4CA6-B5AE-96FAFA3BB913}">
      <dsp:nvSpPr>
        <dsp:cNvPr id="0" name=""/>
        <dsp:cNvSpPr/>
      </dsp:nvSpPr>
      <dsp:spPr>
        <a:xfrm rot="5400000">
          <a:off x="4600479" y="-2877804"/>
          <a:ext cx="488669" cy="6369240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1" kern="1200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changehead</a:t>
          </a:r>
          <a:endParaRPr lang="zh-TW" sz="20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1660194" y="86336"/>
        <a:ext cx="6345385" cy="440959"/>
      </dsp:txXfrm>
    </dsp:sp>
    <dsp:sp modelId="{4D8BCA3B-19AD-452D-8D80-742C6137C40D}">
      <dsp:nvSpPr>
        <dsp:cNvPr id="0" name=""/>
        <dsp:cNvSpPr/>
      </dsp:nvSpPr>
      <dsp:spPr>
        <a:xfrm>
          <a:off x="0" y="0"/>
          <a:ext cx="1659393" cy="610837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程序名稱</a:t>
          </a:r>
          <a:endParaRPr lang="zh-TW" altLang="en-US" sz="24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9819" y="29819"/>
        <a:ext cx="1599755" cy="551199"/>
      </dsp:txXfrm>
    </dsp:sp>
    <dsp:sp modelId="{3CA162BB-6F59-452F-92E3-3F42F5F6380D}">
      <dsp:nvSpPr>
        <dsp:cNvPr id="0" name=""/>
        <dsp:cNvSpPr/>
      </dsp:nvSpPr>
      <dsp:spPr>
        <a:xfrm rot="5400000">
          <a:off x="4600479" y="-2236425"/>
          <a:ext cx="488669" cy="6369240"/>
        </a:xfrm>
        <a:prstGeom prst="round2SameRect">
          <a:avLst/>
        </a:prstGeom>
        <a:solidFill>
          <a:schemeClr val="accent4">
            <a:tint val="40000"/>
            <a:alpha val="90000"/>
            <a:hueOff val="-986426"/>
            <a:satOff val="5539"/>
            <a:lumOff val="352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-986426"/>
              <a:satOff val="5539"/>
              <a:lumOff val="35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兩個資料型態為指到結構</a:t>
          </a:r>
          <a:r>
            <a:rPr lang="en-US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node</a:t>
          </a:r>
          <a:r>
            <a:rPr lang="zh-TW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的指標參數，分別叫作</a:t>
          </a:r>
          <a:r>
            <a:rPr lang="en-US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p</a:t>
          </a:r>
          <a:r>
            <a:rPr lang="zh-TW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和</a:t>
          </a:r>
          <a:r>
            <a:rPr lang="en-US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q</a:t>
          </a:r>
          <a:endParaRPr lang="zh-TW" sz="16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1660194" y="727715"/>
        <a:ext cx="6345385" cy="440959"/>
      </dsp:txXfrm>
    </dsp:sp>
    <dsp:sp modelId="{062C64BF-17C7-490B-926A-AD8314CB5F6F}">
      <dsp:nvSpPr>
        <dsp:cNvPr id="0" name=""/>
        <dsp:cNvSpPr/>
      </dsp:nvSpPr>
      <dsp:spPr>
        <a:xfrm>
          <a:off x="800" y="642776"/>
          <a:ext cx="1659393" cy="610837"/>
        </a:xfrm>
        <a:prstGeom prst="roundRect">
          <a:avLst/>
        </a:prstGeom>
        <a:gradFill rotWithShape="0">
          <a:gsLst>
            <a:gs pos="0">
              <a:schemeClr val="accent4">
                <a:hueOff val="-1116192"/>
                <a:satOff val="6725"/>
                <a:lumOff val="539"/>
                <a:alphaOff val="0"/>
                <a:shade val="51000"/>
                <a:satMod val="130000"/>
              </a:schemeClr>
            </a:gs>
            <a:gs pos="80000">
              <a:schemeClr val="accent4">
                <a:hueOff val="-1116192"/>
                <a:satOff val="6725"/>
                <a:lumOff val="539"/>
                <a:alphaOff val="0"/>
                <a:shade val="93000"/>
                <a:satMod val="130000"/>
              </a:schemeClr>
            </a:gs>
            <a:gs pos="100000">
              <a:schemeClr val="accent4">
                <a:hueOff val="-1116192"/>
                <a:satOff val="6725"/>
                <a:lumOff val="53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正式參數</a:t>
          </a:r>
          <a:endParaRPr lang="zh-TW" altLang="en-US" sz="24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0619" y="672595"/>
        <a:ext cx="1599755" cy="551199"/>
      </dsp:txXfrm>
    </dsp:sp>
    <dsp:sp modelId="{4108C361-CC47-4DAA-A845-98160518EC49}">
      <dsp:nvSpPr>
        <dsp:cNvPr id="0" name=""/>
        <dsp:cNvSpPr/>
      </dsp:nvSpPr>
      <dsp:spPr>
        <a:xfrm rot="5400000">
          <a:off x="4600479" y="-1595045"/>
          <a:ext cx="488669" cy="6369240"/>
        </a:xfrm>
        <a:prstGeom prst="round2SameRect">
          <a:avLst/>
        </a:prstGeom>
        <a:solidFill>
          <a:schemeClr val="accent4">
            <a:tint val="40000"/>
            <a:alpha val="90000"/>
            <a:hueOff val="-1972853"/>
            <a:satOff val="11079"/>
            <a:lumOff val="704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-1972853"/>
              <a:satOff val="11079"/>
              <a:lumOff val="70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一個資料型態為指到結構</a:t>
          </a:r>
          <a:r>
            <a:rPr lang="en-US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node</a:t>
          </a:r>
          <a:r>
            <a:rPr lang="zh-TW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的指標變數，叫作</a:t>
          </a:r>
          <a:r>
            <a:rPr lang="en-US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temp</a:t>
          </a:r>
          <a:endParaRPr lang="zh-TW" sz="16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1660194" y="1369095"/>
        <a:ext cx="6345385" cy="440959"/>
      </dsp:txXfrm>
    </dsp:sp>
    <dsp:sp modelId="{D6047946-8821-4E6A-833D-25533C0F56CD}">
      <dsp:nvSpPr>
        <dsp:cNvPr id="0" name=""/>
        <dsp:cNvSpPr/>
      </dsp:nvSpPr>
      <dsp:spPr>
        <a:xfrm>
          <a:off x="800" y="1284155"/>
          <a:ext cx="1659393" cy="610837"/>
        </a:xfrm>
        <a:prstGeom prst="roundRect">
          <a:avLst/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局部變數</a:t>
          </a:r>
          <a:endParaRPr lang="zh-TW" altLang="en-US" sz="24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0619" y="1313974"/>
        <a:ext cx="1599755" cy="551199"/>
      </dsp:txXfrm>
    </dsp:sp>
    <dsp:sp modelId="{94AC6756-C743-4553-9530-D22E20B17785}">
      <dsp:nvSpPr>
        <dsp:cNvPr id="0" name=""/>
        <dsp:cNvSpPr/>
      </dsp:nvSpPr>
      <dsp:spPr>
        <a:xfrm rot="5400000">
          <a:off x="4600479" y="-953666"/>
          <a:ext cx="488669" cy="6369240"/>
        </a:xfrm>
        <a:prstGeom prst="round2SameRect">
          <a:avLst/>
        </a:prstGeom>
        <a:solidFill>
          <a:schemeClr val="accent4">
            <a:tint val="40000"/>
            <a:alpha val="90000"/>
            <a:hueOff val="-2959279"/>
            <a:satOff val="16618"/>
            <a:lumOff val="1056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-2959279"/>
              <a:satOff val="16618"/>
              <a:lumOff val="105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將</a:t>
          </a:r>
          <a:r>
            <a:rPr lang="en-US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p</a:t>
          </a:r>
          <a:r>
            <a:rPr lang="zh-TW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串列的第一個節點移除，然後加入到 </a:t>
          </a:r>
          <a:r>
            <a:rPr lang="en-US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q</a:t>
          </a:r>
          <a:r>
            <a:rPr lang="zh-TW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串列的第一個節點前</a:t>
          </a:r>
          <a:endParaRPr lang="zh-TW" sz="16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1660194" y="2010474"/>
        <a:ext cx="6345385" cy="440959"/>
      </dsp:txXfrm>
    </dsp:sp>
    <dsp:sp modelId="{E4B2918A-FB5C-4AAD-8BAC-9B157099DA61}">
      <dsp:nvSpPr>
        <dsp:cNvPr id="0" name=""/>
        <dsp:cNvSpPr/>
      </dsp:nvSpPr>
      <dsp:spPr>
        <a:xfrm>
          <a:off x="800" y="1925535"/>
          <a:ext cx="1659393" cy="610837"/>
        </a:xfrm>
        <a:prstGeom prst="roundRect">
          <a:avLst/>
        </a:prstGeom>
        <a:gradFill rotWithShape="0">
          <a:gsLst>
            <a:gs pos="0">
              <a:schemeClr val="accent4">
                <a:hueOff val="-3348577"/>
                <a:satOff val="20174"/>
                <a:lumOff val="1617"/>
                <a:alphaOff val="0"/>
                <a:shade val="51000"/>
                <a:satMod val="130000"/>
              </a:schemeClr>
            </a:gs>
            <a:gs pos="80000">
              <a:schemeClr val="accent4">
                <a:hueOff val="-3348577"/>
                <a:satOff val="20174"/>
                <a:lumOff val="1617"/>
                <a:alphaOff val="0"/>
                <a:shade val="93000"/>
                <a:satMod val="130000"/>
              </a:schemeClr>
            </a:gs>
            <a:gs pos="100000">
              <a:schemeClr val="accent4">
                <a:hueOff val="-3348577"/>
                <a:satOff val="20174"/>
                <a:lumOff val="161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程序本體</a:t>
          </a:r>
          <a:endParaRPr lang="zh-TW" altLang="en-US" sz="24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0619" y="1955354"/>
        <a:ext cx="1599755" cy="551199"/>
      </dsp:txXfrm>
    </dsp:sp>
    <dsp:sp modelId="{3DB82E89-D230-4B34-AF9C-684F7695711C}">
      <dsp:nvSpPr>
        <dsp:cNvPr id="0" name=""/>
        <dsp:cNvSpPr/>
      </dsp:nvSpPr>
      <dsp:spPr>
        <a:xfrm rot="5400000">
          <a:off x="4600479" y="-312287"/>
          <a:ext cx="488669" cy="6369240"/>
        </a:xfrm>
        <a:prstGeom prst="round2SameRect">
          <a:avLst/>
        </a:prstGeom>
        <a:solidFill>
          <a:schemeClr val="accent4">
            <a:tint val="40000"/>
            <a:alpha val="90000"/>
            <a:hueOff val="-3945706"/>
            <a:satOff val="22157"/>
            <a:lumOff val="1408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-3945706"/>
              <a:satOff val="22157"/>
              <a:lumOff val="140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並無回傳值，在</a:t>
          </a:r>
          <a:r>
            <a:rPr lang="en-US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C</a:t>
          </a:r>
          <a:r>
            <a:rPr lang="zh-TW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語言裡是以</a:t>
          </a:r>
          <a:r>
            <a:rPr lang="en-US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void</a:t>
          </a:r>
          <a:r>
            <a:rPr lang="zh-TW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表示</a:t>
          </a:r>
          <a:endParaRPr lang="zh-TW" sz="16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1660194" y="2651853"/>
        <a:ext cx="6345385" cy="440959"/>
      </dsp:txXfrm>
    </dsp:sp>
    <dsp:sp modelId="{8AE21098-213F-40C5-8822-572F72E44AFF}">
      <dsp:nvSpPr>
        <dsp:cNvPr id="0" name=""/>
        <dsp:cNvSpPr/>
      </dsp:nvSpPr>
      <dsp:spPr>
        <a:xfrm>
          <a:off x="800" y="2566914"/>
          <a:ext cx="1659393" cy="610837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回傳值</a:t>
          </a:r>
          <a:endParaRPr lang="zh-TW" altLang="en-US" sz="24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0619" y="2596733"/>
        <a:ext cx="1599755" cy="551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5B13CD-5B19-4525-82CD-3A65567138FB}" type="datetimeFigureOut">
              <a:rPr lang="zh-TW" altLang="en-US" smtClean="0"/>
              <a:t>2025/6/16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F4914-B167-42A9-A312-51A7DF1FEE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0948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B12AB-0481-4543-9448-EE76391C4D02}" type="datetimeFigureOut">
              <a:rPr lang="zh-TW" altLang="en-US" smtClean="0"/>
              <a:t>2025/6/16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245B1-C9B5-4CB2-8096-E56E4F101A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8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26078" y="377109"/>
            <a:ext cx="9170078" cy="476407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8" name="圓角矩形圖說文字 277"/>
          <p:cNvSpPr/>
          <p:nvPr userDrawn="1"/>
        </p:nvSpPr>
        <p:spPr>
          <a:xfrm>
            <a:off x="272957" y="715294"/>
            <a:ext cx="2737212" cy="742533"/>
          </a:xfrm>
          <a:prstGeom prst="wedgeRoundRectCallout">
            <a:avLst>
              <a:gd name="adj1" fmla="val 34844"/>
              <a:gd name="adj2" fmla="val 81478"/>
              <a:gd name="adj3" fmla="val 16667"/>
            </a:avLst>
          </a:prstGeom>
          <a:solidFill>
            <a:srgbClr val="F2F2F2">
              <a:alpha val="20000"/>
            </a:srgbClr>
          </a:solidFill>
          <a:ln w="28575">
            <a:solidFill>
              <a:srgbClr val="000000">
                <a:alpha val="2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3157954" y="782801"/>
            <a:ext cx="5476465" cy="725061"/>
          </a:xfrm>
        </p:spPr>
        <p:txBody>
          <a:bodyPr>
            <a:noAutofit/>
          </a:bodyPr>
          <a:lstStyle>
            <a:lvl1pPr algn="l">
              <a:defRPr sz="4800" b="1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計算機簡介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22800" y="1795463"/>
            <a:ext cx="4194429" cy="2801541"/>
          </a:xfrm>
        </p:spPr>
        <p:txBody>
          <a:bodyPr/>
          <a:lstStyle>
            <a:lvl1pPr marL="0" indent="0" algn="l">
              <a:buNone/>
              <a:defRPr b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 smtClean="0"/>
              <a:t>按一下以編輯母片副標題樣式</a:t>
            </a:r>
            <a:endParaRPr lang="zh-TW" altLang="en-US" dirty="0"/>
          </a:p>
        </p:txBody>
      </p:sp>
      <p:sp>
        <p:nvSpPr>
          <p:cNvPr id="29" name="矩形 28"/>
          <p:cNvSpPr/>
          <p:nvPr userDrawn="1"/>
        </p:nvSpPr>
        <p:spPr>
          <a:xfrm>
            <a:off x="116506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389694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/>
          <p:cNvSpPr/>
          <p:nvPr userDrawn="1"/>
        </p:nvSpPr>
        <p:spPr>
          <a:xfrm>
            <a:off x="258071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/>
          <p:cNvSpPr/>
          <p:nvPr userDrawn="1"/>
        </p:nvSpPr>
        <p:spPr>
          <a:xfrm>
            <a:off x="542094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694494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/>
          <p:cNvSpPr/>
          <p:nvPr userDrawn="1"/>
        </p:nvSpPr>
        <p:spPr>
          <a:xfrm>
            <a:off x="899697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1172885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 userDrawn="1"/>
        </p:nvSpPr>
        <p:spPr>
          <a:xfrm>
            <a:off x="1041262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矩形 55"/>
          <p:cNvSpPr/>
          <p:nvPr userDrawn="1"/>
        </p:nvSpPr>
        <p:spPr>
          <a:xfrm>
            <a:off x="1325285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 56"/>
          <p:cNvSpPr/>
          <p:nvPr userDrawn="1"/>
        </p:nvSpPr>
        <p:spPr>
          <a:xfrm>
            <a:off x="1477685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/>
          <p:cNvSpPr/>
          <p:nvPr userDrawn="1"/>
        </p:nvSpPr>
        <p:spPr>
          <a:xfrm>
            <a:off x="1698757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 userDrawn="1"/>
        </p:nvSpPr>
        <p:spPr>
          <a:xfrm>
            <a:off x="197194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矩形 59"/>
          <p:cNvSpPr/>
          <p:nvPr userDrawn="1"/>
        </p:nvSpPr>
        <p:spPr>
          <a:xfrm>
            <a:off x="1840323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/>
          <p:cNvSpPr/>
          <p:nvPr userDrawn="1"/>
        </p:nvSpPr>
        <p:spPr>
          <a:xfrm>
            <a:off x="212434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61"/>
          <p:cNvSpPr/>
          <p:nvPr userDrawn="1"/>
        </p:nvSpPr>
        <p:spPr>
          <a:xfrm>
            <a:off x="227674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 userDrawn="1"/>
        </p:nvSpPr>
        <p:spPr>
          <a:xfrm>
            <a:off x="2512459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 userDrawn="1"/>
        </p:nvSpPr>
        <p:spPr>
          <a:xfrm>
            <a:off x="2785647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 userDrawn="1"/>
        </p:nvSpPr>
        <p:spPr>
          <a:xfrm>
            <a:off x="2654024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 userDrawn="1"/>
        </p:nvSpPr>
        <p:spPr>
          <a:xfrm>
            <a:off x="2938047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 userDrawn="1"/>
        </p:nvSpPr>
        <p:spPr>
          <a:xfrm>
            <a:off x="3090447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 67"/>
          <p:cNvSpPr/>
          <p:nvPr userDrawn="1"/>
        </p:nvSpPr>
        <p:spPr>
          <a:xfrm>
            <a:off x="3318938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 userDrawn="1"/>
        </p:nvSpPr>
        <p:spPr>
          <a:xfrm>
            <a:off x="359212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矩形 69"/>
          <p:cNvSpPr/>
          <p:nvPr userDrawn="1"/>
        </p:nvSpPr>
        <p:spPr>
          <a:xfrm>
            <a:off x="3460503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/>
          <p:cNvSpPr/>
          <p:nvPr userDrawn="1"/>
        </p:nvSpPr>
        <p:spPr>
          <a:xfrm>
            <a:off x="374452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矩形 71"/>
          <p:cNvSpPr/>
          <p:nvPr userDrawn="1"/>
        </p:nvSpPr>
        <p:spPr>
          <a:xfrm>
            <a:off x="389692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矩形 72"/>
          <p:cNvSpPr/>
          <p:nvPr userDrawn="1"/>
        </p:nvSpPr>
        <p:spPr>
          <a:xfrm>
            <a:off x="4129028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 userDrawn="1"/>
        </p:nvSpPr>
        <p:spPr>
          <a:xfrm>
            <a:off x="440221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矩形 74"/>
          <p:cNvSpPr/>
          <p:nvPr userDrawn="1"/>
        </p:nvSpPr>
        <p:spPr>
          <a:xfrm>
            <a:off x="4270593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矩形 75"/>
          <p:cNvSpPr/>
          <p:nvPr userDrawn="1"/>
        </p:nvSpPr>
        <p:spPr>
          <a:xfrm>
            <a:off x="455461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矩形 76"/>
          <p:cNvSpPr/>
          <p:nvPr userDrawn="1"/>
        </p:nvSpPr>
        <p:spPr>
          <a:xfrm>
            <a:off x="470701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矩形 77"/>
          <p:cNvSpPr/>
          <p:nvPr userDrawn="1"/>
        </p:nvSpPr>
        <p:spPr>
          <a:xfrm>
            <a:off x="4939117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矩形 78"/>
          <p:cNvSpPr/>
          <p:nvPr userDrawn="1"/>
        </p:nvSpPr>
        <p:spPr>
          <a:xfrm>
            <a:off x="521230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矩形 79"/>
          <p:cNvSpPr/>
          <p:nvPr userDrawn="1"/>
        </p:nvSpPr>
        <p:spPr>
          <a:xfrm>
            <a:off x="5080683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矩形 80"/>
          <p:cNvSpPr/>
          <p:nvPr userDrawn="1"/>
        </p:nvSpPr>
        <p:spPr>
          <a:xfrm>
            <a:off x="5364705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矩形 81"/>
          <p:cNvSpPr/>
          <p:nvPr userDrawn="1"/>
        </p:nvSpPr>
        <p:spPr>
          <a:xfrm>
            <a:off x="551710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矩形 82"/>
          <p:cNvSpPr/>
          <p:nvPr userDrawn="1"/>
        </p:nvSpPr>
        <p:spPr>
          <a:xfrm>
            <a:off x="5749208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矩形 83"/>
          <p:cNvSpPr/>
          <p:nvPr userDrawn="1"/>
        </p:nvSpPr>
        <p:spPr>
          <a:xfrm>
            <a:off x="6022396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矩形 84"/>
          <p:cNvSpPr/>
          <p:nvPr userDrawn="1"/>
        </p:nvSpPr>
        <p:spPr>
          <a:xfrm>
            <a:off x="5890773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矩形 85"/>
          <p:cNvSpPr/>
          <p:nvPr userDrawn="1"/>
        </p:nvSpPr>
        <p:spPr>
          <a:xfrm>
            <a:off x="6174796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矩形 86"/>
          <p:cNvSpPr/>
          <p:nvPr userDrawn="1"/>
        </p:nvSpPr>
        <p:spPr>
          <a:xfrm>
            <a:off x="6327196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矩形 87"/>
          <p:cNvSpPr/>
          <p:nvPr userDrawn="1"/>
        </p:nvSpPr>
        <p:spPr>
          <a:xfrm>
            <a:off x="6563897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矩形 88"/>
          <p:cNvSpPr/>
          <p:nvPr userDrawn="1"/>
        </p:nvSpPr>
        <p:spPr>
          <a:xfrm>
            <a:off x="6837085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矩形 89"/>
          <p:cNvSpPr/>
          <p:nvPr userDrawn="1"/>
        </p:nvSpPr>
        <p:spPr>
          <a:xfrm>
            <a:off x="6705462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矩形 90"/>
          <p:cNvSpPr/>
          <p:nvPr userDrawn="1"/>
        </p:nvSpPr>
        <p:spPr>
          <a:xfrm>
            <a:off x="6989485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矩形 91"/>
          <p:cNvSpPr/>
          <p:nvPr userDrawn="1"/>
        </p:nvSpPr>
        <p:spPr>
          <a:xfrm>
            <a:off x="7141885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矩形 92"/>
          <p:cNvSpPr/>
          <p:nvPr userDrawn="1"/>
        </p:nvSpPr>
        <p:spPr>
          <a:xfrm>
            <a:off x="7369388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矩形 93"/>
          <p:cNvSpPr/>
          <p:nvPr userDrawn="1"/>
        </p:nvSpPr>
        <p:spPr>
          <a:xfrm>
            <a:off x="7642576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矩形 94"/>
          <p:cNvSpPr/>
          <p:nvPr userDrawn="1"/>
        </p:nvSpPr>
        <p:spPr>
          <a:xfrm>
            <a:off x="7510952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矩形 95"/>
          <p:cNvSpPr/>
          <p:nvPr userDrawn="1"/>
        </p:nvSpPr>
        <p:spPr>
          <a:xfrm>
            <a:off x="7794976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/>
          <p:cNvSpPr/>
          <p:nvPr userDrawn="1"/>
        </p:nvSpPr>
        <p:spPr>
          <a:xfrm>
            <a:off x="7947376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矩形 97"/>
          <p:cNvSpPr/>
          <p:nvPr userDrawn="1"/>
        </p:nvSpPr>
        <p:spPr>
          <a:xfrm>
            <a:off x="8171735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 userDrawn="1"/>
        </p:nvSpPr>
        <p:spPr>
          <a:xfrm>
            <a:off x="8444923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 userDrawn="1"/>
        </p:nvSpPr>
        <p:spPr>
          <a:xfrm>
            <a:off x="8313300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 userDrawn="1"/>
        </p:nvSpPr>
        <p:spPr>
          <a:xfrm>
            <a:off x="8597323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 userDrawn="1"/>
        </p:nvSpPr>
        <p:spPr>
          <a:xfrm>
            <a:off x="8749723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 userDrawn="1"/>
        </p:nvSpPr>
        <p:spPr>
          <a:xfrm>
            <a:off x="8969630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5" name="圖片版面配置區 274"/>
          <p:cNvSpPr>
            <a:spLocks noGrp="1"/>
          </p:cNvSpPr>
          <p:nvPr>
            <p:ph type="pic" sz="quarter" idx="13"/>
          </p:nvPr>
        </p:nvSpPr>
        <p:spPr>
          <a:xfrm>
            <a:off x="0" y="1795463"/>
            <a:ext cx="4622800" cy="2801541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276" name="文字方塊 275"/>
          <p:cNvSpPr txBox="1"/>
          <p:nvPr userDrawn="1"/>
        </p:nvSpPr>
        <p:spPr>
          <a:xfrm>
            <a:off x="264913" y="613305"/>
            <a:ext cx="2768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 smtClean="0">
                <a:solidFill>
                  <a:schemeClr val="bg1"/>
                </a:solidFill>
              </a:rPr>
              <a:t>CHAPTER</a:t>
            </a:r>
            <a:r>
              <a:rPr lang="zh-TW" altLang="en-US" sz="3600" b="1" dirty="0" smtClean="0">
                <a:solidFill>
                  <a:schemeClr val="bg1"/>
                </a:solidFill>
              </a:rPr>
              <a:t> </a:t>
            </a:r>
            <a:r>
              <a:rPr lang="en-US" altLang="zh-TW" sz="5400" b="1" dirty="0" smtClean="0">
                <a:solidFill>
                  <a:schemeClr val="accent3">
                    <a:lumMod val="50000"/>
                  </a:schemeClr>
                </a:solidFill>
              </a:rPr>
              <a:t>09</a:t>
            </a:r>
            <a:endParaRPr lang="zh-TW" altLang="en-US" sz="54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8197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634604"/>
            <a:ext cx="8229600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60399"/>
            <a:ext cx="8229600" cy="2934224"/>
          </a:xfrm>
        </p:spPr>
        <p:txBody>
          <a:bodyPr/>
          <a:lstStyle>
            <a:lvl1pPr marL="457200" indent="-457200" algn="just" hangingPunct="0">
              <a:lnSpc>
                <a:spcPct val="120000"/>
              </a:lnSpc>
              <a:spcBef>
                <a:spcPts val="800"/>
              </a:spcBef>
              <a:buFontTx/>
              <a:buBlip>
                <a:blip r:embed="rId2"/>
              </a:buBlip>
              <a:defRPr sz="2800" b="1">
                <a:latin typeface="微軟正黑體" pitchFamily="34" charset="-120"/>
                <a:ea typeface="微軟正黑體" pitchFamily="34" charset="-120"/>
              </a:defRPr>
            </a:lvl1pPr>
            <a:lvl2pPr marL="914400" indent="-457200" algn="just" hangingPunct="0">
              <a:lnSpc>
                <a:spcPct val="120000"/>
              </a:lnSpc>
              <a:spcBef>
                <a:spcPts val="800"/>
              </a:spcBef>
              <a:buClr>
                <a:schemeClr val="tx2"/>
              </a:buClr>
              <a:buFont typeface="Wingdings 3" panose="05040102010807070707" pitchFamily="18" charset="2"/>
              <a:buChar char=""/>
              <a:defRPr sz="2600" b="1">
                <a:latin typeface="微軟正黑體" pitchFamily="34" charset="-120"/>
                <a:ea typeface="微軟正黑體" pitchFamily="34" charset="-120"/>
              </a:defRPr>
            </a:lvl2pPr>
            <a:lvl3pPr marL="1257300" indent="-342900" algn="just" hangingPunct="0">
              <a:lnSpc>
                <a:spcPct val="120000"/>
              </a:lnSpc>
              <a:spcBef>
                <a:spcPts val="800"/>
              </a:spcBef>
              <a:buClr>
                <a:schemeClr val="accent1"/>
              </a:buClr>
              <a:buFont typeface="微軟正黑體" panose="020B0604030504040204" pitchFamily="34" charset="-120"/>
              <a:buChar char="■"/>
              <a:defRPr b="1">
                <a:latin typeface="微軟正黑體" pitchFamily="34" charset="-120"/>
                <a:ea typeface="微軟正黑體" pitchFamily="34" charset="-120"/>
              </a:defRPr>
            </a:lvl3pPr>
            <a:lvl4pPr marL="1371600" indent="0" algn="just" hangingPunc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4pPr>
            <a:lvl5pPr marL="1828800" indent="0" algn="just" hangingPunc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grpSp>
        <p:nvGrpSpPr>
          <p:cNvPr id="13" name="群組 12"/>
          <p:cNvGrpSpPr/>
          <p:nvPr userDrawn="1"/>
        </p:nvGrpSpPr>
        <p:grpSpPr>
          <a:xfrm>
            <a:off x="0" y="0"/>
            <a:ext cx="9198260" cy="591240"/>
            <a:chOff x="0" y="0"/>
            <a:chExt cx="9198260" cy="591240"/>
          </a:xfrm>
        </p:grpSpPr>
        <p:grpSp>
          <p:nvGrpSpPr>
            <p:cNvPr id="14" name="群組 13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grpSp>
            <p:nvGrpSpPr>
              <p:cNvPr id="16" name="群組 15"/>
              <p:cNvGrpSpPr/>
              <p:nvPr userDrawn="1"/>
            </p:nvGrpSpPr>
            <p:grpSpPr>
              <a:xfrm>
                <a:off x="0" y="0"/>
                <a:ext cx="9144000" cy="546525"/>
                <a:chOff x="0" y="0"/>
                <a:chExt cx="9144000" cy="546525"/>
              </a:xfrm>
            </p:grpSpPr>
            <p:sp>
              <p:nvSpPr>
                <p:cNvPr id="18" name="矩形 17"/>
                <p:cNvSpPr/>
                <p:nvPr userDrawn="1"/>
              </p:nvSpPr>
              <p:spPr>
                <a:xfrm>
                  <a:off x="0" y="0"/>
                  <a:ext cx="9144000" cy="546525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" name="矩形 18"/>
                <p:cNvSpPr/>
                <p:nvPr userDrawn="1"/>
              </p:nvSpPr>
              <p:spPr>
                <a:xfrm>
                  <a:off x="906574" y="134763"/>
                  <a:ext cx="366542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800" b="0" i="0" u="none" strike="noStrike" kern="1200" baseline="0" dirty="0" smtClean="0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rPr>
                    <a:t>An Introduction to Computer Science</a:t>
                  </a:r>
                  <a:endParaRPr lang="zh-TW" alt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  <p:sp>
              <p:nvSpPr>
                <p:cNvPr id="20" name="矩形 19"/>
                <p:cNvSpPr/>
                <p:nvPr userDrawn="1"/>
              </p:nvSpPr>
              <p:spPr>
                <a:xfrm>
                  <a:off x="7677346" y="388486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1" name="矩形 20"/>
                <p:cNvSpPr/>
                <p:nvPr userDrawn="1"/>
              </p:nvSpPr>
              <p:spPr>
                <a:xfrm>
                  <a:off x="7778146" y="287225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pic>
              <p:nvPicPr>
                <p:cNvPr id="22" name="Picture 4" descr="D:\製作中\02再版書\0558909\章首頁\computer.png"/>
                <p:cNvPicPr>
                  <a:picLocks noChangeAspect="1" noChangeArrowheads="1"/>
                </p:cNvPicPr>
                <p:nvPr userDrawn="1"/>
              </p:nvPicPr>
              <p:blipFill>
                <a:blip r:embed="rId3" cstate="screen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rightnessContrast bright="-20000" contrast="-2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211" y="80775"/>
                  <a:ext cx="323350" cy="4207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7" name="矩形 16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5" name="文字方塊 14"/>
            <p:cNvSpPr txBox="1"/>
            <p:nvPr userDrawn="1"/>
          </p:nvSpPr>
          <p:spPr>
            <a:xfrm>
              <a:off x="8073135" y="6465"/>
              <a:ext cx="11251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 smtClean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 smtClean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09</a:t>
              </a:r>
              <a:endParaRPr lang="zh-TW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13057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884063"/>
            <a:ext cx="8229600" cy="3710560"/>
          </a:xfrm>
        </p:spPr>
        <p:txBody>
          <a:bodyPr/>
          <a:lstStyle>
            <a:lvl1pPr marL="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2pPr>
            <a:lvl3pPr marL="9144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grpSp>
        <p:nvGrpSpPr>
          <p:cNvPr id="13" name="群組 12"/>
          <p:cNvGrpSpPr/>
          <p:nvPr userDrawn="1"/>
        </p:nvGrpSpPr>
        <p:grpSpPr>
          <a:xfrm>
            <a:off x="0" y="0"/>
            <a:ext cx="9198260" cy="591240"/>
            <a:chOff x="0" y="0"/>
            <a:chExt cx="9198260" cy="591240"/>
          </a:xfrm>
        </p:grpSpPr>
        <p:grpSp>
          <p:nvGrpSpPr>
            <p:cNvPr id="14" name="群組 13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grpSp>
            <p:nvGrpSpPr>
              <p:cNvPr id="16" name="群組 15"/>
              <p:cNvGrpSpPr/>
              <p:nvPr userDrawn="1"/>
            </p:nvGrpSpPr>
            <p:grpSpPr>
              <a:xfrm>
                <a:off x="0" y="0"/>
                <a:ext cx="9144000" cy="546525"/>
                <a:chOff x="0" y="0"/>
                <a:chExt cx="9144000" cy="546525"/>
              </a:xfrm>
            </p:grpSpPr>
            <p:sp>
              <p:nvSpPr>
                <p:cNvPr id="18" name="矩形 17"/>
                <p:cNvSpPr/>
                <p:nvPr userDrawn="1"/>
              </p:nvSpPr>
              <p:spPr>
                <a:xfrm>
                  <a:off x="0" y="0"/>
                  <a:ext cx="9144000" cy="546525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" name="矩形 18"/>
                <p:cNvSpPr/>
                <p:nvPr userDrawn="1"/>
              </p:nvSpPr>
              <p:spPr>
                <a:xfrm>
                  <a:off x="906574" y="134763"/>
                  <a:ext cx="366542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800" b="0" i="0" u="none" strike="noStrike" kern="1200" baseline="0" dirty="0" smtClean="0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rPr>
                    <a:t>An Introduction to Computer Science</a:t>
                  </a:r>
                  <a:endParaRPr lang="zh-TW" alt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  <p:sp>
              <p:nvSpPr>
                <p:cNvPr id="20" name="矩形 19"/>
                <p:cNvSpPr/>
                <p:nvPr userDrawn="1"/>
              </p:nvSpPr>
              <p:spPr>
                <a:xfrm>
                  <a:off x="7677346" y="388486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1" name="矩形 20"/>
                <p:cNvSpPr/>
                <p:nvPr userDrawn="1"/>
              </p:nvSpPr>
              <p:spPr>
                <a:xfrm>
                  <a:off x="7778146" y="287225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pic>
              <p:nvPicPr>
                <p:cNvPr id="22" name="Picture 4" descr="D:\製作中\02再版書\0558909\章首頁\computer.png"/>
                <p:cNvPicPr>
                  <a:picLocks noChangeAspect="1" noChangeArrowheads="1"/>
                </p:cNvPicPr>
                <p:nvPr userDrawn="1"/>
              </p:nvPicPr>
              <p:blipFill>
                <a:blip r:embed="rId2" cstate="screen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rightnessContrast bright="-20000" contrast="-2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211" y="80775"/>
                  <a:ext cx="323350" cy="4207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7" name="矩形 16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5" name="文字方塊 14"/>
            <p:cNvSpPr txBox="1"/>
            <p:nvPr userDrawn="1"/>
          </p:nvSpPr>
          <p:spPr>
            <a:xfrm>
              <a:off x="8073135" y="6465"/>
              <a:ext cx="11251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 smtClean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 smtClean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09</a:t>
              </a:r>
              <a:endParaRPr lang="zh-TW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57584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2"/>
          <p:cNvSpPr>
            <a:spLocks noGrp="1"/>
          </p:cNvSpPr>
          <p:nvPr>
            <p:ph idx="1"/>
          </p:nvPr>
        </p:nvSpPr>
        <p:spPr>
          <a:xfrm>
            <a:off x="457200" y="850309"/>
            <a:ext cx="8229600" cy="3744314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2pPr>
            <a:lvl3pPr marL="9144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grpSp>
        <p:nvGrpSpPr>
          <p:cNvPr id="14" name="群組 13"/>
          <p:cNvGrpSpPr/>
          <p:nvPr userDrawn="1"/>
        </p:nvGrpSpPr>
        <p:grpSpPr>
          <a:xfrm>
            <a:off x="0" y="0"/>
            <a:ext cx="9198260" cy="591240"/>
            <a:chOff x="0" y="0"/>
            <a:chExt cx="9198260" cy="591240"/>
          </a:xfrm>
        </p:grpSpPr>
        <p:grpSp>
          <p:nvGrpSpPr>
            <p:cNvPr id="15" name="群組 14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grpSp>
            <p:nvGrpSpPr>
              <p:cNvPr id="17" name="群組 16"/>
              <p:cNvGrpSpPr/>
              <p:nvPr userDrawn="1"/>
            </p:nvGrpSpPr>
            <p:grpSpPr>
              <a:xfrm>
                <a:off x="0" y="0"/>
                <a:ext cx="9144000" cy="546525"/>
                <a:chOff x="0" y="0"/>
                <a:chExt cx="9144000" cy="546525"/>
              </a:xfrm>
            </p:grpSpPr>
            <p:sp>
              <p:nvSpPr>
                <p:cNvPr id="19" name="矩形 18"/>
                <p:cNvSpPr/>
                <p:nvPr userDrawn="1"/>
              </p:nvSpPr>
              <p:spPr>
                <a:xfrm>
                  <a:off x="0" y="0"/>
                  <a:ext cx="9144000" cy="546525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0" name="矩形 19"/>
                <p:cNvSpPr/>
                <p:nvPr userDrawn="1"/>
              </p:nvSpPr>
              <p:spPr>
                <a:xfrm>
                  <a:off x="906574" y="134763"/>
                  <a:ext cx="366542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800" b="0" i="0" u="none" strike="noStrike" kern="1200" baseline="0" dirty="0" smtClean="0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rPr>
                    <a:t>An Introduction to Computer Science</a:t>
                  </a:r>
                  <a:endParaRPr lang="zh-TW" alt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  <p:sp>
              <p:nvSpPr>
                <p:cNvPr id="21" name="矩形 20"/>
                <p:cNvSpPr/>
                <p:nvPr userDrawn="1"/>
              </p:nvSpPr>
              <p:spPr>
                <a:xfrm>
                  <a:off x="7677346" y="388486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2" name="矩形 21"/>
                <p:cNvSpPr/>
                <p:nvPr userDrawn="1"/>
              </p:nvSpPr>
              <p:spPr>
                <a:xfrm>
                  <a:off x="7778146" y="287225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pic>
              <p:nvPicPr>
                <p:cNvPr id="23" name="Picture 4" descr="D:\製作中\02再版書\0558909\章首頁\computer.png"/>
                <p:cNvPicPr>
                  <a:picLocks noChangeAspect="1" noChangeArrowheads="1"/>
                </p:cNvPicPr>
                <p:nvPr userDrawn="1"/>
              </p:nvPicPr>
              <p:blipFill>
                <a:blip r:embed="rId3" cstate="screen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rightnessContrast bright="-20000" contrast="-2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211" y="80775"/>
                  <a:ext cx="323350" cy="4207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8" name="矩形 17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6" name="文字方塊 15"/>
            <p:cNvSpPr txBox="1"/>
            <p:nvPr userDrawn="1"/>
          </p:nvSpPr>
          <p:spPr>
            <a:xfrm>
              <a:off x="8073135" y="6465"/>
              <a:ext cx="11251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 smtClean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 smtClean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09</a:t>
              </a:r>
              <a:endParaRPr lang="zh-TW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72017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250" y="628578"/>
            <a:ext cx="9144000" cy="3915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 5"/>
          <p:cNvSpPr/>
          <p:nvPr userDrawn="1"/>
        </p:nvSpPr>
        <p:spPr>
          <a:xfrm>
            <a:off x="269866" y="1255354"/>
            <a:ext cx="8604269" cy="31053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Picture 15"/>
          <p:cNvPicPr>
            <a:picLocks noChangeAspect="1" noChangeArrowheads="1"/>
          </p:cNvPicPr>
          <p:nvPr userDrawn="1"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3616" y="722472"/>
            <a:ext cx="2456765" cy="63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13"/>
          <p:cNvPicPr>
            <a:picLocks noChangeAspect="1" noChangeArrowheads="1"/>
          </p:cNvPicPr>
          <p:nvPr userDrawn="1"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487232">
            <a:off x="7757944" y="802232"/>
            <a:ext cx="1038226" cy="8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群組 4"/>
          <p:cNvGrpSpPr/>
          <p:nvPr userDrawn="1"/>
        </p:nvGrpSpPr>
        <p:grpSpPr>
          <a:xfrm>
            <a:off x="683018" y="771550"/>
            <a:ext cx="1781968" cy="414607"/>
            <a:chOff x="683018" y="1178750"/>
            <a:chExt cx="1781968" cy="414607"/>
          </a:xfrm>
        </p:grpSpPr>
        <p:sp>
          <p:nvSpPr>
            <p:cNvPr id="24" name="橢圓 23"/>
            <p:cNvSpPr/>
            <p:nvPr userDrawn="1"/>
          </p:nvSpPr>
          <p:spPr>
            <a:xfrm>
              <a:off x="683018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/>
            <p:cNvSpPr/>
            <p:nvPr userDrawn="1"/>
          </p:nvSpPr>
          <p:spPr>
            <a:xfrm>
              <a:off x="1151620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/>
            <p:cNvSpPr/>
            <p:nvPr userDrawn="1"/>
          </p:nvSpPr>
          <p:spPr>
            <a:xfrm>
              <a:off x="1601670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/>
            <p:cNvSpPr/>
            <p:nvPr userDrawn="1"/>
          </p:nvSpPr>
          <p:spPr>
            <a:xfrm>
              <a:off x="2051720" y="1180091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3" name="文字方塊 22"/>
          <p:cNvSpPr txBox="1"/>
          <p:nvPr userDrawn="1"/>
        </p:nvSpPr>
        <p:spPr>
          <a:xfrm>
            <a:off x="701570" y="789784"/>
            <a:ext cx="222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IT</a:t>
            </a:r>
            <a:r>
              <a:rPr lang="zh-TW" altLang="en-US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　專    家    </a:t>
            </a:r>
            <a:endParaRPr lang="en-US" altLang="zh-TW" b="1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34" name="群組 33"/>
          <p:cNvGrpSpPr/>
          <p:nvPr userDrawn="1"/>
        </p:nvGrpSpPr>
        <p:grpSpPr>
          <a:xfrm>
            <a:off x="0" y="0"/>
            <a:ext cx="9198260" cy="591240"/>
            <a:chOff x="0" y="0"/>
            <a:chExt cx="9198260" cy="591240"/>
          </a:xfrm>
        </p:grpSpPr>
        <p:grpSp>
          <p:nvGrpSpPr>
            <p:cNvPr id="35" name="群組 34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grpSp>
            <p:nvGrpSpPr>
              <p:cNvPr id="37" name="群組 36"/>
              <p:cNvGrpSpPr/>
              <p:nvPr userDrawn="1"/>
            </p:nvGrpSpPr>
            <p:grpSpPr>
              <a:xfrm>
                <a:off x="0" y="0"/>
                <a:ext cx="9144000" cy="546525"/>
                <a:chOff x="0" y="0"/>
                <a:chExt cx="9144000" cy="546525"/>
              </a:xfrm>
            </p:grpSpPr>
            <p:sp>
              <p:nvSpPr>
                <p:cNvPr id="39" name="矩形 38"/>
                <p:cNvSpPr/>
                <p:nvPr userDrawn="1"/>
              </p:nvSpPr>
              <p:spPr>
                <a:xfrm>
                  <a:off x="0" y="0"/>
                  <a:ext cx="9144000" cy="546525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0" name="矩形 39"/>
                <p:cNvSpPr/>
                <p:nvPr userDrawn="1"/>
              </p:nvSpPr>
              <p:spPr>
                <a:xfrm>
                  <a:off x="906574" y="134763"/>
                  <a:ext cx="366542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800" b="0" i="0" u="none" strike="noStrike" kern="1200" baseline="0" dirty="0" smtClean="0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rPr>
                    <a:t>An Introduction to Computer Science</a:t>
                  </a:r>
                  <a:endParaRPr lang="zh-TW" alt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  <p:sp>
              <p:nvSpPr>
                <p:cNvPr id="41" name="矩形 40"/>
                <p:cNvSpPr/>
                <p:nvPr userDrawn="1"/>
              </p:nvSpPr>
              <p:spPr>
                <a:xfrm>
                  <a:off x="7677346" y="388486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2" name="矩形 41"/>
                <p:cNvSpPr/>
                <p:nvPr userDrawn="1"/>
              </p:nvSpPr>
              <p:spPr>
                <a:xfrm>
                  <a:off x="7778146" y="287225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pic>
              <p:nvPicPr>
                <p:cNvPr id="43" name="Picture 4" descr="D:\製作中\02再版書\0558909\章首頁\computer.png"/>
                <p:cNvPicPr>
                  <a:picLocks noChangeAspect="1" noChangeArrowheads="1"/>
                </p:cNvPicPr>
                <p:nvPr userDrawn="1"/>
              </p:nvPicPr>
              <p:blipFill>
                <a:blip r:embed="rId4" cstate="screen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-20000" contrast="-2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211" y="80775"/>
                  <a:ext cx="323350" cy="4207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38" name="矩形 37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6" name="文字方塊 35"/>
            <p:cNvSpPr txBox="1"/>
            <p:nvPr userDrawn="1"/>
          </p:nvSpPr>
          <p:spPr>
            <a:xfrm>
              <a:off x="8073135" y="6465"/>
              <a:ext cx="11251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 smtClean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 smtClean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09</a:t>
              </a:r>
              <a:endParaRPr lang="zh-TW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4106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250" y="628578"/>
            <a:ext cx="9144000" cy="39154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9144000" cy="5465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8" name="Picture 4" descr="D:\製作中\02再版書\0558909\章首頁\computer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12" y="65596"/>
            <a:ext cx="425589" cy="415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906574" y="134763"/>
            <a:ext cx="3665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b="0" i="0" u="none" strike="noStrike" kern="1200" baseline="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An Introduction to Computer Science</a:t>
            </a:r>
            <a:endParaRPr lang="zh-TW" alt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8127396" y="0"/>
            <a:ext cx="1016605" cy="5465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 userDrawn="1"/>
        </p:nvSpPr>
        <p:spPr>
          <a:xfrm>
            <a:off x="8073135" y="38694"/>
            <a:ext cx="11251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Chapter</a:t>
            </a:r>
          </a:p>
          <a:p>
            <a:pPr algn="ctr"/>
            <a:r>
              <a:rPr lang="en-US" altLang="zh-TW" sz="2400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06</a:t>
            </a:r>
            <a:endParaRPr lang="zh-TW" altLang="en-US" sz="24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7812361" y="291553"/>
            <a:ext cx="135015" cy="10126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7677346" y="388486"/>
            <a:ext cx="135015" cy="10126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 5"/>
          <p:cNvSpPr/>
          <p:nvPr userDrawn="1"/>
        </p:nvSpPr>
        <p:spPr>
          <a:xfrm>
            <a:off x="269866" y="1255354"/>
            <a:ext cx="8604269" cy="31053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內容版面配置區 2"/>
          <p:cNvSpPr>
            <a:spLocks noGrp="1"/>
          </p:cNvSpPr>
          <p:nvPr>
            <p:ph idx="1"/>
          </p:nvPr>
        </p:nvSpPr>
        <p:spPr>
          <a:xfrm>
            <a:off x="406096" y="1692374"/>
            <a:ext cx="8229600" cy="2668325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800"/>
              </a:spcBef>
              <a:buNone/>
              <a:defRPr sz="2400" b="1"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lnSpc>
                <a:spcPct val="120000"/>
              </a:lnSpc>
              <a:spcBef>
                <a:spcPts val="800"/>
              </a:spcBef>
              <a:buNone/>
              <a:defRPr sz="2400" b="1">
                <a:latin typeface="微軟正黑體" pitchFamily="34" charset="-120"/>
                <a:ea typeface="微軟正黑體" pitchFamily="34" charset="-120"/>
              </a:defRPr>
            </a:lvl2pPr>
            <a:lvl3pPr marL="914400" inden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pic>
        <p:nvPicPr>
          <p:cNvPr id="16" name="Picture 14"/>
          <p:cNvPicPr>
            <a:picLocks noChangeAspect="1" noChangeArrowheads="1"/>
          </p:cNvPicPr>
          <p:nvPr userDrawn="1"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96036" y="851302"/>
            <a:ext cx="616424" cy="7655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 descr="D:\製作中\02再版書\0558909\資訊小耳朵 圖.png"/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4973" y="636535"/>
            <a:ext cx="3836948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字方塊 17"/>
          <p:cNvSpPr txBox="1"/>
          <p:nvPr userDrawn="1"/>
        </p:nvSpPr>
        <p:spPr>
          <a:xfrm>
            <a:off x="607663" y="1254990"/>
            <a:ext cx="2794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資    訊    專    欄</a:t>
            </a:r>
            <a:endParaRPr lang="en-US" altLang="zh-TW" sz="2400" b="1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20" name="群組 19"/>
          <p:cNvGrpSpPr/>
          <p:nvPr userDrawn="1"/>
        </p:nvGrpSpPr>
        <p:grpSpPr>
          <a:xfrm>
            <a:off x="0" y="0"/>
            <a:ext cx="9198260" cy="591240"/>
            <a:chOff x="0" y="0"/>
            <a:chExt cx="9198260" cy="591240"/>
          </a:xfrm>
        </p:grpSpPr>
        <p:grpSp>
          <p:nvGrpSpPr>
            <p:cNvPr id="21" name="群組 20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grpSp>
            <p:nvGrpSpPr>
              <p:cNvPr id="23" name="群組 22"/>
              <p:cNvGrpSpPr/>
              <p:nvPr userDrawn="1"/>
            </p:nvGrpSpPr>
            <p:grpSpPr>
              <a:xfrm>
                <a:off x="0" y="0"/>
                <a:ext cx="9144000" cy="546525"/>
                <a:chOff x="0" y="0"/>
                <a:chExt cx="9144000" cy="546525"/>
              </a:xfrm>
            </p:grpSpPr>
            <p:sp>
              <p:nvSpPr>
                <p:cNvPr id="25" name="矩形 24"/>
                <p:cNvSpPr/>
                <p:nvPr userDrawn="1"/>
              </p:nvSpPr>
              <p:spPr>
                <a:xfrm>
                  <a:off x="0" y="0"/>
                  <a:ext cx="9144000" cy="546525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6" name="矩形 25"/>
                <p:cNvSpPr/>
                <p:nvPr userDrawn="1"/>
              </p:nvSpPr>
              <p:spPr>
                <a:xfrm>
                  <a:off x="906574" y="134763"/>
                  <a:ext cx="366542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800" b="0" i="0" u="none" strike="noStrike" kern="1200" baseline="0" dirty="0" smtClean="0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rPr>
                    <a:t>An Introduction to Computer Science</a:t>
                  </a:r>
                  <a:endParaRPr lang="zh-TW" alt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  <p:sp>
              <p:nvSpPr>
                <p:cNvPr id="27" name="矩形 26"/>
                <p:cNvSpPr/>
                <p:nvPr userDrawn="1"/>
              </p:nvSpPr>
              <p:spPr>
                <a:xfrm>
                  <a:off x="7677346" y="388486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8" name="矩形 27"/>
                <p:cNvSpPr/>
                <p:nvPr userDrawn="1"/>
              </p:nvSpPr>
              <p:spPr>
                <a:xfrm>
                  <a:off x="7778146" y="287225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pic>
              <p:nvPicPr>
                <p:cNvPr id="29" name="Picture 4" descr="D:\製作中\02再版書\0558909\章首頁\computer.png"/>
                <p:cNvPicPr>
                  <a:picLocks noChangeAspect="1" noChangeArrowheads="1"/>
                </p:cNvPicPr>
                <p:nvPr userDrawn="1"/>
              </p:nvPicPr>
              <p:blipFill>
                <a:blip r:embed="rId6" cstate="screen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rightnessContrast bright="-20000" contrast="-2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211" y="80775"/>
                  <a:ext cx="323350" cy="4207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24" name="矩形 23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2" name="文字方塊 21"/>
            <p:cNvSpPr txBox="1"/>
            <p:nvPr userDrawn="1"/>
          </p:nvSpPr>
          <p:spPr>
            <a:xfrm>
              <a:off x="8073135" y="6465"/>
              <a:ext cx="11251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 smtClean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 smtClean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09</a:t>
              </a:r>
              <a:endParaRPr lang="zh-TW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1923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18750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4432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0587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2424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100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8999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2208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351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288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grpSp>
        <p:nvGrpSpPr>
          <p:cNvPr id="11" name="群組 10"/>
          <p:cNvGrpSpPr/>
          <p:nvPr userDrawn="1"/>
        </p:nvGrpSpPr>
        <p:grpSpPr>
          <a:xfrm>
            <a:off x="161510" y="4594623"/>
            <a:ext cx="8691420" cy="450050"/>
            <a:chOff x="161510" y="4617951"/>
            <a:chExt cx="8691420" cy="450050"/>
          </a:xfrm>
        </p:grpSpPr>
        <p:sp>
          <p:nvSpPr>
            <p:cNvPr id="12" name="橢圓 11"/>
            <p:cNvSpPr/>
            <p:nvPr userDrawn="1"/>
          </p:nvSpPr>
          <p:spPr>
            <a:xfrm>
              <a:off x="161510" y="4617951"/>
              <a:ext cx="450050" cy="4500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 userDrawn="1"/>
          </p:nvSpPr>
          <p:spPr>
            <a:xfrm>
              <a:off x="296525" y="4617951"/>
              <a:ext cx="450050" cy="450050"/>
            </a:xfrm>
            <a:prstGeom prst="ellipse">
              <a:avLst/>
            </a:prstGeom>
            <a:solidFill>
              <a:srgbClr val="9BBB59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4" name="Picture 2" descr="D:\桌面\logo.png"/>
            <p:cNvPicPr>
              <a:picLocks noChangeAspect="1" noChangeArrowheads="1"/>
            </p:cNvPicPr>
            <p:nvPr userDrawn="1"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6595" y="4777015"/>
              <a:ext cx="610257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動作按鈕: 上一項 14">
              <a:hlinkClick r:id="" action="ppaction://hlinkshowjump?jump=previousslide" highlightClick="1"/>
            </p:cNvPr>
            <p:cNvSpPr/>
            <p:nvPr userDrawn="1"/>
          </p:nvSpPr>
          <p:spPr>
            <a:xfrm>
              <a:off x="7452320" y="4694752"/>
              <a:ext cx="360000" cy="360000"/>
            </a:xfrm>
            <a:prstGeom prst="actionButtonBackPrevious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reflection blurRad="6350" stA="50000" endA="300" endPos="90000" dir="5400000" sy="-100000" algn="bl" rotWithShape="0"/>
            </a:effectLst>
            <a:scene3d>
              <a:camera prst="obliqueBottomRight"/>
              <a:lightRig rig="threePt" dir="t"/>
            </a:scene3d>
            <a:sp3d>
              <a:bevelT w="25400" h="25400"/>
              <a:bevelB w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動作按鈕: 首頁 15">
              <a:hlinkClick r:id="" action="ppaction://hlinkshowjump?jump=firstslide" highlightClick="1"/>
            </p:cNvPr>
            <p:cNvSpPr/>
            <p:nvPr userDrawn="1"/>
          </p:nvSpPr>
          <p:spPr>
            <a:xfrm>
              <a:off x="7992380" y="4694752"/>
              <a:ext cx="360000" cy="360000"/>
            </a:xfrm>
            <a:prstGeom prst="actionButtonHom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reflection blurRad="6350" stA="50000" endA="300" endPos="90000" dir="5400000" sy="-100000" algn="bl" rotWithShape="0"/>
            </a:effectLst>
            <a:scene3d>
              <a:camera prst="obliqueBottomRight"/>
              <a:lightRig rig="threePt" dir="t"/>
            </a:scene3d>
            <a:sp3d>
              <a:bevelT w="25400" h="25400"/>
              <a:bevelB w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動作按鈕: 下一項 16">
              <a:hlinkClick r:id="" action="ppaction://hlinkshowjump?jump=nextslide" highlightClick="1"/>
            </p:cNvPr>
            <p:cNvSpPr/>
            <p:nvPr userDrawn="1"/>
          </p:nvSpPr>
          <p:spPr>
            <a:xfrm>
              <a:off x="8492930" y="4693863"/>
              <a:ext cx="360000" cy="360000"/>
            </a:xfrm>
            <a:prstGeom prst="actionButtonForwardNex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reflection blurRad="6350" stA="50000" endA="300" endPos="90000" dir="5400000" sy="-100000" algn="bl" rotWithShape="0"/>
            </a:effectLst>
            <a:scene3d>
              <a:camera prst="obliqueBottomRight"/>
              <a:lightRig rig="threePt" dir="t"/>
            </a:scene3d>
            <a:sp3d>
              <a:bevelT w="25400" h="25400"/>
              <a:bevelB w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8" name="文字方塊 17"/>
          <p:cNvSpPr txBox="1"/>
          <p:nvPr userDrawn="1"/>
        </p:nvSpPr>
        <p:spPr>
          <a:xfrm>
            <a:off x="116506" y="4694752"/>
            <a:ext cx="58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B089E88-AE65-4CA2-BA11-4B6DC14C3389}" type="slidenum">
              <a:rPr lang="zh-TW" altLang="en-US" smtClean="0">
                <a:solidFill>
                  <a:schemeClr val="bg1"/>
                </a:solidFill>
              </a:rPr>
              <a:pPr algn="ctr"/>
              <a:t>‹#›</a:t>
            </a:fld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03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3" r:id="rId4"/>
    <p:sldLayoutId id="2147483664" r:id="rId5"/>
    <p:sldLayoutId id="2147483662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tiff"/><Relationship Id="rId3" Type="http://schemas.openxmlformats.org/officeDocument/2006/relationships/slide" Target="slide2.xml"/><Relationship Id="rId7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slide" Target="slide91.xml"/><Relationship Id="rId5" Type="http://schemas.openxmlformats.org/officeDocument/2006/relationships/slide" Target="slide67.xml"/><Relationship Id="rId4" Type="http://schemas.openxmlformats.org/officeDocument/2006/relationships/slide" Target="slide4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slide" Target="slide40.xml"/><Relationship Id="rId3" Type="http://schemas.openxmlformats.org/officeDocument/2006/relationships/slide" Target="slide15.xml"/><Relationship Id="rId7" Type="http://schemas.openxmlformats.org/officeDocument/2006/relationships/slide" Target="slide27.xml"/><Relationship Id="rId12" Type="http://schemas.openxmlformats.org/officeDocument/2006/relationships/slide" Target="slide38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11" Type="http://schemas.openxmlformats.org/officeDocument/2006/relationships/slide" Target="slide36.xml"/><Relationship Id="rId5" Type="http://schemas.openxmlformats.org/officeDocument/2006/relationships/slide" Target="slide21.xml"/><Relationship Id="rId10" Type="http://schemas.openxmlformats.org/officeDocument/2006/relationships/slide" Target="slide33.xml"/><Relationship Id="rId4" Type="http://schemas.openxmlformats.org/officeDocument/2006/relationships/slide" Target="slide18.xml"/><Relationship Id="rId9" Type="http://schemas.openxmlformats.org/officeDocument/2006/relationships/slide" Target="slide32.xml"/><Relationship Id="rId14" Type="http://schemas.openxmlformats.org/officeDocument/2006/relationships/slide" Target="slide4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7" Type="http://schemas.openxmlformats.org/officeDocument/2006/relationships/image" Target="../media/image27.png"/><Relationship Id="rId2" Type="http://schemas.openxmlformats.org/officeDocument/2006/relationships/slide" Target="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slide" Target="slide5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82.xml"/><Relationship Id="rId2" Type="http://schemas.openxmlformats.org/officeDocument/2006/relationships/slide" Target="slide7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89.xml"/><Relationship Id="rId4" Type="http://schemas.openxmlformats.org/officeDocument/2006/relationships/slide" Target="slide8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" Target="slide108.xml"/><Relationship Id="rId2" Type="http://schemas.openxmlformats.org/officeDocument/2006/relationships/slide" Target="slide10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線接點 28"/>
          <p:cNvCxnSpPr/>
          <p:nvPr/>
        </p:nvCxnSpPr>
        <p:spPr>
          <a:xfrm>
            <a:off x="3157953" y="1507862"/>
            <a:ext cx="5779532" cy="0"/>
          </a:xfrm>
          <a:prstGeom prst="line">
            <a:avLst/>
          </a:prstGeom>
          <a:ln w="76200">
            <a:solidFill>
              <a:schemeClr val="bg2">
                <a:lumMod val="25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D:\製作中\02再版書\0558909\章首頁\not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204" y="1487350"/>
            <a:ext cx="3790950" cy="333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標題 6"/>
          <p:cNvSpPr>
            <a:spLocks noGrp="1"/>
          </p:cNvSpPr>
          <p:nvPr>
            <p:ph type="ctrTitle"/>
          </p:nvPr>
        </p:nvSpPr>
        <p:spPr>
          <a:xfrm>
            <a:off x="3157954" y="782801"/>
            <a:ext cx="5476465" cy="704549"/>
          </a:xfrm>
        </p:spPr>
        <p:txBody>
          <a:bodyPr/>
          <a:lstStyle/>
          <a:p>
            <a:r>
              <a:rPr lang="zh-TW" altLang="en-US" dirty="0" smtClean="0"/>
              <a:t>程式語言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74295" y="1792831"/>
            <a:ext cx="2459328" cy="2554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3" action="ppaction://hlinksldjump"/>
              </a:rPr>
              <a:t>9-1 </a:t>
            </a:r>
            <a:r>
              <a:rPr lang="zh-TW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3" action="ppaction://hlinksldjump"/>
              </a:rPr>
              <a:t>程式語言發展史</a:t>
            </a:r>
            <a:endParaRPr lang="en-US" altLang="zh-TW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9-2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資料</a:t>
            </a:r>
            <a:r>
              <a:rPr lang="zh-TW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型態</a:t>
            </a:r>
            <a:endParaRPr lang="en-US" altLang="zh-TW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9-3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程式</a:t>
            </a:r>
            <a:r>
              <a:rPr lang="zh-TW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指令</a:t>
            </a:r>
            <a:endParaRPr lang="en-US" altLang="zh-TW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6" action="ppaction://hlinksldjump"/>
              </a:rPr>
              <a:t>9-4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6" action="ppaction://hlinksldjump"/>
              </a:rPr>
              <a:t>程序定義和</a:t>
            </a:r>
            <a:r>
              <a:rPr lang="zh-TW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6" action="ppaction://hlinksldjump"/>
              </a:rPr>
              <a:t>使用</a:t>
            </a:r>
            <a:endParaRPr lang="en-US" altLang="zh-TW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5968" y="1873738"/>
            <a:ext cx="2504230" cy="2503543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1401888">
            <a:off x="1229156" y="2064319"/>
            <a:ext cx="2504230" cy="2503543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1077218">
            <a:off x="1372356" y="2296931"/>
            <a:ext cx="2504230" cy="2503543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val="164374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9-1 </a:t>
            </a:r>
            <a:r>
              <a:rPr lang="zh-TW" altLang="en-US" dirty="0" smtClean="0"/>
              <a:t>程式語言發展史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r>
              <a:rPr lang="en-US" altLang="zh-TW" dirty="0" smtClean="0">
                <a:hlinkClick r:id="rId2" action="ppaction://hlinksldjump"/>
              </a:rPr>
              <a:t>FORTRAN</a:t>
            </a:r>
            <a:endParaRPr lang="en-US" altLang="zh-TW" dirty="0" smtClean="0"/>
          </a:p>
          <a:p>
            <a:r>
              <a:rPr lang="en-US" altLang="zh-TW" dirty="0" smtClean="0">
                <a:hlinkClick r:id="rId3" action="ppaction://hlinksldjump"/>
              </a:rPr>
              <a:t>LISP</a:t>
            </a:r>
            <a:endParaRPr lang="en-US" altLang="zh-TW" dirty="0" smtClean="0"/>
          </a:p>
          <a:p>
            <a:r>
              <a:rPr lang="en-US" altLang="zh-TW" dirty="0" smtClean="0">
                <a:hlinkClick r:id="rId4" action="ppaction://hlinksldjump"/>
              </a:rPr>
              <a:t>COBOL</a:t>
            </a:r>
            <a:endParaRPr lang="en-US" altLang="zh-TW" dirty="0" smtClean="0"/>
          </a:p>
          <a:p>
            <a:r>
              <a:rPr lang="en-US" altLang="zh-TW" dirty="0" smtClean="0">
                <a:hlinkClick r:id="rId5" action="ppaction://hlinksldjump"/>
              </a:rPr>
              <a:t>BASIC</a:t>
            </a:r>
            <a:endParaRPr lang="en-US" altLang="zh-TW" dirty="0" smtClean="0"/>
          </a:p>
          <a:p>
            <a:r>
              <a:rPr lang="en-US" altLang="zh-TW" dirty="0" smtClean="0">
                <a:hlinkClick r:id="rId6" action="ppaction://hlinksldjump"/>
              </a:rPr>
              <a:t>PASCAL</a:t>
            </a:r>
            <a:endParaRPr lang="en-US" altLang="zh-TW" dirty="0" smtClean="0"/>
          </a:p>
          <a:p>
            <a:r>
              <a:rPr lang="en-US" altLang="zh-TW" dirty="0" smtClean="0">
                <a:hlinkClick r:id="rId7" action="ppaction://hlinksldjump"/>
              </a:rPr>
              <a:t>C</a:t>
            </a:r>
            <a:endParaRPr lang="en-US" altLang="zh-TW" dirty="0" smtClean="0"/>
          </a:p>
          <a:p>
            <a:r>
              <a:rPr lang="en-US" altLang="zh-TW" dirty="0" smtClean="0">
                <a:hlinkClick r:id="rId8" action="ppaction://hlinksldjump"/>
              </a:rPr>
              <a:t>PROLOG</a:t>
            </a:r>
            <a:endParaRPr lang="en-US" altLang="zh-TW" dirty="0" smtClean="0"/>
          </a:p>
          <a:p>
            <a:r>
              <a:rPr lang="en-US" altLang="zh-TW" dirty="0" smtClean="0">
                <a:hlinkClick r:id="rId9" action="ppaction://hlinksldjump"/>
              </a:rPr>
              <a:t>ADA</a:t>
            </a:r>
            <a:endParaRPr lang="en-US" altLang="zh-TW" dirty="0" smtClean="0"/>
          </a:p>
          <a:p>
            <a:r>
              <a:rPr lang="en-US" altLang="zh-TW" dirty="0" smtClean="0">
                <a:hlinkClick r:id="rId10" action="ppaction://hlinksldjump"/>
              </a:rPr>
              <a:t>C++</a:t>
            </a:r>
            <a:endParaRPr lang="en-US" altLang="zh-TW" dirty="0" smtClean="0"/>
          </a:p>
          <a:p>
            <a:r>
              <a:rPr lang="en-US" altLang="zh-TW" dirty="0" smtClean="0">
                <a:hlinkClick r:id="rId11" action="ppaction://hlinksldjump"/>
              </a:rPr>
              <a:t>Python</a:t>
            </a:r>
            <a:endParaRPr lang="en-US" altLang="zh-TW" dirty="0" smtClean="0"/>
          </a:p>
          <a:p>
            <a:r>
              <a:rPr lang="en-US" altLang="zh-TW" dirty="0" smtClean="0">
                <a:hlinkClick r:id="rId12" action="ppaction://hlinksldjump"/>
              </a:rPr>
              <a:t>JAVA</a:t>
            </a:r>
            <a:endParaRPr lang="en-US" altLang="zh-TW" dirty="0" smtClean="0"/>
          </a:p>
          <a:p>
            <a:pPr algn="l"/>
            <a:r>
              <a:rPr lang="en-US" altLang="zh-TW" dirty="0" smtClean="0">
                <a:hlinkClick r:id="rId13" action="ppaction://hlinksldjump"/>
              </a:rPr>
              <a:t>JavaScript</a:t>
            </a:r>
            <a:r>
              <a:rPr lang="zh-TW" altLang="en-US" dirty="0" smtClean="0">
                <a:hlinkClick r:id="rId13" action="ppaction://hlinksldjump"/>
              </a:rPr>
              <a:t>和 </a:t>
            </a:r>
            <a:r>
              <a:rPr lang="en-US" altLang="zh-TW" dirty="0" err="1" smtClean="0">
                <a:hlinkClick r:id="rId13" action="ppaction://hlinksldjump"/>
              </a:rPr>
              <a:t>ASP.NET</a:t>
            </a:r>
            <a:endParaRPr lang="en-US" altLang="zh-TW" dirty="0" smtClean="0"/>
          </a:p>
          <a:p>
            <a:pPr algn="l"/>
            <a:r>
              <a:rPr lang="en-US" altLang="zh-TW" dirty="0">
                <a:hlinkClick r:id="rId14" action="ppaction://hlinksldjump"/>
              </a:rPr>
              <a:t>Kotlin </a:t>
            </a:r>
            <a:r>
              <a:rPr lang="zh-TW" altLang="en-US" dirty="0">
                <a:hlinkClick r:id="rId14" action="ppaction://hlinksldjump"/>
              </a:rPr>
              <a:t>和 </a:t>
            </a:r>
            <a:r>
              <a:rPr lang="en-US" altLang="zh-TW" dirty="0">
                <a:hlinkClick r:id="rId14" action="ppaction://hlinksldjump"/>
              </a:rPr>
              <a:t>Swift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6704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9-1 </a:t>
            </a:r>
            <a:r>
              <a:rPr lang="zh-TW" altLang="en-US" dirty="0" smtClean="0"/>
              <a:t>程式語言發展史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電腦只能接受由</a:t>
            </a:r>
            <a:r>
              <a:rPr lang="en-US" altLang="zh-TW" dirty="0" smtClean="0"/>
              <a:t>0</a:t>
            </a:r>
            <a:r>
              <a:rPr lang="zh-TW" altLang="en-US" dirty="0" smtClean="0"/>
              <a:t>與</a:t>
            </a:r>
            <a:r>
              <a:rPr lang="en-US" altLang="zh-TW" dirty="0" smtClean="0"/>
              <a:t>1</a:t>
            </a:r>
            <a:r>
              <a:rPr lang="zh-TW" altLang="en-US" dirty="0" smtClean="0"/>
              <a:t>組成的機器語言（</a:t>
            </a:r>
            <a:r>
              <a:rPr lang="en-US" altLang="zh-TW" dirty="0" smtClean="0"/>
              <a:t>machine language</a:t>
            </a:r>
            <a:r>
              <a:rPr lang="zh-TW" altLang="en-US" dirty="0" smtClean="0"/>
              <a:t>）。</a:t>
            </a:r>
          </a:p>
          <a:p>
            <a:r>
              <a:rPr lang="zh-TW" altLang="en-US" dirty="0" smtClean="0"/>
              <a:t>具體來說，每個</a:t>
            </a:r>
            <a:r>
              <a:rPr lang="en-US" altLang="zh-TW" dirty="0" smtClean="0"/>
              <a:t>CPU</a:t>
            </a:r>
            <a:r>
              <a:rPr lang="zh-TW" altLang="en-US" dirty="0" smtClean="0"/>
              <a:t>開發者會制定該</a:t>
            </a:r>
            <a:r>
              <a:rPr lang="en-US" altLang="zh-TW" dirty="0" smtClean="0"/>
              <a:t>CPU</a:t>
            </a:r>
            <a:r>
              <a:rPr lang="zh-TW" altLang="en-US" dirty="0" smtClean="0"/>
              <a:t>可執行的指令，每個指令都有其對應的二進位</a:t>
            </a:r>
            <a:r>
              <a:rPr lang="en-US" altLang="zh-TW" dirty="0" smtClean="0"/>
              <a:t>01</a:t>
            </a:r>
            <a:r>
              <a:rPr lang="zh-TW" altLang="en-US" dirty="0" smtClean="0"/>
              <a:t>組成的代碼。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421310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9-1 </a:t>
            </a:r>
            <a:r>
              <a:rPr lang="zh-TW" altLang="en-US" dirty="0"/>
              <a:t>程式語言發展史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程式員直接使用</a:t>
            </a:r>
            <a:r>
              <a:rPr lang="en-US" altLang="zh-TW" dirty="0"/>
              <a:t>CPU</a:t>
            </a:r>
            <a:r>
              <a:rPr lang="zh-TW" altLang="en-US" dirty="0"/>
              <a:t>指令代碼來編撰程式，編撰完成後透過工具將這些代碼直接存放到主記憶體中，讓</a:t>
            </a:r>
            <a:r>
              <a:rPr lang="en-US" altLang="zh-TW" dirty="0"/>
              <a:t>CPU</a:t>
            </a:r>
            <a:r>
              <a:rPr lang="zh-TW" altLang="en-US" dirty="0"/>
              <a:t>開始執行此程式，這些</a:t>
            </a:r>
            <a:r>
              <a:rPr lang="en-US" altLang="zh-TW" dirty="0"/>
              <a:t>CPU</a:t>
            </a:r>
            <a:r>
              <a:rPr lang="zh-TW" altLang="en-US" dirty="0"/>
              <a:t>的代碼就是</a:t>
            </a:r>
            <a:r>
              <a:rPr lang="zh-TW" altLang="en-US" dirty="0">
                <a:solidFill>
                  <a:srgbClr val="C00000"/>
                </a:solidFill>
              </a:rPr>
              <a:t>機器語言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8068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9-1 </a:t>
            </a:r>
            <a:r>
              <a:rPr lang="zh-TW" altLang="en-US" dirty="0"/>
              <a:t>程式語言發展史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CPU</a:t>
            </a:r>
            <a:r>
              <a:rPr lang="zh-TW" altLang="en-US" dirty="0" smtClean="0"/>
              <a:t>開發</a:t>
            </a:r>
            <a:r>
              <a:rPr lang="zh-TW" altLang="en-US" dirty="0"/>
              <a:t>者在制定</a:t>
            </a:r>
            <a:r>
              <a:rPr lang="en-US" altLang="zh-TW" dirty="0" smtClean="0"/>
              <a:t>CPU</a:t>
            </a:r>
            <a:r>
              <a:rPr lang="zh-TW" altLang="en-US" dirty="0" smtClean="0"/>
              <a:t>指令</a:t>
            </a:r>
            <a:r>
              <a:rPr lang="zh-TW" altLang="en-US" dirty="0"/>
              <a:t>時，也同時制定了每個</a:t>
            </a:r>
            <a:r>
              <a:rPr lang="zh-TW" altLang="en-US" dirty="0" smtClean="0"/>
              <a:t>指令的</a:t>
            </a:r>
            <a:r>
              <a:rPr lang="zh-TW" altLang="en-US" dirty="0">
                <a:solidFill>
                  <a:srgbClr val="C00000"/>
                </a:solidFill>
              </a:rPr>
              <a:t>助憶符</a:t>
            </a:r>
            <a:r>
              <a:rPr lang="zh-TW" altLang="en-US" dirty="0"/>
              <a:t>（</a:t>
            </a:r>
            <a:r>
              <a:rPr lang="en-US" altLang="zh-TW" dirty="0"/>
              <a:t>mnemonic</a:t>
            </a:r>
            <a:r>
              <a:rPr lang="zh-TW" altLang="en-US" dirty="0"/>
              <a:t>）及簡單的語法，使得程式的撰寫、</a:t>
            </a:r>
            <a:r>
              <a:rPr lang="zh-TW" altLang="en-US" dirty="0" smtClean="0"/>
              <a:t>理解與</a:t>
            </a:r>
            <a:r>
              <a:rPr lang="zh-TW" altLang="en-US" dirty="0"/>
              <a:t>除錯更加容易，這些助</a:t>
            </a:r>
            <a:r>
              <a:rPr lang="zh-TW" altLang="en-US" dirty="0" smtClean="0"/>
              <a:t>憶符</a:t>
            </a:r>
            <a:r>
              <a:rPr lang="zh-TW" altLang="en-US" dirty="0"/>
              <a:t>及其指令語法就構成所謂的</a:t>
            </a:r>
            <a:r>
              <a:rPr lang="zh-TW" altLang="en-US" dirty="0">
                <a:solidFill>
                  <a:srgbClr val="C00000"/>
                </a:solidFill>
              </a:rPr>
              <a:t>組合語言</a:t>
            </a:r>
            <a:r>
              <a:rPr lang="zh-TW" altLang="en-US" dirty="0"/>
              <a:t>（</a:t>
            </a:r>
            <a:r>
              <a:rPr lang="en-US" altLang="zh-TW" dirty="0"/>
              <a:t>assembly language</a:t>
            </a:r>
            <a:r>
              <a:rPr lang="zh-TW" altLang="en-US" dirty="0" smtClean="0"/>
              <a:t>）。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7792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9-1 </a:t>
            </a:r>
            <a:r>
              <a:rPr lang="zh-TW" altLang="en-US" dirty="0"/>
              <a:t>程式語言發展史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以機器語言表示為</a:t>
            </a:r>
            <a:r>
              <a:rPr lang="en-US" altLang="zh-TW" dirty="0"/>
              <a:t>01011010</a:t>
            </a:r>
            <a:r>
              <a:rPr lang="zh-TW" altLang="en-US" dirty="0"/>
              <a:t>，在組合語言則以 </a:t>
            </a:r>
            <a:r>
              <a:rPr lang="en-US" altLang="zh-TW" dirty="0" smtClean="0"/>
              <a:t>ADD</a:t>
            </a:r>
            <a:r>
              <a:rPr lang="zh-TW" altLang="en-US" dirty="0" smtClean="0"/>
              <a:t>來</a:t>
            </a:r>
            <a:r>
              <a:rPr lang="zh-TW" altLang="en-US" dirty="0"/>
              <a:t>表示。</a:t>
            </a:r>
            <a:endParaRPr lang="en-US" altLang="zh-TW" dirty="0"/>
          </a:p>
          <a:p>
            <a:r>
              <a:rPr lang="zh-TW" altLang="en-US" dirty="0"/>
              <a:t>以組合語言撰寫出來的程式，必須透過</a:t>
            </a:r>
            <a:r>
              <a:rPr lang="zh-TW" altLang="en-US" dirty="0">
                <a:solidFill>
                  <a:srgbClr val="C00000"/>
                </a:solidFill>
              </a:rPr>
              <a:t>組譯器</a:t>
            </a:r>
            <a:r>
              <a:rPr lang="zh-TW" altLang="en-US" dirty="0"/>
              <a:t>（</a:t>
            </a:r>
            <a:r>
              <a:rPr lang="en-US" altLang="zh-TW" dirty="0"/>
              <a:t>assembler</a:t>
            </a:r>
            <a:r>
              <a:rPr lang="zh-TW" altLang="en-US" dirty="0" smtClean="0"/>
              <a:t>）轉換</a:t>
            </a:r>
            <a:r>
              <a:rPr lang="zh-TW" altLang="en-US" dirty="0"/>
              <a:t>成機器語言，才能為中央處理器接受。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3824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9-1 </a:t>
            </a:r>
            <a:r>
              <a:rPr lang="zh-TW" altLang="en-US" dirty="0"/>
              <a:t>程式語言發展史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 smtClean="0"/>
              <a:t>組合語言缺點：</a:t>
            </a:r>
            <a:endParaRPr lang="en-US" altLang="zh-TW" dirty="0" smtClean="0"/>
          </a:p>
          <a:p>
            <a:pPr lvl="1"/>
            <a:r>
              <a:rPr lang="zh-TW" altLang="en-US" dirty="0" smtClean="0">
                <a:solidFill>
                  <a:srgbClr val="C00000"/>
                </a:solidFill>
              </a:rPr>
              <a:t>不同規格的電腦就各自有自己的組合語言</a:t>
            </a:r>
            <a:r>
              <a:rPr lang="zh-TW" altLang="en-US" dirty="0" smtClean="0"/>
              <a:t>，如此造成程式設計師學習上的困難，且寫出來的程式也只能在特定電腦上執行。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組合語言只具備簡單的指令，所以寫出來的程式通常不具結構性，</a:t>
            </a:r>
            <a:r>
              <a:rPr lang="zh-TW" altLang="en-US" dirty="0" smtClean="0">
                <a:solidFill>
                  <a:srgbClr val="C00000"/>
                </a:solidFill>
              </a:rPr>
              <a:t>程式冗長且難以閱讀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5169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9-1 </a:t>
            </a:r>
            <a:r>
              <a:rPr lang="zh-TW" altLang="en-US" dirty="0" smtClean="0"/>
              <a:t>程式語言發展史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組合語言稱作</a:t>
            </a:r>
            <a:r>
              <a:rPr lang="zh-TW" altLang="en-US" dirty="0" smtClean="0">
                <a:solidFill>
                  <a:srgbClr val="C00000"/>
                </a:solidFill>
              </a:rPr>
              <a:t>低階語言</a:t>
            </a:r>
            <a:r>
              <a:rPr lang="en-US" altLang="zh-TW" dirty="0" smtClean="0"/>
              <a:t>(low level language)</a:t>
            </a:r>
            <a:r>
              <a:rPr lang="zh-TW" altLang="en-US" dirty="0" smtClean="0"/>
              <a:t>，表示組合語言寫出來的程式</a:t>
            </a:r>
            <a:r>
              <a:rPr lang="zh-TW" altLang="en-US" dirty="0" smtClean="0">
                <a:solidFill>
                  <a:srgbClr val="C00000"/>
                </a:solidFill>
              </a:rPr>
              <a:t>可讀性</a:t>
            </a:r>
            <a:r>
              <a:rPr lang="en-US" altLang="zh-TW" dirty="0" smtClean="0"/>
              <a:t>(readability)</a:t>
            </a:r>
            <a:r>
              <a:rPr lang="zh-TW" altLang="en-US" dirty="0" smtClean="0"/>
              <a:t>很低，同時這也是</a:t>
            </a:r>
            <a:r>
              <a:rPr lang="zh-TW" altLang="en-US" dirty="0" smtClean="0">
                <a:solidFill>
                  <a:srgbClr val="C00000"/>
                </a:solidFill>
              </a:rPr>
              <a:t>高階語言</a:t>
            </a:r>
            <a:r>
              <a:rPr lang="en-US" altLang="zh-TW" dirty="0" smtClean="0"/>
              <a:t>(high level language)</a:t>
            </a:r>
            <a:r>
              <a:rPr lang="zh-TW" altLang="en-US" dirty="0" smtClean="0"/>
              <a:t>被發展設計出來的原因。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64532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9-1 </a:t>
            </a:r>
            <a:r>
              <a:rPr lang="zh-TW" altLang="en-US" dirty="0"/>
              <a:t>程式語言發展史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高階語言如</a:t>
            </a:r>
            <a:r>
              <a:rPr lang="en-US" altLang="zh-TW" dirty="0"/>
              <a:t>C</a:t>
            </a:r>
            <a:r>
              <a:rPr lang="zh-TW" altLang="en-US" dirty="0"/>
              <a:t>語言，寫出來的程式，比起組合語言寫出來的程式，更容易為一般人所理解。</a:t>
            </a:r>
            <a:endParaRPr lang="en-US" altLang="zh-TW" dirty="0"/>
          </a:p>
          <a:p>
            <a:r>
              <a:rPr lang="zh-TW" altLang="en-US" dirty="0"/>
              <a:t>高階語言和機器的特性並沒有很密切的對應，所以較具有</a:t>
            </a:r>
            <a:r>
              <a:rPr lang="zh-TW" altLang="en-US" dirty="0">
                <a:solidFill>
                  <a:srgbClr val="C00000"/>
                </a:solidFill>
              </a:rPr>
              <a:t>可攜性</a:t>
            </a:r>
            <a:r>
              <a:rPr lang="en-US" altLang="zh-TW" dirty="0"/>
              <a:t>(portability)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33477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751770"/>
            <a:ext cx="6975775" cy="1492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9-1 </a:t>
            </a:r>
            <a:r>
              <a:rPr lang="zh-TW" altLang="en-US" dirty="0" smtClean="0"/>
              <a:t>程式語言發展史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高階語言寫出來的程式還要經過</a:t>
            </a:r>
            <a:r>
              <a:rPr lang="zh-TW" altLang="en-US" dirty="0" smtClean="0">
                <a:solidFill>
                  <a:srgbClr val="C00000"/>
                </a:solidFill>
              </a:rPr>
              <a:t>編譯</a:t>
            </a:r>
            <a:r>
              <a:rPr lang="en-US" altLang="zh-TW" dirty="0" smtClean="0"/>
              <a:t>(compile)</a:t>
            </a:r>
            <a:r>
              <a:rPr lang="zh-TW" altLang="en-US" dirty="0" smtClean="0"/>
              <a:t>的步驟才能執行。</a:t>
            </a:r>
            <a:endParaRPr lang="en-US" altLang="zh-TW" dirty="0" smtClean="0"/>
          </a:p>
          <a:p>
            <a:r>
              <a:rPr lang="zh-TW" altLang="en-US" dirty="0" smtClean="0"/>
              <a:t>整個編譯的過程如下圖所示：</a:t>
            </a:r>
            <a:endParaRPr lang="zh-TW" altLang="en-US" dirty="0"/>
          </a:p>
        </p:txBody>
      </p:sp>
      <p:sp>
        <p:nvSpPr>
          <p:cNvPr id="7" name="五邊形 6"/>
          <p:cNvSpPr/>
          <p:nvPr/>
        </p:nvSpPr>
        <p:spPr>
          <a:xfrm rot="20938957">
            <a:off x="2096917" y="3977861"/>
            <a:ext cx="2063433" cy="671995"/>
          </a:xfrm>
          <a:prstGeom prst="homePlat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高階程式</a:t>
            </a:r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編譯</a:t>
            </a:r>
            <a:endParaRPr lang="en-US" altLang="zh-TW" sz="2000" dirty="0" smtClean="0"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和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執行</a:t>
            </a:r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流程</a:t>
            </a:r>
            <a:endParaRPr lang="zh-TW" altLang="en-US" sz="2000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405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60399"/>
            <a:ext cx="4519845" cy="2934224"/>
          </a:xfrm>
        </p:spPr>
        <p:txBody>
          <a:bodyPr>
            <a:normAutofit fontScale="85000" lnSpcReduction="10000"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zh-TW" altLang="en-US" dirty="0"/>
              <a:t>第一個誕生的高階程式語言是</a:t>
            </a:r>
            <a:r>
              <a:rPr lang="en-US" altLang="zh-TW" dirty="0"/>
              <a:t>1957</a:t>
            </a:r>
            <a:r>
              <a:rPr lang="zh-TW" altLang="en-US" dirty="0"/>
              <a:t>年推出的</a:t>
            </a:r>
            <a:r>
              <a:rPr lang="en-US" altLang="zh-TW" dirty="0"/>
              <a:t>FORTRAN</a:t>
            </a:r>
            <a:r>
              <a:rPr lang="zh-TW" altLang="en-US" dirty="0"/>
              <a:t>。</a:t>
            </a:r>
            <a:endParaRPr lang="en-US" altLang="zh-TW" dirty="0"/>
          </a:p>
          <a:p>
            <a:pPr marL="342900" indent="-342900" algn="l">
              <a:buFont typeface="Arial" pitchFamily="34" charset="0"/>
              <a:buChar char="•"/>
            </a:pPr>
            <a:r>
              <a:rPr lang="en-US" altLang="zh-TW" dirty="0"/>
              <a:t>1958</a:t>
            </a:r>
            <a:r>
              <a:rPr lang="zh-TW" altLang="en-US" dirty="0"/>
              <a:t>年推出的</a:t>
            </a:r>
            <a:r>
              <a:rPr lang="en-US" altLang="zh-TW" dirty="0"/>
              <a:t>LISP</a:t>
            </a:r>
            <a:r>
              <a:rPr lang="zh-TW" altLang="en-US" dirty="0"/>
              <a:t>，程式的變數並不需要有固定型態，並採用直譯的執行方式，也是有其擁護者。</a:t>
            </a:r>
            <a:endParaRPr lang="zh-TW" altLang="en-US" b="1" dirty="0"/>
          </a:p>
          <a:p>
            <a:pPr algn="l"/>
            <a:endParaRPr lang="zh-TW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558" y="652579"/>
            <a:ext cx="3253862" cy="4024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916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FORTRAN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zh-TW" altLang="en-US" dirty="0" smtClean="0"/>
              <a:t>第一個高階語言是</a:t>
            </a:r>
            <a:r>
              <a:rPr lang="en-US" altLang="zh-TW" dirty="0" smtClean="0"/>
              <a:t>IBM</a:t>
            </a:r>
            <a:r>
              <a:rPr lang="zh-TW" altLang="en-US" dirty="0" smtClean="0"/>
              <a:t>公司於</a:t>
            </a:r>
            <a:r>
              <a:rPr lang="en-US" altLang="zh-TW" dirty="0" smtClean="0"/>
              <a:t>1957</a:t>
            </a:r>
            <a:r>
              <a:rPr lang="zh-TW" altLang="en-US" dirty="0" smtClean="0"/>
              <a:t>年右推出的</a:t>
            </a:r>
            <a:r>
              <a:rPr lang="en-US" altLang="zh-TW" dirty="0" smtClean="0"/>
              <a:t>FORTRAN (</a:t>
            </a:r>
            <a:r>
              <a:rPr lang="en-US" altLang="zh-TW" dirty="0" err="1" smtClean="0"/>
              <a:t>FORmula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TRANslation</a:t>
            </a:r>
            <a:r>
              <a:rPr lang="en-US" altLang="zh-TW" dirty="0" smtClean="0"/>
              <a:t> language)</a:t>
            </a:r>
            <a:r>
              <a:rPr lang="zh-TW" altLang="en-US" dirty="0" smtClean="0"/>
              <a:t>，中文翻譯成「福傳語言」。</a:t>
            </a:r>
            <a:endParaRPr lang="en-US" altLang="zh-TW" dirty="0" smtClean="0"/>
          </a:p>
          <a:p>
            <a:r>
              <a:rPr lang="zh-TW" altLang="en-US" dirty="0" smtClean="0"/>
              <a:t>該語言當初是針對工程方面所需要的複雜科學計算所設計的，因此其程式敘述類似數學的式子。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4733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FORTRAN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mtClean="0"/>
              <a:t>不少工程數學或數值分析的程式及套裝軟體是利用</a:t>
            </a:r>
            <a:r>
              <a:rPr lang="en-US" altLang="zh-TW" smtClean="0"/>
              <a:t>FORTRAN</a:t>
            </a:r>
            <a:r>
              <a:rPr lang="zh-TW" altLang="en-US" smtClean="0"/>
              <a:t>所書寫的，尤其是需要大量計算的物理、氣象領域。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3803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FORTRAN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5427095" y="2540698"/>
            <a:ext cx="3394720" cy="193899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TW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FORTRAN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</a:t>
            </a:r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片段：</a:t>
            </a:r>
            <a:endParaRPr lang="en-US" alt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讓使用者輸入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對數字，然後把該數字和平均值印出來，其中第一行的數字“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 對應到第五行的數字“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”，用以表示迴圈的</a:t>
            </a:r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範圍。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650" y="1806665"/>
            <a:ext cx="3735415" cy="20189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7598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LISP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dirty="0" smtClean="0"/>
              <a:t>LISP (</a:t>
            </a:r>
            <a:r>
              <a:rPr lang="en-US" altLang="zh-TW" dirty="0" err="1" smtClean="0"/>
              <a:t>LISt</a:t>
            </a:r>
            <a:r>
              <a:rPr lang="en-US" altLang="zh-TW" dirty="0" smtClean="0"/>
              <a:t> Processing)</a:t>
            </a:r>
            <a:r>
              <a:rPr lang="zh-TW" altLang="en-US" dirty="0" smtClean="0"/>
              <a:t>是美國學術重鎮麻省理工學院</a:t>
            </a:r>
            <a:r>
              <a:rPr lang="en-US" altLang="zh-TW" dirty="0" smtClean="0"/>
              <a:t>(MIT)</a:t>
            </a:r>
            <a:r>
              <a:rPr lang="zh-TW" altLang="en-US" dirty="0" smtClean="0"/>
              <a:t>的教授</a:t>
            </a:r>
            <a:r>
              <a:rPr lang="en-US" altLang="zh-TW" dirty="0" smtClean="0"/>
              <a:t>John McCarthy</a:t>
            </a:r>
            <a:r>
              <a:rPr lang="zh-TW" altLang="en-US" dirty="0" smtClean="0"/>
              <a:t>於</a:t>
            </a:r>
            <a:r>
              <a:rPr lang="en-US" altLang="zh-TW" dirty="0" smtClean="0"/>
              <a:t>1958</a:t>
            </a:r>
            <a:r>
              <a:rPr lang="zh-TW" altLang="en-US" dirty="0" smtClean="0"/>
              <a:t>年所推出的。</a:t>
            </a:r>
            <a:endParaRPr lang="en-US" altLang="zh-TW" dirty="0" smtClean="0"/>
          </a:p>
          <a:p>
            <a:r>
              <a:rPr lang="en-US" altLang="zh-TW" dirty="0" smtClean="0"/>
              <a:t>LISP</a:t>
            </a:r>
            <a:r>
              <a:rPr lang="zh-TW" altLang="en-US" dirty="0" smtClean="0"/>
              <a:t>並不強調數值運算的效率，反而提供很具彈性的符號表示與運算表示式，所以適合做</a:t>
            </a:r>
            <a:r>
              <a:rPr lang="zh-TW" altLang="en-US" dirty="0" smtClean="0">
                <a:solidFill>
                  <a:srgbClr val="C00000"/>
                </a:solidFill>
              </a:rPr>
              <a:t>符號運算</a:t>
            </a:r>
            <a:r>
              <a:rPr lang="en-US" altLang="zh-TW" dirty="0" smtClean="0"/>
              <a:t>(symbolic computation)</a:t>
            </a:r>
            <a:r>
              <a:rPr lang="zh-TW" altLang="en-US" dirty="0" smtClean="0"/>
              <a:t>，因此在人工智慧的應用上特別重要。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3417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LISP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199" y="1660399"/>
            <a:ext cx="8660305" cy="2934224"/>
          </a:xfrm>
        </p:spPr>
        <p:txBody>
          <a:bodyPr/>
          <a:lstStyle/>
          <a:p>
            <a:pPr algn="l"/>
            <a:r>
              <a:rPr lang="en-US" altLang="zh-TW" dirty="0" smtClean="0"/>
              <a:t>COMMON LISP</a:t>
            </a:r>
            <a:r>
              <a:rPr lang="zh-TW" altLang="en-US" dirty="0" smtClean="0"/>
              <a:t>是目前最通用的版本，之後也擴充了</a:t>
            </a:r>
            <a:r>
              <a:rPr lang="en-US" altLang="zh-TW" dirty="0" smtClean="0"/>
              <a:t>CLOS (Common Lisp Object System)</a:t>
            </a:r>
            <a:r>
              <a:rPr lang="zh-TW" altLang="en-US" dirty="0" smtClean="0"/>
              <a:t>，提供物件導向的程式結構。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59033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LISP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LISP</a:t>
            </a:r>
            <a:r>
              <a:rPr lang="zh-TW" altLang="en-US" dirty="0"/>
              <a:t>程式片段：</a:t>
            </a:r>
            <a:endParaRPr lang="en-US" altLang="zh-TW" dirty="0"/>
          </a:p>
          <a:p>
            <a:r>
              <a:rPr lang="zh-TW" altLang="en-US" dirty="0"/>
              <a:t>前</a:t>
            </a:r>
            <a:r>
              <a:rPr lang="en-US" altLang="zh-TW" dirty="0"/>
              <a:t>3</a:t>
            </a:r>
            <a:r>
              <a:rPr lang="zh-TW" altLang="en-US" dirty="0"/>
              <a:t>行首先定義一個函數叫作“</a:t>
            </a:r>
            <a:r>
              <a:rPr lang="en-US" altLang="zh-TW" dirty="0"/>
              <a:t>length”</a:t>
            </a:r>
            <a:r>
              <a:rPr lang="zh-TW" altLang="en-US" dirty="0"/>
              <a:t>，該函數計算一個串列</a:t>
            </a:r>
            <a:r>
              <a:rPr lang="en-US" altLang="zh-TW" dirty="0"/>
              <a:t>(list)</a:t>
            </a:r>
            <a:r>
              <a:rPr lang="zh-TW" altLang="en-US" dirty="0"/>
              <a:t>內包含幾個元素。接著在第</a:t>
            </a:r>
            <a:r>
              <a:rPr lang="en-US" altLang="zh-TW" dirty="0"/>
              <a:t>4</a:t>
            </a:r>
            <a:r>
              <a:rPr lang="zh-TW" altLang="en-US" dirty="0"/>
              <a:t>行呼叫該函數， 並且輸入串列「</a:t>
            </a:r>
            <a:r>
              <a:rPr lang="en-US" altLang="zh-TW" dirty="0"/>
              <a:t>( I love computers)</a:t>
            </a:r>
            <a:r>
              <a:rPr lang="zh-TW" altLang="en-US" dirty="0"/>
              <a:t>」，則會回傳“</a:t>
            </a:r>
            <a:r>
              <a:rPr lang="en-US" altLang="zh-TW" dirty="0"/>
              <a:t>3”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050" y="761230"/>
            <a:ext cx="4071925" cy="14612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8815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COBOL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 smtClean="0"/>
              <a:t>COBOL (Common Business Oriented Language)</a:t>
            </a:r>
            <a:r>
              <a:rPr lang="zh-TW" altLang="en-US" dirty="0" smtClean="0"/>
              <a:t>是專為商業資料處理而設計的語言，當時是由美國國防部推動成立的資料系統語言組織</a:t>
            </a:r>
            <a:r>
              <a:rPr lang="en-US" altLang="zh-TW" dirty="0" smtClean="0"/>
              <a:t>CODASYL (</a:t>
            </a:r>
            <a:r>
              <a:rPr lang="en-US" altLang="zh-TW" dirty="0" err="1" smtClean="0"/>
              <a:t>COnference</a:t>
            </a:r>
            <a:r>
              <a:rPr lang="en-US" altLang="zh-TW" dirty="0" smtClean="0"/>
              <a:t> of </a:t>
            </a:r>
            <a:r>
              <a:rPr lang="en-US" altLang="zh-TW" dirty="0" err="1" smtClean="0"/>
              <a:t>DAta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SYstem</a:t>
            </a:r>
            <a:r>
              <a:rPr lang="en-US" altLang="zh-TW" dirty="0" smtClean="0"/>
              <a:t> Language)</a:t>
            </a:r>
            <a:r>
              <a:rPr lang="zh-TW" altLang="en-US" dirty="0" smtClean="0"/>
              <a:t>編定，而於</a:t>
            </a:r>
            <a:r>
              <a:rPr lang="en-US" altLang="zh-TW" dirty="0" smtClean="0"/>
              <a:t>1959</a:t>
            </a:r>
            <a:r>
              <a:rPr lang="zh-TW" altLang="en-US" dirty="0" smtClean="0"/>
              <a:t>年發表。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49055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COBOL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COBOL</a:t>
            </a:r>
            <a:r>
              <a:rPr lang="zh-TW" altLang="en-US" dirty="0"/>
              <a:t>提供便利的檔案描述與處理，整個程式的結構，也特別重視資料的定義，適於描述不同類型的商業資料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目前</a:t>
            </a:r>
            <a:r>
              <a:rPr lang="zh-TW" altLang="en-US" dirty="0"/>
              <a:t>仍然有一些早期開發的商業系統，繼續使用</a:t>
            </a:r>
            <a:r>
              <a:rPr lang="en-US" altLang="zh-TW" dirty="0"/>
              <a:t>COBOL</a:t>
            </a:r>
            <a:r>
              <a:rPr lang="zh-TW" altLang="en-US" dirty="0"/>
              <a:t>，特別是銀行界。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35996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COBOL</a:t>
            </a:r>
            <a:r>
              <a:rPr lang="zh-TW" altLang="en-US" dirty="0"/>
              <a:t>範例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199" y="1660399"/>
            <a:ext cx="4879886" cy="2934224"/>
          </a:xfrm>
        </p:spPr>
        <p:txBody>
          <a:bodyPr>
            <a:normAutofit fontScale="62500" lnSpcReduction="20000"/>
          </a:bodyPr>
          <a:lstStyle/>
          <a:p>
            <a:r>
              <a:rPr lang="zh-TW" altLang="en-US" dirty="0" smtClean="0"/>
              <a:t>以</a:t>
            </a:r>
            <a:r>
              <a:rPr lang="zh-TW" altLang="en-US" dirty="0"/>
              <a:t>階層式的方式定義員工的相關資料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“</a:t>
            </a:r>
            <a:r>
              <a:rPr lang="en-US" altLang="zh-TW" dirty="0"/>
              <a:t>EMPLOYEE”</a:t>
            </a:r>
            <a:r>
              <a:rPr lang="zh-TW" altLang="en-US" dirty="0"/>
              <a:t>稱作集體項，包含階層號碼和</a:t>
            </a:r>
            <a:r>
              <a:rPr lang="zh-TW" altLang="en-US" dirty="0" smtClean="0"/>
              <a:t>資料名稱。</a:t>
            </a:r>
            <a:endParaRPr lang="en-US" altLang="zh-TW" dirty="0" smtClean="0"/>
          </a:p>
          <a:p>
            <a:r>
              <a:rPr lang="zh-TW" altLang="en-US" dirty="0" smtClean="0"/>
              <a:t>其餘的</a:t>
            </a:r>
            <a:r>
              <a:rPr lang="zh-TW" altLang="en-US" dirty="0"/>
              <a:t>為基本項，除了階層號碼和資料名稱，還包含資料格式定義，譬如“</a:t>
            </a:r>
            <a:r>
              <a:rPr lang="en-US" altLang="zh-TW" dirty="0">
                <a:solidFill>
                  <a:srgbClr val="C00000"/>
                </a:solidFill>
              </a:rPr>
              <a:t>X</a:t>
            </a:r>
            <a:r>
              <a:rPr lang="en-US" altLang="zh-TW" dirty="0"/>
              <a:t>”</a:t>
            </a:r>
            <a:r>
              <a:rPr lang="zh-TW" altLang="en-US" dirty="0"/>
              <a:t>符號代表文數字資料型態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至於</a:t>
            </a:r>
            <a:r>
              <a:rPr lang="en-US" altLang="zh-TW" dirty="0"/>
              <a:t>FILLER</a:t>
            </a:r>
            <a:r>
              <a:rPr lang="zh-TW" altLang="en-US" dirty="0"/>
              <a:t>主要是用來填補不用或不會參考到的位置，在程式中不會用到。</a:t>
            </a:r>
          </a:p>
          <a:p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095" y="1896675"/>
            <a:ext cx="3626895" cy="2586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842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 smtClean="0"/>
              <a:t>1965</a:t>
            </a:r>
            <a:r>
              <a:rPr lang="zh-TW" altLang="en-US" dirty="0" smtClean="0"/>
              <a:t>年推出</a:t>
            </a:r>
            <a:r>
              <a:rPr lang="en-US" altLang="zh-TW" dirty="0" smtClean="0"/>
              <a:t>BASIC (Beginner's All purpose Symbolic Instruction Code)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早期個人電腦還在使用</a:t>
            </a:r>
            <a:r>
              <a:rPr lang="en-US" altLang="zh-TW" dirty="0" smtClean="0"/>
              <a:t>DOS</a:t>
            </a:r>
            <a:r>
              <a:rPr lang="zh-TW" altLang="en-US" dirty="0" smtClean="0"/>
              <a:t>作業系統的時候，裡面就附有</a:t>
            </a:r>
            <a:r>
              <a:rPr lang="en-US" altLang="zh-TW" dirty="0" smtClean="0"/>
              <a:t>QBASIC</a:t>
            </a:r>
            <a:r>
              <a:rPr lang="zh-TW" altLang="en-US" dirty="0" smtClean="0"/>
              <a:t>的開發環境，所以當時很多人第一個接觸的程式語言就是</a:t>
            </a:r>
            <a:r>
              <a:rPr lang="en-US" altLang="zh-TW" dirty="0" smtClean="0"/>
              <a:t>BASIC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898770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BASIC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微軟以該語言為基礎，於</a:t>
            </a:r>
            <a:r>
              <a:rPr lang="en-US" altLang="zh-TW" dirty="0"/>
              <a:t>1991</a:t>
            </a:r>
            <a:r>
              <a:rPr lang="zh-TW" altLang="en-US" dirty="0"/>
              <a:t>年推出</a:t>
            </a:r>
            <a:r>
              <a:rPr lang="en-US" altLang="zh-TW" dirty="0"/>
              <a:t>VISUAL BASIC (</a:t>
            </a:r>
            <a:r>
              <a:rPr lang="zh-TW" altLang="en-US" dirty="0"/>
              <a:t>簡稱</a:t>
            </a:r>
            <a:r>
              <a:rPr lang="en-US" altLang="zh-TW" dirty="0"/>
              <a:t>VB)</a:t>
            </a:r>
            <a:r>
              <a:rPr lang="zh-TW" altLang="en-US" dirty="0"/>
              <a:t>，為</a:t>
            </a:r>
            <a:r>
              <a:rPr lang="en-US" altLang="zh-TW" dirty="0"/>
              <a:t>BASIC</a:t>
            </a:r>
            <a:r>
              <a:rPr lang="zh-TW" altLang="en-US" dirty="0"/>
              <a:t>語言提供了視覺化的簡易開發環境。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0352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BASIC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目前以</a:t>
            </a:r>
            <a:r>
              <a:rPr lang="en-US" altLang="zh-TW" dirty="0" smtClean="0"/>
              <a:t>BASIC</a:t>
            </a:r>
            <a:r>
              <a:rPr lang="zh-TW" altLang="en-US" dirty="0" smtClean="0"/>
              <a:t>為主的商用程式語言版本只剩</a:t>
            </a:r>
            <a:r>
              <a:rPr lang="en-US" altLang="zh-TW" dirty="0" smtClean="0"/>
              <a:t>VB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en-US" altLang="zh-TW" dirty="0" smtClean="0"/>
              <a:t>BASIC</a:t>
            </a:r>
            <a:r>
              <a:rPr lang="zh-TW" altLang="en-US" dirty="0" smtClean="0"/>
              <a:t>的好處是簡單易學，缺點則是不夠嚴謹。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4752020" y="2976795"/>
            <a:ext cx="3510390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BASIC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範例：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/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加到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的和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，其中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Dim”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表示後面要宣告變數，但是並不需要明確指出變數“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sum”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的資料型態。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6794" y="2931790"/>
            <a:ext cx="2309825" cy="18780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686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PASCAL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US" altLang="zh-TW" dirty="0" smtClean="0"/>
              <a:t>1971</a:t>
            </a:r>
            <a:r>
              <a:rPr lang="zh-TW" altLang="en-US" dirty="0" smtClean="0"/>
              <a:t>年推出的</a:t>
            </a:r>
            <a:r>
              <a:rPr lang="en-US" altLang="zh-TW" dirty="0" smtClean="0"/>
              <a:t>PASCAL</a:t>
            </a:r>
            <a:r>
              <a:rPr lang="zh-TW" altLang="en-US" dirty="0" smtClean="0"/>
              <a:t>，該語言的名稱是紀念</a:t>
            </a:r>
            <a:r>
              <a:rPr lang="en-US" altLang="zh-TW" dirty="0" smtClean="0"/>
              <a:t>17</a:t>
            </a:r>
            <a:r>
              <a:rPr lang="zh-TW" altLang="en-US" dirty="0" smtClean="0"/>
              <a:t>世紀重要的法國數學家</a:t>
            </a:r>
            <a:r>
              <a:rPr lang="en-US" altLang="zh-TW" dirty="0" smtClean="0"/>
              <a:t>BLAISE PASCAL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algn="l"/>
            <a:r>
              <a:rPr lang="en-US" altLang="zh-TW" dirty="0" smtClean="0"/>
              <a:t>PASCAL</a:t>
            </a:r>
            <a:r>
              <a:rPr lang="zh-TW" altLang="en-US" dirty="0" smtClean="0"/>
              <a:t>具有完備的資料型態，和結構化的控制結構，所以語言更有效率也更易於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使用。</a:t>
            </a:r>
            <a:endParaRPr lang="en-US" altLang="zh-TW" dirty="0" smtClean="0"/>
          </a:p>
          <a:p>
            <a:pPr algn="l"/>
            <a:r>
              <a:rPr lang="zh-TW" altLang="en-US" dirty="0" smtClean="0"/>
              <a:t>由於其程式可讀性高，所以常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為教科書教導初學者所用。</a:t>
            </a:r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07928">
            <a:off x="5709705" y="3028329"/>
            <a:ext cx="1506529" cy="18226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向左箭號 6"/>
          <p:cNvSpPr/>
          <p:nvPr/>
        </p:nvSpPr>
        <p:spPr>
          <a:xfrm rot="889450">
            <a:off x="7065852" y="3572830"/>
            <a:ext cx="1819025" cy="733663"/>
          </a:xfrm>
          <a:prstGeom prst="leftArrow">
            <a:avLst>
              <a:gd name="adj1" fmla="val 50000"/>
              <a:gd name="adj2" fmla="val 61096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b="1" dirty="0"/>
              <a:t>BLAISE PASCAL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4140294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PASCAL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mtClean="0"/>
              <a:t>目前較為人知的是物件化的</a:t>
            </a:r>
            <a:r>
              <a:rPr lang="en-US" altLang="zh-TW" smtClean="0"/>
              <a:t>PASCAL</a:t>
            </a:r>
            <a:r>
              <a:rPr lang="zh-TW" altLang="en-US" smtClean="0"/>
              <a:t>語言，由</a:t>
            </a:r>
            <a:r>
              <a:rPr lang="en-US" altLang="zh-TW" smtClean="0"/>
              <a:t>Borland</a:t>
            </a:r>
            <a:r>
              <a:rPr lang="zh-TW" altLang="en-US" smtClean="0"/>
              <a:t>公司的</a:t>
            </a:r>
            <a:r>
              <a:rPr lang="en-US" altLang="zh-TW" smtClean="0"/>
              <a:t>Delphi</a:t>
            </a:r>
            <a:r>
              <a:rPr lang="zh-TW" altLang="en-US" smtClean="0"/>
              <a:t>產品所支援。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4993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PASCAL</a:t>
            </a:r>
            <a:r>
              <a:rPr lang="zh-TW" altLang="en-US" dirty="0"/>
              <a:t>範例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60399"/>
            <a:ext cx="5014900" cy="2934224"/>
          </a:xfrm>
        </p:spPr>
        <p:txBody>
          <a:bodyPr>
            <a:normAutofit lnSpcReduction="10000"/>
          </a:bodyPr>
          <a:lstStyle/>
          <a:p>
            <a:r>
              <a:rPr lang="zh-TW" altLang="en-US" dirty="0" smtClean="0"/>
              <a:t>定義一個</a:t>
            </a:r>
            <a:r>
              <a:rPr lang="en-US" altLang="zh-TW" dirty="0" smtClean="0"/>
              <a:t>PASCAL</a:t>
            </a:r>
            <a:r>
              <a:rPr lang="zh-TW" altLang="en-US" dirty="0" smtClean="0"/>
              <a:t>的函數叫作“</a:t>
            </a:r>
            <a:r>
              <a:rPr lang="en-US" altLang="zh-TW" dirty="0" err="1" smtClean="0"/>
              <a:t>gcd</a:t>
            </a:r>
            <a:r>
              <a:rPr lang="en-US" altLang="zh-TW" dirty="0" smtClean="0"/>
              <a:t>”</a:t>
            </a:r>
            <a:r>
              <a:rPr lang="zh-TW" altLang="en-US" dirty="0" smtClean="0"/>
              <a:t>，該函數會根據兩個參數“</a:t>
            </a:r>
            <a:r>
              <a:rPr lang="en-US" altLang="zh-TW" dirty="0" smtClean="0"/>
              <a:t>m”</a:t>
            </a:r>
            <a:r>
              <a:rPr lang="zh-TW" altLang="en-US" dirty="0" smtClean="0"/>
              <a:t>和“</a:t>
            </a:r>
            <a:r>
              <a:rPr lang="en-US" altLang="zh-TW" dirty="0" smtClean="0"/>
              <a:t>n”</a:t>
            </a:r>
            <a:r>
              <a:rPr lang="zh-TW" altLang="en-US" dirty="0" smtClean="0"/>
              <a:t>，計算他們的最大公因數，然後將該值回傳給呼叫此函數的式子。</a:t>
            </a:r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110" y="1799948"/>
            <a:ext cx="3459143" cy="2794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9449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美國</a:t>
            </a:r>
            <a:r>
              <a:rPr lang="en-US" altLang="zh-TW" dirty="0" smtClean="0"/>
              <a:t>AT&amp;T</a:t>
            </a:r>
            <a:r>
              <a:rPr lang="zh-TW" altLang="en-US" dirty="0" smtClean="0"/>
              <a:t>貝爾實驗室，為了設計</a:t>
            </a:r>
            <a:r>
              <a:rPr lang="en-US" altLang="zh-TW" dirty="0" smtClean="0"/>
              <a:t>UNIX</a:t>
            </a:r>
            <a:r>
              <a:rPr lang="zh-TW" altLang="en-US" dirty="0" smtClean="0"/>
              <a:t>系統，而於</a:t>
            </a:r>
            <a:r>
              <a:rPr lang="en-US" altLang="zh-TW" dirty="0" smtClean="0"/>
              <a:t>1972</a:t>
            </a:r>
            <a:r>
              <a:rPr lang="zh-TW" altLang="en-US" dirty="0" smtClean="0"/>
              <a:t>年研發出</a:t>
            </a:r>
            <a:r>
              <a:rPr lang="en-US" altLang="zh-TW" dirty="0" smtClean="0"/>
              <a:t>C</a:t>
            </a:r>
            <a:r>
              <a:rPr lang="zh-TW" altLang="en-US" dirty="0" smtClean="0"/>
              <a:t>語言。</a:t>
            </a:r>
            <a:endParaRPr lang="en-US" altLang="zh-TW" dirty="0" smtClean="0"/>
          </a:p>
          <a:p>
            <a:r>
              <a:rPr lang="en-US" altLang="zh-TW" dirty="0" smtClean="0"/>
              <a:t>C</a:t>
            </a:r>
            <a:r>
              <a:rPr lang="zh-TW" altLang="en-US" dirty="0" smtClean="0"/>
              <a:t>語言和</a:t>
            </a:r>
            <a:r>
              <a:rPr lang="en-US" altLang="zh-TW" dirty="0" smtClean="0"/>
              <a:t>PASCAL</a:t>
            </a:r>
            <a:r>
              <a:rPr lang="zh-TW" altLang="en-US" dirty="0" smtClean="0"/>
              <a:t>類似，同樣具有高階的結構化敘述，但是為了因應作業系統控制硬體的需求，也具備了類似低階語言的控制硬體能力。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13741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</a:t>
            </a:r>
            <a:r>
              <a:rPr lang="zh-TW" altLang="en-US" dirty="0" smtClean="0"/>
              <a:t>語言，在臺灣的電</a:t>
            </a:r>
            <a:r>
              <a:rPr lang="zh-TW" altLang="en-US" dirty="0"/>
              <a:t>資學院以及理工科</a:t>
            </a:r>
            <a:r>
              <a:rPr lang="zh-TW" altLang="en-US" dirty="0" smtClean="0"/>
              <a:t>系，幾乎是必修</a:t>
            </a:r>
            <a:r>
              <a:rPr lang="zh-TW" altLang="en-US" dirty="0"/>
              <a:t>的重要語言。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807040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PROLOG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PROLOG</a:t>
            </a:r>
            <a:r>
              <a:rPr lang="zh-TW" altLang="en-US" dirty="0" smtClean="0"/>
              <a:t>是</a:t>
            </a:r>
            <a:r>
              <a:rPr lang="zh-TW" altLang="en-US" dirty="0" smtClean="0">
                <a:solidFill>
                  <a:srgbClr val="C00000"/>
                </a:solidFill>
              </a:rPr>
              <a:t>邏輯化程式設計</a:t>
            </a:r>
            <a:r>
              <a:rPr lang="en-US" altLang="zh-TW" dirty="0" smtClean="0"/>
              <a:t>(logic programming)</a:t>
            </a:r>
            <a:r>
              <a:rPr lang="zh-TW" altLang="en-US" dirty="0" smtClean="0"/>
              <a:t>的代表。</a:t>
            </a:r>
            <a:endParaRPr lang="en-US" altLang="zh-TW" dirty="0" smtClean="0"/>
          </a:p>
          <a:p>
            <a:r>
              <a:rPr lang="en-US" altLang="zh-TW" dirty="0" smtClean="0"/>
              <a:t>1972</a:t>
            </a:r>
            <a:r>
              <a:rPr lang="zh-TW" altLang="en-US" dirty="0" smtClean="0"/>
              <a:t>年於法國所推出，當時的目的是為了自然語言處理的需求所發展出來。</a:t>
            </a:r>
            <a:endParaRPr lang="en-US" altLang="zh-TW" dirty="0" smtClean="0"/>
          </a:p>
          <a:p>
            <a:r>
              <a:rPr lang="zh-TW" altLang="en-US" dirty="0" smtClean="0"/>
              <a:t>常用於設計邏輯推論、專家系統等。</a:t>
            </a:r>
            <a:endParaRPr lang="en-US" altLang="zh-TW" dirty="0" smtClean="0"/>
          </a:p>
          <a:p>
            <a:r>
              <a:rPr lang="zh-TW" altLang="en-US" dirty="0" smtClean="0"/>
              <a:t>和</a:t>
            </a:r>
            <a:r>
              <a:rPr lang="en-US" altLang="zh-TW" dirty="0" smtClean="0"/>
              <a:t>LISP</a:t>
            </a:r>
            <a:r>
              <a:rPr lang="zh-TW" altLang="en-US" dirty="0" smtClean="0"/>
              <a:t>同樣是人工智慧領域重要的程式設計工具。</a:t>
            </a:r>
          </a:p>
        </p:txBody>
      </p:sp>
    </p:spTree>
    <p:extLst>
      <p:ext uri="{BB962C8B-B14F-4D97-AF65-F5344CB8AC3E}">
        <p14:creationId xmlns:p14="http://schemas.microsoft.com/office/powerpoint/2010/main" val="295482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PROLOG</a:t>
            </a:r>
            <a:r>
              <a:rPr lang="zh-TW" altLang="en-US" dirty="0"/>
              <a:t>範例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TW" altLang="en-US" dirty="0" smtClean="0"/>
              <a:t>首先，先給定兩個事實</a:t>
            </a:r>
            <a:r>
              <a:rPr lang="en-US" altLang="zh-TW" dirty="0" smtClean="0"/>
              <a:t>(facts)</a:t>
            </a:r>
            <a:r>
              <a:rPr lang="zh-TW" altLang="en-US" dirty="0" smtClean="0"/>
              <a:t>，說明“</a:t>
            </a:r>
            <a:r>
              <a:rPr lang="en-US" altLang="zh-TW" dirty="0" smtClean="0"/>
              <a:t>tom”</a:t>
            </a:r>
            <a:r>
              <a:rPr lang="zh-TW" altLang="en-US" dirty="0" smtClean="0"/>
              <a:t>的父親和母親是誰。</a:t>
            </a:r>
            <a:endParaRPr lang="en-US" altLang="zh-TW" dirty="0" smtClean="0"/>
          </a:p>
          <a:p>
            <a:r>
              <a:rPr lang="zh-TW" altLang="en-US" dirty="0" smtClean="0"/>
              <a:t>接著，再定義只要是父親</a:t>
            </a:r>
            <a:r>
              <a:rPr lang="en-US" altLang="zh-TW" dirty="0" smtClean="0"/>
              <a:t>(father)</a:t>
            </a:r>
            <a:r>
              <a:rPr lang="zh-TW" altLang="en-US" dirty="0" smtClean="0"/>
              <a:t>或母親</a:t>
            </a:r>
            <a:r>
              <a:rPr lang="en-US" altLang="zh-TW" dirty="0" smtClean="0"/>
              <a:t>(mother)</a:t>
            </a:r>
            <a:r>
              <a:rPr lang="zh-TW" altLang="en-US" dirty="0" smtClean="0"/>
              <a:t>，就是父母</a:t>
            </a:r>
            <a:r>
              <a:rPr lang="en-US" altLang="zh-TW" dirty="0" smtClean="0"/>
              <a:t>(parent)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然後可以利用這些事實和法則來詢問系統。</a:t>
            </a:r>
            <a:endParaRPr lang="en-US" altLang="zh-TW" dirty="0" smtClean="0"/>
          </a:p>
          <a:p>
            <a:r>
              <a:rPr lang="zh-TW" altLang="en-US" dirty="0" smtClean="0"/>
              <a:t>第一個問題是想要確認“</a:t>
            </a:r>
            <a:r>
              <a:rPr lang="en-US" altLang="zh-TW" dirty="0" err="1" smtClean="0"/>
              <a:t>mary</a:t>
            </a:r>
            <a:r>
              <a:rPr lang="en-US" altLang="zh-TW" dirty="0" smtClean="0"/>
              <a:t>” </a:t>
            </a:r>
            <a:r>
              <a:rPr lang="zh-TW" altLang="en-US" dirty="0" smtClean="0"/>
              <a:t>是不是“</a:t>
            </a:r>
            <a:r>
              <a:rPr lang="en-US" altLang="zh-TW" dirty="0" smtClean="0"/>
              <a:t>tom”</a:t>
            </a:r>
            <a:r>
              <a:rPr lang="zh-TW" altLang="en-US" dirty="0" smtClean="0"/>
              <a:t>的父母，答案是肯定的；第二個問題則詢問 “</a:t>
            </a:r>
            <a:r>
              <a:rPr lang="en-US" altLang="zh-TW" dirty="0" smtClean="0"/>
              <a:t>john”</a:t>
            </a:r>
            <a:r>
              <a:rPr lang="zh-TW" altLang="en-US" dirty="0" smtClean="0"/>
              <a:t>是誰的父母，而得到的回覆是 “</a:t>
            </a:r>
            <a:r>
              <a:rPr lang="en-US" altLang="zh-TW" dirty="0" smtClean="0"/>
              <a:t>tom”</a:t>
            </a:r>
            <a:r>
              <a:rPr lang="zh-TW" altLang="en-US" dirty="0" smtClean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31597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PROLOG</a:t>
            </a:r>
            <a:r>
              <a:rPr lang="zh-TW" altLang="en-US" dirty="0"/>
              <a:t>範例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063" y="1761660"/>
            <a:ext cx="3735415" cy="30703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5504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ADA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TW" dirty="0" smtClean="0"/>
              <a:t>ADA</a:t>
            </a:r>
            <a:r>
              <a:rPr lang="zh-TW" altLang="en-US" dirty="0"/>
              <a:t>是由美國國防部於</a:t>
            </a:r>
            <a:r>
              <a:rPr lang="en-US" altLang="zh-TW" dirty="0"/>
              <a:t>1980</a:t>
            </a:r>
            <a:r>
              <a:rPr lang="zh-TW" altLang="en-US" dirty="0"/>
              <a:t>年代主導所設計出來的</a:t>
            </a:r>
            <a:r>
              <a:rPr lang="zh-TW" altLang="en-US" dirty="0" smtClean="0"/>
              <a:t>程式</a:t>
            </a:r>
            <a:r>
              <a:rPr lang="zh-TW" altLang="en-US" dirty="0"/>
              <a:t>語言，此語言的名稱是紀念世界上第一位程式設計員</a:t>
            </a:r>
            <a:r>
              <a:rPr lang="en-US" altLang="zh-TW" dirty="0" smtClean="0"/>
              <a:t>Ada Byron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>
              <a:lnSpc>
                <a:spcPct val="120000"/>
              </a:lnSpc>
            </a:pPr>
            <a:r>
              <a:rPr lang="zh-TW" altLang="en-US" dirty="0" smtClean="0"/>
              <a:t>當初</a:t>
            </a:r>
            <a:r>
              <a:rPr lang="zh-TW" altLang="en-US" dirty="0"/>
              <a:t>此語言的目的是希望結合所有語言的特性，</a:t>
            </a:r>
            <a:r>
              <a:rPr lang="zh-TW" altLang="en-US" dirty="0" smtClean="0"/>
              <a:t>成為一個</a:t>
            </a:r>
            <a:r>
              <a:rPr lang="zh-TW" altLang="en-US" dirty="0"/>
              <a:t>具有最強大功能的程式語言，但是也由於其語言過於</a:t>
            </a:r>
            <a:r>
              <a:rPr lang="zh-TW" altLang="en-US" dirty="0" smtClean="0"/>
              <a:t>複雜</a:t>
            </a:r>
            <a:r>
              <a:rPr lang="zh-TW" altLang="en-US" dirty="0"/>
              <a:t>，造成推廣上的困難，目前所知的應用不多。</a:t>
            </a:r>
          </a:p>
        </p:txBody>
      </p:sp>
    </p:spTree>
    <p:extLst>
      <p:ext uri="{BB962C8B-B14F-4D97-AF65-F5344CB8AC3E}">
        <p14:creationId xmlns:p14="http://schemas.microsoft.com/office/powerpoint/2010/main" val="241598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C++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 smtClean="0"/>
              <a:t>第一個具有代表性的</a:t>
            </a:r>
            <a:r>
              <a:rPr lang="zh-TW" altLang="en-US" dirty="0" smtClean="0">
                <a:solidFill>
                  <a:srgbClr val="C00000"/>
                </a:solidFill>
              </a:rPr>
              <a:t>物件導向程式語言</a:t>
            </a:r>
            <a:r>
              <a:rPr lang="en-US" altLang="zh-TW" dirty="0" smtClean="0"/>
              <a:t>(object -oriented programming language)</a:t>
            </a:r>
            <a:r>
              <a:rPr lang="zh-TW" altLang="en-US" dirty="0" smtClean="0"/>
              <a:t>其實是</a:t>
            </a:r>
            <a:r>
              <a:rPr lang="en-US" altLang="zh-TW" dirty="0" smtClean="0"/>
              <a:t>1980</a:t>
            </a:r>
            <a:r>
              <a:rPr lang="zh-TW" altLang="en-US" dirty="0" smtClean="0"/>
              <a:t>年左右推出的</a:t>
            </a:r>
            <a:r>
              <a:rPr lang="en-US" altLang="zh-TW" dirty="0" smtClean="0"/>
              <a:t>Smalltalk</a:t>
            </a:r>
            <a:r>
              <a:rPr lang="zh-TW" altLang="en-US" dirty="0" smtClean="0"/>
              <a:t>，其語言的特性強調物件的設計、訊息</a:t>
            </a:r>
            <a:r>
              <a:rPr lang="en-US" altLang="zh-TW" dirty="0" smtClean="0"/>
              <a:t>(message)</a:t>
            </a:r>
            <a:r>
              <a:rPr lang="zh-TW" altLang="en-US" dirty="0" smtClean="0"/>
              <a:t>的傳送，比傳統的結構化語言更具模組化的觀念，所以也更易於維護。</a:t>
            </a:r>
            <a:endParaRPr lang="en-US" altLang="zh-TW" dirty="0" smtClean="0"/>
          </a:p>
          <a:p>
            <a:r>
              <a:rPr lang="en-US" altLang="zh-TW" dirty="0" smtClean="0"/>
              <a:t>C++</a:t>
            </a:r>
            <a:r>
              <a:rPr lang="zh-TW" altLang="en-US" dirty="0" smtClean="0"/>
              <a:t>則是將物件導向的概念融入</a:t>
            </a:r>
            <a:r>
              <a:rPr lang="en-US" altLang="zh-TW" dirty="0" smtClean="0"/>
              <a:t>C</a:t>
            </a:r>
            <a:r>
              <a:rPr lang="zh-TW" altLang="en-US" dirty="0" smtClean="0"/>
              <a:t>語言而成，換句話說，</a:t>
            </a:r>
            <a:r>
              <a:rPr lang="en-US" altLang="zh-TW" dirty="0" smtClean="0"/>
              <a:t>C</a:t>
            </a:r>
            <a:r>
              <a:rPr lang="zh-TW" altLang="en-US" dirty="0" smtClean="0"/>
              <a:t>語言可以看作是</a:t>
            </a:r>
            <a:r>
              <a:rPr lang="en-US" altLang="zh-TW" dirty="0" smtClean="0"/>
              <a:t>C++</a:t>
            </a:r>
            <a:r>
              <a:rPr lang="zh-TW" altLang="en-US" dirty="0" smtClean="0"/>
              <a:t>的子集合。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359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C++</a:t>
            </a:r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820" y="1356615"/>
            <a:ext cx="3136143" cy="35709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89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45277" y="996575"/>
            <a:ext cx="8457193" cy="16712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定義了一個類別（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class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）叫作“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stack”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在類別中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，除了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可以定義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 member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）外，還可以定義此類別的行為（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 member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 。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以類別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stack ”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例， 變數“ 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top ”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和“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components”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用以記載此“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stack”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的相關資料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，函數“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stack”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pop”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push”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則會根據定義好的程式碼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特定動作。這種把資料和行為一起定義的特性，稱作「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封裝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encapsulation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）。</a:t>
            </a:r>
          </a:p>
        </p:txBody>
      </p:sp>
      <p:sp>
        <p:nvSpPr>
          <p:cNvPr id="5" name="矩形 4"/>
          <p:cNvSpPr/>
          <p:nvPr/>
        </p:nvSpPr>
        <p:spPr>
          <a:xfrm>
            <a:off x="335441" y="2651853"/>
            <a:ext cx="8461126" cy="164532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在類別中比較特殊的是，可以指定某個資料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或函數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的可使用範圍（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accessibility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 。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若是定義為公開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的（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public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），則類別外部的程式碼可使用該資料或函數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，如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 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stack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、“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pop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 “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push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 若是定義為私自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private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），則只有定義在類別內部的程式碼可使用該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資料或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函數，如“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top”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components”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。如此控管對資料的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安全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性和完整性更有保障。</a:t>
            </a:r>
          </a:p>
        </p:txBody>
      </p:sp>
    </p:spTree>
    <p:extLst>
      <p:ext uri="{BB962C8B-B14F-4D97-AF65-F5344CB8AC3E}">
        <p14:creationId xmlns:p14="http://schemas.microsoft.com/office/powerpoint/2010/main" val="167618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Python</a:t>
            </a:r>
            <a:r>
              <a:rPr lang="zh-TW" altLang="en-US" dirty="0"/>
              <a:t>的創始者為荷蘭籍的電腦工程師吉多．范羅蘇姆（</a:t>
            </a:r>
            <a:r>
              <a:rPr lang="en-US" altLang="zh-TW" dirty="0"/>
              <a:t>Guido van </a:t>
            </a:r>
            <a:r>
              <a:rPr lang="en-US" altLang="zh-TW" dirty="0" err="1"/>
              <a:t>Rossum</a:t>
            </a:r>
            <a:r>
              <a:rPr lang="zh-TW" altLang="en-US" dirty="0" smtClean="0"/>
              <a:t>）。</a:t>
            </a:r>
            <a:endParaRPr lang="en-US" altLang="zh-TW" dirty="0" smtClean="0"/>
          </a:p>
          <a:p>
            <a:r>
              <a:rPr lang="en-US" altLang="zh-TW" dirty="0"/>
              <a:t>Python</a:t>
            </a:r>
            <a:r>
              <a:rPr lang="zh-TW" altLang="en-US" dirty="0"/>
              <a:t>本身設計為可</a:t>
            </a:r>
            <a:r>
              <a:rPr lang="zh-TW" altLang="en-US" dirty="0" smtClean="0"/>
              <a:t>擴充的</a:t>
            </a:r>
            <a:r>
              <a:rPr lang="zh-TW" altLang="en-US" dirty="0"/>
              <a:t>，並不把所有的特性和功能置於語言的核心，而是提供豐富的</a:t>
            </a:r>
            <a:r>
              <a:rPr lang="en-US" altLang="zh-TW" dirty="0"/>
              <a:t>API</a:t>
            </a:r>
            <a:r>
              <a:rPr lang="zh-TW" altLang="en-US" dirty="0"/>
              <a:t>和工具整合其他模組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基於開源的特性，有強大的社群（</a:t>
            </a:r>
            <a:r>
              <a:rPr lang="en-US" altLang="zh-TW" dirty="0"/>
              <a:t>community</a:t>
            </a:r>
            <a:r>
              <a:rPr lang="zh-TW" altLang="en-US" dirty="0"/>
              <a:t>）群策群力擴充其功能，所以此程式</a:t>
            </a:r>
            <a:r>
              <a:rPr lang="zh-TW" altLang="en-US" dirty="0" smtClean="0"/>
              <a:t>語言</a:t>
            </a:r>
            <a:r>
              <a:rPr lang="zh-TW" altLang="en-US" dirty="0"/>
              <a:t>簡單但強大。</a:t>
            </a:r>
          </a:p>
        </p:txBody>
      </p:sp>
    </p:spTree>
    <p:extLst>
      <p:ext uri="{BB962C8B-B14F-4D97-AF65-F5344CB8AC3E}">
        <p14:creationId xmlns:p14="http://schemas.microsoft.com/office/powerpoint/2010/main" val="2562860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Python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/>
              <a:t>Python</a:t>
            </a:r>
            <a:r>
              <a:rPr lang="zh-TW" altLang="en-US" smtClean="0"/>
              <a:t>簡單易學，具有高度的可讀性與彈性，所以也常常作為初學者入門的程式語言。</a:t>
            </a:r>
            <a:endParaRPr lang="zh-TW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796775"/>
            <a:ext cx="4774620" cy="21011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913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Java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dirty="0" smtClean="0"/>
              <a:t>Java</a:t>
            </a:r>
            <a:r>
              <a:rPr lang="zh-TW" altLang="en-US" dirty="0"/>
              <a:t>和</a:t>
            </a:r>
            <a:r>
              <a:rPr lang="en-US" altLang="zh-TW" dirty="0"/>
              <a:t>C++</a:t>
            </a:r>
            <a:r>
              <a:rPr lang="zh-TW" altLang="en-US" dirty="0"/>
              <a:t>一樣具備有物件導向的特性，但是比</a:t>
            </a:r>
            <a:r>
              <a:rPr lang="en-US" altLang="zh-TW" dirty="0"/>
              <a:t>C++</a:t>
            </a:r>
            <a:r>
              <a:rPr lang="zh-TW" altLang="en-US" dirty="0"/>
              <a:t>更</a:t>
            </a:r>
            <a:r>
              <a:rPr lang="zh-TW" altLang="en-US" dirty="0" smtClean="0"/>
              <a:t>容易</a:t>
            </a:r>
            <a:r>
              <a:rPr lang="zh-TW" altLang="en-US" dirty="0"/>
              <a:t>學習，所以曾經一度是物件導向概念的主要教學語言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en-US" altLang="zh-TW" dirty="0"/>
              <a:t>Java</a:t>
            </a:r>
            <a:r>
              <a:rPr lang="zh-TW" altLang="en-US" dirty="0" smtClean="0"/>
              <a:t>更</a:t>
            </a:r>
            <a:r>
              <a:rPr lang="zh-TW" altLang="en-US" dirty="0"/>
              <a:t>前瞻的特性，是</a:t>
            </a:r>
            <a:r>
              <a:rPr lang="zh-TW" altLang="en-US" dirty="0" smtClean="0"/>
              <a:t>提供了</a:t>
            </a:r>
            <a:r>
              <a:rPr lang="zh-TW" altLang="en-US" dirty="0"/>
              <a:t>跨平台的功能，也就是一個相同的程式，可以在不同的作業環境下執行，所以廣泛的</a:t>
            </a:r>
            <a:r>
              <a:rPr lang="zh-TW" altLang="en-US" dirty="0" smtClean="0"/>
              <a:t>應用</a:t>
            </a:r>
            <a:r>
              <a:rPr lang="zh-TW" altLang="en-US" dirty="0"/>
              <a:t>於企業級的網路程式開發和行動裝置開發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89194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JAVA</a:t>
            </a:r>
            <a:endParaRPr lang="zh-TW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755" y="1356615"/>
            <a:ext cx="4478448" cy="35111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837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JavaScript </a:t>
            </a:r>
            <a:r>
              <a:rPr lang="zh-TW" altLang="en-US" dirty="0" smtClean="0"/>
              <a:t>和 </a:t>
            </a:r>
            <a:r>
              <a:rPr lang="en-US" altLang="zh-TW" dirty="0" smtClean="0"/>
              <a:t>ASP.NET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JavaScript</a:t>
            </a:r>
            <a:r>
              <a:rPr lang="zh-TW" altLang="en-US" dirty="0" smtClean="0"/>
              <a:t>讓程式碼可以直接編寫在網頁標記中，以便於程式設計師可以於網頁中組裝圖片和外掛程式、或在瀏覽器執行動畫或檢查使用者輸入的函數等等。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60585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JavaScript </a:t>
            </a:r>
            <a:r>
              <a:rPr lang="zh-TW" altLang="en-US" dirty="0"/>
              <a:t>和 </a:t>
            </a:r>
            <a:r>
              <a:rPr lang="en-US" altLang="zh-TW" dirty="0"/>
              <a:t>ASP.NET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微軟公司提出一系列以「</a:t>
            </a:r>
            <a:r>
              <a:rPr lang="en-US" altLang="zh-TW" dirty="0"/>
              <a:t>.NET</a:t>
            </a:r>
            <a:r>
              <a:rPr lang="zh-TW" altLang="en-US" dirty="0"/>
              <a:t>」為名稱的解決方案，其中包含的</a:t>
            </a:r>
            <a:r>
              <a:rPr lang="en-US" altLang="zh-TW" dirty="0"/>
              <a:t>ASP.NET</a:t>
            </a:r>
            <a:r>
              <a:rPr lang="zh-TW" altLang="en-US" dirty="0"/>
              <a:t>開發平台，大幅度地改善了原先</a:t>
            </a:r>
            <a:r>
              <a:rPr lang="en-US" altLang="zh-TW" dirty="0"/>
              <a:t>ASP</a:t>
            </a:r>
            <a:r>
              <a:rPr lang="zh-TW" altLang="en-US" dirty="0"/>
              <a:t>的缺點，將程式分成</a:t>
            </a:r>
            <a:r>
              <a:rPr lang="en-US" altLang="zh-TW" dirty="0"/>
              <a:t>HTML</a:t>
            </a:r>
            <a:r>
              <a:rPr lang="zh-TW" altLang="en-US" dirty="0"/>
              <a:t>和</a:t>
            </a:r>
            <a:r>
              <a:rPr lang="en-US" altLang="zh-TW" dirty="0"/>
              <a:t>Script</a:t>
            </a:r>
            <a:r>
              <a:rPr lang="zh-TW" altLang="en-US" dirty="0"/>
              <a:t>不同的區塊，以便於撰寫和除錯，並具有物件導向語言的特性。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913814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Kotlin </a:t>
            </a:r>
            <a:r>
              <a:rPr lang="zh-TW" altLang="en-US" dirty="0"/>
              <a:t>和 </a:t>
            </a:r>
            <a:r>
              <a:rPr lang="en-US" altLang="zh-TW" dirty="0"/>
              <a:t>Swift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2014</a:t>
            </a:r>
            <a:r>
              <a:rPr lang="zh-TW" altLang="en-US" dirty="0" smtClean="0"/>
              <a:t>年的</a:t>
            </a:r>
            <a:r>
              <a:rPr lang="en-US" altLang="zh-TW" dirty="0"/>
              <a:t>Swift</a:t>
            </a:r>
            <a:r>
              <a:rPr lang="zh-TW" altLang="en-US" dirty="0" smtClean="0"/>
              <a:t>，優於</a:t>
            </a:r>
            <a:r>
              <a:rPr lang="en-US" altLang="zh-TW" dirty="0"/>
              <a:t>Objective-C</a:t>
            </a:r>
            <a:r>
              <a:rPr lang="zh-TW" altLang="en-US" dirty="0"/>
              <a:t>語言，更加的快速、現代、安全以及具</a:t>
            </a:r>
            <a:r>
              <a:rPr lang="zh-TW" altLang="en-US" dirty="0" smtClean="0"/>
              <a:t>互動性。</a:t>
            </a:r>
            <a:endParaRPr lang="en-US" altLang="zh-TW" dirty="0" smtClean="0"/>
          </a:p>
          <a:p>
            <a:r>
              <a:rPr lang="en-US" altLang="zh-TW" dirty="0" smtClean="0"/>
              <a:t>2011</a:t>
            </a:r>
            <a:r>
              <a:rPr lang="zh-TW" altLang="en-US" dirty="0"/>
              <a:t>年的</a:t>
            </a:r>
            <a:r>
              <a:rPr lang="en-US" altLang="zh-TW" dirty="0" err="1"/>
              <a:t>Kotlin</a:t>
            </a:r>
            <a:r>
              <a:rPr lang="zh-TW" altLang="en-US" dirty="0" smtClean="0"/>
              <a:t>，主要</a:t>
            </a:r>
            <a:r>
              <a:rPr lang="zh-TW" altLang="en-US" dirty="0"/>
              <a:t>特色是與</a:t>
            </a:r>
            <a:r>
              <a:rPr lang="en-US" altLang="zh-TW" dirty="0"/>
              <a:t>Java</a:t>
            </a:r>
            <a:r>
              <a:rPr lang="zh-TW" altLang="en-US" dirty="0"/>
              <a:t>的</a:t>
            </a:r>
            <a:r>
              <a:rPr lang="zh-TW" altLang="en-US" dirty="0" smtClean="0"/>
              <a:t>標準</a:t>
            </a:r>
            <a:r>
              <a:rPr lang="zh-TW" altLang="en-US" dirty="0"/>
              <a:t>函式庫和執行環境相容，所以可於</a:t>
            </a:r>
            <a:r>
              <a:rPr lang="en-US" altLang="zh-TW" dirty="0"/>
              <a:t>Android</a:t>
            </a:r>
            <a:r>
              <a:rPr lang="zh-TW" altLang="en-US" dirty="0"/>
              <a:t>平台上執行，但又沒有如同</a:t>
            </a:r>
            <a:r>
              <a:rPr lang="en-US" altLang="zh-TW" dirty="0"/>
              <a:t>Java</a:t>
            </a:r>
            <a:r>
              <a:rPr lang="zh-TW" altLang="en-US" dirty="0"/>
              <a:t>一般的專利</a:t>
            </a:r>
            <a:r>
              <a:rPr lang="zh-TW" altLang="en-US" dirty="0" smtClean="0"/>
              <a:t>問題。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4551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Kotlin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/>
              <a:t>Swift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581640"/>
            <a:ext cx="8229600" cy="3012983"/>
          </a:xfrm>
        </p:spPr>
        <p:txBody>
          <a:bodyPr/>
          <a:lstStyle/>
          <a:p>
            <a:r>
              <a:rPr lang="zh-TW" altLang="en-US" dirty="0"/>
              <a:t>程式語言依照特性</a:t>
            </a:r>
            <a:r>
              <a:rPr lang="zh-TW" altLang="en-US" dirty="0" smtClean="0"/>
              <a:t>分類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72"/>
          <a:stretch/>
        </p:blipFill>
        <p:spPr bwMode="auto">
          <a:xfrm>
            <a:off x="1061610" y="2145281"/>
            <a:ext cx="7791800" cy="2459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98853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9-2 </a:t>
            </a:r>
            <a:r>
              <a:rPr lang="zh-TW" altLang="en-US" dirty="0"/>
              <a:t>資料型態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hlinkClick r:id="rId2" action="ppaction://hlinksldjump"/>
              </a:rPr>
              <a:t>陣列</a:t>
            </a:r>
            <a:endParaRPr lang="en-US" altLang="zh-TW" dirty="0" smtClean="0"/>
          </a:p>
          <a:p>
            <a:r>
              <a:rPr lang="zh-TW" altLang="en-US" dirty="0" smtClean="0">
                <a:hlinkClick r:id="rId3" action="ppaction://hlinksldjump"/>
              </a:rPr>
              <a:t>結構</a:t>
            </a:r>
            <a:endParaRPr lang="en-US" altLang="zh-TW" dirty="0" smtClean="0"/>
          </a:p>
          <a:p>
            <a:r>
              <a:rPr lang="zh-TW" altLang="en-US" dirty="0" smtClean="0">
                <a:hlinkClick r:id="rId4" action="ppaction://hlinksldjump"/>
              </a:rPr>
              <a:t>指標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1491854"/>
            <a:ext cx="1219200" cy="9144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556" y="2574799"/>
            <a:ext cx="1624245" cy="121818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890" y="3059655"/>
            <a:ext cx="24384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5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9-2 </a:t>
            </a:r>
            <a:r>
              <a:rPr lang="zh-TW" altLang="en-US" dirty="0" smtClean="0"/>
              <a:t>資料型態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mtClean="0"/>
              <a:t>當要利用某個程式語言撰寫一個應用系統的時候，必須要將處理的對象，以該程式語言提供的資料型態，適當的定義在程式中。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66080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9-2 </a:t>
            </a:r>
            <a:r>
              <a:rPr lang="zh-TW" altLang="en-US" dirty="0"/>
              <a:t>資料型態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譬如要</a:t>
            </a:r>
            <a:r>
              <a:rPr lang="zh-TW" altLang="en-US" dirty="0"/>
              <a:t>表示月和日組合起來的日期，如</a:t>
            </a:r>
            <a:r>
              <a:rPr lang="en-US" altLang="zh-TW" dirty="0"/>
              <a:t>2</a:t>
            </a:r>
            <a:r>
              <a:rPr lang="zh-TW" altLang="en-US" dirty="0"/>
              <a:t>月</a:t>
            </a:r>
            <a:r>
              <a:rPr lang="en-US" altLang="zh-TW" dirty="0"/>
              <a:t>1</a:t>
            </a:r>
            <a:r>
              <a:rPr lang="zh-TW" altLang="en-US" dirty="0"/>
              <a:t>日，可以使用字串表示成「</a:t>
            </a:r>
            <a:r>
              <a:rPr lang="en-US" altLang="zh-TW" dirty="0"/>
              <a:t>0201</a:t>
            </a:r>
            <a:r>
              <a:rPr lang="zh-TW" altLang="en-US" dirty="0"/>
              <a:t>」，或是利用整數「</a:t>
            </a:r>
            <a:r>
              <a:rPr lang="en-US" altLang="zh-TW" dirty="0"/>
              <a:t>32</a:t>
            </a:r>
            <a:r>
              <a:rPr lang="zh-TW" altLang="en-US" dirty="0"/>
              <a:t>」，來表示是</a:t>
            </a:r>
            <a:r>
              <a:rPr lang="en-US" altLang="zh-TW" dirty="0"/>
              <a:t>1</a:t>
            </a:r>
            <a:r>
              <a:rPr lang="zh-TW" altLang="en-US" dirty="0"/>
              <a:t>年的第</a:t>
            </a:r>
            <a:r>
              <a:rPr lang="en-US" altLang="zh-TW" dirty="0"/>
              <a:t>32</a:t>
            </a:r>
            <a:r>
              <a:rPr lang="zh-TW" altLang="en-US" dirty="0"/>
              <a:t>天，有的語言甚至直接提供日期型態。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67244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9-2 </a:t>
            </a:r>
            <a:r>
              <a:rPr lang="zh-TW" altLang="en-US" dirty="0"/>
              <a:t>資料型態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 smtClean="0"/>
              <a:t>高階程式語言都會提供以數字和字串為基礎的資料型態。</a:t>
            </a:r>
            <a:endParaRPr lang="en-US" altLang="zh-TW" dirty="0" smtClean="0"/>
          </a:p>
          <a:p>
            <a:r>
              <a:rPr lang="zh-TW" altLang="en-US" dirty="0" smtClean="0"/>
              <a:t>數字：</a:t>
            </a:r>
            <a:r>
              <a:rPr lang="zh-TW" altLang="en-US" dirty="0" smtClean="0">
                <a:solidFill>
                  <a:srgbClr val="C00000"/>
                </a:solidFill>
              </a:rPr>
              <a:t>整數</a:t>
            </a:r>
            <a:r>
              <a:rPr lang="en-US" altLang="zh-TW" dirty="0" smtClean="0">
                <a:solidFill>
                  <a:srgbClr val="C00000"/>
                </a:solidFill>
              </a:rPr>
              <a:t>(</a:t>
            </a:r>
            <a:r>
              <a:rPr lang="en-US" altLang="zh-TW" dirty="0" err="1" smtClean="0">
                <a:solidFill>
                  <a:srgbClr val="C00000"/>
                </a:solidFill>
              </a:rPr>
              <a:t>int</a:t>
            </a:r>
            <a:r>
              <a:rPr lang="en-US" altLang="zh-TW" dirty="0" smtClean="0">
                <a:solidFill>
                  <a:srgbClr val="C00000"/>
                </a:solidFill>
              </a:rPr>
              <a:t>)</a:t>
            </a:r>
            <a:r>
              <a:rPr lang="zh-TW" altLang="en-US" dirty="0" smtClean="0">
                <a:solidFill>
                  <a:srgbClr val="C00000"/>
                </a:solidFill>
              </a:rPr>
              <a:t>、長整數</a:t>
            </a:r>
            <a:r>
              <a:rPr lang="en-US" altLang="zh-TW" dirty="0" smtClean="0">
                <a:solidFill>
                  <a:srgbClr val="C00000"/>
                </a:solidFill>
              </a:rPr>
              <a:t>(long </a:t>
            </a:r>
            <a:r>
              <a:rPr lang="en-US" altLang="zh-TW" dirty="0" err="1" smtClean="0">
                <a:solidFill>
                  <a:srgbClr val="C00000"/>
                </a:solidFill>
              </a:rPr>
              <a:t>int</a:t>
            </a:r>
            <a:r>
              <a:rPr lang="en-US" altLang="zh-TW" dirty="0" smtClean="0">
                <a:solidFill>
                  <a:srgbClr val="C00000"/>
                </a:solidFill>
              </a:rPr>
              <a:t>)</a:t>
            </a:r>
            <a:r>
              <a:rPr lang="zh-TW" altLang="en-US" dirty="0" smtClean="0">
                <a:solidFill>
                  <a:srgbClr val="C00000"/>
                </a:solidFill>
              </a:rPr>
              <a:t>、浮點數</a:t>
            </a:r>
            <a:r>
              <a:rPr lang="en-US" altLang="zh-TW" dirty="0" smtClean="0">
                <a:solidFill>
                  <a:srgbClr val="C00000"/>
                </a:solidFill>
              </a:rPr>
              <a:t>(float)</a:t>
            </a:r>
            <a:r>
              <a:rPr lang="zh-TW" altLang="en-US" dirty="0" smtClean="0">
                <a:solidFill>
                  <a:srgbClr val="C00000"/>
                </a:solidFill>
              </a:rPr>
              <a:t>、雙精準數</a:t>
            </a:r>
            <a:r>
              <a:rPr lang="en-US" altLang="zh-TW" dirty="0" smtClean="0">
                <a:solidFill>
                  <a:srgbClr val="C00000"/>
                </a:solidFill>
              </a:rPr>
              <a:t>(double)</a:t>
            </a:r>
            <a:r>
              <a:rPr lang="zh-TW" altLang="en-US" dirty="0" smtClean="0"/>
              <a:t>等，這些型態的差別在於可表示數值資料的大小範圍。</a:t>
            </a:r>
            <a:endParaRPr lang="en-US" altLang="zh-TW" dirty="0" smtClean="0"/>
          </a:p>
          <a:p>
            <a:r>
              <a:rPr lang="zh-TW" altLang="en-US" dirty="0" smtClean="0"/>
              <a:t>文字：有的只能定義一個</a:t>
            </a:r>
            <a:r>
              <a:rPr lang="zh-TW" altLang="en-US" dirty="0" smtClean="0">
                <a:solidFill>
                  <a:srgbClr val="C00000"/>
                </a:solidFill>
              </a:rPr>
              <a:t>字元</a:t>
            </a:r>
            <a:r>
              <a:rPr lang="en-US" altLang="zh-TW" dirty="0" smtClean="0">
                <a:solidFill>
                  <a:srgbClr val="C00000"/>
                </a:solidFill>
              </a:rPr>
              <a:t>(char)</a:t>
            </a:r>
            <a:r>
              <a:rPr lang="zh-TW" altLang="en-US" dirty="0" smtClean="0"/>
              <a:t>，有的則直接可定義較長的</a:t>
            </a:r>
            <a:r>
              <a:rPr lang="zh-TW" altLang="en-US" dirty="0" smtClean="0">
                <a:solidFill>
                  <a:srgbClr val="C00000"/>
                </a:solidFill>
              </a:rPr>
              <a:t>字串</a:t>
            </a:r>
            <a:r>
              <a:rPr lang="en-US" altLang="zh-TW" dirty="0" smtClean="0">
                <a:solidFill>
                  <a:srgbClr val="C00000"/>
                </a:solidFill>
              </a:rPr>
              <a:t>(string)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399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9-2 </a:t>
            </a:r>
            <a:r>
              <a:rPr lang="zh-TW" altLang="en-US" dirty="0"/>
              <a:t>資料型態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當為</a:t>
            </a:r>
            <a:r>
              <a:rPr lang="zh-TW" altLang="en-US" dirty="0"/>
              <a:t>一個變數宣告好其資料型態之後，系統就知道應該為該變數保留多少記憶體的空間，而空間的大小會決定該型態可表示的數值範圍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6017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9-2 </a:t>
            </a:r>
            <a:r>
              <a:rPr lang="zh-TW" altLang="en-US" smtClean="0"/>
              <a:t>資料型態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下頁表格顯示</a:t>
            </a:r>
            <a:r>
              <a:rPr lang="en-US" altLang="zh-TW" dirty="0" smtClean="0"/>
              <a:t>C</a:t>
            </a:r>
            <a:r>
              <a:rPr lang="zh-TW" altLang="en-US" dirty="0" smtClean="0"/>
              <a:t>所支援的資料型態，所需的空間和資料範圍會因為機器的規格而有所不同，此表是以</a:t>
            </a:r>
            <a:r>
              <a:rPr lang="en-US" altLang="zh-TW" dirty="0" smtClean="0"/>
              <a:t>64</a:t>
            </a:r>
            <a:r>
              <a:rPr lang="zh-TW" altLang="en-US" dirty="0" smtClean="0"/>
              <a:t>位元的電腦為例，</a:t>
            </a:r>
            <a:r>
              <a:rPr lang="en-US" altLang="zh-TW" dirty="0" smtClean="0"/>
              <a:t>C</a:t>
            </a:r>
            <a:r>
              <a:rPr lang="zh-TW" altLang="en-US" dirty="0" smtClean="0"/>
              <a:t>語言的</a:t>
            </a:r>
            <a:r>
              <a:rPr lang="en-US" altLang="zh-TW" dirty="0" smtClean="0"/>
              <a:t>long </a:t>
            </a:r>
            <a:r>
              <a:rPr lang="en-US" altLang="zh-TW" dirty="0" err="1" smtClean="0"/>
              <a:t>int</a:t>
            </a:r>
            <a:r>
              <a:rPr lang="zh-TW" altLang="en-US" dirty="0" smtClean="0"/>
              <a:t>至少是</a:t>
            </a:r>
            <a:r>
              <a:rPr lang="en-US" altLang="zh-TW" dirty="0" smtClean="0"/>
              <a:t>32bits</a:t>
            </a:r>
            <a:r>
              <a:rPr lang="zh-TW" altLang="en-US" dirty="0" smtClean="0"/>
              <a:t>，也可能是</a:t>
            </a:r>
            <a:r>
              <a:rPr lang="en-US" altLang="zh-TW" dirty="0" smtClean="0"/>
              <a:t>64bits</a:t>
            </a:r>
            <a:r>
              <a:rPr lang="zh-TW" altLang="en-US" dirty="0" smtClean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63976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5965078"/>
              </p:ext>
            </p:extLst>
          </p:nvPr>
        </p:nvGraphicFramePr>
        <p:xfrm>
          <a:off x="482860" y="1390369"/>
          <a:ext cx="8229600" cy="2869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145"/>
                <a:gridCol w="1620180"/>
                <a:gridCol w="5304275"/>
              </a:tblGrid>
              <a:tr h="5173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資料型態</a:t>
                      </a:r>
                      <a:endParaRPr lang="en-US" altLang="zh-TW" sz="2000" b="1" u="none" strike="noStrike" baseline="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所需空間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資料範圍</a:t>
                      </a:r>
                    </a:p>
                  </a:txBody>
                  <a:tcPr marT="34290" marB="34290" anchor="ctr"/>
                </a:tc>
              </a:tr>
              <a:tr h="3875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char 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8 bits 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ASCII</a:t>
                      </a:r>
                    </a:p>
                  </a:txBody>
                  <a:tcPr marT="34290" marB="34290" anchor="ctr"/>
                </a:tc>
              </a:tr>
              <a:tr h="3875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 err="1" smtClean="0">
                          <a:latin typeface="微軟正黑體" pitchFamily="34" charset="-120"/>
                          <a:ea typeface="微軟正黑體" pitchFamily="34" charset="-120"/>
                        </a:rPr>
                        <a:t>int</a:t>
                      </a:r>
                      <a:r>
                        <a:rPr lang="en-US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 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32 bits 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-2147483648 ~ 2147483647</a:t>
                      </a:r>
                    </a:p>
                  </a:txBody>
                  <a:tcPr marT="34290" marB="34290" anchor="ctr"/>
                </a:tc>
              </a:tr>
              <a:tr h="3875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short </a:t>
                      </a:r>
                      <a:r>
                        <a:rPr lang="en-US" altLang="zh-TW" sz="2000" b="1" u="none" strike="noStrike" baseline="0" dirty="0" err="1" smtClean="0">
                          <a:latin typeface="微軟正黑體" pitchFamily="34" charset="-120"/>
                          <a:ea typeface="微軟正黑體" pitchFamily="34" charset="-120"/>
                        </a:rPr>
                        <a:t>int</a:t>
                      </a:r>
                      <a:r>
                        <a:rPr lang="en-US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 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16 bits 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-32768 ~ 32767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</a:tr>
              <a:tr h="3875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long </a:t>
                      </a:r>
                      <a:r>
                        <a:rPr lang="en-US" altLang="zh-TW" sz="2000" b="1" u="none" strike="noStrike" baseline="0" dirty="0" err="1" smtClean="0">
                          <a:latin typeface="微軟正黑體" pitchFamily="34" charset="-120"/>
                          <a:ea typeface="微軟正黑體" pitchFamily="34" charset="-120"/>
                        </a:rPr>
                        <a:t>int</a:t>
                      </a:r>
                      <a:r>
                        <a:rPr lang="en-US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 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32 bits 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-2147483648 ~ 2147483647</a:t>
                      </a:r>
                    </a:p>
                  </a:txBody>
                  <a:tcPr marT="34290" marB="34290" anchor="ctr"/>
                </a:tc>
              </a:tr>
              <a:tr h="4140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float</a:t>
                      </a:r>
                      <a:endParaRPr lang="fr-FR" altLang="zh-TW" sz="2000" b="1" i="0" u="none" strike="noStrike" baseline="0" dirty="0" smtClean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32 bits 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u="none" strike="noStrike" baseline="0" dirty="0" err="1" smtClean="0">
                          <a:latin typeface="微軟正黑體" pitchFamily="34" charset="-120"/>
                          <a:ea typeface="微軟正黑體" pitchFamily="34" charset="-120"/>
                        </a:rPr>
                        <a:t>3.4E</a:t>
                      </a:r>
                      <a:r>
                        <a:rPr lang="en-US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-38 ~ </a:t>
                      </a:r>
                      <a:r>
                        <a:rPr lang="en-US" altLang="zh-TW" sz="2000" b="1" u="none" strike="noStrike" baseline="0" dirty="0" err="1" smtClean="0">
                          <a:latin typeface="微軟正黑體" pitchFamily="34" charset="-120"/>
                          <a:ea typeface="微軟正黑體" pitchFamily="34" charset="-120"/>
                        </a:rPr>
                        <a:t>3.4E+38</a:t>
                      </a:r>
                      <a:endParaRPr lang="en-US" altLang="zh-TW" sz="2000" b="1" u="none" strike="noStrike" baseline="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</a:tr>
              <a:tr h="38753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double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64 bits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TW" sz="2000" b="1" u="none" strike="noStrike" baseline="0" dirty="0" smtClean="0">
                          <a:latin typeface="微軟正黑體" pitchFamily="34" charset="-120"/>
                          <a:ea typeface="微軟正黑體" pitchFamily="34" charset="-120"/>
                        </a:rPr>
                        <a:t>1.7E-308 ~ 1.7E+308</a:t>
                      </a:r>
                      <a:endParaRPr lang="fr-FR" altLang="zh-TW" sz="2000" b="1" i="0" u="none" strike="noStrike" baseline="0" dirty="0" smtClean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</a:tr>
            </a:tbl>
          </a:graphicData>
        </a:graphic>
      </p:graphicFrame>
      <p:sp>
        <p:nvSpPr>
          <p:cNvPr id="2" name="五邊形 1"/>
          <p:cNvSpPr/>
          <p:nvPr/>
        </p:nvSpPr>
        <p:spPr>
          <a:xfrm>
            <a:off x="486866" y="816555"/>
            <a:ext cx="2880321" cy="391137"/>
          </a:xfrm>
          <a:prstGeom prst="homePlate">
            <a:avLst>
              <a:gd name="adj" fmla="val 8121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latin typeface="微軟正黑體" pitchFamily="34" charset="-120"/>
                <a:ea typeface="微軟正黑體" pitchFamily="34" charset="-120"/>
              </a:rPr>
              <a:t>C</a:t>
            </a:r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 的資料</a:t>
            </a:r>
            <a:r>
              <a:rPr lang="zh-TW" altLang="en-US" sz="2400" b="1" dirty="0" smtClean="0">
                <a:latin typeface="微軟正黑體" pitchFamily="34" charset="-120"/>
                <a:ea typeface="微軟正黑體" pitchFamily="34" charset="-120"/>
              </a:rPr>
              <a:t>型態</a:t>
            </a:r>
            <a:endParaRPr lang="zh-TW" altLang="en-US" sz="2400" b="1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0552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9-2 </a:t>
            </a:r>
            <a:r>
              <a:rPr lang="zh-TW" altLang="en-US" dirty="0"/>
              <a:t>資料型態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TW" altLang="en-US" dirty="0" smtClean="0"/>
              <a:t>為一個變數宣告好資料型態後，編譯器就會檢查該變數在程式任何地方出現的時候，是不是使用恰當。</a:t>
            </a:r>
            <a:endParaRPr lang="en-US" altLang="zh-TW" dirty="0" smtClean="0"/>
          </a:p>
          <a:p>
            <a:r>
              <a:rPr lang="zh-TW" altLang="en-US" dirty="0" smtClean="0"/>
              <a:t>假設宣告「</a:t>
            </a:r>
            <a:r>
              <a:rPr lang="en-US" altLang="zh-TW" dirty="0" smtClean="0"/>
              <a:t>x</a:t>
            </a:r>
            <a:r>
              <a:rPr lang="zh-TW" altLang="en-US" dirty="0" smtClean="0"/>
              <a:t>」是一個字元的資料型態，將符號「</a:t>
            </a:r>
            <a:r>
              <a:rPr lang="en-US" altLang="zh-TW" dirty="0" smtClean="0"/>
              <a:t>a</a:t>
            </a:r>
            <a:r>
              <a:rPr lang="zh-TW" altLang="en-US" dirty="0" smtClean="0"/>
              <a:t>」指定給</a:t>
            </a:r>
            <a:r>
              <a:rPr lang="en-US" altLang="zh-TW" dirty="0" smtClean="0"/>
              <a:t>x</a:t>
            </a:r>
            <a:r>
              <a:rPr lang="zh-TW" altLang="en-US" dirty="0" smtClean="0"/>
              <a:t>就是恰當的，但是將</a:t>
            </a:r>
            <a:r>
              <a:rPr lang="en-US" altLang="zh-TW" dirty="0" smtClean="0"/>
              <a:t>x</a:t>
            </a:r>
            <a:r>
              <a:rPr lang="zh-TW" altLang="en-US" dirty="0" smtClean="0"/>
              <a:t>乘以</a:t>
            </a:r>
            <a:r>
              <a:rPr lang="en-US" altLang="zh-TW" dirty="0" smtClean="0"/>
              <a:t>100</a:t>
            </a:r>
            <a:r>
              <a:rPr lang="zh-TW" altLang="en-US" dirty="0" smtClean="0"/>
              <a:t>就是沒有意義的。</a:t>
            </a:r>
            <a:endParaRPr lang="en-US" altLang="zh-TW" dirty="0" smtClean="0"/>
          </a:p>
          <a:p>
            <a:r>
              <a:rPr lang="zh-TW" altLang="en-US" dirty="0" smtClean="0"/>
              <a:t>基於這些好處，很多高階語言如</a:t>
            </a:r>
            <a:r>
              <a:rPr lang="en-US" altLang="zh-TW" dirty="0" smtClean="0"/>
              <a:t>PASCAL</a:t>
            </a:r>
            <a:r>
              <a:rPr lang="zh-TW" altLang="en-US" dirty="0" smtClean="0"/>
              <a:t>和</a:t>
            </a:r>
            <a:r>
              <a:rPr lang="en-US" altLang="zh-TW" dirty="0" smtClean="0"/>
              <a:t>C</a:t>
            </a:r>
            <a:r>
              <a:rPr lang="zh-TW" altLang="en-US" dirty="0" smtClean="0"/>
              <a:t>語言，都要求在使用一個變數前，必須先宣告它的資料型態。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4706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陣列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當有一系列相同型態的資料想要處理，如全班</a:t>
            </a:r>
            <a:r>
              <a:rPr lang="en-US" altLang="zh-TW" dirty="0" smtClean="0"/>
              <a:t>50</a:t>
            </a:r>
            <a:r>
              <a:rPr lang="zh-TW" altLang="en-US" dirty="0" smtClean="0"/>
              <a:t>個同學的數學成績，就可以使用陣列</a:t>
            </a:r>
            <a:r>
              <a:rPr lang="en-US" altLang="zh-TW" dirty="0" smtClean="0"/>
              <a:t>(array)</a:t>
            </a:r>
            <a:r>
              <a:rPr lang="zh-TW" altLang="en-US" dirty="0" smtClean="0"/>
              <a:t>的資料型態。</a:t>
            </a:r>
            <a:endParaRPr lang="en-US" altLang="zh-TW" dirty="0" smtClean="0"/>
          </a:p>
          <a:p>
            <a:r>
              <a:rPr lang="zh-TW" altLang="en-US" dirty="0" smtClean="0"/>
              <a:t>以下宣告一個包含</a:t>
            </a:r>
            <a:r>
              <a:rPr lang="en-US" altLang="zh-TW" dirty="0" smtClean="0"/>
              <a:t>50</a:t>
            </a:r>
            <a:r>
              <a:rPr lang="zh-TW" altLang="en-US" dirty="0" smtClean="0"/>
              <a:t>個整數的陣列：</a:t>
            </a:r>
          </a:p>
          <a:p>
            <a:endParaRPr lang="zh-TW" altLang="en-US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10" y="3966106"/>
            <a:ext cx="6705745" cy="460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570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陣列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10" y="2121700"/>
            <a:ext cx="8229600" cy="2562933"/>
          </a:xfrm>
        </p:spPr>
        <p:txBody>
          <a:bodyPr>
            <a:normAutofit fontScale="85000" lnSpcReduction="20000"/>
          </a:bodyPr>
          <a:lstStyle/>
          <a:p>
            <a:r>
              <a:rPr lang="zh-TW" altLang="en-US" dirty="0" smtClean="0"/>
              <a:t>陣列的名稱為「</a:t>
            </a:r>
            <a:r>
              <a:rPr lang="en-US" altLang="zh-TW" dirty="0" smtClean="0"/>
              <a:t>score</a:t>
            </a:r>
            <a:r>
              <a:rPr lang="zh-TW" altLang="en-US" dirty="0" smtClean="0"/>
              <a:t>」，陣列裡的每個資料為整數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)</a:t>
            </a:r>
            <a:r>
              <a:rPr lang="zh-TW" altLang="en-US" dirty="0" smtClean="0"/>
              <a:t>型態，而陣列第一個位置為</a:t>
            </a:r>
            <a:r>
              <a:rPr lang="en-US" altLang="zh-TW" dirty="0" smtClean="0"/>
              <a:t>score[0]</a:t>
            </a:r>
            <a:r>
              <a:rPr lang="zh-TW" altLang="en-US" dirty="0" smtClean="0"/>
              <a:t>，第二個位置為</a:t>
            </a:r>
            <a:r>
              <a:rPr lang="en-US" altLang="zh-TW" dirty="0" smtClean="0"/>
              <a:t>score[1]</a:t>
            </a:r>
            <a:r>
              <a:rPr lang="zh-TW" altLang="en-US" dirty="0" smtClean="0"/>
              <a:t>，依序一直到</a:t>
            </a:r>
            <a:r>
              <a:rPr lang="en-US" altLang="zh-TW" dirty="0" smtClean="0"/>
              <a:t>score[49]</a:t>
            </a:r>
            <a:r>
              <a:rPr lang="zh-TW" altLang="en-US" dirty="0" smtClean="0"/>
              <a:t>，這是因為</a:t>
            </a:r>
            <a:r>
              <a:rPr lang="en-US" altLang="zh-TW" dirty="0" smtClean="0"/>
              <a:t>C</a:t>
            </a:r>
            <a:r>
              <a:rPr lang="zh-TW" altLang="en-US" dirty="0" smtClean="0"/>
              <a:t>語言預設以註標</a:t>
            </a:r>
            <a:r>
              <a:rPr lang="en-US" altLang="zh-TW" dirty="0" smtClean="0"/>
              <a:t>0</a:t>
            </a:r>
            <a:r>
              <a:rPr lang="zh-TW" altLang="en-US" dirty="0" smtClean="0"/>
              <a:t>來表示陣列的第一個元素。</a:t>
            </a:r>
            <a:endParaRPr lang="en-US" altLang="zh-TW" dirty="0" smtClean="0"/>
          </a:p>
          <a:p>
            <a:r>
              <a:rPr lang="zh-TW" altLang="en-US" dirty="0" smtClean="0"/>
              <a:t>定義陣列之後，就很容易從這個序列中取出一個特定的資料。</a:t>
            </a:r>
            <a:endParaRPr lang="zh-TW" alt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95" y="1478123"/>
            <a:ext cx="6705745" cy="460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1330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陣列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896675"/>
            <a:ext cx="8229600" cy="2697948"/>
          </a:xfrm>
        </p:spPr>
        <p:txBody>
          <a:bodyPr/>
          <a:lstStyle/>
          <a:p>
            <a:r>
              <a:rPr lang="zh-TW" altLang="en-US" dirty="0"/>
              <a:t>假設這個陣列是以學生的學號依序建立的，那</a:t>
            </a:r>
            <a:r>
              <a:rPr lang="zh-TW" altLang="en-US" dirty="0" smtClean="0"/>
              <a:t>當要</a:t>
            </a:r>
            <a:r>
              <a:rPr lang="zh-TW" altLang="en-US" dirty="0"/>
              <a:t>取出學號</a:t>
            </a:r>
            <a:r>
              <a:rPr lang="en-US" altLang="zh-TW" dirty="0"/>
              <a:t>5</a:t>
            </a:r>
            <a:r>
              <a:rPr lang="zh-TW" altLang="en-US" dirty="0"/>
              <a:t>的同學的成績</a:t>
            </a:r>
            <a:r>
              <a:rPr lang="zh-TW" altLang="en-US" dirty="0" smtClean="0"/>
              <a:t>，就</a:t>
            </a:r>
            <a:r>
              <a:rPr lang="zh-TW" altLang="en-US" dirty="0"/>
              <a:t>可以寫</a:t>
            </a:r>
            <a:r>
              <a:rPr lang="en-US" altLang="zh-TW" dirty="0"/>
              <a:t>score[4]</a:t>
            </a:r>
            <a:r>
              <a:rPr lang="zh-TW" altLang="en-US" dirty="0"/>
              <a:t>，而學號</a:t>
            </a:r>
            <a:r>
              <a:rPr lang="en-US" altLang="zh-TW" dirty="0"/>
              <a:t>20</a:t>
            </a:r>
            <a:r>
              <a:rPr lang="zh-TW" altLang="en-US" dirty="0"/>
              <a:t>的同學的成績，則可以利用</a:t>
            </a:r>
            <a:r>
              <a:rPr lang="en-US" altLang="zh-TW" dirty="0"/>
              <a:t>score[19]</a:t>
            </a:r>
            <a:r>
              <a:rPr lang="zh-TW" altLang="en-US" dirty="0"/>
              <a:t>取出。</a:t>
            </a:r>
          </a:p>
          <a:p>
            <a:endParaRPr lang="zh-TW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436355"/>
            <a:ext cx="6705745" cy="460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847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結構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600" dirty="0" smtClean="0"/>
              <a:t>當有一些相關資料，想要聚集成一個單元一起處理，可以使用結構</a:t>
            </a:r>
            <a:r>
              <a:rPr lang="en-US" altLang="zh-TW" sz="2600" dirty="0" smtClean="0"/>
              <a:t>(structure)</a:t>
            </a:r>
            <a:r>
              <a:rPr lang="zh-TW" altLang="en-US" sz="2600" dirty="0" smtClean="0"/>
              <a:t>的資料型態。</a:t>
            </a:r>
            <a:endParaRPr lang="en-US" altLang="zh-TW" sz="2600" dirty="0" smtClean="0"/>
          </a:p>
          <a:p>
            <a:r>
              <a:rPr lang="zh-TW" altLang="en-US" sz="2600" dirty="0" smtClean="0"/>
              <a:t>譬如說，想要表示學生的姓名、系別、年級等</a:t>
            </a:r>
            <a:r>
              <a:rPr lang="en-US" altLang="zh-TW" sz="2600" dirty="0" smtClean="0"/>
              <a:t>3</a:t>
            </a:r>
            <a:r>
              <a:rPr lang="zh-TW" altLang="en-US" sz="2600" dirty="0" smtClean="0"/>
              <a:t>種資料，可以宣告如下：</a:t>
            </a:r>
          </a:p>
          <a:p>
            <a:endParaRPr lang="zh-TW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970" y="3291830"/>
            <a:ext cx="2246418" cy="14719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598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457200" y="634604"/>
            <a:ext cx="4879885" cy="857250"/>
          </a:xfrm>
        </p:spPr>
        <p:txBody>
          <a:bodyPr/>
          <a:lstStyle/>
          <a:p>
            <a:r>
              <a:rPr lang="zh-TW" altLang="en-US" dirty="0"/>
              <a:t>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986685"/>
            <a:ext cx="8229600" cy="2607938"/>
          </a:xfrm>
        </p:spPr>
        <p:txBody>
          <a:bodyPr>
            <a:normAutofit lnSpcReduction="10000"/>
          </a:bodyPr>
          <a:lstStyle/>
          <a:p>
            <a:r>
              <a:rPr lang="zh-TW" altLang="en-US" dirty="0" smtClean="0"/>
              <a:t>範例中的結構名稱為</a:t>
            </a:r>
            <a:r>
              <a:rPr lang="en-US" altLang="zh-TW" dirty="0" smtClean="0">
                <a:solidFill>
                  <a:srgbClr val="0070C0"/>
                </a:solidFill>
              </a:rPr>
              <a:t>student</a:t>
            </a:r>
            <a:r>
              <a:rPr lang="zh-TW" altLang="en-US" dirty="0" smtClean="0"/>
              <a:t>，其中欄位</a:t>
            </a:r>
            <a:r>
              <a:rPr lang="en-US" altLang="zh-TW" dirty="0" smtClean="0">
                <a:solidFill>
                  <a:srgbClr val="0070C0"/>
                </a:solidFill>
              </a:rPr>
              <a:t>name</a:t>
            </a:r>
            <a:r>
              <a:rPr lang="zh-TW" altLang="en-US" dirty="0" smtClean="0"/>
              <a:t>的資料型態為</a:t>
            </a:r>
            <a:r>
              <a:rPr lang="en-US" altLang="zh-TW" dirty="0" smtClean="0"/>
              <a:t>6</a:t>
            </a:r>
            <a:r>
              <a:rPr lang="zh-TW" altLang="en-US" dirty="0" smtClean="0"/>
              <a:t>個字元</a:t>
            </a:r>
            <a:r>
              <a:rPr lang="en-US" altLang="zh-TW" dirty="0" smtClean="0"/>
              <a:t>(char)</a:t>
            </a:r>
            <a:r>
              <a:rPr lang="zh-TW" altLang="en-US" dirty="0" smtClean="0"/>
              <a:t>，欄位</a:t>
            </a:r>
            <a:r>
              <a:rPr lang="en-US" altLang="zh-TW" dirty="0" smtClean="0">
                <a:solidFill>
                  <a:srgbClr val="0070C0"/>
                </a:solidFill>
              </a:rPr>
              <a:t>major</a:t>
            </a:r>
            <a:r>
              <a:rPr lang="zh-TW" altLang="en-US" dirty="0" smtClean="0"/>
              <a:t>的資料型態為</a:t>
            </a:r>
            <a:r>
              <a:rPr lang="en-US" altLang="zh-TW" dirty="0" smtClean="0"/>
              <a:t>10</a:t>
            </a:r>
            <a:r>
              <a:rPr lang="zh-TW" altLang="en-US" dirty="0" smtClean="0"/>
              <a:t>個字元，欄位</a:t>
            </a:r>
            <a:r>
              <a:rPr lang="en-US" altLang="zh-TW" dirty="0" smtClean="0">
                <a:solidFill>
                  <a:srgbClr val="0070C0"/>
                </a:solidFill>
              </a:rPr>
              <a:t>year</a:t>
            </a:r>
            <a:r>
              <a:rPr lang="zh-TW" altLang="en-US" dirty="0" smtClean="0"/>
              <a:t>的資料型態為整數。</a:t>
            </a:r>
            <a:endParaRPr lang="en-US" altLang="zh-TW" dirty="0" smtClean="0"/>
          </a:p>
          <a:p>
            <a:r>
              <a:rPr lang="zh-TW" altLang="en-US" dirty="0" smtClean="0"/>
              <a:t>假設之後再宣告變數</a:t>
            </a:r>
            <a:r>
              <a:rPr lang="en-US" altLang="zh-TW" dirty="0" smtClean="0">
                <a:solidFill>
                  <a:srgbClr val="0070C0"/>
                </a:solidFill>
              </a:rPr>
              <a:t>x</a:t>
            </a:r>
            <a:r>
              <a:rPr lang="zh-TW" altLang="en-US" dirty="0" smtClean="0"/>
              <a:t>的資料型態為</a:t>
            </a:r>
            <a:r>
              <a:rPr lang="en-US" altLang="zh-TW" dirty="0" smtClean="0">
                <a:solidFill>
                  <a:srgbClr val="0070C0"/>
                </a:solidFill>
              </a:rPr>
              <a:t>student</a:t>
            </a:r>
            <a:r>
              <a:rPr lang="zh-TW" altLang="en-US" dirty="0" smtClean="0"/>
              <a:t>結構，如下所示：</a:t>
            </a:r>
            <a:endParaRPr lang="zh-TW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0969" y="546525"/>
            <a:ext cx="2079780" cy="13628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837" y="4146925"/>
            <a:ext cx="2831790" cy="4959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9772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896675"/>
            <a:ext cx="8229600" cy="2697947"/>
          </a:xfrm>
        </p:spPr>
        <p:txBody>
          <a:bodyPr>
            <a:normAutofit lnSpcReduction="10000"/>
          </a:bodyPr>
          <a:lstStyle/>
          <a:p>
            <a:r>
              <a:rPr lang="zh-TW" altLang="en-US" dirty="0" smtClean="0"/>
              <a:t>如圖宣告後，可以利用小數點加上欄位名稱，來指出變數</a:t>
            </a:r>
            <a:r>
              <a:rPr lang="en-US" altLang="zh-TW" dirty="0" smtClean="0">
                <a:solidFill>
                  <a:srgbClr val="0070C0"/>
                </a:solidFill>
              </a:rPr>
              <a:t>x</a:t>
            </a:r>
            <a:r>
              <a:rPr lang="zh-TW" altLang="en-US" dirty="0" smtClean="0"/>
              <a:t>其中的某一個成分，如</a:t>
            </a:r>
            <a:r>
              <a:rPr lang="en-US" altLang="zh-TW" dirty="0" smtClean="0">
                <a:solidFill>
                  <a:srgbClr val="0070C0"/>
                </a:solidFill>
              </a:rPr>
              <a:t>x.name</a:t>
            </a:r>
            <a:r>
              <a:rPr lang="zh-TW" altLang="en-US" dirty="0" smtClean="0"/>
              <a:t>，</a:t>
            </a:r>
            <a:r>
              <a:rPr lang="en-US" altLang="zh-TW" dirty="0" err="1" smtClean="0">
                <a:solidFill>
                  <a:srgbClr val="0070C0"/>
                </a:solidFill>
              </a:rPr>
              <a:t>x.major</a:t>
            </a:r>
            <a:r>
              <a:rPr lang="zh-TW" altLang="en-US" dirty="0" smtClean="0"/>
              <a:t>和</a:t>
            </a:r>
            <a:r>
              <a:rPr lang="en-US" altLang="zh-TW" dirty="0" err="1" smtClean="0">
                <a:solidFill>
                  <a:srgbClr val="0070C0"/>
                </a:solidFill>
              </a:rPr>
              <a:t>x.year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這種表示式可以代表該成分在記憶體的位置，也可回傳該成分目前的值。</a:t>
            </a:r>
            <a:endParaRPr lang="zh-TW" alt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311610"/>
            <a:ext cx="2831790" cy="4959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7226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指標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 smtClean="0"/>
              <a:t>指標</a:t>
            </a:r>
            <a:r>
              <a:rPr lang="en-US" altLang="zh-TW" dirty="0" smtClean="0"/>
              <a:t>(pointer)</a:t>
            </a:r>
            <a:r>
              <a:rPr lang="zh-TW" altLang="en-US" dirty="0" smtClean="0"/>
              <a:t>是一種很特殊的資料型態，它記錄的是某個資料在記憶體的位置，也就是它提供了</a:t>
            </a:r>
            <a:r>
              <a:rPr lang="zh-TW" altLang="en-US" dirty="0" smtClean="0">
                <a:solidFill>
                  <a:srgbClr val="C00000"/>
                </a:solidFill>
              </a:rPr>
              <a:t>非直接存取</a:t>
            </a:r>
            <a:r>
              <a:rPr lang="en-US" altLang="zh-TW" dirty="0" smtClean="0"/>
              <a:t>(indirect accessing)</a:t>
            </a:r>
            <a:r>
              <a:rPr lang="zh-TW" altLang="en-US" dirty="0" smtClean="0"/>
              <a:t>的功能。</a:t>
            </a:r>
            <a:endParaRPr lang="en-US" altLang="zh-TW" dirty="0" smtClean="0"/>
          </a:p>
          <a:p>
            <a:r>
              <a:rPr lang="zh-TW" altLang="en-US" dirty="0" smtClean="0"/>
              <a:t>不直接處理該資料，而透過指標的理由：</a:t>
            </a:r>
          </a:p>
          <a:p>
            <a:pPr lvl="1"/>
            <a:r>
              <a:rPr lang="zh-TW" altLang="en-US" dirty="0" smtClean="0"/>
              <a:t>為了效率性的考量。</a:t>
            </a:r>
          </a:p>
          <a:p>
            <a:pPr lvl="1"/>
            <a:r>
              <a:rPr lang="zh-TW" altLang="en-US" dirty="0" smtClean="0"/>
              <a:t>不能確定資料的大小。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8652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指標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 smtClean="0"/>
              <a:t>為了效率性的考量</a:t>
            </a:r>
          </a:p>
          <a:p>
            <a:pPr lvl="1"/>
            <a:r>
              <a:rPr lang="zh-TW" altLang="en-US" dirty="0" smtClean="0"/>
              <a:t>指標記錄一個記憶體的位置，所以所需的空間是固定的，通常就是一個字元的大小。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假設每一個顧客資料，都是用複雜的結構表示，每個結構大小為</a:t>
            </a:r>
            <a:r>
              <a:rPr lang="en-US" altLang="zh-TW" dirty="0" smtClean="0"/>
              <a:t>100</a:t>
            </a:r>
            <a:r>
              <a:rPr lang="zh-TW" altLang="en-US" dirty="0" smtClean="0"/>
              <a:t>位元，若是希望對所有的顧客資料做處理，像是依照購買金額排序，則在記憶體內必須搬動很多個</a:t>
            </a:r>
            <a:r>
              <a:rPr lang="en-US" altLang="zh-TW" dirty="0" smtClean="0"/>
              <a:t>100</a:t>
            </a:r>
            <a:r>
              <a:rPr lang="zh-TW" altLang="en-US" dirty="0" smtClean="0"/>
              <a:t>位元大小的顧客結構。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812771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指標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為了效率性的考量</a:t>
            </a:r>
          </a:p>
          <a:p>
            <a:pPr lvl="1"/>
            <a:r>
              <a:rPr lang="zh-TW" altLang="en-US" dirty="0" smtClean="0"/>
              <a:t>另一方面，若使用指標為代理人，則在記憶體內我們只須搬動</a:t>
            </a:r>
            <a:r>
              <a:rPr lang="en-US" altLang="zh-TW" dirty="0" smtClean="0"/>
              <a:t>1</a:t>
            </a:r>
            <a:r>
              <a:rPr lang="zh-TW" altLang="en-US" dirty="0" smtClean="0"/>
              <a:t>個字元大小的指標，則程式執行的效率會有顯著的改善。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326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指標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不能確定資料的大小</a:t>
            </a:r>
          </a:p>
          <a:p>
            <a:pPr lvl="1"/>
            <a:r>
              <a:rPr lang="zh-TW" altLang="en-US" dirty="0" smtClean="0"/>
              <a:t>假設要記錄所有顧客的資料，其中一個方法是使用陣列，但是宣告陣列時必須很明確的告知陣列內元素的個數，如</a:t>
            </a:r>
            <a:r>
              <a:rPr lang="en-US" altLang="zh-TW" dirty="0" smtClean="0"/>
              <a:t>50</a:t>
            </a:r>
            <a:r>
              <a:rPr lang="zh-TW" altLang="en-US" dirty="0" smtClean="0"/>
              <a:t>或</a:t>
            </a:r>
            <a:r>
              <a:rPr lang="en-US" altLang="zh-TW" dirty="0" smtClean="0"/>
              <a:t>100</a:t>
            </a:r>
            <a:r>
              <a:rPr lang="zh-TW" altLang="en-US" dirty="0" smtClean="0"/>
              <a:t>，以便系統在記憶體裡預留空間。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59106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指標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不能確定資料的大小</a:t>
            </a:r>
          </a:p>
          <a:p>
            <a:pPr lvl="1"/>
            <a:r>
              <a:rPr lang="zh-TW" altLang="en-US" dirty="0" smtClean="0"/>
              <a:t>假設宣告陣列大小為</a:t>
            </a:r>
            <a:r>
              <a:rPr lang="en-US" altLang="zh-TW" dirty="0" smtClean="0"/>
              <a:t>100</a:t>
            </a:r>
            <a:r>
              <a:rPr lang="zh-TW" altLang="en-US" dirty="0" smtClean="0"/>
              <a:t>，但是只來了</a:t>
            </a:r>
            <a:r>
              <a:rPr lang="en-US" altLang="zh-TW" dirty="0" smtClean="0"/>
              <a:t>10</a:t>
            </a:r>
            <a:r>
              <a:rPr lang="zh-TW" altLang="en-US" dirty="0" smtClean="0"/>
              <a:t>個顧客，則有</a:t>
            </a:r>
            <a:r>
              <a:rPr lang="en-US" altLang="zh-TW" dirty="0" smtClean="0"/>
              <a:t>90</a:t>
            </a:r>
            <a:r>
              <a:rPr lang="zh-TW" altLang="en-US" dirty="0" smtClean="0"/>
              <a:t>個元素的空間被浪費了；但是若宣告為</a:t>
            </a:r>
            <a:r>
              <a:rPr lang="en-US" altLang="zh-TW" dirty="0" smtClean="0"/>
              <a:t>50</a:t>
            </a:r>
            <a:r>
              <a:rPr lang="zh-TW" altLang="en-US" dirty="0" smtClean="0"/>
              <a:t>，但是卻來了</a:t>
            </a:r>
            <a:r>
              <a:rPr lang="en-US" altLang="zh-TW" dirty="0" smtClean="0"/>
              <a:t>60</a:t>
            </a:r>
            <a:r>
              <a:rPr lang="zh-TW" altLang="en-US" dirty="0" smtClean="0"/>
              <a:t>個顧客，則事先預留的空間則不夠，造成很大的問題。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6808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指標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一般的作法，是將每筆資料用一個節點</a:t>
            </a:r>
            <a:r>
              <a:rPr lang="en-US" altLang="zh-TW" dirty="0" smtClean="0"/>
              <a:t>(node)</a:t>
            </a:r>
            <a:r>
              <a:rPr lang="zh-TW" altLang="en-US" dirty="0" smtClean="0"/>
              <a:t>表示，然後利用指標將節點串連起來，稱作鏈結串列</a:t>
            </a:r>
            <a:r>
              <a:rPr lang="en-US" altLang="zh-TW" dirty="0" smtClean="0"/>
              <a:t>(linked list)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28443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假設現在要處理的資料是整數型態，則節點的定義如下所示：</a:t>
            </a:r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810" y="3156815"/>
            <a:ext cx="3097755" cy="16037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79388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指標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 smtClean="0"/>
              <a:t>符號「*」表示後面接的變數字串記錄了位址，也就是說，</a:t>
            </a:r>
            <a:r>
              <a:rPr lang="en-US" altLang="zh-TW" dirty="0" smtClean="0">
                <a:solidFill>
                  <a:srgbClr val="C00000"/>
                </a:solidFill>
              </a:rPr>
              <a:t>next</a:t>
            </a:r>
            <a:r>
              <a:rPr lang="zh-TW" altLang="en-US" dirty="0" smtClean="0"/>
              <a:t>代表了記憶體中的一塊空間</a:t>
            </a:r>
            <a:r>
              <a:rPr lang="zh-TW" altLang="en-US" dirty="0" smtClean="0"/>
              <a:t>，</a:t>
            </a:r>
            <a:r>
              <a:rPr lang="zh-TW" altLang="en-US" dirty="0" smtClean="0"/>
              <a:t>該</a:t>
            </a:r>
            <a:r>
              <a:rPr lang="zh-TW" altLang="en-US" dirty="0"/>
              <a:t>空間存放的是一個</a:t>
            </a:r>
            <a:r>
              <a:rPr lang="en-US" altLang="zh-TW" dirty="0"/>
              <a:t>node</a:t>
            </a:r>
            <a:r>
              <a:rPr lang="zh-TW" altLang="en-US" dirty="0"/>
              <a:t>結構，包含整數型態的資料和</a:t>
            </a:r>
            <a:r>
              <a:rPr lang="zh-TW" altLang="en-US" dirty="0" smtClean="0"/>
              <a:t>指標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第一個節點裡的資料是整數</a:t>
            </a:r>
            <a:r>
              <a:rPr lang="en-US" altLang="zh-TW" dirty="0" smtClean="0"/>
              <a:t>3</a:t>
            </a:r>
            <a:r>
              <a:rPr lang="zh-TW" altLang="en-US" dirty="0" smtClean="0"/>
              <a:t>，它指到下一個節點，其資料是整數</a:t>
            </a:r>
            <a:r>
              <a:rPr lang="en-US" altLang="zh-TW" dirty="0" smtClean="0"/>
              <a:t>5</a:t>
            </a:r>
            <a:r>
              <a:rPr lang="zh-TW" altLang="en-US" dirty="0" smtClean="0"/>
              <a:t>，依此類推。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50615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如果要</a:t>
            </a:r>
            <a:r>
              <a:rPr lang="zh-TW" altLang="en-US" dirty="0"/>
              <a:t>再新增資料</a:t>
            </a:r>
            <a:r>
              <a:rPr lang="zh-TW" altLang="en-US" dirty="0" smtClean="0"/>
              <a:t>，只需</a:t>
            </a:r>
            <a:r>
              <a:rPr lang="zh-TW" altLang="en-US" dirty="0"/>
              <a:t>要建立一個新的節點，然後接到這個鏈結串列即可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若原先</a:t>
            </a:r>
            <a:r>
              <a:rPr lang="zh-TW" altLang="en-US" dirty="0"/>
              <a:t>的資料不需要了</a:t>
            </a:r>
            <a:r>
              <a:rPr lang="zh-TW" altLang="en-US" dirty="0" smtClean="0"/>
              <a:t>，可以</a:t>
            </a:r>
            <a:r>
              <a:rPr lang="zh-TW" altLang="en-US" dirty="0"/>
              <a:t>將該節點移除，然後把指標重新指定，並不需要做太大的改變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752" y="4011910"/>
            <a:ext cx="4618497" cy="858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 rot="517319">
            <a:off x="6245382" y="4062552"/>
            <a:ext cx="2031325" cy="36933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鏈結串列的示意圖</a:t>
            </a:r>
          </a:p>
        </p:txBody>
      </p:sp>
    </p:spTree>
    <p:extLst>
      <p:ext uri="{BB962C8B-B14F-4D97-AF65-F5344CB8AC3E}">
        <p14:creationId xmlns:p14="http://schemas.microsoft.com/office/powerpoint/2010/main" val="1325904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9-3 </a:t>
            </a:r>
            <a:r>
              <a:rPr lang="zh-TW" altLang="en-US" dirty="0" smtClean="0"/>
              <a:t>程式指令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hlinkClick r:id="rId2" action="ppaction://hlinksldjump"/>
              </a:rPr>
              <a:t>比較：</a:t>
            </a:r>
            <a:r>
              <a:rPr lang="en-US" altLang="zh-TW" dirty="0" smtClean="0">
                <a:hlinkClick r:id="rId2" action="ppaction://hlinksldjump"/>
              </a:rPr>
              <a:t>if</a:t>
            </a:r>
            <a:endParaRPr lang="en-US" altLang="zh-TW" dirty="0" smtClean="0"/>
          </a:p>
          <a:p>
            <a:r>
              <a:rPr lang="zh-TW" altLang="en-US" dirty="0" smtClean="0">
                <a:hlinkClick r:id="rId3" action="ppaction://hlinksldjump"/>
              </a:rPr>
              <a:t>固定次數的迴圈：</a:t>
            </a:r>
            <a:r>
              <a:rPr lang="en-US" altLang="zh-TW" dirty="0" smtClean="0">
                <a:hlinkClick r:id="rId3" action="ppaction://hlinksldjump"/>
              </a:rPr>
              <a:t>for</a:t>
            </a:r>
            <a:endParaRPr lang="en-US" altLang="zh-TW" dirty="0" smtClean="0"/>
          </a:p>
          <a:p>
            <a:r>
              <a:rPr lang="zh-TW" altLang="en-US" dirty="0" smtClean="0">
                <a:hlinkClick r:id="rId4" action="ppaction://hlinksldjump"/>
              </a:rPr>
              <a:t>不固定次數的迴圈：</a:t>
            </a:r>
            <a:r>
              <a:rPr lang="en-US" altLang="zh-TW" dirty="0" smtClean="0">
                <a:hlinkClick r:id="rId4" action="ppaction://hlinksldjump"/>
              </a:rPr>
              <a:t>while</a:t>
            </a:r>
            <a:endParaRPr lang="en-US" altLang="zh-TW" dirty="0" smtClean="0"/>
          </a:p>
          <a:p>
            <a:r>
              <a:rPr lang="zh-TW" altLang="en-US" dirty="0" smtClean="0">
                <a:hlinkClick r:id="rId5" action="ppaction://hlinksldjump"/>
              </a:rPr>
              <a:t>不固定次數的迴圈：</a:t>
            </a:r>
            <a:r>
              <a:rPr lang="en-US" altLang="zh-TW" dirty="0" smtClean="0">
                <a:hlinkClick r:id="rId5" action="ppaction://hlinksldjump"/>
              </a:rPr>
              <a:t>for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1151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9-3 </a:t>
            </a:r>
            <a:r>
              <a:rPr lang="zh-TW" altLang="en-US" dirty="0" smtClean="0"/>
              <a:t>程式指令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en-US" dirty="0"/>
              <a:t>為了清楚的表示邏輯結構和步驟間的關聯</a:t>
            </a:r>
            <a:r>
              <a:rPr lang="zh-TW" altLang="en-US" dirty="0" smtClean="0"/>
              <a:t>，常常</a:t>
            </a:r>
            <a:r>
              <a:rPr lang="zh-TW" altLang="en-US" dirty="0"/>
              <a:t>會使用</a:t>
            </a:r>
            <a:r>
              <a:rPr lang="zh-TW" altLang="en-US" dirty="0">
                <a:solidFill>
                  <a:srgbClr val="C00000"/>
                </a:solidFill>
              </a:rPr>
              <a:t>流程圖</a:t>
            </a:r>
            <a:r>
              <a:rPr lang="en-US" altLang="zh-TW" dirty="0"/>
              <a:t>(flow chart)</a:t>
            </a:r>
            <a:r>
              <a:rPr lang="zh-TW" altLang="en-US" dirty="0"/>
              <a:t>來輔助說明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流程圖</a:t>
            </a:r>
            <a:r>
              <a:rPr lang="zh-TW" altLang="en-US" dirty="0"/>
              <a:t>裡有幾個不同的符號，分別有其</a:t>
            </a:r>
            <a:r>
              <a:rPr lang="zh-TW" altLang="en-US" dirty="0" smtClean="0"/>
              <a:t>意義：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決策</a:t>
            </a:r>
            <a:r>
              <a:rPr lang="en-US" altLang="zh-TW" dirty="0"/>
              <a:t>(decision)</a:t>
            </a:r>
            <a:r>
              <a:rPr lang="zh-TW" altLang="en-US" dirty="0"/>
              <a:t>的運算式是用菱形框</a:t>
            </a:r>
            <a:r>
              <a:rPr lang="zh-TW" altLang="en-US" dirty="0" smtClean="0"/>
              <a:t>表示。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計算</a:t>
            </a:r>
            <a:r>
              <a:rPr lang="en-US" altLang="zh-TW" dirty="0"/>
              <a:t>(computation)</a:t>
            </a:r>
            <a:r>
              <a:rPr lang="zh-TW" altLang="en-US" dirty="0"/>
              <a:t>的敘述式是用長方框</a:t>
            </a:r>
            <a:r>
              <a:rPr lang="zh-TW" altLang="en-US" dirty="0" smtClean="0"/>
              <a:t>表示。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輸入</a:t>
            </a:r>
            <a:r>
              <a:rPr lang="en-US" altLang="zh-TW" dirty="0"/>
              <a:t>(input)</a:t>
            </a:r>
            <a:r>
              <a:rPr lang="zh-TW" altLang="en-US" dirty="0"/>
              <a:t>和輸出</a:t>
            </a:r>
            <a:r>
              <a:rPr lang="en-US" altLang="zh-TW" dirty="0"/>
              <a:t>(output)</a:t>
            </a:r>
            <a:r>
              <a:rPr lang="zh-TW" altLang="en-US" dirty="0"/>
              <a:t>有時會以特定機件</a:t>
            </a:r>
            <a:r>
              <a:rPr lang="en-US" altLang="zh-TW" dirty="0"/>
              <a:t>(device)</a:t>
            </a:r>
            <a:r>
              <a:rPr lang="zh-TW" altLang="en-US" dirty="0"/>
              <a:t>有關的形狀來表示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5758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714" y="2521576"/>
            <a:ext cx="6996333" cy="1638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9-3 </a:t>
            </a:r>
            <a:r>
              <a:rPr lang="zh-TW" altLang="en-US" dirty="0"/>
              <a:t>程式指令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相關的符號</a:t>
            </a:r>
            <a:r>
              <a:rPr lang="zh-TW" altLang="en-US" dirty="0" smtClean="0"/>
              <a:t>如下圖所示：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 rot="431172">
            <a:off x="6344131" y="2055516"/>
            <a:ext cx="1569660" cy="36933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流程圖之符號</a:t>
            </a:r>
          </a:p>
        </p:txBody>
      </p:sp>
    </p:spTree>
    <p:extLst>
      <p:ext uri="{BB962C8B-B14F-4D97-AF65-F5344CB8AC3E}">
        <p14:creationId xmlns:p14="http://schemas.microsoft.com/office/powerpoint/2010/main" val="255112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比較：</a:t>
            </a:r>
            <a:r>
              <a:rPr lang="en-US" altLang="zh-TW" dirty="0" smtClean="0"/>
              <a:t>if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solidFill>
                  <a:srgbClr val="0070C0"/>
                </a:solidFill>
              </a:rPr>
              <a:t>if</a:t>
            </a:r>
            <a:r>
              <a:rPr lang="zh-TW" altLang="en-US" dirty="0" smtClean="0">
                <a:solidFill>
                  <a:srgbClr val="0070C0"/>
                </a:solidFill>
              </a:rPr>
              <a:t> </a:t>
            </a:r>
            <a:r>
              <a:rPr lang="zh-TW" altLang="en-US" dirty="0" smtClean="0"/>
              <a:t>指令</a:t>
            </a:r>
            <a:r>
              <a:rPr lang="zh-TW" altLang="en-US" dirty="0" smtClean="0"/>
              <a:t>提供了邏輯判斷式。</a:t>
            </a:r>
            <a:endParaRPr lang="en-US" altLang="zh-TW" dirty="0" smtClean="0"/>
          </a:p>
          <a:p>
            <a:r>
              <a:rPr lang="zh-TW" altLang="en-US" dirty="0" smtClean="0"/>
              <a:t>如果</a:t>
            </a:r>
            <a:r>
              <a:rPr lang="en-US" altLang="zh-TW" dirty="0" smtClean="0">
                <a:solidFill>
                  <a:srgbClr val="0070C0"/>
                </a:solidFill>
              </a:rPr>
              <a:t>if</a:t>
            </a:r>
            <a:r>
              <a:rPr lang="zh-TW" altLang="en-US" dirty="0" smtClean="0"/>
              <a:t>後面接的運算式被判斷為真，則</a:t>
            </a:r>
            <a:r>
              <a:rPr lang="zh-TW" altLang="en-US" dirty="0"/>
              <a:t>程式會</a:t>
            </a:r>
            <a:r>
              <a:rPr lang="zh-TW" altLang="en-US" dirty="0" smtClean="0"/>
              <a:t>繼續執行</a:t>
            </a:r>
            <a:r>
              <a:rPr lang="zh-TW" altLang="en-US" dirty="0"/>
              <a:t>緊跟在後的運算</a:t>
            </a:r>
            <a:r>
              <a:rPr lang="zh-TW" altLang="en-US" dirty="0" smtClean="0"/>
              <a:t>式。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600258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如果</a:t>
            </a:r>
            <a:r>
              <a:rPr lang="en-US" altLang="zh-TW" dirty="0">
                <a:solidFill>
                  <a:srgbClr val="0070C0"/>
                </a:solidFill>
              </a:rPr>
              <a:t>if</a:t>
            </a:r>
            <a:r>
              <a:rPr lang="zh-TW" altLang="en-US" dirty="0"/>
              <a:t>後面接的運算式被判斷為不真，且程式設計師提供了其他運算式在</a:t>
            </a:r>
            <a:r>
              <a:rPr lang="en-US" altLang="zh-TW" dirty="0">
                <a:solidFill>
                  <a:srgbClr val="0070C0"/>
                </a:solidFill>
              </a:rPr>
              <a:t>else</a:t>
            </a:r>
            <a:r>
              <a:rPr lang="zh-TW" altLang="en-US" dirty="0"/>
              <a:t>之後，則程式會改而執行該運算式，否則就不會有任何動作。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056096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下面這個範例，在</a:t>
            </a:r>
            <a:r>
              <a:rPr lang="zh-TW" altLang="en-US" dirty="0" smtClean="0"/>
              <a:t>變數</a:t>
            </a:r>
            <a:r>
              <a:rPr lang="en-US" altLang="zh-TW" dirty="0" err="1" smtClean="0">
                <a:solidFill>
                  <a:srgbClr val="0070C0"/>
                </a:solidFill>
              </a:rPr>
              <a:t>i</a:t>
            </a:r>
            <a:r>
              <a:rPr lang="zh-TW" altLang="en-US" dirty="0" smtClean="0"/>
              <a:t>的</a:t>
            </a:r>
            <a:r>
              <a:rPr lang="zh-TW" altLang="en-US" dirty="0"/>
              <a:t>值大於</a:t>
            </a:r>
            <a:r>
              <a:rPr lang="en-US" altLang="zh-TW" dirty="0"/>
              <a:t>0</a:t>
            </a:r>
            <a:r>
              <a:rPr lang="zh-TW" altLang="en-US" dirty="0"/>
              <a:t>時，</a:t>
            </a:r>
            <a:r>
              <a:rPr lang="zh-TW" altLang="en-US" dirty="0" smtClean="0"/>
              <a:t>變數</a:t>
            </a:r>
            <a:r>
              <a:rPr lang="en-US" altLang="zh-TW" dirty="0" smtClean="0">
                <a:solidFill>
                  <a:srgbClr val="0070C0"/>
                </a:solidFill>
              </a:rPr>
              <a:t>x</a:t>
            </a:r>
            <a:r>
              <a:rPr lang="zh-TW" altLang="en-US" dirty="0" smtClean="0"/>
              <a:t>的</a:t>
            </a:r>
            <a:r>
              <a:rPr lang="zh-TW" altLang="en-US" dirty="0"/>
              <a:t>值設定</a:t>
            </a:r>
            <a:r>
              <a:rPr lang="zh-TW" altLang="en-US" dirty="0" smtClean="0"/>
              <a:t>為</a:t>
            </a:r>
            <a:r>
              <a:rPr lang="en-US" altLang="zh-TW" dirty="0" smtClean="0">
                <a:solidFill>
                  <a:srgbClr val="0070C0"/>
                </a:solidFill>
              </a:rPr>
              <a:t>10</a:t>
            </a:r>
            <a:r>
              <a:rPr lang="zh-TW" altLang="en-US" dirty="0" smtClean="0"/>
              <a:t>，</a:t>
            </a:r>
            <a:r>
              <a:rPr lang="zh-TW" altLang="en-US" dirty="0"/>
              <a:t>否則</a:t>
            </a:r>
            <a:r>
              <a:rPr lang="zh-TW" altLang="en-US" dirty="0" smtClean="0"/>
              <a:t>變數</a:t>
            </a:r>
            <a:r>
              <a:rPr lang="en-US" altLang="zh-TW" dirty="0" smtClean="0">
                <a:solidFill>
                  <a:srgbClr val="0070C0"/>
                </a:solidFill>
              </a:rPr>
              <a:t>y</a:t>
            </a:r>
            <a:r>
              <a:rPr lang="zh-TW" altLang="en-US" dirty="0" smtClean="0"/>
              <a:t>的</a:t>
            </a:r>
            <a:r>
              <a:rPr lang="zh-TW" altLang="en-US" dirty="0"/>
              <a:t>值設定</a:t>
            </a:r>
            <a:r>
              <a:rPr lang="zh-TW" altLang="en-US" dirty="0" smtClean="0"/>
              <a:t>為</a:t>
            </a:r>
            <a:r>
              <a:rPr lang="en-US" altLang="zh-TW" dirty="0" smtClean="0">
                <a:solidFill>
                  <a:srgbClr val="0070C0"/>
                </a:solidFill>
              </a:rPr>
              <a:t>5</a:t>
            </a:r>
            <a:r>
              <a:rPr lang="zh-TW" altLang="en-US" dirty="0" smtClean="0"/>
              <a:t>。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605" y="2796775"/>
            <a:ext cx="6237185" cy="1183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526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比較：</a:t>
            </a:r>
            <a:r>
              <a:rPr lang="en-US" altLang="zh-TW" smtClean="0"/>
              <a:t>if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smtClean="0"/>
              <a:t>Python</a:t>
            </a:r>
            <a:r>
              <a:rPr lang="zh-TW" altLang="en-US" smtClean="0"/>
              <a:t>的寫法</a:t>
            </a:r>
            <a:endParaRPr lang="en-US" altLang="zh-TW" smtClean="0"/>
          </a:p>
          <a:p>
            <a:pPr lvl="1"/>
            <a:r>
              <a:rPr lang="en-US" altLang="zh-TW" smtClean="0"/>
              <a:t>Python</a:t>
            </a:r>
            <a:r>
              <a:rPr lang="zh-TW" altLang="en-US" smtClean="0"/>
              <a:t>在“</a:t>
            </a:r>
            <a:r>
              <a:rPr lang="en-US" altLang="zh-TW" smtClean="0"/>
              <a:t>if”</a:t>
            </a:r>
            <a:r>
              <a:rPr lang="zh-TW" altLang="en-US" smtClean="0"/>
              <a:t>的條件式和“</a:t>
            </a:r>
            <a:r>
              <a:rPr lang="en-US" altLang="zh-TW" smtClean="0"/>
              <a:t>else”</a:t>
            </a:r>
            <a:r>
              <a:rPr lang="zh-TW" altLang="en-US" smtClean="0"/>
              <a:t>的關鍵字之後，必須以冒號（</a:t>
            </a:r>
            <a:r>
              <a:rPr lang="en-US" altLang="zh-TW" smtClean="0"/>
              <a:t>:</a:t>
            </a:r>
            <a:r>
              <a:rPr lang="zh-TW" altLang="en-US" smtClean="0"/>
              <a:t>）結束。</a:t>
            </a:r>
            <a:endParaRPr lang="en-US" altLang="zh-TW" smtClean="0"/>
          </a:p>
          <a:p>
            <a:pPr lvl="1"/>
            <a:r>
              <a:rPr lang="en-US" altLang="zh-TW" smtClean="0"/>
              <a:t>Python</a:t>
            </a:r>
            <a:r>
              <a:rPr lang="zh-TW" altLang="en-US" smtClean="0"/>
              <a:t>之後屬於同一個層級的指令，則使用相同的縮排區隔，預設是內縮</a:t>
            </a:r>
            <a:r>
              <a:rPr lang="en-US" altLang="zh-TW" smtClean="0"/>
              <a:t>4</a:t>
            </a:r>
            <a:r>
              <a:rPr lang="zh-TW" altLang="en-US" smtClean="0"/>
              <a:t>個空格（字元空間）。</a:t>
            </a:r>
            <a:endParaRPr lang="en-US" altLang="zh-TW" smtClean="0"/>
          </a:p>
          <a:p>
            <a:pPr lvl="1"/>
            <a:r>
              <a:rPr lang="en-US" altLang="zh-TW" smtClean="0"/>
              <a:t>Python</a:t>
            </a:r>
            <a:r>
              <a:rPr lang="zh-TW" altLang="en-US" smtClean="0"/>
              <a:t>只要可以清楚地分辨出每個敘述（譬如利用換行），就不用在最後加上分號（</a:t>
            </a:r>
            <a:r>
              <a:rPr lang="en-US" altLang="zh-TW" smtClean="0"/>
              <a:t>;</a:t>
            </a:r>
            <a:r>
              <a:rPr lang="zh-TW" altLang="en-US" smtClean="0"/>
              <a:t>）。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58540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Ｃ語言的寫法</a:t>
            </a:r>
            <a:endParaRPr lang="en-US" altLang="zh-TW" dirty="0"/>
          </a:p>
          <a:p>
            <a:pPr lvl="1"/>
            <a:r>
              <a:rPr lang="en-US" altLang="zh-TW" dirty="0"/>
              <a:t>C</a:t>
            </a:r>
            <a:r>
              <a:rPr lang="zh-TW" altLang="en-US" dirty="0"/>
              <a:t>，除了關鍵字之外的敘述，如指定、函數呼叫、變數宣告等，都必須以分號作為結尾。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579197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這個</a:t>
            </a:r>
            <a:r>
              <a:rPr lang="en-US" altLang="zh-TW" dirty="0" smtClean="0"/>
              <a:t>C</a:t>
            </a:r>
            <a:r>
              <a:rPr lang="zh-TW" altLang="en-US" dirty="0" smtClean="0"/>
              <a:t>語言的範例與上例的差別，</a:t>
            </a:r>
            <a:r>
              <a:rPr lang="zh-TW" altLang="en-US" dirty="0"/>
              <a:t>在於</a:t>
            </a:r>
            <a:r>
              <a:rPr lang="zh-TW" altLang="en-US" dirty="0" smtClean="0"/>
              <a:t>變數</a:t>
            </a:r>
            <a:r>
              <a:rPr lang="zh-TW" altLang="en-US" b="0" dirty="0" smtClean="0"/>
              <a:t> </a:t>
            </a:r>
            <a:r>
              <a:rPr lang="en-US" altLang="zh-TW" b="0" dirty="0" smtClean="0">
                <a:solidFill>
                  <a:srgbClr val="0070C0"/>
                </a:solidFill>
              </a:rPr>
              <a:t>i </a:t>
            </a:r>
            <a:r>
              <a:rPr lang="zh-TW" altLang="en-US" dirty="0" smtClean="0"/>
              <a:t>的</a:t>
            </a:r>
            <a:r>
              <a:rPr lang="zh-TW" altLang="en-US" dirty="0"/>
              <a:t>值小於或等於</a:t>
            </a:r>
            <a:r>
              <a:rPr lang="en-US" altLang="zh-TW" dirty="0"/>
              <a:t>0</a:t>
            </a:r>
            <a:r>
              <a:rPr lang="zh-TW" altLang="en-US" dirty="0"/>
              <a:t>時，並不會再進一步</a:t>
            </a:r>
            <a:r>
              <a:rPr lang="zh-TW" altLang="en-US" dirty="0" smtClean="0"/>
              <a:t>執行</a:t>
            </a:r>
            <a:r>
              <a:rPr lang="zh-TW" altLang="en-US" dirty="0"/>
              <a:t>任何命令，因為我們並沒有</a:t>
            </a:r>
            <a:r>
              <a:rPr lang="zh-TW" altLang="en-US" dirty="0" smtClean="0"/>
              <a:t>提供 </a:t>
            </a:r>
            <a:r>
              <a:rPr lang="en-US" altLang="zh-TW" dirty="0" smtClean="0">
                <a:solidFill>
                  <a:srgbClr val="0070C0"/>
                </a:solidFill>
              </a:rPr>
              <a:t>else </a:t>
            </a:r>
            <a:r>
              <a:rPr lang="zh-TW" altLang="en-US" dirty="0" smtClean="0"/>
              <a:t>子句</a:t>
            </a:r>
            <a:r>
              <a:rPr lang="zh-TW" altLang="en-US" dirty="0"/>
              <a:t>。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381840"/>
            <a:ext cx="8539898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0605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寫在</a:t>
            </a:r>
            <a:r>
              <a:rPr lang="en-US" altLang="zh-TW" dirty="0" smtClean="0">
                <a:solidFill>
                  <a:srgbClr val="0070C0"/>
                </a:solidFill>
              </a:rPr>
              <a:t>if</a:t>
            </a:r>
            <a:r>
              <a:rPr lang="zh-TW" altLang="en-US" dirty="0" smtClean="0"/>
              <a:t>之後的邏輯判斷式，在流程圖會表示在菱形符號中，然後利用標示為「是」和「否」兩條線，分別指到不同的運算。</a:t>
            </a:r>
            <a:endParaRPr lang="en-US" altLang="zh-TW" dirty="0" smtClean="0"/>
          </a:p>
          <a:p>
            <a:r>
              <a:rPr lang="zh-TW" altLang="en-US" dirty="0" smtClean="0"/>
              <a:t>為了清楚的表示整個結構，分別利用兩個小圓圈，作為一個虛擬的開始和虛擬的結束。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779876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在圖</a:t>
            </a:r>
            <a:r>
              <a:rPr lang="en-US" altLang="zh-TW" dirty="0"/>
              <a:t>(a)</a:t>
            </a:r>
            <a:r>
              <a:rPr lang="zh-TW" altLang="en-US" dirty="0"/>
              <a:t>中，判斷式「</a:t>
            </a:r>
            <a:r>
              <a:rPr lang="en-US" altLang="zh-TW" dirty="0" err="1"/>
              <a:t>i</a:t>
            </a:r>
            <a:r>
              <a:rPr lang="en-US" altLang="zh-TW" dirty="0"/>
              <a:t> &gt; 0</a:t>
            </a:r>
            <a:r>
              <a:rPr lang="zh-TW" altLang="en-US" dirty="0"/>
              <a:t>」不論是否符合，都會有一個對應的</a:t>
            </a:r>
            <a:r>
              <a:rPr lang="zh-TW" altLang="en-US" dirty="0" smtClean="0"/>
              <a:t>運算。</a:t>
            </a:r>
            <a:endParaRPr lang="en-US" altLang="zh-TW" dirty="0" smtClean="0"/>
          </a:p>
          <a:p>
            <a:r>
              <a:rPr lang="zh-TW" altLang="en-US" dirty="0" smtClean="0"/>
              <a:t>在</a:t>
            </a:r>
            <a:r>
              <a:rPr lang="zh-TW" altLang="en-US" dirty="0"/>
              <a:t>圖</a:t>
            </a:r>
            <a:r>
              <a:rPr lang="en-US" altLang="zh-TW" dirty="0"/>
              <a:t>(b)</a:t>
            </a:r>
            <a:r>
              <a:rPr lang="zh-TW" altLang="en-US" dirty="0"/>
              <a:t>中，一旦判斷式不符合，則沒有任何的運算，整個結構直接結束，進入下一個命令。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702054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98259" y="917816"/>
            <a:ext cx="2586842" cy="404288"/>
          </a:xfr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85000" lnSpcReduction="20000"/>
          </a:bodyPr>
          <a:lstStyle/>
          <a:p>
            <a:r>
              <a:rPr lang="en-US" altLang="zh-TW" sz="2800" dirty="0"/>
              <a:t>if</a:t>
            </a:r>
            <a:r>
              <a:rPr lang="zh-TW" altLang="en-US" sz="2800" dirty="0"/>
              <a:t>結構的流程圖</a:t>
            </a:r>
          </a:p>
          <a:p>
            <a:endParaRPr lang="zh-TW" altLang="en-US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700" y="1463899"/>
            <a:ext cx="5438750" cy="3011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219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下例</a:t>
            </a:r>
            <a:r>
              <a:rPr lang="zh-TW" altLang="en-US" dirty="0" smtClean="0"/>
              <a:t>顯示巢</a:t>
            </a:r>
            <a:r>
              <a:rPr lang="zh-TW" altLang="en-US" dirty="0"/>
              <a:t>狀</a:t>
            </a:r>
            <a:r>
              <a:rPr lang="en-US" altLang="zh-TW" dirty="0"/>
              <a:t>if</a:t>
            </a:r>
            <a:r>
              <a:rPr lang="zh-TW" altLang="en-US" dirty="0"/>
              <a:t>（</a:t>
            </a:r>
            <a:r>
              <a:rPr lang="en-US" altLang="zh-TW" dirty="0"/>
              <a:t>nested if</a:t>
            </a:r>
            <a:r>
              <a:rPr lang="zh-TW" altLang="en-US" dirty="0"/>
              <a:t>）的寫法，</a:t>
            </a:r>
            <a:r>
              <a:rPr lang="zh-TW" altLang="en-US" dirty="0" smtClean="0"/>
              <a:t>也就是可以</a:t>
            </a:r>
            <a:r>
              <a:rPr lang="zh-TW" altLang="en-US" dirty="0"/>
              <a:t>在</a:t>
            </a:r>
            <a:r>
              <a:rPr lang="zh-TW" altLang="en-US" dirty="0" smtClean="0"/>
              <a:t>一個 </a:t>
            </a:r>
            <a:r>
              <a:rPr lang="en-US" altLang="zh-TW" dirty="0" smtClean="0">
                <a:solidFill>
                  <a:srgbClr val="0070C0"/>
                </a:solidFill>
              </a:rPr>
              <a:t>if </a:t>
            </a:r>
            <a:r>
              <a:rPr lang="zh-TW" altLang="en-US" dirty="0" smtClean="0"/>
              <a:t>敘述</a:t>
            </a:r>
            <a:r>
              <a:rPr lang="zh-TW" altLang="en-US" dirty="0"/>
              <a:t>裡面，再</a:t>
            </a:r>
            <a:r>
              <a:rPr lang="zh-TW" altLang="en-US" dirty="0" smtClean="0"/>
              <a:t>放入另一個</a:t>
            </a:r>
            <a:r>
              <a:rPr lang="zh-TW" altLang="en-US" dirty="0" smtClean="0">
                <a:solidFill>
                  <a:srgbClr val="0070C0"/>
                </a:solidFill>
              </a:rPr>
              <a:t> </a:t>
            </a:r>
            <a:r>
              <a:rPr lang="en-US" altLang="zh-TW" dirty="0" smtClean="0">
                <a:solidFill>
                  <a:srgbClr val="0070C0"/>
                </a:solidFill>
              </a:rPr>
              <a:t>if </a:t>
            </a:r>
            <a:r>
              <a:rPr lang="zh-TW" altLang="en-US" dirty="0" smtClean="0"/>
              <a:t>敘述。</a:t>
            </a:r>
            <a:endParaRPr lang="en-US" altLang="zh-TW" dirty="0" smtClean="0"/>
          </a:p>
          <a:p>
            <a:r>
              <a:rPr lang="zh-TW" altLang="en-US" dirty="0" smtClean="0"/>
              <a:t>以此例而言，當變數 </a:t>
            </a:r>
            <a:r>
              <a:rPr lang="en-US" altLang="zh-TW" dirty="0" err="1" smtClean="0">
                <a:solidFill>
                  <a:srgbClr val="0070C0"/>
                </a:solidFill>
              </a:rPr>
              <a:t>i</a:t>
            </a:r>
            <a:r>
              <a:rPr lang="en-US" altLang="zh-TW" dirty="0" smtClean="0">
                <a:solidFill>
                  <a:srgbClr val="0070C0"/>
                </a:solidFill>
              </a:rPr>
              <a:t> </a:t>
            </a:r>
            <a:r>
              <a:rPr lang="zh-TW" altLang="en-US" dirty="0" smtClean="0"/>
              <a:t>的值被判斷為正之後，需要再確定變數 </a:t>
            </a:r>
            <a:r>
              <a:rPr lang="en-US" altLang="zh-TW" dirty="0" smtClean="0">
                <a:solidFill>
                  <a:srgbClr val="0070C0"/>
                </a:solidFill>
              </a:rPr>
              <a:t>a </a:t>
            </a:r>
            <a:r>
              <a:rPr lang="zh-TW" altLang="en-US" dirty="0" smtClean="0"/>
              <a:t>的值大於變數 </a:t>
            </a:r>
            <a:r>
              <a:rPr lang="en-US" altLang="zh-TW" dirty="0" smtClean="0">
                <a:solidFill>
                  <a:srgbClr val="0070C0"/>
                </a:solidFill>
              </a:rPr>
              <a:t>b </a:t>
            </a:r>
            <a:r>
              <a:rPr lang="zh-TW" altLang="en-US" dirty="0" smtClean="0"/>
              <a:t>的值，才會指定變數 </a:t>
            </a:r>
            <a:r>
              <a:rPr lang="en-US" altLang="zh-TW" dirty="0" smtClean="0">
                <a:solidFill>
                  <a:srgbClr val="0070C0"/>
                </a:solidFill>
              </a:rPr>
              <a:t>x </a:t>
            </a:r>
            <a:r>
              <a:rPr lang="zh-TW" altLang="en-US" dirty="0" smtClean="0"/>
              <a:t>為</a:t>
            </a:r>
            <a:r>
              <a:rPr lang="en-US" altLang="zh-TW" dirty="0" smtClean="0"/>
              <a:t>10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7950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值得注意的是，</a:t>
            </a:r>
            <a:r>
              <a:rPr lang="zh-TW" altLang="en-US" dirty="0" smtClean="0"/>
              <a:t>變數 </a:t>
            </a:r>
            <a:r>
              <a:rPr lang="en-US" altLang="zh-TW" dirty="0" smtClean="0">
                <a:solidFill>
                  <a:srgbClr val="0070C0"/>
                </a:solidFill>
              </a:rPr>
              <a:t>y </a:t>
            </a:r>
            <a:r>
              <a:rPr lang="zh-TW" altLang="en-US" dirty="0" smtClean="0"/>
              <a:t>的</a:t>
            </a:r>
            <a:r>
              <a:rPr lang="zh-TW" altLang="en-US" dirty="0"/>
              <a:t>值會被指定為「</a:t>
            </a:r>
            <a:r>
              <a:rPr lang="en-US" altLang="zh-TW" dirty="0"/>
              <a:t>5</a:t>
            </a:r>
            <a:r>
              <a:rPr lang="zh-TW" altLang="en-US" dirty="0"/>
              <a:t>」，是在當</a:t>
            </a:r>
            <a:r>
              <a:rPr lang="zh-TW" altLang="en-US" dirty="0" smtClean="0"/>
              <a:t>變數 </a:t>
            </a:r>
            <a:r>
              <a:rPr lang="en-US" altLang="zh-TW" dirty="0" err="1" smtClean="0">
                <a:solidFill>
                  <a:srgbClr val="0070C0"/>
                </a:solidFill>
              </a:rPr>
              <a:t>i</a:t>
            </a:r>
            <a:r>
              <a:rPr lang="en-US" altLang="zh-TW" dirty="0" smtClean="0">
                <a:solidFill>
                  <a:srgbClr val="0070C0"/>
                </a:solidFill>
              </a:rPr>
              <a:t> </a:t>
            </a:r>
            <a:r>
              <a:rPr lang="zh-TW" altLang="en-US" dirty="0" smtClean="0"/>
              <a:t>的</a:t>
            </a:r>
            <a:r>
              <a:rPr lang="zh-TW" altLang="en-US" dirty="0"/>
              <a:t>值為「正」，且</a:t>
            </a:r>
            <a:r>
              <a:rPr lang="zh-TW" altLang="en-US" dirty="0" smtClean="0"/>
              <a:t>變數 </a:t>
            </a:r>
            <a:r>
              <a:rPr lang="en-US" altLang="zh-TW" dirty="0" smtClean="0">
                <a:solidFill>
                  <a:srgbClr val="0070C0"/>
                </a:solidFill>
              </a:rPr>
              <a:t>a </a:t>
            </a:r>
            <a:r>
              <a:rPr lang="zh-TW" altLang="en-US" dirty="0" smtClean="0"/>
              <a:t>的</a:t>
            </a:r>
            <a:r>
              <a:rPr lang="zh-TW" altLang="en-US" dirty="0"/>
              <a:t>值「不大於」</a:t>
            </a:r>
            <a:r>
              <a:rPr lang="zh-TW" altLang="en-US" dirty="0" smtClean="0"/>
              <a:t>變數 </a:t>
            </a:r>
            <a:r>
              <a:rPr lang="en-US" altLang="zh-TW" dirty="0" smtClean="0">
                <a:solidFill>
                  <a:srgbClr val="0070C0"/>
                </a:solidFill>
              </a:rPr>
              <a:t>b </a:t>
            </a:r>
            <a:r>
              <a:rPr lang="zh-TW" altLang="en-US" dirty="0" smtClean="0"/>
              <a:t>的</a:t>
            </a:r>
            <a:r>
              <a:rPr lang="zh-TW" altLang="en-US" dirty="0"/>
              <a:t>值的情況下。</a:t>
            </a:r>
          </a:p>
          <a:p>
            <a:endParaRPr lang="zh-TW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904" y="3246825"/>
            <a:ext cx="2549363" cy="169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59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660399"/>
            <a:ext cx="5194920" cy="2934224"/>
          </a:xfrm>
        </p:spPr>
        <p:txBody>
          <a:bodyPr>
            <a:normAutofit fontScale="85000" lnSpcReduction="20000"/>
          </a:bodyPr>
          <a:lstStyle/>
          <a:p>
            <a:r>
              <a:rPr lang="zh-TW" altLang="en-US" dirty="0" smtClean="0"/>
              <a:t>一旦判斷式「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&gt; 0</a:t>
            </a:r>
            <a:r>
              <a:rPr lang="zh-TW" altLang="en-US" dirty="0" smtClean="0"/>
              <a:t>」不符合，則整個結構沒有任何其他運算，直接結束。</a:t>
            </a:r>
            <a:endParaRPr lang="en-US" altLang="zh-TW" dirty="0" smtClean="0"/>
          </a:p>
          <a:p>
            <a:r>
              <a:rPr lang="zh-TW" altLang="en-US" dirty="0" smtClean="0"/>
              <a:t>但是若判斷式「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&gt; 0</a:t>
            </a:r>
            <a:r>
              <a:rPr lang="zh-TW" altLang="en-US" dirty="0" smtClean="0"/>
              <a:t>」為真，則還要再做另一個判斷，亦即是否「</a:t>
            </a:r>
            <a:r>
              <a:rPr lang="en-US" altLang="zh-TW" dirty="0" smtClean="0"/>
              <a:t>a &gt; b</a:t>
            </a:r>
            <a:r>
              <a:rPr lang="zh-TW" altLang="en-US" dirty="0" smtClean="0"/>
              <a:t>」，才會決定相對應的動作。</a:t>
            </a:r>
            <a:endParaRPr lang="zh-TW" altLang="en-US" dirty="0"/>
          </a:p>
        </p:txBody>
      </p:sp>
      <p:sp>
        <p:nvSpPr>
          <p:cNvPr id="4" name="內容版面配置區 1"/>
          <p:cNvSpPr txBox="1">
            <a:spLocks/>
          </p:cNvSpPr>
          <p:nvPr/>
        </p:nvSpPr>
        <p:spPr>
          <a:xfrm>
            <a:off x="6005116" y="4269737"/>
            <a:ext cx="2684256" cy="293485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TW" altLang="en-US" sz="2000" b="1" dirty="0" smtClean="0"/>
              <a:t>巢狀</a:t>
            </a:r>
            <a:r>
              <a:rPr lang="en-US" altLang="zh-TW" sz="2000" b="1" dirty="0" smtClean="0"/>
              <a:t>if</a:t>
            </a:r>
            <a:r>
              <a:rPr lang="zh-TW" altLang="en-US" sz="2000" b="1" dirty="0" smtClean="0"/>
              <a:t>結構的流程圖</a:t>
            </a:r>
          </a:p>
          <a:p>
            <a:pPr algn="ctr">
              <a:lnSpc>
                <a:spcPct val="120000"/>
              </a:lnSpc>
            </a:pPr>
            <a:endParaRPr lang="zh-TW" altLang="en-US" sz="2000" b="1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134" y="1041580"/>
            <a:ext cx="2953345" cy="292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991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固定次數的迴圈：</a:t>
            </a:r>
            <a:r>
              <a:rPr lang="en-US" altLang="zh-TW" dirty="0" smtClean="0"/>
              <a:t>for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zh-TW" altLang="en-US" sz="2600" dirty="0" smtClean="0"/>
              <a:t>利用</a:t>
            </a:r>
            <a:r>
              <a:rPr lang="en-US" altLang="zh-TW" sz="2600" dirty="0" smtClean="0">
                <a:solidFill>
                  <a:srgbClr val="0070C0"/>
                </a:solidFill>
              </a:rPr>
              <a:t>for</a:t>
            </a:r>
            <a:r>
              <a:rPr lang="zh-TW" altLang="en-US" sz="2600" dirty="0" smtClean="0"/>
              <a:t>指令，可以事先指定好迴圈的執行次數。</a:t>
            </a:r>
            <a:endParaRPr lang="en-US" altLang="zh-TW" sz="2600" dirty="0" smtClean="0"/>
          </a:p>
          <a:p>
            <a:pPr algn="l"/>
            <a:r>
              <a:rPr lang="zh-TW" altLang="en-US" sz="2600" dirty="0"/>
              <a:t>在下面這個</a:t>
            </a:r>
            <a:r>
              <a:rPr lang="en-US" altLang="zh-TW" sz="2600" dirty="0"/>
              <a:t>Python</a:t>
            </a:r>
            <a:r>
              <a:rPr lang="zh-TW" altLang="en-US" sz="2600" dirty="0"/>
              <a:t>範例中</a:t>
            </a:r>
            <a:r>
              <a:rPr lang="zh-TW" altLang="en-US" sz="2600" dirty="0" smtClean="0"/>
              <a:t>，首先透過 </a:t>
            </a:r>
            <a:r>
              <a:rPr lang="en-US" altLang="zh-TW" sz="2600" dirty="0" smtClean="0">
                <a:solidFill>
                  <a:schemeClr val="accent1">
                    <a:lumMod val="75000"/>
                  </a:schemeClr>
                </a:solidFill>
              </a:rPr>
              <a:t>range(1</a:t>
            </a:r>
            <a:r>
              <a:rPr lang="en-US" altLang="zh-TW" sz="2600" dirty="0">
                <a:solidFill>
                  <a:schemeClr val="accent1">
                    <a:lumMod val="75000"/>
                  </a:schemeClr>
                </a:solidFill>
              </a:rPr>
              <a:t>, 6</a:t>
            </a:r>
            <a:r>
              <a:rPr lang="en-US" altLang="zh-TW" sz="2600" dirty="0" smtClean="0">
                <a:solidFill>
                  <a:schemeClr val="accent1">
                    <a:lumMod val="75000"/>
                  </a:schemeClr>
                </a:solidFill>
              </a:rPr>
              <a:t>) </a:t>
            </a:r>
            <a:r>
              <a:rPr lang="zh-TW" altLang="en-US" sz="2600" dirty="0" smtClean="0"/>
              <a:t>這個</a:t>
            </a:r>
            <a:r>
              <a:rPr lang="zh-TW" altLang="en-US" sz="2600" dirty="0"/>
              <a:t>函數，產生從整數</a:t>
            </a:r>
            <a:r>
              <a:rPr lang="en-US" altLang="zh-TW" sz="2600" dirty="0"/>
              <a:t>1</a:t>
            </a:r>
            <a:r>
              <a:rPr lang="zh-TW" altLang="en-US" sz="2600" dirty="0"/>
              <a:t>到整數</a:t>
            </a:r>
            <a:r>
              <a:rPr lang="en-US" altLang="zh-TW" sz="2600" dirty="0"/>
              <a:t>5</a:t>
            </a:r>
            <a:r>
              <a:rPr lang="zh-TW" altLang="en-US" sz="2600" dirty="0" smtClean="0"/>
              <a:t>（＝</a:t>
            </a:r>
            <a:r>
              <a:rPr lang="en-US" altLang="zh-TW" sz="2600" dirty="0" smtClean="0"/>
              <a:t>6-1</a:t>
            </a:r>
            <a:r>
              <a:rPr lang="zh-TW" altLang="en-US" sz="2600" dirty="0"/>
              <a:t>）的連續整數數列</a:t>
            </a:r>
            <a:r>
              <a:rPr lang="zh-TW" altLang="en-US" sz="2600" dirty="0" smtClean="0"/>
              <a:t>。</a:t>
            </a:r>
            <a:endParaRPr lang="zh-TW" altLang="en-US" sz="260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795" y="3381840"/>
            <a:ext cx="3259680" cy="1488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88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不固定次數的迴圈：</a:t>
            </a:r>
            <a:r>
              <a:rPr lang="en-US" altLang="zh-TW" dirty="0" smtClean="0"/>
              <a:t>while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mtClean="0"/>
              <a:t>所謂的不固定次數，就是迴圈的執行次數，並沒有很明確的在程式裡指定好。</a:t>
            </a:r>
            <a:endParaRPr lang="en-US" altLang="zh-TW" smtClean="0"/>
          </a:p>
          <a:p>
            <a:r>
              <a:rPr lang="zh-TW" altLang="en-US" smtClean="0"/>
              <a:t>至於迴圈要執行幾次，則是利用一個特定的邏輯判斷式來控制。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427232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不固定次數的迴圈：</a:t>
            </a:r>
            <a:r>
              <a:rPr lang="en-US" altLang="zh-TW" dirty="0"/>
              <a:t>while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C</a:t>
            </a:r>
            <a:r>
              <a:rPr lang="zh-TW" altLang="en-US" dirty="0"/>
              <a:t>和</a:t>
            </a:r>
            <a:r>
              <a:rPr lang="en-US" altLang="zh-TW" dirty="0"/>
              <a:t>Python</a:t>
            </a:r>
            <a:r>
              <a:rPr lang="zh-TW" altLang="en-US" dirty="0"/>
              <a:t>裡都提供了相對應的指令，以下使用範例加以說明。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131475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2600" dirty="0" smtClean="0">
                <a:solidFill>
                  <a:srgbClr val="0070C0"/>
                </a:solidFill>
              </a:rPr>
              <a:t>while</a:t>
            </a:r>
            <a:r>
              <a:rPr lang="zh-TW" altLang="en-US" sz="2600" dirty="0" smtClean="0"/>
              <a:t>後面</a:t>
            </a:r>
            <a:r>
              <a:rPr lang="zh-TW" altLang="en-US" sz="2600" dirty="0"/>
              <a:t>是接一個邏輯判斷式，</a:t>
            </a:r>
            <a:r>
              <a:rPr lang="zh-TW" altLang="en-US" sz="2600" dirty="0" smtClean="0"/>
              <a:t>也就是</a:t>
            </a:r>
            <a:r>
              <a:rPr lang="en-US" altLang="zh-TW" sz="2600" dirty="0" err="1" smtClean="0"/>
              <a:t>i</a:t>
            </a:r>
            <a:r>
              <a:rPr lang="en-US" altLang="zh-TW" sz="2600" dirty="0" smtClean="0"/>
              <a:t> &lt; 6</a:t>
            </a:r>
            <a:r>
              <a:rPr lang="zh-TW" altLang="en-US" sz="2600" dirty="0" smtClean="0"/>
              <a:t>。</a:t>
            </a:r>
            <a:endParaRPr lang="en-US" altLang="zh-TW" sz="2600" dirty="0" smtClean="0"/>
          </a:p>
          <a:p>
            <a:pPr algn="l"/>
            <a:r>
              <a:rPr lang="zh-TW" altLang="en-US" sz="2600" dirty="0" smtClean="0"/>
              <a:t>若是</a:t>
            </a:r>
            <a:r>
              <a:rPr lang="zh-TW" altLang="en-US" sz="2600" dirty="0"/>
              <a:t>這個邏輯判斷式為真，則程式會進入此迴圈，執行定義於內的指令，更改</a:t>
            </a:r>
            <a:r>
              <a:rPr lang="zh-TW" altLang="en-US" sz="2600" dirty="0" smtClean="0"/>
              <a:t>變數 </a:t>
            </a:r>
            <a:r>
              <a:rPr lang="en-US" altLang="zh-TW" sz="2600" dirty="0" smtClean="0"/>
              <a:t>x </a:t>
            </a:r>
            <a:r>
              <a:rPr lang="zh-TW" altLang="en-US" sz="2600" dirty="0" smtClean="0"/>
              <a:t>和變數 </a:t>
            </a:r>
            <a:r>
              <a:rPr lang="en-US" altLang="zh-TW" sz="2600" dirty="0" err="1" smtClean="0"/>
              <a:t>i</a:t>
            </a:r>
            <a:r>
              <a:rPr lang="en-US" altLang="zh-TW" sz="2600" dirty="0" smtClean="0"/>
              <a:t> </a:t>
            </a:r>
            <a:r>
              <a:rPr lang="zh-TW" altLang="en-US" sz="2600" dirty="0" smtClean="0"/>
              <a:t>的</a:t>
            </a:r>
            <a:r>
              <a:rPr lang="zh-TW" altLang="en-US" sz="2600" dirty="0"/>
              <a:t>值。</a:t>
            </a: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不固定次數的迴圈：</a:t>
            </a:r>
            <a:r>
              <a:rPr lang="en-US" altLang="zh-TW" dirty="0"/>
              <a:t>while</a:t>
            </a:r>
            <a:endParaRPr lang="zh-TW" alt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700" y="3381840"/>
            <a:ext cx="5436800" cy="1595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0398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不固定次數的迴圈：</a:t>
            </a:r>
            <a:r>
              <a:rPr lang="en-US" altLang="zh-TW" dirty="0"/>
              <a:t>while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10"/>
          <a:stretch/>
        </p:blipFill>
        <p:spPr bwMode="auto">
          <a:xfrm>
            <a:off x="3279644" y="1401620"/>
            <a:ext cx="2546571" cy="3161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內容版面配置區 1"/>
          <p:cNvSpPr txBox="1">
            <a:spLocks/>
          </p:cNvSpPr>
          <p:nvPr/>
        </p:nvSpPr>
        <p:spPr>
          <a:xfrm>
            <a:off x="3274200" y="4678412"/>
            <a:ext cx="2684256" cy="293485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TW" sz="2000" b="1" dirty="0" smtClean="0"/>
              <a:t>While </a:t>
            </a:r>
            <a:r>
              <a:rPr lang="zh-TW" altLang="en-US" sz="2000" b="1" dirty="0" smtClean="0"/>
              <a:t>迴圈的</a:t>
            </a:r>
            <a:r>
              <a:rPr lang="zh-TW" altLang="en-US" sz="2000" b="1" dirty="0" smtClean="0"/>
              <a:t>流程圖</a:t>
            </a:r>
          </a:p>
          <a:p>
            <a:pPr algn="ctr">
              <a:lnSpc>
                <a:spcPct val="120000"/>
              </a:lnSpc>
            </a:pP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6125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不固定次數的迴</a:t>
            </a:r>
            <a:r>
              <a:rPr lang="zh-TW" altLang="en-US" dirty="0" smtClean="0"/>
              <a:t>圈：</a:t>
            </a:r>
            <a:r>
              <a:rPr lang="en-US" altLang="zh-TW" dirty="0" smtClean="0"/>
              <a:t>while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另一種迴圈的寫法，則是不先做判斷，而是直接執行命令，等到執行完再做邏輯式</a:t>
            </a:r>
            <a:r>
              <a:rPr lang="zh-TW" altLang="en-US" dirty="0" smtClean="0"/>
              <a:t>的判斷。</a:t>
            </a:r>
            <a:endParaRPr lang="en-US" altLang="zh-TW" dirty="0" smtClean="0"/>
          </a:p>
          <a:p>
            <a:r>
              <a:rPr lang="zh-TW" altLang="en-US" dirty="0" smtClean="0"/>
              <a:t>當</a:t>
            </a:r>
            <a:r>
              <a:rPr lang="zh-TW" altLang="en-US" dirty="0"/>
              <a:t>判斷式為真的時候，程式會回去繼續執行迴圈內的指令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en-US" altLang="zh-TW" dirty="0" smtClean="0"/>
              <a:t>Python</a:t>
            </a:r>
            <a:r>
              <a:rPr lang="zh-TW" altLang="en-US" dirty="0"/>
              <a:t>並沒有提供此類</a:t>
            </a:r>
            <a:r>
              <a:rPr lang="zh-TW" altLang="en-US" dirty="0" smtClean="0"/>
              <a:t>寫法</a:t>
            </a:r>
            <a:r>
              <a:rPr lang="zh-TW" altLang="en-US" dirty="0"/>
              <a:t>，而在</a:t>
            </a:r>
            <a:r>
              <a:rPr lang="en-US" altLang="zh-TW" dirty="0"/>
              <a:t>C</a:t>
            </a:r>
            <a:r>
              <a:rPr lang="zh-TW" altLang="en-US" dirty="0"/>
              <a:t>裡面，則是利用</a:t>
            </a:r>
            <a:r>
              <a:rPr lang="zh-TW" altLang="en-US" dirty="0" smtClean="0"/>
              <a:t>關鍵字 </a:t>
            </a:r>
            <a:r>
              <a:rPr lang="en-US" altLang="zh-TW" dirty="0" smtClean="0">
                <a:solidFill>
                  <a:srgbClr val="0070C0"/>
                </a:solidFill>
              </a:rPr>
              <a:t>do</a:t>
            </a:r>
            <a:r>
              <a:rPr lang="en-US" altLang="zh-TW" dirty="0" smtClean="0"/>
              <a:t> </a:t>
            </a:r>
            <a:r>
              <a:rPr lang="zh-TW" altLang="en-US" dirty="0" smtClean="0"/>
              <a:t>和 </a:t>
            </a:r>
            <a:r>
              <a:rPr lang="en-US" altLang="zh-TW" dirty="0" smtClean="0">
                <a:solidFill>
                  <a:srgbClr val="0070C0"/>
                </a:solidFill>
              </a:rPr>
              <a:t>while</a:t>
            </a:r>
            <a:r>
              <a:rPr lang="en-US" altLang="zh-TW" dirty="0" smtClean="0"/>
              <a:t> </a:t>
            </a:r>
            <a:r>
              <a:rPr lang="zh-TW" altLang="en-US" dirty="0" smtClean="0"/>
              <a:t>來</a:t>
            </a:r>
            <a:r>
              <a:rPr lang="zh-TW" altLang="en-US" dirty="0"/>
              <a:t>實作此功能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9317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不固定次數的迴圈：</a:t>
            </a:r>
            <a:r>
              <a:rPr lang="en-US" altLang="zh-TW" dirty="0"/>
              <a:t>while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60399"/>
            <a:ext cx="5487771" cy="2934224"/>
          </a:xfrm>
        </p:spPr>
        <p:txBody>
          <a:bodyPr/>
          <a:lstStyle/>
          <a:p>
            <a:r>
              <a:rPr lang="zh-TW" altLang="en-US" dirty="0"/>
              <a:t>此</a:t>
            </a:r>
            <a:r>
              <a:rPr lang="zh-TW" altLang="en-US" dirty="0" smtClean="0"/>
              <a:t>程式</a:t>
            </a:r>
            <a:r>
              <a:rPr lang="zh-TW" altLang="en-US" dirty="0"/>
              <a:t>同樣會執行迴圈</a:t>
            </a:r>
            <a:r>
              <a:rPr lang="en-US" altLang="zh-TW" dirty="0"/>
              <a:t>5</a:t>
            </a:r>
            <a:r>
              <a:rPr lang="zh-TW" altLang="en-US" dirty="0"/>
              <a:t>次，並讓變數 </a:t>
            </a:r>
            <a:r>
              <a:rPr lang="en-US" altLang="zh-TW" dirty="0"/>
              <a:t>x </a:t>
            </a:r>
            <a:r>
              <a:rPr lang="zh-TW" altLang="en-US" dirty="0"/>
              <a:t>的值為整數</a:t>
            </a:r>
            <a:r>
              <a:rPr lang="en-US" altLang="zh-TW" dirty="0"/>
              <a:t>1</a:t>
            </a:r>
            <a:r>
              <a:rPr lang="zh-TW" altLang="en-US" dirty="0"/>
              <a:t>加到整數</a:t>
            </a:r>
            <a:r>
              <a:rPr lang="en-US" altLang="zh-TW" dirty="0"/>
              <a:t>5</a:t>
            </a:r>
            <a:r>
              <a:rPr lang="zh-TW" altLang="en-US" dirty="0"/>
              <a:t>的和。</a:t>
            </a:r>
          </a:p>
          <a:p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88"/>
          <a:stretch/>
        </p:blipFill>
        <p:spPr bwMode="auto">
          <a:xfrm>
            <a:off x="6325066" y="1266605"/>
            <a:ext cx="2361734" cy="290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825" y="2841780"/>
            <a:ext cx="2721614" cy="2132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內容版面配置區 1"/>
          <p:cNvSpPr txBox="1">
            <a:spLocks/>
          </p:cNvSpPr>
          <p:nvPr/>
        </p:nvSpPr>
        <p:spPr>
          <a:xfrm>
            <a:off x="6325066" y="4236935"/>
            <a:ext cx="2684256" cy="293485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TW" sz="2000" b="1" dirty="0"/>
              <a:t>d</a:t>
            </a:r>
            <a:r>
              <a:rPr lang="en-US" altLang="zh-TW" sz="2000" b="1" dirty="0" smtClean="0"/>
              <a:t>o While </a:t>
            </a:r>
            <a:r>
              <a:rPr lang="zh-TW" altLang="en-US" sz="2000" b="1" dirty="0" smtClean="0"/>
              <a:t>迴圈的</a:t>
            </a:r>
            <a:r>
              <a:rPr lang="zh-TW" altLang="en-US" sz="2000" b="1" dirty="0" smtClean="0"/>
              <a:t>流程圖</a:t>
            </a:r>
          </a:p>
          <a:p>
            <a:pPr algn="ctr">
              <a:lnSpc>
                <a:spcPct val="120000"/>
              </a:lnSpc>
            </a:pP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4214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不固定次數的迴圈：</a:t>
            </a:r>
            <a:r>
              <a:rPr lang="en-US" altLang="zh-TW" dirty="0" smtClean="0"/>
              <a:t>for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dirty="0" smtClean="0"/>
              <a:t>for </a:t>
            </a:r>
            <a:r>
              <a:rPr lang="zh-TW" altLang="en-US" dirty="0" smtClean="0"/>
              <a:t>指令後面接著的式子分三部分：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第一是在執行迴圈之前，所需要先給定的初始值設定。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第二是進入或留在迴圈的條件，有如</a:t>
            </a:r>
            <a:r>
              <a:rPr lang="en-US" altLang="zh-TW" dirty="0" smtClean="0"/>
              <a:t>while </a:t>
            </a:r>
            <a:r>
              <a:rPr lang="zh-TW" altLang="en-US" dirty="0" smtClean="0"/>
              <a:t>指令後面接著的判斷式。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第三是在每當要執行下一次迴圈之前，所需要執行的式子。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834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不固定次數的迴圈：</a:t>
            </a:r>
            <a:r>
              <a:rPr lang="en-US" altLang="zh-TW" dirty="0"/>
              <a:t>for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90" y="1851670"/>
            <a:ext cx="7452320" cy="19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4876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9-4 </a:t>
            </a:r>
            <a:r>
              <a:rPr lang="zh-TW" altLang="en-US" dirty="0"/>
              <a:t>程序定義和使用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hlinkClick r:id="rId2" action="ppaction://hlinksldjump"/>
              </a:rPr>
              <a:t>全域變數</a:t>
            </a:r>
            <a:r>
              <a:rPr lang="en-US" altLang="zh-TW" dirty="0" smtClean="0">
                <a:hlinkClick r:id="rId2" action="ppaction://hlinksldjump"/>
              </a:rPr>
              <a:t>vs.</a:t>
            </a:r>
            <a:r>
              <a:rPr lang="zh-TW" altLang="en-US" dirty="0" smtClean="0">
                <a:hlinkClick r:id="rId2" action="ppaction://hlinksldjump"/>
              </a:rPr>
              <a:t>局部變數</a:t>
            </a:r>
            <a:endParaRPr lang="en-US" altLang="zh-TW" dirty="0" smtClean="0"/>
          </a:p>
          <a:p>
            <a:r>
              <a:rPr lang="zh-TW" altLang="en-US" dirty="0" smtClean="0">
                <a:hlinkClick r:id="rId3" action="ppaction://hlinksldjump"/>
              </a:rPr>
              <a:t>以值傳遞</a:t>
            </a:r>
            <a:r>
              <a:rPr lang="en-US" altLang="zh-TW" dirty="0">
                <a:hlinkClick r:id="rId3" action="ppaction://hlinksldjump"/>
              </a:rPr>
              <a:t>vs</a:t>
            </a:r>
            <a:r>
              <a:rPr lang="en-US" altLang="zh-TW" dirty="0" smtClean="0">
                <a:hlinkClick r:id="rId3" action="ppaction://hlinksldjump"/>
              </a:rPr>
              <a:t>.</a:t>
            </a:r>
            <a:r>
              <a:rPr lang="zh-TW" altLang="en-US" dirty="0" smtClean="0">
                <a:hlinkClick r:id="rId3" action="ppaction://hlinksldjump"/>
              </a:rPr>
              <a:t>以位址傳遞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571750"/>
            <a:ext cx="24384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4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9-4 </a:t>
            </a:r>
            <a:r>
              <a:rPr lang="zh-TW" altLang="en-US" dirty="0" smtClean="0"/>
              <a:t>程序定義和使用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在一個</a:t>
            </a:r>
            <a:r>
              <a:rPr lang="zh-TW" altLang="en-US" dirty="0" smtClean="0">
                <a:solidFill>
                  <a:srgbClr val="C00000"/>
                </a:solidFill>
              </a:rPr>
              <a:t>程式</a:t>
            </a:r>
            <a:r>
              <a:rPr lang="en-US" altLang="zh-TW" dirty="0" smtClean="0"/>
              <a:t>(program)</a:t>
            </a:r>
            <a:r>
              <a:rPr lang="zh-TW" altLang="en-US" dirty="0" smtClean="0"/>
              <a:t>中，可能會寫出冗長而難以理解的命令，所以大部分的程式語言都提供了</a:t>
            </a:r>
            <a:r>
              <a:rPr lang="zh-TW" altLang="en-US" dirty="0" smtClean="0">
                <a:solidFill>
                  <a:srgbClr val="C00000"/>
                </a:solidFill>
              </a:rPr>
              <a:t>程序</a:t>
            </a:r>
            <a:r>
              <a:rPr lang="en-US" altLang="zh-TW" dirty="0" smtClean="0"/>
              <a:t>(procedure)</a:t>
            </a:r>
            <a:r>
              <a:rPr lang="zh-TW" altLang="en-US" dirty="0" smtClean="0"/>
              <a:t>或</a:t>
            </a:r>
            <a:r>
              <a:rPr lang="zh-TW" altLang="en-US" dirty="0" smtClean="0">
                <a:solidFill>
                  <a:srgbClr val="C00000"/>
                </a:solidFill>
              </a:rPr>
              <a:t>函數</a:t>
            </a:r>
            <a:r>
              <a:rPr lang="en-US" altLang="zh-TW" dirty="0" smtClean="0"/>
              <a:t>(function)</a:t>
            </a:r>
            <a:r>
              <a:rPr lang="zh-TW" altLang="en-US" dirty="0" smtClean="0"/>
              <a:t>的定義。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70887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9-4 </a:t>
            </a:r>
            <a:r>
              <a:rPr lang="zh-TW" altLang="en-US" dirty="0"/>
              <a:t>程序定義和使用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一個程序對應到一段程式碼，稱作程序</a:t>
            </a:r>
            <a:r>
              <a:rPr lang="zh-TW" altLang="en-US" dirty="0">
                <a:solidFill>
                  <a:srgbClr val="C00000"/>
                </a:solidFill>
              </a:rPr>
              <a:t>本體</a:t>
            </a:r>
            <a:r>
              <a:rPr lang="en-US" altLang="zh-TW" dirty="0"/>
              <a:t>(body)</a:t>
            </a:r>
            <a:r>
              <a:rPr lang="zh-TW" altLang="en-US" dirty="0"/>
              <a:t>，然後也指定一個對應的名稱，稱作程序</a:t>
            </a:r>
            <a:r>
              <a:rPr lang="zh-TW" altLang="en-US" dirty="0">
                <a:solidFill>
                  <a:srgbClr val="C00000"/>
                </a:solidFill>
              </a:rPr>
              <a:t>名稱</a:t>
            </a:r>
            <a:r>
              <a:rPr lang="en-US" altLang="zh-TW" dirty="0"/>
              <a:t>(name)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等到定義完程序之後，只要利用該名稱</a:t>
            </a:r>
            <a:r>
              <a:rPr lang="zh-TW" altLang="en-US" dirty="0">
                <a:solidFill>
                  <a:srgbClr val="C00000"/>
                </a:solidFill>
              </a:rPr>
              <a:t>呼叫該程序</a:t>
            </a:r>
            <a:r>
              <a:rPr lang="en-US" altLang="zh-TW" dirty="0"/>
              <a:t>(procedure call)</a:t>
            </a:r>
            <a:r>
              <a:rPr lang="zh-TW" altLang="en-US" dirty="0"/>
              <a:t>，對應的程式碼就會執行。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883948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9-4 </a:t>
            </a:r>
            <a:r>
              <a:rPr lang="zh-TW" altLang="en-US" dirty="0"/>
              <a:t>程序定義和使用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程序在定義時，必須提供下列資訊：</a:t>
            </a:r>
          </a:p>
        </p:txBody>
      </p:sp>
      <p:graphicFrame>
        <p:nvGraphicFramePr>
          <p:cNvPr id="8" name="資料庫圖表 7"/>
          <p:cNvGraphicFramePr/>
          <p:nvPr>
            <p:extLst>
              <p:ext uri="{D42A27DB-BD31-4B8C-83A1-F6EECF244321}">
                <p14:modId xmlns:p14="http://schemas.microsoft.com/office/powerpoint/2010/main" val="3321088170"/>
              </p:ext>
            </p:extLst>
          </p:nvPr>
        </p:nvGraphicFramePr>
        <p:xfrm>
          <a:off x="1016605" y="2279561"/>
          <a:ext cx="6795755" cy="2114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110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9-4 </a:t>
            </a:r>
            <a:r>
              <a:rPr lang="zh-TW" altLang="en-US" dirty="0"/>
              <a:t>程序定義和使用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在下例中，定義一個程序叫作</a:t>
            </a:r>
            <a:r>
              <a:rPr lang="en-US" altLang="zh-TW" dirty="0" smtClean="0">
                <a:solidFill>
                  <a:srgbClr val="0070C0"/>
                </a:solidFill>
              </a:rPr>
              <a:t>square</a:t>
            </a:r>
            <a:r>
              <a:rPr lang="zh-TW" altLang="en-US" dirty="0" smtClean="0"/>
              <a:t>，該程序定義了一個整數參數</a:t>
            </a:r>
            <a:r>
              <a:rPr lang="en-US" altLang="zh-TW" dirty="0" smtClean="0">
                <a:solidFill>
                  <a:srgbClr val="0070C0"/>
                </a:solidFill>
              </a:rPr>
              <a:t>x</a:t>
            </a:r>
            <a:r>
              <a:rPr lang="zh-TW" altLang="en-US" dirty="0" smtClean="0"/>
              <a:t>，還有一個局部變數</a:t>
            </a:r>
            <a:r>
              <a:rPr lang="en-US" altLang="zh-TW" dirty="0" smtClean="0">
                <a:solidFill>
                  <a:srgbClr val="0070C0"/>
                </a:solidFill>
              </a:rPr>
              <a:t>y</a:t>
            </a:r>
            <a:r>
              <a:rPr lang="zh-TW" altLang="en-US" dirty="0" smtClean="0"/>
              <a:t>，參數</a:t>
            </a:r>
            <a:r>
              <a:rPr lang="en-US" altLang="zh-TW" dirty="0" smtClean="0">
                <a:solidFill>
                  <a:srgbClr val="0070C0"/>
                </a:solidFill>
              </a:rPr>
              <a:t>x</a:t>
            </a:r>
            <a:r>
              <a:rPr lang="zh-TW" altLang="en-US" dirty="0" smtClean="0"/>
              <a:t>的平方值會被計算出來然後回傳給呼叫者。</a:t>
            </a:r>
            <a:endParaRPr lang="zh-TW" alt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845" y="3246825"/>
            <a:ext cx="2008714" cy="17944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406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9-4 </a:t>
            </a:r>
            <a:r>
              <a:rPr lang="zh-TW" altLang="en-US" dirty="0"/>
              <a:t>程序定義和使用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在下例中，將定義一個沒有回傳值的程序。在第</a:t>
            </a:r>
            <a:r>
              <a:rPr lang="en-US" altLang="zh-TW" dirty="0" smtClean="0"/>
              <a:t>9-2</a:t>
            </a:r>
            <a:r>
              <a:rPr lang="zh-TW" altLang="en-US" dirty="0" smtClean="0"/>
              <a:t>節中，曾經定義了結構</a:t>
            </a:r>
            <a:r>
              <a:rPr lang="en-US" altLang="zh-TW" dirty="0" smtClean="0">
                <a:solidFill>
                  <a:srgbClr val="0070C0"/>
                </a:solidFill>
              </a:rPr>
              <a:t>node</a:t>
            </a:r>
            <a:r>
              <a:rPr lang="zh-TW" altLang="en-US" dirty="0" smtClean="0"/>
              <a:t>，用以建構出一個鏈結串列。把該結構再一次列在下面：</a:t>
            </a:r>
            <a:endParaRPr lang="zh-TW" alt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291830"/>
            <a:ext cx="3193030" cy="17505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2128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9-4 </a:t>
            </a:r>
            <a:r>
              <a:rPr lang="zh-TW" altLang="en-US" dirty="0"/>
              <a:t>程序定義和使用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假設有兩個鏈結串列</a:t>
            </a:r>
            <a:r>
              <a:rPr lang="en-US" altLang="zh-TW" dirty="0" smtClean="0">
                <a:solidFill>
                  <a:srgbClr val="0070C0"/>
                </a:solidFill>
              </a:rPr>
              <a:t>p</a:t>
            </a:r>
            <a:r>
              <a:rPr lang="zh-TW" altLang="en-US" dirty="0" smtClean="0"/>
              <a:t>和</a:t>
            </a:r>
            <a:r>
              <a:rPr lang="en-US" altLang="zh-TW" dirty="0" smtClean="0">
                <a:solidFill>
                  <a:srgbClr val="0070C0"/>
                </a:solidFill>
              </a:rPr>
              <a:t>q</a:t>
            </a:r>
            <a:r>
              <a:rPr lang="zh-TW" altLang="en-US" dirty="0" smtClean="0"/>
              <a:t>，希望將</a:t>
            </a:r>
            <a:r>
              <a:rPr lang="en-US" altLang="zh-TW" dirty="0" smtClean="0">
                <a:solidFill>
                  <a:srgbClr val="0070C0"/>
                </a:solidFill>
              </a:rPr>
              <a:t>p</a:t>
            </a:r>
            <a:r>
              <a:rPr lang="zh-TW" altLang="en-US" dirty="0" smtClean="0"/>
              <a:t>串列的第一個</a:t>
            </a:r>
            <a:r>
              <a:rPr lang="en-US" altLang="zh-TW" dirty="0" smtClean="0">
                <a:solidFill>
                  <a:srgbClr val="0070C0"/>
                </a:solidFill>
              </a:rPr>
              <a:t>node</a:t>
            </a:r>
            <a:r>
              <a:rPr lang="zh-TW" altLang="en-US" dirty="0" smtClean="0"/>
              <a:t>，變成</a:t>
            </a:r>
            <a:r>
              <a:rPr lang="en-US" altLang="zh-TW" dirty="0" smtClean="0">
                <a:solidFill>
                  <a:srgbClr val="0070C0"/>
                </a:solidFill>
              </a:rPr>
              <a:t>q</a:t>
            </a:r>
            <a:r>
              <a:rPr lang="zh-TW" altLang="en-US" dirty="0" smtClean="0"/>
              <a:t>串列的第一個</a:t>
            </a:r>
            <a:r>
              <a:rPr lang="en-US" altLang="zh-TW" dirty="0" smtClean="0">
                <a:solidFill>
                  <a:srgbClr val="0070C0"/>
                </a:solidFill>
              </a:rPr>
              <a:t>node</a:t>
            </a:r>
            <a:r>
              <a:rPr lang="zh-TW" altLang="en-US" dirty="0" smtClean="0"/>
              <a:t>，則對應的程式定義如下：</a:t>
            </a:r>
            <a:endParaRPr lang="zh-TW" alt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6895" y="2796775"/>
            <a:ext cx="4035503" cy="2015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5482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457200" y="546525"/>
            <a:ext cx="8229600" cy="857250"/>
          </a:xfrm>
        </p:spPr>
        <p:txBody>
          <a:bodyPr/>
          <a:lstStyle/>
          <a:p>
            <a:r>
              <a:rPr lang="en-US" altLang="zh-TW" dirty="0" smtClean="0"/>
              <a:t>9-4 </a:t>
            </a:r>
            <a:r>
              <a:rPr lang="zh-TW" altLang="en-US" dirty="0"/>
              <a:t>程序定義和使用</a:t>
            </a:r>
          </a:p>
        </p:txBody>
      </p:sp>
      <p:graphicFrame>
        <p:nvGraphicFramePr>
          <p:cNvPr id="7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4623975"/>
              </p:ext>
            </p:extLst>
          </p:nvPr>
        </p:nvGraphicFramePr>
        <p:xfrm>
          <a:off x="656565" y="1266605"/>
          <a:ext cx="8030235" cy="3179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018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 rot="705517">
            <a:off x="459745" y="1758701"/>
            <a:ext cx="2879491" cy="784161"/>
          </a:xfrm>
          <a:prstGeom prst="homePlat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TW" altLang="en-US" sz="2400" b="1" dirty="0"/>
              <a:t>程序 </a:t>
            </a:r>
            <a:r>
              <a:rPr lang="en-US" altLang="zh-TW" sz="2400" b="1" dirty="0" err="1"/>
              <a:t>changehead</a:t>
            </a:r>
            <a:r>
              <a:rPr lang="zh-TW" altLang="en-US" sz="2400" b="1" dirty="0"/>
              <a:t>的執行步驟示意圖</a:t>
            </a:r>
          </a:p>
          <a:p>
            <a:pPr algn="ctr">
              <a:lnSpc>
                <a:spcPct val="110000"/>
              </a:lnSpc>
            </a:pPr>
            <a:endParaRPr lang="zh-TW" altLang="en-US" sz="2400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884" y="727902"/>
            <a:ext cx="4118701" cy="379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0706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9-4 </a:t>
            </a:r>
            <a:r>
              <a:rPr lang="zh-TW" altLang="en-US" dirty="0" smtClean="0"/>
              <a:t>程序定義和使用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TW" altLang="en-US" dirty="0" smtClean="0"/>
              <a:t>程序</a:t>
            </a:r>
            <a:r>
              <a:rPr lang="en-US" altLang="zh-TW" dirty="0" smtClean="0">
                <a:solidFill>
                  <a:srgbClr val="0070C0"/>
                </a:solidFill>
              </a:rPr>
              <a:t>square</a:t>
            </a:r>
            <a:r>
              <a:rPr lang="zh-TW" altLang="en-US" dirty="0" smtClean="0"/>
              <a:t>和程序</a:t>
            </a:r>
            <a:r>
              <a:rPr lang="en-US" altLang="zh-TW" dirty="0" err="1" smtClean="0">
                <a:solidFill>
                  <a:srgbClr val="0070C0"/>
                </a:solidFill>
              </a:rPr>
              <a:t>changehead</a:t>
            </a:r>
            <a:r>
              <a:rPr lang="zh-TW" altLang="en-US" dirty="0" smtClean="0"/>
              <a:t>的最大差別，在於前者有回傳值，而後者沒有。</a:t>
            </a:r>
            <a:endParaRPr lang="en-US" altLang="zh-TW" dirty="0" smtClean="0"/>
          </a:p>
          <a:p>
            <a:r>
              <a:rPr lang="zh-TW" altLang="en-US" dirty="0" smtClean="0"/>
              <a:t>在</a:t>
            </a:r>
            <a:r>
              <a:rPr lang="en-US" altLang="zh-TW" dirty="0" smtClean="0"/>
              <a:t>PASCAL</a:t>
            </a:r>
            <a:r>
              <a:rPr lang="zh-TW" altLang="en-US" dirty="0" smtClean="0"/>
              <a:t>裡，有回傳值的程序稱作</a:t>
            </a:r>
            <a:r>
              <a:rPr lang="zh-TW" altLang="en-US" dirty="0" smtClean="0">
                <a:solidFill>
                  <a:srgbClr val="C00000"/>
                </a:solidFill>
              </a:rPr>
              <a:t>函數</a:t>
            </a:r>
            <a:r>
              <a:rPr lang="en-US" altLang="zh-TW" dirty="0" smtClean="0"/>
              <a:t>(function)</a:t>
            </a:r>
            <a:r>
              <a:rPr lang="zh-TW" altLang="en-US" dirty="0" smtClean="0"/>
              <a:t>，為了方便起見，也一律稱有回傳值的</a:t>
            </a:r>
            <a:r>
              <a:rPr lang="en-US" altLang="zh-TW" dirty="0" smtClean="0"/>
              <a:t>C</a:t>
            </a:r>
            <a:r>
              <a:rPr lang="zh-TW" altLang="en-US" dirty="0" smtClean="0"/>
              <a:t>程序為函數。</a:t>
            </a:r>
            <a:endParaRPr lang="en-US" altLang="zh-TW" dirty="0" smtClean="0"/>
          </a:p>
          <a:p>
            <a:r>
              <a:rPr lang="zh-TW" altLang="en-US" dirty="0" smtClean="0"/>
              <a:t>值得注意的是，通常是在一個運算式裡呼叫一個函數。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004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9-4 </a:t>
            </a:r>
            <a:r>
              <a:rPr lang="zh-TW" altLang="en-US" dirty="0"/>
              <a:t>程序定義和使用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譬如在下面的程式碼中，先呼叫函數</a:t>
            </a:r>
            <a:r>
              <a:rPr lang="en-US" altLang="zh-TW" dirty="0"/>
              <a:t>square</a:t>
            </a:r>
            <a:r>
              <a:rPr lang="zh-TW" altLang="en-US" dirty="0"/>
              <a:t>以計算</a:t>
            </a:r>
            <a:r>
              <a:rPr lang="en-US" altLang="zh-TW" dirty="0"/>
              <a:t>5</a:t>
            </a:r>
            <a:r>
              <a:rPr lang="zh-TW" altLang="en-US" dirty="0"/>
              <a:t>的平方，然後將函數回傳的值乘以</a:t>
            </a:r>
            <a:r>
              <a:rPr lang="en-US" altLang="zh-TW" dirty="0"/>
              <a:t>10</a:t>
            </a:r>
            <a:r>
              <a:rPr lang="zh-TW" altLang="en-US" dirty="0"/>
              <a:t>之後，再將其</a:t>
            </a:r>
            <a:r>
              <a:rPr lang="zh-TW" altLang="en-US" dirty="0" smtClean="0"/>
              <a:t>值指定</a:t>
            </a:r>
            <a:r>
              <a:rPr lang="zh-TW" altLang="en-US" dirty="0"/>
              <a:t>給變數 </a:t>
            </a:r>
            <a:r>
              <a:rPr lang="en-US" altLang="zh-TW" dirty="0" smtClean="0">
                <a:solidFill>
                  <a:srgbClr val="0070C0"/>
                </a:solidFill>
              </a:rPr>
              <a:t>x</a:t>
            </a:r>
            <a:r>
              <a:rPr lang="zh-TW" altLang="en-US" dirty="0" smtClean="0"/>
              <a:t>。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381840"/>
            <a:ext cx="3600450" cy="504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282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9-4 </a:t>
            </a:r>
            <a:r>
              <a:rPr lang="zh-TW" altLang="en-US" dirty="0"/>
              <a:t>程序定義和使用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mtClean="0"/>
              <a:t>至於一般沒有回傳值的程序，就如同一般命令的被呼叫，如同下例所示。</a:t>
            </a:r>
            <a:endParaRPr lang="zh-TW" alt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670" y="2706765"/>
            <a:ext cx="3419475" cy="1495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8202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全域變數</a:t>
            </a:r>
            <a:r>
              <a:rPr lang="en-US" altLang="zh-TW" dirty="0"/>
              <a:t>VS.</a:t>
            </a:r>
            <a:r>
              <a:rPr lang="zh-TW" altLang="en-US" dirty="0"/>
              <a:t>局部變數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 smtClean="0"/>
              <a:t>撰寫程式時，必須定義變數用來記錄不同的資料。</a:t>
            </a:r>
            <a:endParaRPr lang="en-US" altLang="zh-TW" dirty="0" smtClean="0"/>
          </a:p>
          <a:p>
            <a:r>
              <a:rPr lang="zh-TW" altLang="en-US" dirty="0" smtClean="0"/>
              <a:t>根據變數可被使用的範圍，可以分為兩類：</a:t>
            </a:r>
          </a:p>
          <a:p>
            <a:pPr lvl="1"/>
            <a:r>
              <a:rPr lang="zh-TW" altLang="en-US" dirty="0" smtClean="0">
                <a:solidFill>
                  <a:srgbClr val="0070C0"/>
                </a:solidFill>
              </a:rPr>
              <a:t>全域變數</a:t>
            </a:r>
            <a:r>
              <a:rPr lang="en-US" altLang="zh-TW" dirty="0" smtClean="0"/>
              <a:t>(global variable)</a:t>
            </a:r>
            <a:r>
              <a:rPr lang="zh-TW" altLang="en-US" dirty="0" smtClean="0"/>
              <a:t>：能被全部的程式碼使用。</a:t>
            </a:r>
          </a:p>
          <a:p>
            <a:pPr lvl="1"/>
            <a:r>
              <a:rPr lang="zh-TW" altLang="en-US" dirty="0" smtClean="0">
                <a:solidFill>
                  <a:srgbClr val="0070C0"/>
                </a:solidFill>
              </a:rPr>
              <a:t>局部變數</a:t>
            </a:r>
            <a:r>
              <a:rPr lang="en-US" altLang="zh-TW" dirty="0" smtClean="0"/>
              <a:t>(local variable)</a:t>
            </a:r>
            <a:r>
              <a:rPr lang="zh-TW" altLang="en-US" dirty="0" smtClean="0"/>
              <a:t>：只能被一部分程式碼使用，通常定義在程序中。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104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全域變數</a:t>
            </a:r>
            <a:r>
              <a:rPr lang="en-US" altLang="zh-TW" dirty="0"/>
              <a:t>VS.</a:t>
            </a:r>
            <a:r>
              <a:rPr lang="zh-TW" altLang="en-US" dirty="0"/>
              <a:t>局部變數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660399"/>
            <a:ext cx="2629635" cy="2934224"/>
          </a:xfrm>
        </p:spPr>
        <p:txBody>
          <a:bodyPr/>
          <a:lstStyle/>
          <a:p>
            <a:r>
              <a:rPr lang="en-US" altLang="zh-TW" dirty="0" smtClean="0"/>
              <a:t>C</a:t>
            </a:r>
            <a:r>
              <a:rPr lang="zh-TW" altLang="en-US" dirty="0" smtClean="0"/>
              <a:t>程式範例說明：</a:t>
            </a:r>
          </a:p>
          <a:p>
            <a:endParaRPr lang="zh-TW" alt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900" y="1536634"/>
            <a:ext cx="1980220" cy="32103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732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全域</a:t>
            </a:r>
            <a:r>
              <a:rPr lang="zh-TW" altLang="en-US" dirty="0" smtClean="0"/>
              <a:t>變數 </a:t>
            </a:r>
            <a:r>
              <a:rPr lang="en-US" altLang="zh-TW" dirty="0" smtClean="0"/>
              <a:t>VS. </a:t>
            </a:r>
            <a:r>
              <a:rPr lang="zh-TW" altLang="en-US" dirty="0" smtClean="0"/>
              <a:t>局部</a:t>
            </a:r>
            <a:r>
              <a:rPr lang="zh-TW" altLang="en-US" dirty="0"/>
              <a:t>變數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在</a:t>
            </a:r>
            <a:r>
              <a:rPr lang="en-US" altLang="zh-TW" dirty="0" smtClean="0"/>
              <a:t>C</a:t>
            </a:r>
            <a:r>
              <a:rPr lang="zh-TW" altLang="en-US" dirty="0" smtClean="0"/>
              <a:t>程式裡，定義在每個程序裡的變數，稱作</a:t>
            </a:r>
            <a:r>
              <a:rPr lang="zh-TW" altLang="en-US" dirty="0" smtClean="0">
                <a:solidFill>
                  <a:srgbClr val="C00000"/>
                </a:solidFill>
              </a:rPr>
              <a:t>局部變數</a:t>
            </a:r>
            <a:r>
              <a:rPr lang="en-US" altLang="zh-TW" dirty="0" smtClean="0"/>
              <a:t>(local variable)</a:t>
            </a:r>
            <a:r>
              <a:rPr lang="zh-TW" altLang="en-US" dirty="0" smtClean="0"/>
              <a:t>，只有該程序可以使用該變數。</a:t>
            </a:r>
            <a:endParaRPr lang="en-US" altLang="zh-TW" dirty="0" smtClean="0"/>
          </a:p>
          <a:p>
            <a:r>
              <a:rPr lang="zh-TW" altLang="en-US" dirty="0" smtClean="0"/>
              <a:t>譬如，變數</a:t>
            </a:r>
            <a:r>
              <a:rPr lang="en-US" altLang="zh-TW" dirty="0" smtClean="0">
                <a:solidFill>
                  <a:srgbClr val="0070C0"/>
                </a:solidFill>
              </a:rPr>
              <a:t>c</a:t>
            </a:r>
            <a:r>
              <a:rPr lang="zh-TW" altLang="en-US" dirty="0" smtClean="0"/>
              <a:t>為程序</a:t>
            </a:r>
            <a:r>
              <a:rPr lang="en-US" altLang="zh-TW" dirty="0" smtClean="0">
                <a:solidFill>
                  <a:srgbClr val="0070C0"/>
                </a:solidFill>
              </a:rPr>
              <a:t>main</a:t>
            </a:r>
            <a:r>
              <a:rPr lang="zh-TW" altLang="en-US" dirty="0" smtClean="0"/>
              <a:t>的局部變數，若是程序</a:t>
            </a:r>
            <a:r>
              <a:rPr lang="en-US" altLang="zh-TW" dirty="0" err="1" smtClean="0">
                <a:solidFill>
                  <a:srgbClr val="0070C0"/>
                </a:solidFill>
              </a:rPr>
              <a:t>proc</a:t>
            </a:r>
            <a:r>
              <a:rPr lang="zh-TW" altLang="en-US" dirty="0" smtClean="0"/>
              <a:t>使用了變數</a:t>
            </a:r>
            <a:r>
              <a:rPr lang="en-US" altLang="zh-TW" dirty="0" smtClean="0">
                <a:solidFill>
                  <a:srgbClr val="0070C0"/>
                </a:solidFill>
              </a:rPr>
              <a:t>c</a:t>
            </a:r>
            <a:r>
              <a:rPr lang="zh-TW" altLang="en-US" dirty="0" smtClean="0"/>
              <a:t>，則為不合法的使用。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41360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全域變數 </a:t>
            </a:r>
            <a:r>
              <a:rPr lang="en-US" altLang="zh-TW" dirty="0"/>
              <a:t>VS. </a:t>
            </a:r>
            <a:r>
              <a:rPr lang="zh-TW" altLang="en-US" dirty="0"/>
              <a:t>局部變數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定義</a:t>
            </a:r>
            <a:r>
              <a:rPr lang="zh-TW" altLang="en-US" dirty="0"/>
              <a:t>在整個程式碼的最前端</a:t>
            </a:r>
            <a:r>
              <a:rPr lang="zh-TW" altLang="en-US" dirty="0" smtClean="0"/>
              <a:t>，沒有</a:t>
            </a:r>
            <a:r>
              <a:rPr lang="zh-TW" altLang="en-US" dirty="0"/>
              <a:t>隸屬於哪一個程序，所以任何程序都可以使用它，這樣的變數稱作</a:t>
            </a:r>
            <a:r>
              <a:rPr lang="zh-TW" altLang="en-US" dirty="0">
                <a:solidFill>
                  <a:srgbClr val="C00000"/>
                </a:solidFill>
              </a:rPr>
              <a:t>全域變數</a:t>
            </a:r>
            <a:r>
              <a:rPr lang="en-US" altLang="zh-TW" dirty="0"/>
              <a:t>(global </a:t>
            </a:r>
            <a:r>
              <a:rPr lang="en-US" altLang="zh-TW" dirty="0" smtClean="0"/>
              <a:t>variable)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290998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全域</a:t>
            </a:r>
            <a:r>
              <a:rPr lang="zh-TW" altLang="en-US" dirty="0" smtClean="0"/>
              <a:t>變數 </a:t>
            </a:r>
            <a:r>
              <a:rPr lang="en-US" altLang="zh-TW" dirty="0" smtClean="0"/>
              <a:t>VS. </a:t>
            </a:r>
            <a:r>
              <a:rPr lang="zh-TW" altLang="en-US" dirty="0" smtClean="0"/>
              <a:t>局部</a:t>
            </a:r>
            <a:r>
              <a:rPr lang="zh-TW" altLang="en-US" dirty="0"/>
              <a:t>變數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在本範例中，</a:t>
            </a:r>
            <a:r>
              <a:rPr lang="zh-TW" altLang="en-US" dirty="0" smtClean="0"/>
              <a:t>變數</a:t>
            </a:r>
            <a:r>
              <a:rPr lang="en-US" altLang="zh-TW" dirty="0" smtClean="0">
                <a:solidFill>
                  <a:srgbClr val="0070C0"/>
                </a:solidFill>
              </a:rPr>
              <a:t>a</a:t>
            </a:r>
            <a:r>
              <a:rPr lang="zh-TW" altLang="en-US" dirty="0" smtClean="0"/>
              <a:t>即</a:t>
            </a:r>
            <a:r>
              <a:rPr lang="zh-TW" altLang="en-US" dirty="0"/>
              <a:t>為全域變數，所以</a:t>
            </a:r>
            <a:r>
              <a:rPr lang="zh-TW" altLang="en-US" dirty="0" smtClean="0"/>
              <a:t>程序</a:t>
            </a:r>
            <a:r>
              <a:rPr lang="en-US" altLang="zh-TW" dirty="0" smtClean="0">
                <a:solidFill>
                  <a:srgbClr val="0070C0"/>
                </a:solidFill>
              </a:rPr>
              <a:t>main</a:t>
            </a:r>
            <a:r>
              <a:rPr lang="zh-TW" altLang="en-US" dirty="0" smtClean="0"/>
              <a:t>和程序</a:t>
            </a:r>
            <a:r>
              <a:rPr lang="en-US" altLang="zh-TW" dirty="0" err="1" smtClean="0">
                <a:solidFill>
                  <a:srgbClr val="0070C0"/>
                </a:solidFill>
              </a:rPr>
              <a:t>proc</a:t>
            </a:r>
            <a:r>
              <a:rPr lang="zh-TW" altLang="en-US" dirty="0" smtClean="0"/>
              <a:t>都</a:t>
            </a:r>
            <a:r>
              <a:rPr lang="zh-TW" altLang="en-US" dirty="0"/>
              <a:t>可以使用它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首先程序</a:t>
            </a:r>
            <a:r>
              <a:rPr lang="en-US" altLang="zh-TW" dirty="0" smtClean="0">
                <a:solidFill>
                  <a:srgbClr val="0070C0"/>
                </a:solidFill>
              </a:rPr>
              <a:t>main</a:t>
            </a:r>
            <a:r>
              <a:rPr lang="zh-TW" altLang="en-US" dirty="0" smtClean="0"/>
              <a:t>先</a:t>
            </a:r>
            <a:r>
              <a:rPr lang="zh-TW" altLang="en-US" dirty="0"/>
              <a:t>將它的值定義</a:t>
            </a:r>
            <a:r>
              <a:rPr lang="zh-TW" altLang="en-US" dirty="0" smtClean="0"/>
              <a:t>為</a:t>
            </a:r>
            <a:r>
              <a:rPr lang="en-US" altLang="zh-TW" dirty="0" smtClean="0">
                <a:solidFill>
                  <a:srgbClr val="0070C0"/>
                </a:solidFill>
              </a:rPr>
              <a:t>7</a:t>
            </a:r>
            <a:r>
              <a:rPr lang="zh-TW" altLang="en-US" dirty="0" smtClean="0"/>
              <a:t>，</a:t>
            </a:r>
            <a:r>
              <a:rPr lang="zh-TW" altLang="en-US" dirty="0"/>
              <a:t>接著呼叫</a:t>
            </a:r>
            <a:r>
              <a:rPr lang="zh-TW" altLang="en-US" dirty="0" smtClean="0"/>
              <a:t>程序</a:t>
            </a:r>
            <a:r>
              <a:rPr lang="en-US" altLang="zh-TW" dirty="0" err="1" smtClean="0">
                <a:solidFill>
                  <a:srgbClr val="0070C0"/>
                </a:solidFill>
              </a:rPr>
              <a:t>proc</a:t>
            </a:r>
            <a:r>
              <a:rPr lang="zh-TW" altLang="en-US" dirty="0" smtClean="0"/>
              <a:t>，</a:t>
            </a:r>
            <a:r>
              <a:rPr lang="zh-TW" altLang="en-US" dirty="0"/>
              <a:t>將其值重新定義</a:t>
            </a:r>
            <a:r>
              <a:rPr lang="zh-TW" altLang="en-US" dirty="0" smtClean="0"/>
              <a:t>為</a:t>
            </a:r>
            <a:r>
              <a:rPr lang="en-US" altLang="zh-TW" dirty="0" smtClean="0">
                <a:solidFill>
                  <a:srgbClr val="0070C0"/>
                </a:solidFill>
              </a:rPr>
              <a:t>3</a:t>
            </a:r>
            <a:r>
              <a:rPr lang="zh-TW" altLang="en-US" dirty="0" smtClean="0"/>
              <a:t>，</a:t>
            </a:r>
            <a:r>
              <a:rPr lang="zh-TW" altLang="en-US" dirty="0"/>
              <a:t>所以最後</a:t>
            </a:r>
            <a:r>
              <a:rPr lang="zh-TW" altLang="en-US" dirty="0" smtClean="0"/>
              <a:t>變數</a:t>
            </a:r>
            <a:r>
              <a:rPr lang="en-US" altLang="zh-TW" dirty="0" smtClean="0">
                <a:solidFill>
                  <a:srgbClr val="0070C0"/>
                </a:solidFill>
              </a:rPr>
              <a:t>a</a:t>
            </a:r>
            <a:r>
              <a:rPr lang="zh-TW" altLang="en-US" dirty="0" smtClean="0"/>
              <a:t>的</a:t>
            </a:r>
            <a:r>
              <a:rPr lang="zh-TW" altLang="en-US" dirty="0"/>
              <a:t>值會</a:t>
            </a:r>
            <a:r>
              <a:rPr lang="zh-TW" altLang="en-US" dirty="0" smtClean="0"/>
              <a:t>是</a:t>
            </a:r>
            <a:r>
              <a:rPr lang="en-US" altLang="zh-TW" dirty="0" smtClean="0">
                <a:solidFill>
                  <a:srgbClr val="0070C0"/>
                </a:solidFill>
              </a:rPr>
              <a:t>3</a:t>
            </a:r>
            <a:r>
              <a:rPr lang="zh-TW" altLang="en-US" dirty="0" smtClean="0"/>
              <a:t>。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9569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</a:t>
            </a:r>
            <a:r>
              <a:rPr lang="zh-TW" altLang="en-US" dirty="0" smtClean="0"/>
              <a:t>傳遞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定義程序時，必須定義</a:t>
            </a:r>
            <a:r>
              <a:rPr lang="zh-TW" altLang="en-US" dirty="0" smtClean="0">
                <a:solidFill>
                  <a:srgbClr val="C00000"/>
                </a:solidFill>
              </a:rPr>
              <a:t>正式參數</a:t>
            </a:r>
            <a:r>
              <a:rPr lang="en-US" altLang="zh-TW" dirty="0" smtClean="0"/>
              <a:t>(formal parameter)</a:t>
            </a:r>
            <a:r>
              <a:rPr lang="zh-TW" altLang="en-US" dirty="0" smtClean="0"/>
              <a:t>，同時宣告該參數的資料型態。</a:t>
            </a:r>
            <a:endParaRPr lang="en-US" altLang="zh-TW" dirty="0" smtClean="0"/>
          </a:p>
          <a:p>
            <a:r>
              <a:rPr lang="zh-TW" altLang="en-US" dirty="0" smtClean="0"/>
              <a:t>定義完之後，在呼叫該程序時，所提供的符合正式參數資料型態的參數，就稱作</a:t>
            </a:r>
            <a:r>
              <a:rPr lang="zh-TW" altLang="en-US" dirty="0" smtClean="0">
                <a:solidFill>
                  <a:srgbClr val="C00000"/>
                </a:solidFill>
              </a:rPr>
              <a:t>真實參數</a:t>
            </a:r>
            <a:r>
              <a:rPr lang="en-US" altLang="zh-TW" dirty="0" smtClean="0"/>
              <a:t>(actual</a:t>
            </a:r>
            <a:r>
              <a:rPr lang="zh-TW" altLang="en-US" dirty="0" smtClean="0"/>
              <a:t> </a:t>
            </a:r>
            <a:r>
              <a:rPr lang="en-US" altLang="zh-TW" dirty="0" smtClean="0"/>
              <a:t>parameter)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3212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該函數定義了一個正式參數</a:t>
            </a:r>
            <a:r>
              <a:rPr lang="en-US" altLang="zh-TW" dirty="0" smtClean="0">
                <a:solidFill>
                  <a:srgbClr val="0070C0"/>
                </a:solidFill>
              </a:rPr>
              <a:t>x</a:t>
            </a:r>
            <a:r>
              <a:rPr lang="zh-TW" altLang="en-US" dirty="0" smtClean="0"/>
              <a:t>，其型態為整數，如下所列：</a:t>
            </a:r>
          </a:p>
          <a:p>
            <a:endParaRPr lang="zh-TW" alt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830" y="2207571"/>
            <a:ext cx="2710139" cy="2529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738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在下列的運算式裡呼叫該函數時，所提供的真實參數為</a:t>
            </a:r>
            <a:r>
              <a:rPr lang="en-US" altLang="zh-TW" dirty="0" smtClean="0">
                <a:solidFill>
                  <a:srgbClr val="0070C0"/>
                </a:solidFill>
              </a:rPr>
              <a:t>5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895" y="2842995"/>
            <a:ext cx="3467100" cy="571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6811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69874" y="1851670"/>
            <a:ext cx="8229600" cy="2934224"/>
          </a:xfrm>
        </p:spPr>
        <p:txBody>
          <a:bodyPr>
            <a:normAutofit lnSpcReduction="10000"/>
          </a:bodyPr>
          <a:lstStyle/>
          <a:p>
            <a:r>
              <a:rPr lang="zh-TW" altLang="en-US" dirty="0" smtClean="0"/>
              <a:t>這裡</a:t>
            </a:r>
            <a:r>
              <a:rPr lang="zh-TW" altLang="en-US" dirty="0"/>
              <a:t>的問題，就是要如何把真實參數</a:t>
            </a:r>
            <a:r>
              <a:rPr lang="en-US" altLang="zh-TW" dirty="0">
                <a:solidFill>
                  <a:srgbClr val="0070C0"/>
                </a:solidFill>
              </a:rPr>
              <a:t>5</a:t>
            </a:r>
            <a:r>
              <a:rPr lang="zh-TW" altLang="en-US" dirty="0"/>
              <a:t>，傳給正式參數</a:t>
            </a:r>
            <a:r>
              <a:rPr lang="en-US" altLang="zh-TW" dirty="0">
                <a:solidFill>
                  <a:srgbClr val="0070C0"/>
                </a:solidFill>
              </a:rPr>
              <a:t>x</a:t>
            </a:r>
            <a:r>
              <a:rPr lang="zh-TW" altLang="en-US" dirty="0"/>
              <a:t>，以便進行運算？</a:t>
            </a:r>
          </a:p>
          <a:p>
            <a:pPr lvl="1"/>
            <a:r>
              <a:rPr lang="zh-TW" altLang="en-US" dirty="0" smtClean="0"/>
              <a:t>在</a:t>
            </a:r>
            <a:r>
              <a:rPr lang="en-US" altLang="zh-TW" dirty="0" smtClean="0"/>
              <a:t>C</a:t>
            </a:r>
            <a:r>
              <a:rPr lang="zh-TW" altLang="en-US" dirty="0" smtClean="0"/>
              <a:t>程式裡的作法，就是</a:t>
            </a:r>
            <a:r>
              <a:rPr lang="zh-TW" altLang="en-US" dirty="0" smtClean="0">
                <a:solidFill>
                  <a:srgbClr val="C00000"/>
                </a:solidFill>
              </a:rPr>
              <a:t>「以值傳遞」</a:t>
            </a:r>
            <a:r>
              <a:rPr lang="en-US" altLang="zh-TW" dirty="0" smtClean="0"/>
              <a:t>(passed by</a:t>
            </a:r>
            <a:r>
              <a:rPr lang="zh-TW" altLang="en-US" dirty="0" smtClean="0"/>
              <a:t> </a:t>
            </a:r>
            <a:r>
              <a:rPr lang="en-US" altLang="zh-TW" dirty="0" smtClean="0"/>
              <a:t>value)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把真實參數的「值」算出來，然後再傳給正式參數。所以，可以提供一個運算式，作為真實參數。</a:t>
            </a:r>
            <a:endParaRPr lang="zh-TW" alt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10" y="1384310"/>
            <a:ext cx="2835315" cy="4673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584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在下例中</a:t>
            </a:r>
            <a:r>
              <a:rPr lang="zh-TW" altLang="en-US" dirty="0" smtClean="0"/>
              <a:t>，會</a:t>
            </a:r>
            <a:r>
              <a:rPr lang="zh-TW" altLang="en-US" dirty="0"/>
              <a:t>先算</a:t>
            </a:r>
            <a:r>
              <a:rPr lang="zh-TW" altLang="en-US" dirty="0" smtClean="0"/>
              <a:t>出</a:t>
            </a:r>
            <a:r>
              <a:rPr lang="en-US" altLang="zh-TW" dirty="0" smtClean="0">
                <a:solidFill>
                  <a:srgbClr val="0070C0"/>
                </a:solidFill>
              </a:rPr>
              <a:t>5+3</a:t>
            </a:r>
            <a:r>
              <a:rPr lang="zh-TW" altLang="en-US" dirty="0" smtClean="0"/>
              <a:t>的</a:t>
            </a:r>
            <a:r>
              <a:rPr lang="zh-TW" altLang="en-US" dirty="0"/>
              <a:t>值之後，再將其傳給正式</a:t>
            </a:r>
            <a:r>
              <a:rPr lang="zh-TW" altLang="en-US" dirty="0" smtClean="0"/>
              <a:t>參數</a:t>
            </a:r>
            <a:r>
              <a:rPr lang="en-US" altLang="zh-TW" dirty="0" smtClean="0">
                <a:solidFill>
                  <a:srgbClr val="0070C0"/>
                </a:solidFill>
              </a:rPr>
              <a:t>x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>
                <a:solidFill>
                  <a:srgbClr val="C00000"/>
                </a:solidFill>
              </a:rPr>
              <a:t>以值傳遞</a:t>
            </a:r>
            <a:r>
              <a:rPr lang="zh-TW" altLang="en-US" dirty="0"/>
              <a:t>是一個最方便也最常見的方式，但是它仍然</a:t>
            </a:r>
            <a:r>
              <a:rPr lang="zh-TW" altLang="en-US" dirty="0" smtClean="0"/>
              <a:t>有限制</a:t>
            </a:r>
            <a:r>
              <a:rPr lang="zh-TW" altLang="en-US" dirty="0"/>
              <a:t>，就是沒有辦法改變真實參數的值。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405" y="2706765"/>
            <a:ext cx="3857625" cy="504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172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2800" dirty="0" smtClean="0"/>
              <a:t>假設希望寫</a:t>
            </a:r>
            <a:r>
              <a:rPr lang="zh-TW" altLang="en-US" sz="2800" dirty="0"/>
              <a:t>一個程序，把兩個整數值對調</a:t>
            </a:r>
            <a:r>
              <a:rPr lang="zh-TW" altLang="en-US" sz="2800" dirty="0" smtClean="0"/>
              <a:t>，寫出</a:t>
            </a:r>
            <a:r>
              <a:rPr lang="zh-TW" altLang="en-US" sz="2800" dirty="0"/>
              <a:t>來的程序可能</a:t>
            </a:r>
            <a:r>
              <a:rPr lang="zh-TW" altLang="en-US" sz="2800" dirty="0" smtClean="0"/>
              <a:t>如下</a:t>
            </a:r>
            <a:r>
              <a:rPr lang="zh-TW" altLang="en-US" sz="2800" dirty="0"/>
              <a:t>所示：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770" y="2706765"/>
            <a:ext cx="3261113" cy="22401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0530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然後在主程式裡，呼叫程序</a:t>
            </a:r>
            <a:r>
              <a:rPr lang="en-US" altLang="zh-TW" dirty="0" err="1" smtClean="0"/>
              <a:t>donothing</a:t>
            </a:r>
            <a:r>
              <a:rPr lang="zh-TW" altLang="en-US" dirty="0" smtClean="0"/>
              <a:t>來交換變數</a:t>
            </a:r>
            <a:r>
              <a:rPr lang="en-US" altLang="zh-TW" dirty="0" smtClean="0">
                <a:solidFill>
                  <a:srgbClr val="0070C0"/>
                </a:solidFill>
              </a:rPr>
              <a:t>a</a:t>
            </a:r>
            <a:r>
              <a:rPr lang="zh-TW" altLang="en-US" dirty="0" smtClean="0"/>
              <a:t>和</a:t>
            </a:r>
            <a:r>
              <a:rPr lang="en-US" altLang="zh-TW" dirty="0" smtClean="0">
                <a:solidFill>
                  <a:srgbClr val="0070C0"/>
                </a:solidFill>
              </a:rPr>
              <a:t>b</a:t>
            </a:r>
            <a:r>
              <a:rPr lang="zh-TW" altLang="en-US" dirty="0" smtClean="0"/>
              <a:t>的值，如下所示：</a:t>
            </a:r>
          </a:p>
          <a:p>
            <a:endParaRPr lang="zh-TW" alt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706765"/>
            <a:ext cx="2420329" cy="22318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661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執行的狀況如下：</a:t>
            </a:r>
          </a:p>
          <a:p>
            <a:endParaRPr lang="zh-TW" alt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79" y="2436735"/>
            <a:ext cx="2314575" cy="2333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5333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以值傳遞 </a:t>
            </a:r>
            <a:r>
              <a:rPr lang="en-US" altLang="zh-TW" dirty="0" smtClean="0"/>
              <a:t>VS. </a:t>
            </a:r>
            <a:r>
              <a:rPr lang="zh-TW" altLang="en-US" dirty="0" smtClean="0"/>
              <a:t>以位址傳遞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 smtClean="0"/>
              <a:t>在程序裡面，參數</a:t>
            </a:r>
            <a:r>
              <a:rPr lang="en-US" altLang="zh-TW" dirty="0" smtClean="0">
                <a:solidFill>
                  <a:srgbClr val="0070C0"/>
                </a:solidFill>
              </a:rPr>
              <a:t>x</a:t>
            </a:r>
            <a:r>
              <a:rPr lang="zh-TW" altLang="en-US" dirty="0" smtClean="0"/>
              <a:t>和</a:t>
            </a:r>
            <a:r>
              <a:rPr lang="en-US" altLang="zh-TW" dirty="0" smtClean="0">
                <a:solidFill>
                  <a:srgbClr val="0070C0"/>
                </a:solidFill>
              </a:rPr>
              <a:t>y</a:t>
            </a:r>
            <a:r>
              <a:rPr lang="zh-TW" altLang="en-US" dirty="0" smtClean="0"/>
              <a:t>的值的確被調換了，但是對真實參數</a:t>
            </a:r>
            <a:r>
              <a:rPr lang="en-US" altLang="zh-TW" dirty="0" smtClean="0">
                <a:solidFill>
                  <a:srgbClr val="0070C0"/>
                </a:solidFill>
              </a:rPr>
              <a:t>a</a:t>
            </a:r>
            <a:r>
              <a:rPr lang="zh-TW" altLang="en-US" dirty="0" smtClean="0"/>
              <a:t>和</a:t>
            </a:r>
            <a:r>
              <a:rPr lang="en-US" altLang="zh-TW" dirty="0" smtClean="0">
                <a:solidFill>
                  <a:srgbClr val="0070C0"/>
                </a:solidFill>
              </a:rPr>
              <a:t>b</a:t>
            </a:r>
            <a:r>
              <a:rPr lang="zh-TW" altLang="en-US" dirty="0" smtClean="0"/>
              <a:t>卻產生不了任何影響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正確的寫法，應該是利用</a:t>
            </a:r>
            <a:r>
              <a:rPr lang="zh-TW" altLang="en-US" dirty="0">
                <a:solidFill>
                  <a:srgbClr val="C00000"/>
                </a:solidFill>
              </a:rPr>
              <a:t>以位址傳遞 </a:t>
            </a:r>
            <a:r>
              <a:rPr lang="en-US" altLang="zh-TW" dirty="0"/>
              <a:t>(passed</a:t>
            </a:r>
            <a:r>
              <a:rPr lang="zh-TW" altLang="en-US" dirty="0"/>
              <a:t> </a:t>
            </a:r>
            <a:r>
              <a:rPr lang="en-US" altLang="zh-TW" dirty="0"/>
              <a:t>by reference)</a:t>
            </a:r>
            <a:r>
              <a:rPr lang="zh-TW" altLang="en-US" dirty="0"/>
              <a:t>的觀念，也就是把真實參數在記憶體的位址傳給正式參數，讓程序裡的運算直接作用在真實參數上。</a:t>
            </a:r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37608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</a:t>
            </a:r>
            <a:r>
              <a:rPr lang="zh-TW" altLang="en-US" dirty="0"/>
              <a:t>語言</a:t>
            </a:r>
            <a:r>
              <a:rPr lang="zh-TW" altLang="en-US" dirty="0">
                <a:solidFill>
                  <a:srgbClr val="C00000"/>
                </a:solidFill>
              </a:rPr>
              <a:t>以位址傳遞</a:t>
            </a:r>
            <a:r>
              <a:rPr lang="zh-TW" altLang="en-US" dirty="0"/>
              <a:t>的寫法</a:t>
            </a:r>
            <a:r>
              <a:rPr lang="zh-TW" altLang="en-US" dirty="0" smtClean="0"/>
              <a:t>：</a:t>
            </a:r>
            <a:endParaRPr lang="zh-TW" altLang="en-US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938" y="2301720"/>
            <a:ext cx="3776262" cy="2572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905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在呼叫的時候，必須明確地把位址傳過去：</a:t>
            </a:r>
            <a:endParaRPr lang="zh-TW" altLang="en-US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780" y="2211710"/>
            <a:ext cx="2569531" cy="27167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844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執行的狀況如下：</a:t>
            </a:r>
          </a:p>
          <a:p>
            <a:endParaRPr lang="zh-TW" alt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669" y="2428153"/>
            <a:ext cx="3780715" cy="20574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437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 smtClean="0"/>
              <a:t>注意到在第</a:t>
            </a:r>
            <a:r>
              <a:rPr lang="en-US" altLang="zh-TW" dirty="0" smtClean="0"/>
              <a:t>4</a:t>
            </a:r>
            <a:r>
              <a:rPr lang="zh-TW" altLang="en-US" dirty="0" smtClean="0"/>
              <a:t>步裡，雖然在程序裡表面上是作用在正式參數</a:t>
            </a:r>
            <a:r>
              <a:rPr lang="en-US" altLang="zh-TW" dirty="0" smtClean="0">
                <a:solidFill>
                  <a:srgbClr val="0070C0"/>
                </a:solidFill>
              </a:rPr>
              <a:t>x</a:t>
            </a:r>
            <a:r>
              <a:rPr lang="zh-TW" altLang="en-US" dirty="0" smtClean="0"/>
              <a:t>，但因為正式參數</a:t>
            </a:r>
            <a:r>
              <a:rPr lang="en-US" altLang="zh-TW" dirty="0" smtClean="0">
                <a:solidFill>
                  <a:srgbClr val="0070C0"/>
                </a:solidFill>
              </a:rPr>
              <a:t>x</a:t>
            </a:r>
            <a:r>
              <a:rPr lang="zh-TW" altLang="en-US" dirty="0" smtClean="0"/>
              <a:t>和真實參數</a:t>
            </a:r>
            <a:r>
              <a:rPr lang="en-US" altLang="zh-TW" dirty="0" smtClean="0">
                <a:solidFill>
                  <a:srgbClr val="0070C0"/>
                </a:solidFill>
              </a:rPr>
              <a:t>a</a:t>
            </a:r>
            <a:r>
              <a:rPr lang="zh-TW" altLang="en-US" dirty="0" smtClean="0"/>
              <a:t>，其實是指到在記憶體裡的同一塊空間，所以等於是作用在真實參數</a:t>
            </a:r>
            <a:r>
              <a:rPr lang="en-US" altLang="zh-TW" dirty="0" smtClean="0">
                <a:solidFill>
                  <a:srgbClr val="0070C0"/>
                </a:solidFill>
              </a:rPr>
              <a:t>a</a:t>
            </a:r>
            <a:r>
              <a:rPr lang="zh-TW" altLang="en-US" dirty="0" smtClean="0"/>
              <a:t>上面。</a:t>
            </a:r>
            <a:endParaRPr lang="en-US" altLang="zh-TW" dirty="0" smtClean="0"/>
          </a:p>
          <a:p>
            <a:r>
              <a:rPr lang="zh-TW" altLang="en-US" dirty="0" smtClean="0"/>
              <a:t>第</a:t>
            </a:r>
            <a:r>
              <a:rPr lang="en-US" altLang="zh-TW" dirty="0" smtClean="0"/>
              <a:t>5</a:t>
            </a:r>
            <a:r>
              <a:rPr lang="zh-TW" altLang="en-US" dirty="0" smtClean="0"/>
              <a:t>步也是同樣的效果。如此一來，就達到了改變真實參數的目的。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79159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 smtClean="0">
                <a:solidFill>
                  <a:srgbClr val="C00000"/>
                </a:solidFill>
              </a:rPr>
              <a:t>從機器碼到機器自動編碼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r>
              <a:rPr lang="zh-TW" altLang="en-US" dirty="0" smtClean="0"/>
              <a:t>電腦執行特定任務，透過程式實現運算邏輯流程，這就如同食譜的烹調步驟一般。</a:t>
            </a:r>
            <a:endParaRPr lang="en-US" altLang="zh-TW" dirty="0" smtClean="0"/>
          </a:p>
          <a:p>
            <a:r>
              <a:rPr lang="zh-TW" altLang="en-US" dirty="0" smtClean="0"/>
              <a:t>因機器碼的數字編碼相當生硬乾澀，使得撰寫過程極為繁瑣且容易出錯，於是更接近人類思維的高階程式語言應運而生，如</a:t>
            </a:r>
            <a:r>
              <a:rPr lang="en-US" altLang="zh-TW" dirty="0" smtClean="0"/>
              <a:t>C/C++</a:t>
            </a:r>
            <a:r>
              <a:rPr lang="zh-TW" altLang="en-US" dirty="0" smtClean="0"/>
              <a:t>、</a:t>
            </a:r>
            <a:r>
              <a:rPr lang="en-US" altLang="zh-TW" dirty="0" smtClean="0"/>
              <a:t>Java</a:t>
            </a:r>
            <a:r>
              <a:rPr lang="zh-TW" altLang="en-US" dirty="0" smtClean="0"/>
              <a:t>、</a:t>
            </a:r>
            <a:r>
              <a:rPr lang="en-US" altLang="zh-TW" dirty="0" smtClean="0"/>
              <a:t>Python</a:t>
            </a:r>
            <a:r>
              <a:rPr lang="zh-TW" altLang="en-US" dirty="0" smtClean="0"/>
              <a:t>、</a:t>
            </a:r>
            <a:r>
              <a:rPr lang="en-US" altLang="zh-TW" dirty="0" smtClean="0"/>
              <a:t>Swift</a:t>
            </a:r>
            <a:r>
              <a:rPr lang="zh-TW" altLang="en-US" dirty="0" smtClean="0"/>
              <a:t>等。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4347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高階語言所撰寫的程式，可透過直譯或編譯的方式轉換成機器碼，以便在特定的機器上執行。</a:t>
            </a:r>
            <a:endParaRPr lang="en-US" altLang="zh-TW" dirty="0"/>
          </a:p>
          <a:p>
            <a:r>
              <a:rPr lang="zh-TW" altLang="en-US" dirty="0" smtClean="0"/>
              <a:t>可</a:t>
            </a:r>
            <a:r>
              <a:rPr lang="zh-TW" altLang="en-US" dirty="0"/>
              <a:t>自動撰寫程式的人工智慧軟體已日漸嶄露頭角，如</a:t>
            </a:r>
            <a:r>
              <a:rPr lang="en-US" altLang="zh-TW" dirty="0" err="1"/>
              <a:t>AlphaCode</a:t>
            </a:r>
            <a:r>
              <a:rPr lang="zh-TW" altLang="en-US" dirty="0"/>
              <a:t>、</a:t>
            </a:r>
            <a:r>
              <a:rPr lang="en-US" altLang="zh-TW" dirty="0" err="1"/>
              <a:t>CodeWhisperer</a:t>
            </a:r>
            <a:r>
              <a:rPr lang="zh-TW" altLang="en-US" dirty="0"/>
              <a:t>、</a:t>
            </a:r>
            <a:r>
              <a:rPr lang="en-US" altLang="zh-TW" dirty="0" err="1"/>
              <a:t>OpenAI</a:t>
            </a:r>
            <a:r>
              <a:rPr lang="en-US" altLang="zh-TW" dirty="0"/>
              <a:t> Codex</a:t>
            </a:r>
            <a:r>
              <a:rPr lang="zh-TW" altLang="en-US" dirty="0"/>
              <a:t>、</a:t>
            </a:r>
            <a:r>
              <a:rPr lang="en-US" altLang="zh-TW" dirty="0"/>
              <a:t>GitHub Copilot</a:t>
            </a:r>
            <a:r>
              <a:rPr lang="zh-TW" altLang="en-US" dirty="0"/>
              <a:t>等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0180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2501</TotalTime>
  <Words>5900</Words>
  <Application>Microsoft Office PowerPoint</Application>
  <PresentationFormat>如螢幕大小 (16:9)</PresentationFormat>
  <Paragraphs>389</Paragraphs>
  <Slides>122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122</vt:i4>
      </vt:variant>
    </vt:vector>
  </HeadingPairs>
  <TitlesOfParts>
    <vt:vector size="123" baseType="lpstr">
      <vt:lpstr>Office 佈景主題</vt:lpstr>
      <vt:lpstr>程式語言</vt:lpstr>
      <vt:lpstr>9-1 程式語言發展史</vt:lpstr>
      <vt:lpstr>9-1 程式語言發展史</vt:lpstr>
      <vt:lpstr>9-1 程式語言發展史</vt:lpstr>
      <vt:lpstr>9-1 程式語言發展史</vt:lpstr>
      <vt:lpstr>9-1 程式語言發展史</vt:lpstr>
      <vt:lpstr>9-1 程式語言發展史</vt:lpstr>
      <vt:lpstr>9-1 程式語言發展史</vt:lpstr>
      <vt:lpstr>9-1 程式語言發展史</vt:lpstr>
      <vt:lpstr>9-1 程式語言發展史</vt:lpstr>
      <vt:lpstr>PowerPoint 簡報</vt:lpstr>
      <vt:lpstr>FORTRAN</vt:lpstr>
      <vt:lpstr>FORTRAN</vt:lpstr>
      <vt:lpstr>FORTRAN</vt:lpstr>
      <vt:lpstr>LISP</vt:lpstr>
      <vt:lpstr>LISP</vt:lpstr>
      <vt:lpstr>LISP</vt:lpstr>
      <vt:lpstr>COBOL</vt:lpstr>
      <vt:lpstr>COBOL</vt:lpstr>
      <vt:lpstr>COBOL範例</vt:lpstr>
      <vt:lpstr>BASIC</vt:lpstr>
      <vt:lpstr>BASIC</vt:lpstr>
      <vt:lpstr>BASIC</vt:lpstr>
      <vt:lpstr>PASCAL</vt:lpstr>
      <vt:lpstr>PASCAL</vt:lpstr>
      <vt:lpstr>PASCAL範例</vt:lpstr>
      <vt:lpstr>C</vt:lpstr>
      <vt:lpstr>C</vt:lpstr>
      <vt:lpstr>PROLOG</vt:lpstr>
      <vt:lpstr>PROLOG範例</vt:lpstr>
      <vt:lpstr>PROLOG範例</vt:lpstr>
      <vt:lpstr>ADA</vt:lpstr>
      <vt:lpstr>C++</vt:lpstr>
      <vt:lpstr>C++</vt:lpstr>
      <vt:lpstr>PowerPoint 簡報</vt:lpstr>
      <vt:lpstr>Python</vt:lpstr>
      <vt:lpstr>Python</vt:lpstr>
      <vt:lpstr>Java</vt:lpstr>
      <vt:lpstr>JAVA</vt:lpstr>
      <vt:lpstr>JavaScript 和 ASP.NET</vt:lpstr>
      <vt:lpstr>JavaScript 和 ASP.NET</vt:lpstr>
      <vt:lpstr>Kotlin 和 Swift</vt:lpstr>
      <vt:lpstr>Kotlin 和 Swift</vt:lpstr>
      <vt:lpstr>9-2 資料型態</vt:lpstr>
      <vt:lpstr>9-2 資料型態</vt:lpstr>
      <vt:lpstr>9-2 資料型態</vt:lpstr>
      <vt:lpstr>9-2 資料型態</vt:lpstr>
      <vt:lpstr>9-2 資料型態</vt:lpstr>
      <vt:lpstr>9-2 資料型態</vt:lpstr>
      <vt:lpstr>PowerPoint 簡報</vt:lpstr>
      <vt:lpstr>9-2 資料型態</vt:lpstr>
      <vt:lpstr>陣列</vt:lpstr>
      <vt:lpstr>陣列</vt:lpstr>
      <vt:lpstr>陣列</vt:lpstr>
      <vt:lpstr>結構</vt:lpstr>
      <vt:lpstr>結構</vt:lpstr>
      <vt:lpstr>結構</vt:lpstr>
      <vt:lpstr>指標</vt:lpstr>
      <vt:lpstr>指標</vt:lpstr>
      <vt:lpstr>指標</vt:lpstr>
      <vt:lpstr>指標</vt:lpstr>
      <vt:lpstr>指標</vt:lpstr>
      <vt:lpstr>指標</vt:lpstr>
      <vt:lpstr>指標</vt:lpstr>
      <vt:lpstr>指標</vt:lpstr>
      <vt:lpstr>指標</vt:lpstr>
      <vt:lpstr>9-3 程式指令</vt:lpstr>
      <vt:lpstr>9-3 程式指令</vt:lpstr>
      <vt:lpstr>9-3 程式指令</vt:lpstr>
      <vt:lpstr>比較：if</vt:lpstr>
      <vt:lpstr>比較：if</vt:lpstr>
      <vt:lpstr>比較：if</vt:lpstr>
      <vt:lpstr>比較：if</vt:lpstr>
      <vt:lpstr>比較：if</vt:lpstr>
      <vt:lpstr>比較：if</vt:lpstr>
      <vt:lpstr>比較：if</vt:lpstr>
      <vt:lpstr>比較：if</vt:lpstr>
      <vt:lpstr>PowerPoint 簡報</vt:lpstr>
      <vt:lpstr>比較：if</vt:lpstr>
      <vt:lpstr>比較：if</vt:lpstr>
      <vt:lpstr>比較：if</vt:lpstr>
      <vt:lpstr>固定次數的迴圈：for</vt:lpstr>
      <vt:lpstr>不固定次數的迴圈：while</vt:lpstr>
      <vt:lpstr>不固定次數的迴圈：while</vt:lpstr>
      <vt:lpstr>不固定次數的迴圈：while</vt:lpstr>
      <vt:lpstr>不固定次數的迴圈：while</vt:lpstr>
      <vt:lpstr>不固定次數的迴圈：while</vt:lpstr>
      <vt:lpstr>不固定次數的迴圈：while</vt:lpstr>
      <vt:lpstr>不固定次數的迴圈：for</vt:lpstr>
      <vt:lpstr>不固定次數的迴圈：for</vt:lpstr>
      <vt:lpstr>9-4 程序定義和使用</vt:lpstr>
      <vt:lpstr>9-4 程序定義和使用</vt:lpstr>
      <vt:lpstr>9-4 程序定義和使用</vt:lpstr>
      <vt:lpstr>9-4 程序定義和使用</vt:lpstr>
      <vt:lpstr>9-4 程序定義和使用</vt:lpstr>
      <vt:lpstr>9-4 程序定義和使用</vt:lpstr>
      <vt:lpstr>9-4 程序定義和使用</vt:lpstr>
      <vt:lpstr>9-4 程序定義和使用</vt:lpstr>
      <vt:lpstr>PowerPoint 簡報</vt:lpstr>
      <vt:lpstr>9-4 程序定義和使用</vt:lpstr>
      <vt:lpstr>9-4 程序定義和使用</vt:lpstr>
      <vt:lpstr>9-4 程序定義和使用</vt:lpstr>
      <vt:lpstr>全域變數VS.局部變數</vt:lpstr>
      <vt:lpstr>全域變數VS.局部變數</vt:lpstr>
      <vt:lpstr>全域變數 VS. 局部變數</vt:lpstr>
      <vt:lpstr>全域變數 VS. 局部變數</vt:lpstr>
      <vt:lpstr>全域變數 VS. 局部變數</vt:lpstr>
      <vt:lpstr>以值傳遞 VS. 以位址傳遞</vt:lpstr>
      <vt:lpstr>以值傳遞 VS. 以位址傳遞</vt:lpstr>
      <vt:lpstr>以值傳遞 VS. 以位址傳遞</vt:lpstr>
      <vt:lpstr>以值傳遞 VS. 以位址傳遞</vt:lpstr>
      <vt:lpstr>以值傳遞 VS. 以位址傳遞</vt:lpstr>
      <vt:lpstr>以值傳遞 VS. 以位址傳遞</vt:lpstr>
      <vt:lpstr>以值傳遞 VS. 以位址傳遞</vt:lpstr>
      <vt:lpstr>以值傳遞 VS. 以位址傳遞</vt:lpstr>
      <vt:lpstr>以值傳遞 VS. 以位址傳遞</vt:lpstr>
      <vt:lpstr>以值傳遞 VS. 以位址傳遞</vt:lpstr>
      <vt:lpstr>以值傳遞 VS. 以位址傳遞</vt:lpstr>
      <vt:lpstr>以值傳遞 VS. 以位址傳遞</vt:lpstr>
      <vt:lpstr>以值傳遞 VS. 以位址傳遞</vt:lpstr>
      <vt:lpstr>PowerPoint 簡報</vt:lpstr>
      <vt:lpstr>PowerPoint 簡報</vt:lpstr>
    </vt:vector>
  </TitlesOfParts>
  <Company>FDZone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ox01ox01</dc:creator>
  <cp:lastModifiedBy>user</cp:lastModifiedBy>
  <cp:revision>189</cp:revision>
  <dcterms:created xsi:type="dcterms:W3CDTF">2015-04-21T01:58:17Z</dcterms:created>
  <dcterms:modified xsi:type="dcterms:W3CDTF">2025-06-16T08:08:59Z</dcterms:modified>
</cp:coreProperties>
</file>